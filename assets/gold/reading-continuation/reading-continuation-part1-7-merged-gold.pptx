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19"/>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4"/>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2" Type="http://schemas.openxmlformats.org/officeDocument/2006/relationships/tableStyles" Target="tableStyles.xml"/><Relationship Id="rId221" Type="http://schemas.openxmlformats.org/officeDocument/2006/relationships/viewProps" Target="viewProps.xml"/><Relationship Id="rId220" Type="http://schemas.openxmlformats.org/officeDocument/2006/relationships/presProps" Target="presProps.xml"/><Relationship Id="rId22" Type="http://schemas.openxmlformats.org/officeDocument/2006/relationships/slide" Target="slides/slide19.xml"/><Relationship Id="rId219" Type="http://schemas.openxmlformats.org/officeDocument/2006/relationships/handoutMaster" Target="handoutMasters/handoutMaster1.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2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4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4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49.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2.xml.rels><?xml version="1.0" encoding="UTF-8" standalone="yes"?>
<Relationships xmlns="http://schemas.openxmlformats.org/package/2006/relationships"><Relationship Id="rId3" Type="http://schemas.openxmlformats.org/officeDocument/2006/relationships/notesSlide" Target="../notesSlides/notesSlide15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7.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16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6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2.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3.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6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6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6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16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170.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7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17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7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7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17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7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8.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7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8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8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8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3.xml.rels><?xml version="1.0" encoding="UTF-8" standalone="yes"?>
<Relationships xmlns="http://schemas.openxmlformats.org/package/2006/relationships"><Relationship Id="rId3" Type="http://schemas.openxmlformats.org/officeDocument/2006/relationships/notesSlide" Target="../notesSlides/notesSlide18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18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5.xml.rels><?xml version="1.0" encoding="UTF-8" standalone="yes"?>
<Relationships xmlns="http://schemas.openxmlformats.org/package/2006/relationships"><Relationship Id="rId3" Type="http://schemas.openxmlformats.org/officeDocument/2006/relationships/notesSlide" Target="../notesSlides/notesSlide18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6.xml.rels><?xml version="1.0" encoding="UTF-8" standalone="yes"?>
<Relationships xmlns="http://schemas.openxmlformats.org/package/2006/relationships"><Relationship Id="rId3" Type="http://schemas.openxmlformats.org/officeDocument/2006/relationships/notesSlide" Target="../notesSlides/notesSlide18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7.xml.rels><?xml version="1.0" encoding="UTF-8" standalone="yes"?>
<Relationships xmlns="http://schemas.openxmlformats.org/package/2006/relationships"><Relationship Id="rId3" Type="http://schemas.openxmlformats.org/officeDocument/2006/relationships/notesSlide" Target="../notesSlides/notesSlide18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8.xml.rels><?xml version="1.0" encoding="UTF-8" standalone="yes"?>
<Relationships xmlns="http://schemas.openxmlformats.org/package/2006/relationships"><Relationship Id="rId3" Type="http://schemas.openxmlformats.org/officeDocument/2006/relationships/notesSlide" Target="../notesSlides/notesSlide18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89.xml.rels><?xml version="1.0" encoding="UTF-8" standalone="yes"?>
<Relationships xmlns="http://schemas.openxmlformats.org/package/2006/relationships"><Relationship Id="rId3" Type="http://schemas.openxmlformats.org/officeDocument/2006/relationships/notesSlide" Target="../notesSlides/notesSlide18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0.xml.rels><?xml version="1.0" encoding="UTF-8" standalone="yes"?>
<Relationships xmlns="http://schemas.openxmlformats.org/package/2006/relationships"><Relationship Id="rId3" Type="http://schemas.openxmlformats.org/officeDocument/2006/relationships/notesSlide" Target="../notesSlides/notesSlide19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1.xml.rels><?xml version="1.0" encoding="UTF-8" standalone="yes"?>
<Relationships xmlns="http://schemas.openxmlformats.org/package/2006/relationships"><Relationship Id="rId3" Type="http://schemas.openxmlformats.org/officeDocument/2006/relationships/notesSlide" Target="../notesSlides/notesSlide19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9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3.xml.rels><?xml version="1.0" encoding="UTF-8" standalone="yes"?>
<Relationships xmlns="http://schemas.openxmlformats.org/package/2006/relationships"><Relationship Id="rId3" Type="http://schemas.openxmlformats.org/officeDocument/2006/relationships/notesSlide" Target="../notesSlides/notesSlide19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19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19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6.xml.rels><?xml version="1.0" encoding="UTF-8" standalone="yes"?>
<Relationships xmlns="http://schemas.openxmlformats.org/package/2006/relationships"><Relationship Id="rId3" Type="http://schemas.openxmlformats.org/officeDocument/2006/relationships/notesSlide" Target="../notesSlides/notesSlide19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9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8.xml.rels><?xml version="1.0" encoding="UTF-8" standalone="yes"?>
<Relationships xmlns="http://schemas.openxmlformats.org/package/2006/relationships"><Relationship Id="rId3" Type="http://schemas.openxmlformats.org/officeDocument/2006/relationships/notesSlide" Target="../notesSlides/notesSlide19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9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0.xml.rels><?xml version="1.0" encoding="UTF-8" standalone="yes"?>
<Relationships xmlns="http://schemas.openxmlformats.org/package/2006/relationships"><Relationship Id="rId3" Type="http://schemas.openxmlformats.org/officeDocument/2006/relationships/notesSlide" Target="../notesSlides/notesSlide20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1.xml.rels><?xml version="1.0" encoding="UTF-8" standalone="yes"?>
<Relationships xmlns="http://schemas.openxmlformats.org/package/2006/relationships"><Relationship Id="rId3" Type="http://schemas.openxmlformats.org/officeDocument/2006/relationships/notesSlide" Target="../notesSlides/notesSlide20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20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3.xml.rels><?xml version="1.0" encoding="UTF-8" standalone="yes"?>
<Relationships xmlns="http://schemas.openxmlformats.org/package/2006/relationships"><Relationship Id="rId3" Type="http://schemas.openxmlformats.org/officeDocument/2006/relationships/notesSlide" Target="../notesSlides/notesSlide20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4.xml.rels><?xml version="1.0" encoding="UTF-8" standalone="yes"?>
<Relationships xmlns="http://schemas.openxmlformats.org/package/2006/relationships"><Relationship Id="rId3" Type="http://schemas.openxmlformats.org/officeDocument/2006/relationships/notesSlide" Target="../notesSlides/notesSlide20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5.xml.rels><?xml version="1.0" encoding="UTF-8" standalone="yes"?>
<Relationships xmlns="http://schemas.openxmlformats.org/package/2006/relationships"><Relationship Id="rId3" Type="http://schemas.openxmlformats.org/officeDocument/2006/relationships/notesSlide" Target="../notesSlides/notesSlide205.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6.xml.rels><?xml version="1.0" encoding="UTF-8" standalone="yes"?>
<Relationships xmlns="http://schemas.openxmlformats.org/package/2006/relationships"><Relationship Id="rId3" Type="http://schemas.openxmlformats.org/officeDocument/2006/relationships/notesSlide" Target="../notesSlides/notesSlide206.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7.xml.rels><?xml version="1.0" encoding="UTF-8" standalone="yes"?>
<Relationships xmlns="http://schemas.openxmlformats.org/package/2006/relationships"><Relationship Id="rId3" Type="http://schemas.openxmlformats.org/officeDocument/2006/relationships/notesSlide" Target="../notesSlides/notesSlide207.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208.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09.xml.rels><?xml version="1.0" encoding="UTF-8" standalone="yes"?>
<Relationships xmlns="http://schemas.openxmlformats.org/package/2006/relationships"><Relationship Id="rId3" Type="http://schemas.openxmlformats.org/officeDocument/2006/relationships/notesSlide" Target="../notesSlides/notesSlide209.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10.xml.rels><?xml version="1.0" encoding="UTF-8" standalone="yes"?>
<Relationships xmlns="http://schemas.openxmlformats.org/package/2006/relationships"><Relationship Id="rId3" Type="http://schemas.openxmlformats.org/officeDocument/2006/relationships/notesSlide" Target="../notesSlides/notesSlide210.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11.xml.rels><?xml version="1.0" encoding="UTF-8" standalone="yes"?>
<Relationships xmlns="http://schemas.openxmlformats.org/package/2006/relationships"><Relationship Id="rId3" Type="http://schemas.openxmlformats.org/officeDocument/2006/relationships/notesSlide" Target="../notesSlides/notesSlide211.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12.xml.rels><?xml version="1.0" encoding="UTF-8" standalone="yes"?>
<Relationships xmlns="http://schemas.openxmlformats.org/package/2006/relationships"><Relationship Id="rId3" Type="http://schemas.openxmlformats.org/officeDocument/2006/relationships/notesSlide" Target="../notesSlides/notesSlide212.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13.xml.rels><?xml version="1.0" encoding="UTF-8" standalone="yes"?>
<Relationships xmlns="http://schemas.openxmlformats.org/package/2006/relationships"><Relationship Id="rId3" Type="http://schemas.openxmlformats.org/officeDocument/2006/relationships/notesSlide" Target="../notesSlides/notesSlide213.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14.xml.rels><?xml version="1.0" encoding="UTF-8" standalone="yes"?>
<Relationships xmlns="http://schemas.openxmlformats.org/package/2006/relationships"><Relationship Id="rId3" Type="http://schemas.openxmlformats.org/officeDocument/2006/relationships/notesSlide" Target="../notesSlides/notesSlide214.xml"/><Relationship Id="rId2" Type="http://schemas.openxmlformats.org/officeDocument/2006/relationships/slideLayout" Target="../slideLayouts/slideLayout11.xml"/><Relationship Id="rId1" Type="http://schemas.openxmlformats.org/officeDocument/2006/relationships/image" Target="../media/image2.png"/></Relationships>
</file>

<file path=ppt/slides/_rels/slide215.xml.rels><?xml version="1.0" encoding="UTF-8" standalone="yes"?>
<Relationships xmlns="http://schemas.openxmlformats.org/package/2006/relationships"><Relationship Id="rId3" Type="http://schemas.openxmlformats.org/officeDocument/2006/relationships/notesSlide" Target="../notesSlides/notesSlide215.xml"/><Relationship Id="rId2" Type="http://schemas.openxmlformats.org/officeDocument/2006/relationships/slideLayout" Target="../slideLayouts/slideLayout1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191250" y="3143250"/>
            <a:ext cx="4857750" cy="2183765"/>
          </a:xfrm>
          <a:prstGeom prst="rect">
            <a:avLst/>
          </a:prstGeom>
          <a:solidFill>
            <a:srgbClr val="FF8A1F"/>
          </a:solidFill>
          <a:ln w="0">
            <a:solidFill>
              <a:srgbClr val="FF8A1F"/>
            </a:solidFill>
            <a:prstDash val="solid"/>
          </a:ln>
        </p:spPr>
      </p:sp>
      <p:sp>
        <p:nvSpPr>
          <p:cNvPr id="3" name="矩形 2"/>
          <p:cNvSpPr>
            <a:spLocks noGrp="1"/>
          </p:cNvSpPr>
          <p:nvPr/>
        </p:nvSpPr>
        <p:spPr>
          <a:xfrm>
            <a:off x="6572250" y="3219450"/>
            <a:ext cx="4381500" cy="876300"/>
          </a:xfrm>
          <a:prstGeom prst="rect">
            <a:avLst/>
          </a:prstGeom>
          <a:noFill/>
          <a:ln w="0">
            <a:noFill/>
            <a:prstDash val="solid"/>
          </a:ln>
        </p:spPr>
        <p:txBody>
          <a:bodyPr/>
          <a:lstStyle/>
          <a:p>
            <a:pPr algn="l">
              <a:lnSpc>
                <a:spcPct val="94000"/>
              </a:lnSpc>
              <a:buNone/>
              <a:defRPr sz="3075" b="1">
                <a:solidFill>
                  <a:srgbClr val="FFFFFF"/>
                </a:solidFill>
                <a:latin typeface="微软雅黑" panose="020B0503020204020204" charset="-122"/>
                <a:ea typeface="微软雅黑" panose="020B0503020204020204" charset="-122"/>
                <a:cs typeface="微软雅黑" panose="020B0503020204020204" charset="-122"/>
              </a:defRPr>
            </a:pPr>
            <a:r>
              <a:rPr sz="3500">
                <a:solidFill>
                  <a:srgbClr val="FFFFFF"/>
                </a:solidFill>
              </a:rPr>
              <a:t>高考英语读后续写</a:t>
            </a:r>
            <a:endParaRPr sz="3500">
              <a:solidFill>
                <a:srgbClr val="FFFFFF"/>
              </a:solidFill>
            </a:endParaRPr>
          </a:p>
        </p:txBody>
      </p:sp>
      <p:sp>
        <p:nvSpPr>
          <p:cNvPr id="4" name="矩形 3"/>
          <p:cNvSpPr>
            <a:spLocks noGrp="1"/>
          </p:cNvSpPr>
          <p:nvPr/>
        </p:nvSpPr>
        <p:spPr>
          <a:xfrm>
            <a:off x="6591300" y="4095750"/>
            <a:ext cx="4191000" cy="419100"/>
          </a:xfrm>
          <a:prstGeom prst="rect">
            <a:avLst/>
          </a:prstGeom>
          <a:noFill/>
          <a:ln w="0">
            <a:noFill/>
            <a:prstDash val="solid"/>
          </a:ln>
        </p:spPr>
        <p:txBody>
          <a:bodyPr/>
          <a:lstStyle/>
          <a:p>
            <a:pPr algn="l">
              <a:lnSpc>
                <a:spcPct val="112000"/>
              </a:lnSpc>
              <a:buNone/>
              <a:defRPr sz="2175" b="1">
                <a:solidFill>
                  <a:srgbClr val="FFF5E8"/>
                </a:solidFill>
                <a:latin typeface="微软雅黑" panose="020B0503020204020204" charset="-122"/>
                <a:ea typeface="微软雅黑" panose="020B0503020204020204" charset="-122"/>
                <a:cs typeface="微软雅黑" panose="020B0503020204020204" charset="-122"/>
              </a:defRPr>
            </a:pPr>
            <a:r>
              <a:rPr sz="2900">
                <a:solidFill>
                  <a:srgbClr val="FFF5E8"/>
                </a:solidFill>
              </a:rPr>
              <a:t>高级句型仿写30句</a:t>
            </a:r>
            <a:endParaRPr sz="2900">
              <a:solidFill>
                <a:srgbClr val="FFF5E8"/>
              </a:solidFill>
            </a:endParaRPr>
          </a:p>
        </p:txBody>
      </p:sp>
      <p:sp>
        <p:nvSpPr>
          <p:cNvPr id="5" name="矩形 4"/>
          <p:cNvSpPr>
            <a:spLocks noGrp="1"/>
          </p:cNvSpPr>
          <p:nvPr/>
        </p:nvSpPr>
        <p:spPr>
          <a:xfrm>
            <a:off x="6591300" y="4619625"/>
            <a:ext cx="4191000" cy="285750"/>
          </a:xfrm>
          <a:prstGeom prst="rect">
            <a:avLst/>
          </a:prstGeom>
          <a:noFill/>
          <a:ln w="0">
            <a:noFill/>
            <a:prstDash val="solid"/>
          </a:ln>
        </p:spPr>
        <p:txBody>
          <a:bodyPr/>
          <a:lstStyle/>
          <a:p>
            <a:pPr algn="l">
              <a:lnSpc>
                <a:spcPct val="112000"/>
              </a:lnSpc>
              <a:buNone/>
              <a:defRPr sz="1425" b="1">
                <a:solidFill>
                  <a:srgbClr val="5B2A11"/>
                </a:solidFill>
                <a:latin typeface="微软雅黑" panose="020B0503020204020204" charset="-122"/>
                <a:ea typeface="微软雅黑" panose="020B0503020204020204" charset="-122"/>
                <a:cs typeface="微软雅黑" panose="020B0503020204020204" charset="-122"/>
              </a:defRPr>
            </a:pPr>
            <a:r>
              <a:rPr sz="1900">
                <a:solidFill>
                  <a:srgbClr val="5B2A11"/>
                </a:solidFill>
              </a:rPr>
              <a:t>读后续写-亮点得分细节？</a:t>
            </a:r>
            <a:endParaRPr sz="1900">
              <a:solidFill>
                <a:srgbClr val="5B2A1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3000">
                <a:solidFill>
                  <a:srgbClr val="000000"/>
                </a:solidFill>
              </a:rPr>
              <a:t>读后续写-亮点得分细节？</a:t>
            </a:r>
            <a:endParaRPr sz="3000">
              <a:solidFill>
                <a:srgbClr val="000000"/>
              </a:solidFill>
            </a:endParaRPr>
          </a:p>
        </p:txBody>
      </p:sp>
      <p:sp>
        <p:nvSpPr>
          <p:cNvPr id="4" name="圆角矩形 3"/>
          <p:cNvSpPr>
            <a:spLocks noGrp="1"/>
          </p:cNvSpPr>
          <p:nvPr/>
        </p:nvSpPr>
        <p:spPr>
          <a:xfrm>
            <a:off x="876300" y="1638300"/>
            <a:ext cx="10439400" cy="781050"/>
          </a:xfrm>
          <a:prstGeom prst="roundRect">
            <a:avLst>
              <a:gd name="adj" fmla="val 17073"/>
            </a:avLst>
          </a:prstGeom>
          <a:solidFill>
            <a:srgbClr val="FFF8EF"/>
          </a:solidFill>
          <a:ln w="13335">
            <a:solidFill>
              <a:srgbClr val="FFB46C"/>
            </a:solidFill>
            <a:prstDash val="solid"/>
          </a:ln>
        </p:spPr>
      </p:sp>
      <p:sp>
        <p:nvSpPr>
          <p:cNvPr id="5" name="圆角矩形 4"/>
          <p:cNvSpPr>
            <a:spLocks noGrp="1"/>
          </p:cNvSpPr>
          <p:nvPr/>
        </p:nvSpPr>
        <p:spPr>
          <a:xfrm>
            <a:off x="1085850" y="1809750"/>
            <a:ext cx="1123950" cy="438150"/>
          </a:xfrm>
          <a:prstGeom prst="roundRect">
            <a:avLst>
              <a:gd name="adj" fmla="val 26087"/>
            </a:avLst>
          </a:prstGeom>
          <a:solidFill>
            <a:srgbClr val="FF7A12"/>
          </a:solidFill>
          <a:ln w="9525">
            <a:solidFill>
              <a:srgbClr val="FF7A12"/>
            </a:solidFill>
            <a:prstDash val="solid"/>
          </a:ln>
        </p:spPr>
      </p:sp>
      <p:sp>
        <p:nvSpPr>
          <p:cNvPr id="6" name="矩形 5"/>
          <p:cNvSpPr>
            <a:spLocks noGrp="1"/>
          </p:cNvSpPr>
          <p:nvPr/>
        </p:nvSpPr>
        <p:spPr>
          <a:xfrm>
            <a:off x="1162050" y="1854200"/>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2000">
                <a:solidFill>
                  <a:srgbClr val="FFFFFF"/>
                </a:solidFill>
                <a:cs typeface="微软雅黑" panose="020B0503020204020204" charset="-122"/>
              </a:rPr>
              <a:t>亮点</a:t>
            </a:r>
            <a:endParaRPr sz="2000">
              <a:solidFill>
                <a:srgbClr val="FFFFFF"/>
              </a:solidFill>
              <a:cs typeface="微软雅黑" panose="020B0503020204020204" charset="-122"/>
            </a:endParaRPr>
          </a:p>
        </p:txBody>
      </p:sp>
      <p:sp>
        <p:nvSpPr>
          <p:cNvPr id="7" name="矩形 6"/>
          <p:cNvSpPr>
            <a:spLocks noGrp="1"/>
          </p:cNvSpPr>
          <p:nvPr/>
        </p:nvSpPr>
        <p:spPr>
          <a:xfrm>
            <a:off x="2552700" y="18002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2000" b="0">
                <a:solidFill>
                  <a:srgbClr val="000000"/>
                </a:solidFill>
              </a:rPr>
              <a:t>情节简单化，动作心理复杂化。</a:t>
            </a:r>
            <a:endParaRPr sz="2000" b="0">
              <a:solidFill>
                <a:srgbClr val="000000"/>
              </a:solidFill>
            </a:endParaRPr>
          </a:p>
        </p:txBody>
      </p:sp>
      <p:sp>
        <p:nvSpPr>
          <p:cNvPr id="8" name="圆角矩形 7"/>
          <p:cNvSpPr>
            <a:spLocks noGrp="1"/>
          </p:cNvSpPr>
          <p:nvPr/>
        </p:nvSpPr>
        <p:spPr>
          <a:xfrm>
            <a:off x="876300" y="2514600"/>
            <a:ext cx="10439400" cy="781050"/>
          </a:xfrm>
          <a:prstGeom prst="roundRect">
            <a:avLst>
              <a:gd name="adj" fmla="val 17073"/>
            </a:avLst>
          </a:prstGeom>
          <a:solidFill>
            <a:srgbClr val="FFFDF8"/>
          </a:solidFill>
          <a:ln w="13335">
            <a:solidFill>
              <a:srgbClr val="FFB46C"/>
            </a:solidFill>
            <a:prstDash val="solid"/>
          </a:ln>
        </p:spPr>
      </p:sp>
      <p:sp>
        <p:nvSpPr>
          <p:cNvPr id="9" name="圆角矩形 8"/>
          <p:cNvSpPr>
            <a:spLocks noGrp="1"/>
          </p:cNvSpPr>
          <p:nvPr/>
        </p:nvSpPr>
        <p:spPr>
          <a:xfrm>
            <a:off x="1085850" y="2686050"/>
            <a:ext cx="1123950" cy="438150"/>
          </a:xfrm>
          <a:prstGeom prst="roundRect">
            <a:avLst>
              <a:gd name="adj" fmla="val 26087"/>
            </a:avLst>
          </a:prstGeom>
          <a:solidFill>
            <a:srgbClr val="FF7A12"/>
          </a:solidFill>
          <a:ln w="9525">
            <a:solidFill>
              <a:srgbClr val="FF7A12"/>
            </a:solidFill>
            <a:prstDash val="solid"/>
          </a:ln>
        </p:spPr>
      </p:sp>
      <p:sp>
        <p:nvSpPr>
          <p:cNvPr id="10" name="矩形 9"/>
          <p:cNvSpPr>
            <a:spLocks noGrp="1"/>
          </p:cNvSpPr>
          <p:nvPr/>
        </p:nvSpPr>
        <p:spPr>
          <a:xfrm>
            <a:off x="1162050" y="2730500"/>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2000">
                <a:solidFill>
                  <a:srgbClr val="FFFFFF"/>
                </a:solidFill>
                <a:cs typeface="微软雅黑" panose="020B0503020204020204" charset="-122"/>
              </a:rPr>
              <a:t>描写</a:t>
            </a:r>
            <a:endParaRPr sz="2000">
              <a:solidFill>
                <a:srgbClr val="FFFFFF"/>
              </a:solidFill>
              <a:cs typeface="微软雅黑" panose="020B0503020204020204" charset="-122"/>
            </a:endParaRPr>
          </a:p>
        </p:txBody>
      </p:sp>
      <p:sp>
        <p:nvSpPr>
          <p:cNvPr id="11" name="矩形 10"/>
          <p:cNvSpPr>
            <a:spLocks noGrp="1"/>
          </p:cNvSpPr>
          <p:nvPr/>
        </p:nvSpPr>
        <p:spPr>
          <a:xfrm>
            <a:off x="2552700" y="26765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2000" b="0">
                <a:solidFill>
                  <a:srgbClr val="000000"/>
                </a:solidFill>
                <a:cs typeface="微软雅黑" panose="020B0503020204020204" charset="-122"/>
              </a:rPr>
              <a:t>环境，语言，心理，动作描写。</a:t>
            </a:r>
            <a:endParaRPr sz="2000" b="0">
              <a:solidFill>
                <a:srgbClr val="000000"/>
              </a:solidFill>
              <a:cs typeface="微软雅黑" panose="020B0503020204020204" charset="-122"/>
            </a:endParaRPr>
          </a:p>
        </p:txBody>
      </p:sp>
      <p:sp>
        <p:nvSpPr>
          <p:cNvPr id="12" name="圆角矩形 11"/>
          <p:cNvSpPr>
            <a:spLocks noGrp="1"/>
          </p:cNvSpPr>
          <p:nvPr/>
        </p:nvSpPr>
        <p:spPr>
          <a:xfrm>
            <a:off x="876300" y="3390900"/>
            <a:ext cx="10439400" cy="781050"/>
          </a:xfrm>
          <a:prstGeom prst="roundRect">
            <a:avLst>
              <a:gd name="adj" fmla="val 17073"/>
            </a:avLst>
          </a:prstGeom>
          <a:solidFill>
            <a:srgbClr val="FFF8EF"/>
          </a:solidFill>
          <a:ln w="13335">
            <a:solidFill>
              <a:srgbClr val="FFB46C"/>
            </a:solidFill>
            <a:prstDash val="solid"/>
          </a:ln>
        </p:spPr>
      </p:sp>
      <p:sp>
        <p:nvSpPr>
          <p:cNvPr id="13" name="圆角矩形 12"/>
          <p:cNvSpPr>
            <a:spLocks noGrp="1"/>
          </p:cNvSpPr>
          <p:nvPr/>
        </p:nvSpPr>
        <p:spPr>
          <a:xfrm>
            <a:off x="1085850" y="3562350"/>
            <a:ext cx="1123950" cy="438150"/>
          </a:xfrm>
          <a:prstGeom prst="roundRect">
            <a:avLst>
              <a:gd name="adj" fmla="val 26087"/>
            </a:avLst>
          </a:prstGeom>
          <a:solidFill>
            <a:srgbClr val="FF7A12"/>
          </a:solidFill>
          <a:ln w="9525">
            <a:solidFill>
              <a:srgbClr val="FF7A12"/>
            </a:solidFill>
            <a:prstDash val="solid"/>
          </a:ln>
        </p:spPr>
      </p:sp>
      <p:sp>
        <p:nvSpPr>
          <p:cNvPr id="14" name="矩形 13"/>
          <p:cNvSpPr>
            <a:spLocks noGrp="1"/>
          </p:cNvSpPr>
          <p:nvPr/>
        </p:nvSpPr>
        <p:spPr>
          <a:xfrm>
            <a:off x="1013460" y="3606800"/>
            <a:ext cx="1268095"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2000">
                <a:solidFill>
                  <a:srgbClr val="FFFFFF"/>
                </a:solidFill>
                <a:cs typeface="微软雅黑" panose="020B0503020204020204" charset="-122"/>
              </a:rPr>
              <a:t>丰富句式</a:t>
            </a:r>
            <a:endParaRPr sz="2000">
              <a:solidFill>
                <a:srgbClr val="FFFFFF"/>
              </a:solidFill>
              <a:cs typeface="微软雅黑" panose="020B0503020204020204" charset="-122"/>
            </a:endParaRPr>
          </a:p>
        </p:txBody>
      </p:sp>
      <p:sp>
        <p:nvSpPr>
          <p:cNvPr id="15" name="矩形 14"/>
          <p:cNvSpPr>
            <a:spLocks noGrp="1"/>
          </p:cNvSpPr>
          <p:nvPr/>
        </p:nvSpPr>
        <p:spPr>
          <a:xfrm>
            <a:off x="2552700" y="35528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2000" b="0">
                <a:solidFill>
                  <a:srgbClr val="000000"/>
                </a:solidFill>
              </a:rPr>
              <a:t>从句，非谓语，倒装句，独立主格，虚拟语气，强调句，感叹句。</a:t>
            </a:r>
            <a:endParaRPr sz="2000" b="0">
              <a:solidFill>
                <a:srgbClr val="000000"/>
              </a:solidFill>
            </a:endParaRPr>
          </a:p>
        </p:txBody>
      </p:sp>
      <p:sp>
        <p:nvSpPr>
          <p:cNvPr id="16" name="圆角矩形 15"/>
          <p:cNvSpPr>
            <a:spLocks noGrp="1"/>
          </p:cNvSpPr>
          <p:nvPr/>
        </p:nvSpPr>
        <p:spPr>
          <a:xfrm>
            <a:off x="876300" y="4267200"/>
            <a:ext cx="10439400" cy="781050"/>
          </a:xfrm>
          <a:prstGeom prst="roundRect">
            <a:avLst>
              <a:gd name="adj" fmla="val 17073"/>
            </a:avLst>
          </a:prstGeom>
          <a:solidFill>
            <a:srgbClr val="FFFDF8"/>
          </a:solidFill>
          <a:ln w="13335">
            <a:solidFill>
              <a:srgbClr val="FFB46C"/>
            </a:solidFill>
            <a:prstDash val="solid"/>
          </a:ln>
        </p:spPr>
      </p:sp>
      <p:sp>
        <p:nvSpPr>
          <p:cNvPr id="17" name="圆角矩形 16"/>
          <p:cNvSpPr>
            <a:spLocks noGrp="1"/>
          </p:cNvSpPr>
          <p:nvPr/>
        </p:nvSpPr>
        <p:spPr>
          <a:xfrm>
            <a:off x="1085850" y="4438650"/>
            <a:ext cx="1123950" cy="438150"/>
          </a:xfrm>
          <a:prstGeom prst="roundRect">
            <a:avLst>
              <a:gd name="adj" fmla="val 26087"/>
            </a:avLst>
          </a:prstGeom>
          <a:solidFill>
            <a:srgbClr val="FF7A12"/>
          </a:solidFill>
          <a:ln w="9525">
            <a:solidFill>
              <a:srgbClr val="FF7A12"/>
            </a:solidFill>
            <a:prstDash val="solid"/>
          </a:ln>
        </p:spPr>
      </p:sp>
      <p:sp>
        <p:nvSpPr>
          <p:cNvPr id="18" name="矩形 17"/>
          <p:cNvSpPr>
            <a:spLocks noGrp="1"/>
          </p:cNvSpPr>
          <p:nvPr/>
        </p:nvSpPr>
        <p:spPr>
          <a:xfrm>
            <a:off x="1162050" y="4483100"/>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2000">
                <a:solidFill>
                  <a:srgbClr val="FFFFFF"/>
                </a:solidFill>
                <a:cs typeface="微软雅黑" panose="020B0503020204020204" charset="-122"/>
              </a:rPr>
              <a:t>手法</a:t>
            </a:r>
            <a:endParaRPr sz="2000">
              <a:solidFill>
                <a:srgbClr val="FFFFFF"/>
              </a:solidFill>
              <a:cs typeface="微软雅黑" panose="020B0503020204020204" charset="-122"/>
            </a:endParaRPr>
          </a:p>
        </p:txBody>
      </p:sp>
      <p:sp>
        <p:nvSpPr>
          <p:cNvPr id="19" name="矩形 18"/>
          <p:cNvSpPr>
            <a:spLocks noGrp="1"/>
          </p:cNvSpPr>
          <p:nvPr/>
        </p:nvSpPr>
        <p:spPr>
          <a:xfrm>
            <a:off x="2552700" y="44291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2000" b="0">
                <a:solidFill>
                  <a:srgbClr val="000000"/>
                </a:solidFill>
                <a:cs typeface="微软雅黑" panose="020B0503020204020204" charset="-122"/>
              </a:rPr>
              <a:t>比喻，夸张，拟人。</a:t>
            </a:r>
            <a:endParaRPr sz="2000" b="0">
              <a:solidFill>
                <a:srgbClr val="000000"/>
              </a:solidFill>
              <a:cs typeface="微软雅黑" panose="020B0503020204020204" charset="-122"/>
            </a:endParaRPr>
          </a:p>
        </p:txBody>
      </p:sp>
      <p:sp>
        <p:nvSpPr>
          <p:cNvPr id="20" name="圆角矩形 19"/>
          <p:cNvSpPr>
            <a:spLocks noGrp="1"/>
          </p:cNvSpPr>
          <p:nvPr/>
        </p:nvSpPr>
        <p:spPr>
          <a:xfrm>
            <a:off x="876300" y="5143500"/>
            <a:ext cx="10439400" cy="781050"/>
          </a:xfrm>
          <a:prstGeom prst="roundRect">
            <a:avLst>
              <a:gd name="adj" fmla="val 17073"/>
            </a:avLst>
          </a:prstGeom>
          <a:solidFill>
            <a:srgbClr val="FFF8EF"/>
          </a:solidFill>
          <a:ln w="13335">
            <a:solidFill>
              <a:srgbClr val="FFB46C"/>
            </a:solidFill>
            <a:prstDash val="solid"/>
          </a:ln>
        </p:spPr>
      </p:sp>
      <p:sp>
        <p:nvSpPr>
          <p:cNvPr id="21" name="圆角矩形 20"/>
          <p:cNvSpPr>
            <a:spLocks noGrp="1"/>
          </p:cNvSpPr>
          <p:nvPr/>
        </p:nvSpPr>
        <p:spPr>
          <a:xfrm>
            <a:off x="1085850" y="5314950"/>
            <a:ext cx="1123950" cy="438150"/>
          </a:xfrm>
          <a:prstGeom prst="roundRect">
            <a:avLst>
              <a:gd name="adj" fmla="val 26087"/>
            </a:avLst>
          </a:prstGeom>
          <a:solidFill>
            <a:srgbClr val="FF7A12"/>
          </a:solidFill>
          <a:ln w="9525">
            <a:solidFill>
              <a:srgbClr val="FF7A12"/>
            </a:solidFill>
            <a:prstDash val="solid"/>
          </a:ln>
        </p:spPr>
      </p:sp>
      <p:sp>
        <p:nvSpPr>
          <p:cNvPr id="22" name="矩形 21"/>
          <p:cNvSpPr>
            <a:spLocks noGrp="1"/>
          </p:cNvSpPr>
          <p:nvPr/>
        </p:nvSpPr>
        <p:spPr>
          <a:xfrm>
            <a:off x="1162050" y="5359400"/>
            <a:ext cx="971550" cy="323850"/>
          </a:xfrm>
          <a:prstGeom prst="rect">
            <a:avLst/>
          </a:prstGeom>
          <a:noFill/>
          <a:ln w="0">
            <a:noFill/>
            <a:prstDash val="solid"/>
          </a:ln>
        </p:spPr>
        <p:txBody>
          <a:bodyPr/>
          <a:lstStyle/>
          <a:p>
            <a:pPr algn="ctr">
              <a:lnSpc>
                <a:spcPct val="100000"/>
              </a:lnSpc>
              <a:buNone/>
              <a:defRPr sz="1575" b="1">
                <a:solidFill>
                  <a:srgbClr val="FFFFFF"/>
                </a:solidFill>
                <a:latin typeface="微软雅黑" panose="020B0503020204020204" charset="-122"/>
                <a:ea typeface="微软雅黑" panose="020B0503020204020204" charset="-122"/>
                <a:cs typeface="微软雅黑" panose="020B0503020204020204" charset="-122"/>
              </a:defRPr>
            </a:pPr>
            <a:r>
              <a:rPr sz="2000">
                <a:solidFill>
                  <a:srgbClr val="FFFFFF"/>
                </a:solidFill>
                <a:cs typeface="微软雅黑" panose="020B0503020204020204" charset="-122"/>
              </a:rPr>
              <a:t>三部分</a:t>
            </a:r>
            <a:endParaRPr sz="2000">
              <a:solidFill>
                <a:srgbClr val="FFFFFF"/>
              </a:solidFill>
              <a:cs typeface="微软雅黑" panose="020B0503020204020204" charset="-122"/>
            </a:endParaRPr>
          </a:p>
        </p:txBody>
      </p:sp>
      <p:sp>
        <p:nvSpPr>
          <p:cNvPr id="23" name="矩形 22"/>
          <p:cNvSpPr>
            <a:spLocks noGrp="1"/>
          </p:cNvSpPr>
          <p:nvPr/>
        </p:nvSpPr>
        <p:spPr>
          <a:xfrm>
            <a:off x="2552700" y="5305425"/>
            <a:ext cx="8286750" cy="514350"/>
          </a:xfrm>
          <a:prstGeom prst="rect">
            <a:avLst/>
          </a:prstGeom>
          <a:noFill/>
          <a:ln w="0">
            <a:noFill/>
            <a:prstDash val="solid"/>
          </a:ln>
        </p:spPr>
        <p:txBody>
          <a:bodyPr/>
          <a:lstStyle/>
          <a:p>
            <a:pPr algn="l">
              <a:lnSpc>
                <a:spcPct val="110000"/>
              </a:lnSpc>
              <a:buNone/>
              <a:defRPr sz="1575" b="0">
                <a:solidFill>
                  <a:srgbClr val="22160F"/>
                </a:solidFill>
                <a:latin typeface="微软雅黑" panose="020B0503020204020204" charset="-122"/>
                <a:ea typeface="微软雅黑" panose="020B0503020204020204" charset="-122"/>
                <a:cs typeface="微软雅黑" panose="020B0503020204020204" charset="-122"/>
              </a:defRPr>
            </a:pPr>
            <a:r>
              <a:rPr sz="2000" b="0">
                <a:solidFill>
                  <a:srgbClr val="000000"/>
                </a:solidFill>
              </a:rPr>
              <a:t>心理描写句型；动作描写句型；语言描写、环境描写+其他句型。</a:t>
            </a:r>
            <a:endParaRPr sz="2000" b="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5" grpId="0"/>
      <p:bldP spid="19" grpId="0"/>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心理描写</a:t>
            </a:r>
            <a:r>
              <a:rPr sz="2600">
                <a:solidFill>
                  <a:srgbClr val="000000"/>
                </a:solidFill>
              </a:rPr>
              <a:t>句型（一）</a:t>
            </a:r>
            <a:endParaRPr sz="2600">
              <a:solidFill>
                <a:srgbClr val="000000"/>
              </a:solidFill>
            </a:endParaRPr>
          </a:p>
        </p:txBody>
      </p:sp>
      <p:sp>
        <p:nvSpPr>
          <p:cNvPr id="4" name="圆角矩形 3"/>
          <p:cNvSpPr/>
          <p:nvPr/>
        </p:nvSpPr>
        <p:spPr>
          <a:xfrm>
            <a:off x="876300" y="1651000"/>
            <a:ext cx="10439400" cy="136271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情绪名词负面1n. gave way to 情绪名词正向2n.</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从….情绪1转变正…..情绪2</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128010"/>
            <a:ext cx="10439400" cy="136334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329311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333121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句型2</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25501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情绪n1 mingled with 情绪n2，sb. did sth.</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情绪1混合着情绪2,某人做了某事</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p:nvPr/>
        </p:nvSpPr>
        <p:spPr>
          <a:xfrm>
            <a:off x="876300" y="4605655"/>
            <a:ext cx="10439400" cy="136271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圆角矩形 12"/>
          <p:cNvSpPr/>
          <p:nvPr/>
        </p:nvSpPr>
        <p:spPr>
          <a:xfrm>
            <a:off x="1092200" y="4770755"/>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155700" y="4808855"/>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句型3</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463800" y="5083810"/>
            <a:ext cx="8496300" cy="307340"/>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心理描写+动作描写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-情绪1 and 情绪2, 主语的一个动作….</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心理描写</a:t>
            </a:r>
            <a:r>
              <a:rPr sz="2600">
                <a:solidFill>
                  <a:srgbClr val="000000"/>
                </a:solidFill>
              </a:rPr>
              <a:t>句型（二）</a:t>
            </a:r>
            <a:endParaRPr sz="2600">
              <a:solidFill>
                <a:srgbClr val="000000"/>
              </a:solidFill>
            </a:endParaRPr>
          </a:p>
        </p:txBody>
      </p:sp>
      <p:sp>
        <p:nvSpPr>
          <p:cNvPr id="4" name="圆角矩形 3"/>
          <p:cNvSpPr/>
          <p:nvPr/>
        </p:nvSpPr>
        <p:spPr>
          <a:xfrm>
            <a:off x="876300" y="165100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句型4</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923290"/>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A sense (wave/flush/ripple) of +情绪名词 flooded (swept over/overwhelmed )sb.</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一阵…的情绪席卷某人。</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86715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403225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407035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句型5</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99415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心理描写+动作描写-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so 情绪adj was sb. that +陈述句….</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某人是如此….以至于做了什么动作</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心理描写</a:t>
            </a:r>
            <a:r>
              <a:rPr sz="2600">
                <a:solidFill>
                  <a:srgbClr val="000000"/>
                </a:solidFill>
              </a:rPr>
              <a:t>句型（三）</a:t>
            </a:r>
            <a:endParaRPr sz="2600">
              <a:solidFill>
                <a:srgbClr val="000000"/>
              </a:solidFill>
            </a:endParaRPr>
          </a:p>
        </p:txBody>
      </p:sp>
      <p:sp>
        <p:nvSpPr>
          <p:cNvPr id="4" name="圆角矩形 3"/>
          <p:cNvSpPr/>
          <p:nvPr/>
        </p:nvSpPr>
        <p:spPr>
          <a:xfrm>
            <a:off x="876300" y="165100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句型6</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923290"/>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To one’s +情绪名词，sb. did sth.…./Much/greatly to one’s +情绪名词，主句…/To one’s great +情绪名词，主句…</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令某人…..的是，某人做了什么事</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86715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403225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407035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句型7</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99415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-With复合结构/（growing +情绪n.）,sb. did sth.</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带着….的情绪，某人做了…..</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动作描写</a:t>
            </a:r>
            <a:r>
              <a:rPr sz="2600">
                <a:solidFill>
                  <a:srgbClr val="000000"/>
                </a:solidFill>
              </a:rPr>
              <a:t>句型（一）</a:t>
            </a:r>
            <a:endParaRPr sz="2600">
              <a:solidFill>
                <a:srgbClr val="000000"/>
              </a:solidFill>
            </a:endParaRPr>
          </a:p>
        </p:txBody>
      </p:sp>
      <p:sp>
        <p:nvSpPr>
          <p:cNvPr id="4" name="圆角矩形 3"/>
          <p:cNvSpPr/>
          <p:nvPr/>
        </p:nvSpPr>
        <p:spPr>
          <a:xfrm>
            <a:off x="876300" y="1651000"/>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动作面</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2759075"/>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2924175"/>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2962275"/>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句型2</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2886075"/>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动作链：</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Having done…..，主句….</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p:nvPr/>
        </p:nvSpPr>
        <p:spPr>
          <a:xfrm>
            <a:off x="876300" y="3867150"/>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圆角矩形 12"/>
          <p:cNvSpPr/>
          <p:nvPr/>
        </p:nvSpPr>
        <p:spPr>
          <a:xfrm>
            <a:off x="1092200" y="403225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155700" y="407035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句型3</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463800" y="399415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动作面：</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 某人 did A，B and C</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某人做了A，B 和C 三个动作</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p:nvPr/>
        </p:nvSpPr>
        <p:spPr>
          <a:xfrm>
            <a:off x="876300" y="4975225"/>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圆角矩形 16"/>
          <p:cNvSpPr/>
          <p:nvPr/>
        </p:nvSpPr>
        <p:spPr>
          <a:xfrm>
            <a:off x="1092200" y="5140325"/>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155700" y="5178425"/>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句型4</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2463800" y="5102225"/>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动作描写</a:t>
            </a:r>
            <a:r>
              <a:rPr sz="2600">
                <a:solidFill>
                  <a:srgbClr val="000000"/>
                </a:solidFill>
              </a:rPr>
              <a:t>句型（二）</a:t>
            </a:r>
            <a:endParaRPr sz="2600">
              <a:solidFill>
                <a:srgbClr val="000000"/>
              </a:solidFill>
            </a:endParaRPr>
          </a:p>
        </p:txBody>
      </p:sp>
      <p:sp>
        <p:nvSpPr>
          <p:cNvPr id="4" name="圆角矩形 3"/>
          <p:cNvSpPr/>
          <p:nvPr/>
        </p:nvSpPr>
        <p:spPr>
          <a:xfrm>
            <a:off x="876300" y="1651000"/>
            <a:ext cx="10439400" cy="136271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句型c5</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1230630"/>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128010"/>
            <a:ext cx="10439400" cy="136334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329311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333121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句型6</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25501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p:nvPr/>
        </p:nvSpPr>
        <p:spPr>
          <a:xfrm>
            <a:off x="876300" y="4605655"/>
            <a:ext cx="10439400" cy="136271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圆角矩形 12"/>
          <p:cNvSpPr/>
          <p:nvPr/>
        </p:nvSpPr>
        <p:spPr>
          <a:xfrm>
            <a:off x="1092200" y="4770755"/>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155700" y="4808855"/>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句型7</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463800" y="4732655"/>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Not only 情/助+主语+动词…but also…陈述句 倒装句型</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某人不仅…而且….</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语言</a:t>
            </a:r>
            <a:r>
              <a:rPr sz="2600">
                <a:solidFill>
                  <a:srgbClr val="000000"/>
                </a:solidFill>
              </a:rPr>
              <a:t>/</a:t>
            </a:r>
            <a:r>
              <a:rPr sz="2600">
                <a:solidFill>
                  <a:srgbClr val="004E9A"/>
                </a:solidFill>
              </a:rPr>
              <a:t>环境</a:t>
            </a:r>
            <a:r>
              <a:rPr sz="2600">
                <a:solidFill>
                  <a:srgbClr val="000000"/>
                </a:solidFill>
              </a:rPr>
              <a:t>/其他句型（一）</a:t>
            </a:r>
            <a:endParaRPr sz="2600">
              <a:solidFill>
                <a:srgbClr val="000000"/>
              </a:solidFill>
            </a:endParaRPr>
          </a:p>
        </p:txBody>
      </p:sp>
      <p:sp>
        <p:nvSpPr>
          <p:cNvPr id="4" name="圆角矩形 3"/>
          <p:cNvSpPr/>
          <p:nvPr/>
        </p:nvSpPr>
        <p:spPr>
          <a:xfrm>
            <a:off x="876300" y="165100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语言描写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86715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403225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407035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句型2</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994150"/>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语言描写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 “……”Sb. said in  a/an adj way</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语言</a:t>
            </a:r>
            <a:r>
              <a:rPr sz="2600">
                <a:solidFill>
                  <a:srgbClr val="000000"/>
                </a:solidFill>
              </a:rPr>
              <a:t>/</a:t>
            </a:r>
            <a:r>
              <a:rPr sz="2600">
                <a:solidFill>
                  <a:srgbClr val="004E9A"/>
                </a:solidFill>
              </a:rPr>
              <a:t>环境</a:t>
            </a:r>
            <a:r>
              <a:rPr sz="2600">
                <a:solidFill>
                  <a:srgbClr val="000000"/>
                </a:solidFill>
              </a:rPr>
              <a:t>/其他句型（二）</a:t>
            </a:r>
            <a:endParaRPr sz="2600">
              <a:solidFill>
                <a:srgbClr val="000000"/>
              </a:solidFill>
            </a:endParaRPr>
          </a:p>
        </p:txBody>
      </p:sp>
      <p:sp>
        <p:nvSpPr>
          <p:cNvPr id="4" name="圆角矩形 3"/>
          <p:cNvSpPr/>
          <p:nvPr/>
        </p:nvSpPr>
        <p:spPr>
          <a:xfrm>
            <a:off x="876300" y="165100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句型3</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923290"/>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环境描写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-Immediately/suddenly, an absolute /a complete + n ruled the +地点n and a wave of 情绪n, washed/swept over sb.</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突然，一种绝对。。。控制了某个地方并且一阵…的情绪席卷某人。</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86715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403225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407035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句型4</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994150"/>
            <a:ext cx="8496300" cy="615315"/>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It occurred to sb that</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某人突然想起….</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语言</a:t>
            </a:r>
            <a:r>
              <a:rPr sz="2600">
                <a:solidFill>
                  <a:srgbClr val="000000"/>
                </a:solidFill>
              </a:rPr>
              <a:t>/</a:t>
            </a:r>
            <a:r>
              <a:rPr sz="2600">
                <a:solidFill>
                  <a:srgbClr val="004E9A"/>
                </a:solidFill>
              </a:rPr>
              <a:t>环境</a:t>
            </a:r>
            <a:r>
              <a:rPr sz="2600">
                <a:solidFill>
                  <a:srgbClr val="000000"/>
                </a:solidFill>
              </a:rPr>
              <a:t>/其他句型（三）</a:t>
            </a:r>
            <a:endParaRPr sz="2600">
              <a:solidFill>
                <a:srgbClr val="000000"/>
              </a:solidFill>
            </a:endParaRPr>
          </a:p>
        </p:txBody>
      </p:sp>
      <p:sp>
        <p:nvSpPr>
          <p:cNvPr id="4" name="圆角矩形 3"/>
          <p:cNvSpPr/>
          <p:nvPr/>
        </p:nvSpPr>
        <p:spPr>
          <a:xfrm>
            <a:off x="876300" y="1651000"/>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句型6</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615315"/>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Without a second thought, sb. did sth.</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2759075"/>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2924175"/>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2962275"/>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句型7</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2886075"/>
            <a:ext cx="8496300" cy="615315"/>
          </a:xfrm>
          <a:prstGeom prst="rect">
            <a:avLst/>
          </a:prstGeom>
          <a:noFill/>
        </p:spPr>
        <p:txBody>
          <a:bodyPr wrap="square" lIns="0" tIns="0" rIns="0" bIns="0" rtlCol="0" anchor="t">
            <a:spAutoFit/>
          </a:bodyPr>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尽管某人….，Ta还是做了…</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p:nvPr/>
        </p:nvSpPr>
        <p:spPr>
          <a:xfrm>
            <a:off x="876300" y="3867150"/>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圆角矩形 12"/>
          <p:cNvSpPr/>
          <p:nvPr/>
        </p:nvSpPr>
        <p:spPr>
          <a:xfrm>
            <a:off x="1092200" y="403225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155700" y="407035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句型8</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463800" y="3994150"/>
            <a:ext cx="8496300" cy="615315"/>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p:nvPr/>
        </p:nvSpPr>
        <p:spPr>
          <a:xfrm>
            <a:off x="876300" y="4975225"/>
            <a:ext cx="10439400" cy="99377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圆角矩形 16"/>
          <p:cNvSpPr/>
          <p:nvPr/>
        </p:nvSpPr>
        <p:spPr>
          <a:xfrm>
            <a:off x="1092200" y="5140325"/>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文本框 17"/>
          <p:cNvSpPr txBox="1"/>
          <p:nvPr/>
        </p:nvSpPr>
        <p:spPr>
          <a:xfrm>
            <a:off x="1155700" y="5178425"/>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句型9</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2463800" y="5102225"/>
            <a:ext cx="8496300" cy="615315"/>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心理描写+动作描写</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So adj was sb +that he/she…倒装句</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某人是如此…以至于做了什么</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语言</a:t>
            </a:r>
            <a:r>
              <a:rPr sz="2600">
                <a:solidFill>
                  <a:srgbClr val="000000"/>
                </a:solidFill>
              </a:rPr>
              <a:t>/</a:t>
            </a:r>
            <a:r>
              <a:rPr sz="2600">
                <a:solidFill>
                  <a:srgbClr val="004E9A"/>
                </a:solidFill>
              </a:rPr>
              <a:t>环境</a:t>
            </a:r>
            <a:r>
              <a:rPr sz="2600">
                <a:solidFill>
                  <a:srgbClr val="000000"/>
                </a:solidFill>
              </a:rPr>
              <a:t>/其他句型（四）</a:t>
            </a:r>
            <a:endParaRPr sz="2600">
              <a:solidFill>
                <a:srgbClr val="000000"/>
              </a:solidFill>
            </a:endParaRPr>
          </a:p>
        </p:txBody>
      </p:sp>
      <p:sp>
        <p:nvSpPr>
          <p:cNvPr id="4" name="圆角矩形 3"/>
          <p:cNvSpPr/>
          <p:nvPr/>
        </p:nvSpPr>
        <p:spPr>
          <a:xfrm>
            <a:off x="876300" y="1651000"/>
            <a:ext cx="10439400" cy="136271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句型10</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615315"/>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128010"/>
            <a:ext cx="10439400" cy="1363345"/>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329311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333121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句型11</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255010"/>
            <a:ext cx="8496300" cy="615315"/>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强调句仿写：It is/was+被强调部分+that/who +剩余部分。/</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It is/was not until …that …</a:t>
            </a:r>
            <a:r>
              <a:rPr lang="zh-CN" altLang="en-US" sz="2000">
                <a:solidFill>
                  <a:srgbClr val="000000"/>
                </a:solidFill>
                <a:latin typeface="微软雅黑" panose="020B0503020204020204" charset="-122"/>
                <a:ea typeface="微软雅黑" panose="020B0503020204020204" charset="-122"/>
                <a:cs typeface="微软雅黑" panose="020B0503020204020204" charset="-122"/>
              </a:rPr>
              <a:t>正是…..，某人才….</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p:nvPr/>
        </p:nvSpPr>
        <p:spPr>
          <a:xfrm>
            <a:off x="876300" y="4605655"/>
            <a:ext cx="10439400" cy="136271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圆角矩形 12"/>
          <p:cNvSpPr/>
          <p:nvPr/>
        </p:nvSpPr>
        <p:spPr>
          <a:xfrm>
            <a:off x="1092200" y="4770755"/>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文本框 13"/>
          <p:cNvSpPr txBox="1"/>
          <p:nvPr/>
        </p:nvSpPr>
        <p:spPr>
          <a:xfrm>
            <a:off x="1155700" y="4808855"/>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句型12</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2463800" y="4732655"/>
            <a:ext cx="8496300" cy="615315"/>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语言</a:t>
            </a:r>
            <a:r>
              <a:rPr sz="2600">
                <a:solidFill>
                  <a:srgbClr val="000000"/>
                </a:solidFill>
              </a:rPr>
              <a:t>/</a:t>
            </a:r>
            <a:r>
              <a:rPr sz="2600">
                <a:solidFill>
                  <a:srgbClr val="004E9A"/>
                </a:solidFill>
              </a:rPr>
              <a:t>环境</a:t>
            </a:r>
            <a:r>
              <a:rPr sz="2600">
                <a:solidFill>
                  <a:srgbClr val="000000"/>
                </a:solidFill>
              </a:rPr>
              <a:t>/其他句型（五）</a:t>
            </a:r>
            <a:endParaRPr sz="2600">
              <a:solidFill>
                <a:srgbClr val="000000"/>
              </a:solidFill>
            </a:endParaRPr>
          </a:p>
        </p:txBody>
      </p:sp>
      <p:sp>
        <p:nvSpPr>
          <p:cNvPr id="4" name="圆角矩形 3"/>
          <p:cNvSpPr/>
          <p:nvPr/>
        </p:nvSpPr>
        <p:spPr>
          <a:xfrm>
            <a:off x="876300" y="1651000"/>
            <a:ext cx="10439400" cy="431800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句型13</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1230630"/>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主语从句+表语从句第一句：(What interested/attracted/appealed/impressed/inspired me most)  is   (that….)</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最使我感兴趣的是/最吸引我的是/最让我印象深刻的是/最鼓舞我的是…</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5353050" cy="704850"/>
          </a:xfrm>
          <a:prstGeom prst="rect">
            <a:avLst/>
          </a:prstGeom>
          <a:solidFill>
            <a:srgbClr val="F4F2EF"/>
          </a:solidFill>
          <a:ln w="0">
            <a:noFill/>
            <a:prstDash val="solid"/>
          </a:ln>
        </p:spPr>
      </p:sp>
      <p:sp>
        <p:nvSpPr>
          <p:cNvPr id="3" name="矩形 2"/>
          <p:cNvSpPr>
            <a:spLocks noGrp="1"/>
          </p:cNvSpPr>
          <p:nvPr/>
        </p:nvSpPr>
        <p:spPr>
          <a:xfrm>
            <a:off x="819150" y="647700"/>
            <a:ext cx="4953000" cy="495300"/>
          </a:xfrm>
          <a:prstGeom prst="rect">
            <a:avLst/>
          </a:prstGeom>
          <a:noFill/>
          <a:ln w="0">
            <a:noFill/>
            <a:prstDash val="solid"/>
          </a:ln>
        </p:spPr>
        <p:txBody>
          <a:bodyPr/>
          <a:lstStyle/>
          <a:p>
            <a:pPr algn="l">
              <a:lnSpc>
                <a:spcPct val="100000"/>
              </a:lnSpc>
              <a:buNone/>
              <a:defRPr sz="2925" b="1">
                <a:solidFill>
                  <a:srgbClr val="0F0A06"/>
                </a:solidFill>
                <a:latin typeface="微软雅黑" panose="020B0503020204020204" charset="-122"/>
                <a:ea typeface="微软雅黑" panose="020B0503020204020204" charset="-122"/>
                <a:cs typeface="微软雅黑" panose="020B0503020204020204" charset="-122"/>
              </a:defRPr>
            </a:pPr>
            <a:r>
              <a:rPr sz="2600">
                <a:solidFill>
                  <a:srgbClr val="004E9A"/>
                </a:solidFill>
              </a:rPr>
              <a:t>语言</a:t>
            </a:r>
            <a:r>
              <a:rPr sz="2600">
                <a:solidFill>
                  <a:srgbClr val="000000"/>
                </a:solidFill>
              </a:rPr>
              <a:t>/</a:t>
            </a:r>
            <a:r>
              <a:rPr sz="2600">
                <a:solidFill>
                  <a:srgbClr val="004E9A"/>
                </a:solidFill>
              </a:rPr>
              <a:t>环境</a:t>
            </a:r>
            <a:r>
              <a:rPr sz="2600">
                <a:solidFill>
                  <a:srgbClr val="000000"/>
                </a:solidFill>
              </a:rPr>
              <a:t>/其他句型（六）</a:t>
            </a:r>
            <a:endParaRPr sz="2600">
              <a:solidFill>
                <a:srgbClr val="000000"/>
              </a:solidFill>
            </a:endParaRPr>
          </a:p>
        </p:txBody>
      </p:sp>
      <p:sp>
        <p:nvSpPr>
          <p:cNvPr id="4" name="圆角矩形 3"/>
          <p:cNvSpPr/>
          <p:nvPr/>
        </p:nvSpPr>
        <p:spPr>
          <a:xfrm>
            <a:off x="876300" y="165100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nvSpPr>
        <p:spPr>
          <a:xfrm>
            <a:off x="1092200" y="181610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1155700" y="185420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句型14</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463800" y="1778000"/>
            <a:ext cx="8496300" cy="923290"/>
          </a:xfrm>
          <a:prstGeom prst="rect">
            <a:avLst/>
          </a:prstGeom>
          <a:noFill/>
        </p:spPr>
        <p:txBody>
          <a:bodyPr wrap="square" lIns="0" tIns="0" rIns="0" bIns="0" rtlCol="0" anchor="t">
            <a:spAutoFit/>
          </a:bodyPr>
          <a:p>
            <a:pPr algn="l"/>
            <a:r>
              <a:rPr lang="zh-CN" altLang="en-US" sz="2000" b="1">
                <a:solidFill>
                  <a:srgbClr val="004E9A"/>
                </a:solidFill>
                <a:latin typeface="微软雅黑" panose="020B0503020204020204" charset="-122"/>
                <a:ea typeface="微软雅黑" panose="020B0503020204020204" charset="-122"/>
                <a:cs typeface="微软雅黑" panose="020B0503020204020204" charset="-122"/>
              </a:rPr>
              <a:t>动作+心理</a:t>
            </a:r>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Seeing/Hearing sth. sb. felt a great sense of 情绪+welling up in one’s heart and surging through sb.</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听到、看到…某人感到一阵…的感觉涌上心头并且涌遍全身。</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p:nvPr/>
        </p:nvSpPr>
        <p:spPr>
          <a:xfrm>
            <a:off x="876300" y="3867150"/>
            <a:ext cx="10439400" cy="2101850"/>
          </a:xfrm>
          <a:prstGeom prst="roundRect">
            <a:avLst/>
          </a:prstGeom>
          <a:solidFill>
            <a:srgbClr val="FFF7ED"/>
          </a:solidFill>
          <a:ln w="1270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圆角矩形 8"/>
          <p:cNvSpPr/>
          <p:nvPr/>
        </p:nvSpPr>
        <p:spPr>
          <a:xfrm>
            <a:off x="1092200" y="4032250"/>
            <a:ext cx="1117600" cy="406400"/>
          </a:xfrm>
          <a:prstGeom prst="roundRect">
            <a:avLst/>
          </a:prstGeom>
          <a:solidFill>
            <a:srgbClr val="FF8A1F"/>
          </a:solidFill>
          <a:ln w="0">
            <a:solidFill>
              <a:srgbClr val="FF8A1F"/>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1155700" y="4070350"/>
            <a:ext cx="990600" cy="276860"/>
          </a:xfrm>
          <a:prstGeom prst="rect">
            <a:avLst/>
          </a:prstGeom>
          <a:noFill/>
        </p:spPr>
        <p:txBody>
          <a:bodyPr wrap="square" lIns="0" tIns="0" rIns="0" bIns="0" rtlCol="0" anchor="t">
            <a:spAutoFit/>
          </a:bodyPr>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rPr>
              <a:t>句型15</a:t>
            </a:r>
            <a:endParaRPr lang="zh-CN" altLang="en-US"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2463800" y="3994150"/>
            <a:ext cx="8496300" cy="923290"/>
          </a:xfrm>
          <a:prstGeom prst="rect">
            <a:avLst/>
          </a:prstGeom>
          <a:noFill/>
        </p:spPr>
        <p:txBody>
          <a:bodyPr wrap="square" lIns="0" tIns="0" rIns="0" bIns="0" rtlCol="0" anchor="t">
            <a:spAutoFit/>
          </a:bodyPr>
          <a:p>
            <a:pPr algn="l"/>
            <a:r>
              <a:rPr lang="zh-CN" altLang="en-US" sz="2000" b="1">
                <a:solidFill>
                  <a:srgbClr val="000000"/>
                </a:solidFill>
                <a:latin typeface="微软雅黑" panose="020B0503020204020204" charset="-122"/>
                <a:ea typeface="微软雅黑" panose="020B0503020204020204" charset="-122"/>
                <a:cs typeface="微软雅黑" panose="020B0503020204020204" charset="-122"/>
              </a:rPr>
              <a:t>动作+心理，one’s heart pounding fiercely and one’s plam sweating ,an inner voice told sb. that….</a:t>
            </a:r>
            <a:endParaRPr lang="zh-CN" altLang="en-US" sz="2000" b="1">
              <a:solidFill>
                <a:srgbClr val="000000"/>
              </a:solidFill>
              <a:latin typeface="微软雅黑" panose="020B0503020204020204" charset="-122"/>
              <a:ea typeface="微软雅黑" panose="020B0503020204020204" charset="-122"/>
              <a:cs typeface="微软雅黑" panose="020B0503020204020204" charset="-122"/>
            </a:endParaRPr>
          </a:p>
          <a:p>
            <a:pPr algn="l"/>
            <a:r>
              <a:rPr lang="zh-CN" altLang="en-US" sz="2000">
                <a:solidFill>
                  <a:srgbClr val="000000"/>
                </a:solidFill>
                <a:latin typeface="微软雅黑" panose="020B0503020204020204" charset="-122"/>
                <a:ea typeface="微软雅黑" panose="020B0503020204020204" charset="-122"/>
                <a:cs typeface="微软雅黑" panose="020B0503020204020204" charset="-122"/>
              </a:rPr>
              <a:t>某人的心脏狂跳，手掌出汗，内心有一个声音告诉自己要…</a:t>
            </a:r>
            <a:endParaRPr lang="zh-CN" altLang="en-US" sz="200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a:solidFill>
                  <a:srgbClr val="004E9A"/>
                </a:solidFill>
                <a:latin typeface="微软雅黑" panose="020B0503020204020204" charset="-122"/>
                <a:ea typeface="微软雅黑" panose="020B0503020204020204" charset="-122"/>
                <a:cs typeface="微软雅黑" panose="020B0503020204020204" charset="-122"/>
              </a:rPr>
              <a:t>读后续写---高级句型仿写---心理描写</a:t>
            </a:r>
            <a:endParaRPr sz="1725" b="1">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a:solidFill>
                  <a:srgbClr val="FFFFFF"/>
                </a:solidFill>
                <a:latin typeface="微软雅黑" panose="020B0503020204020204" charset="-122"/>
                <a:ea typeface="微软雅黑" panose="020B0503020204020204" charset="-122"/>
                <a:cs typeface="微软雅黑" panose="020B0503020204020204" charset="-122"/>
              </a:rPr>
              <a:t>读后续写
高级句型仿写
心理描写</a:t>
            </a:r>
            <a:endParaRPr sz="29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714750" cy="323850"/>
          </a:xfrm>
          <a:prstGeom prst="rect">
            <a:avLst/>
          </a:prstGeom>
          <a:noFill/>
          <a:ln w="0">
            <a:noFill/>
            <a:prstDash val="solid"/>
          </a:ln>
        </p:spPr>
        <p:txBody>
          <a:bodyPr wrap="square" lIns="0" tIns="0" rIns="0" bIns="0" anchor="ctr"/>
          <a:lstStyle/>
          <a:p>
            <a:pPr algn="l">
              <a:lnSpc>
                <a:spcPct val="105000"/>
              </a:lnSpc>
              <a:buNone/>
              <a:defRPr sz="1875">
                <a:latin typeface="微软雅黑" panose="020B0503020204020204" charset="-122"/>
                <a:ea typeface="微软雅黑" panose="020B0503020204020204" charset="-122"/>
                <a:cs typeface="微软雅黑" panose="020B0503020204020204" charset="-122"/>
              </a:defRPr>
            </a:pPr>
            <a:r>
              <a:rPr sz="1875" b="1">
                <a:solidFill>
                  <a:srgbClr val="5A2A10"/>
                </a:solidFill>
                <a:latin typeface="微软雅黑" panose="020B0503020204020204" charset="-122"/>
                <a:ea typeface="微软雅黑" panose="020B0503020204020204" charset="-122"/>
                <a:cs typeface="微软雅黑" panose="020B0503020204020204" charset="-122"/>
              </a:rPr>
              <a:t>消极情绪 / 积极情绪</a:t>
            </a:r>
            <a:endParaRPr sz="1875" b="1">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图片 2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消极情绪总结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Painful     </a:t>
            </a:r>
            <a:r>
              <a:rPr sz="2025" b="0">
                <a:solidFill>
                  <a:srgbClr val="000000"/>
                </a:solidFill>
                <a:latin typeface="微软雅黑" panose="020B0503020204020204" charset="-122"/>
                <a:ea typeface="微软雅黑" panose="020B0503020204020204" charset="-122"/>
                <a:cs typeface="微软雅黑" panose="020B0503020204020204" charset="-122"/>
              </a:rPr>
              <a:t>疼痛的，痛苦的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pain</a:t>
            </a:r>
            <a:r>
              <a:rPr sz="2025" b="0">
                <a:solidFill>
                  <a:srgbClr val="000000"/>
                </a:solidFill>
                <a:latin typeface="微软雅黑" panose="020B0503020204020204" charset="-122"/>
                <a:ea typeface="微软雅黑" panose="020B0503020204020204" charset="-122"/>
                <a:cs typeface="微软雅黑" panose="020B0503020204020204" charset="-122"/>
              </a:rPr>
              <a:t> 痛苦</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7622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Nervous   </a:t>
            </a:r>
            <a:r>
              <a:rPr sz="2025" b="0">
                <a:solidFill>
                  <a:srgbClr val="000000"/>
                </a:solidFill>
                <a:latin typeface="微软雅黑" panose="020B0503020204020204" charset="-122"/>
                <a:ea typeface="微软雅黑" panose="020B0503020204020204" charset="-122"/>
                <a:cs typeface="微软雅黑" panose="020B0503020204020204" charset="-122"/>
              </a:rPr>
              <a:t>紧张的，不安的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7622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nervousness</a:t>
            </a:r>
            <a:r>
              <a:rPr sz="2025" b="0">
                <a:solidFill>
                  <a:srgbClr val="000000"/>
                </a:solidFill>
                <a:latin typeface="微软雅黑" panose="020B0503020204020204" charset="-122"/>
                <a:ea typeface="微软雅黑" panose="020B0503020204020204" charset="-122"/>
                <a:cs typeface="微软雅黑" panose="020B0503020204020204" charset="-122"/>
              </a:rPr>
              <a:t> 紧张</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3147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Worried </a:t>
            </a:r>
            <a:r>
              <a:rPr sz="2025" b="0">
                <a:solidFill>
                  <a:srgbClr val="000000"/>
                </a:solidFill>
                <a:latin typeface="微软雅黑" panose="020B0503020204020204" charset="-122"/>
                <a:ea typeface="微软雅黑" panose="020B0503020204020204" charset="-122"/>
                <a:cs typeface="微软雅黑" panose="020B0503020204020204" charset="-122"/>
              </a:rPr>
              <a:t>担心 / 担忧的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3147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worry</a:t>
            </a:r>
            <a:r>
              <a:rPr sz="2025" b="0">
                <a:solidFill>
                  <a:srgbClr val="000000"/>
                </a:solidFill>
                <a:latin typeface="微软雅黑" panose="020B0503020204020204" charset="-122"/>
                <a:ea typeface="微软雅黑" panose="020B0503020204020204" charset="-122"/>
                <a:cs typeface="微软雅黑" panose="020B0503020204020204" charset="-122"/>
              </a:rPr>
              <a:t> 担忧</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38671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concerned</a:t>
            </a:r>
            <a:r>
              <a:rPr sz="2025" b="0">
                <a:solidFill>
                  <a:srgbClr val="000000"/>
                </a:solidFill>
                <a:latin typeface="微软雅黑" panose="020B0503020204020204" charset="-122"/>
                <a:ea typeface="微软雅黑" panose="020B0503020204020204" charset="-122"/>
                <a:cs typeface="微软雅黑" panose="020B0503020204020204" charset="-122"/>
              </a:rPr>
              <a:t> 担心 / 担忧的；关心 / 挂念的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38671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concern</a:t>
            </a:r>
            <a:r>
              <a:rPr sz="2025" b="0">
                <a:solidFill>
                  <a:srgbClr val="000000"/>
                </a:solidFill>
                <a:latin typeface="微软雅黑" panose="020B0503020204020204" charset="-122"/>
                <a:ea typeface="微软雅黑" panose="020B0503020204020204" charset="-122"/>
                <a:cs typeface="微软雅黑" panose="020B0503020204020204" charset="-122"/>
              </a:rPr>
              <a:t> 担忧</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4196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anxious</a:t>
            </a:r>
            <a:r>
              <a:rPr sz="2025" b="0">
                <a:solidFill>
                  <a:srgbClr val="000000"/>
                </a:solidFill>
                <a:latin typeface="微软雅黑" panose="020B0503020204020204" charset="-122"/>
                <a:ea typeface="微软雅黑" panose="020B0503020204020204" charset="-122"/>
                <a:cs typeface="微软雅黑" panose="020B0503020204020204" charset="-122"/>
              </a:rPr>
              <a:t> 焦虑的；渴望的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4196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anxiety</a:t>
            </a:r>
            <a:r>
              <a:rPr sz="2025" b="0">
                <a:solidFill>
                  <a:srgbClr val="000000"/>
                </a:solidFill>
                <a:latin typeface="微软雅黑" panose="020B0503020204020204" charset="-122"/>
                <a:ea typeface="微软雅黑" panose="020B0503020204020204" charset="-122"/>
                <a:cs typeface="微软雅黑" panose="020B0503020204020204" charset="-122"/>
              </a:rPr>
              <a:t> 焦虑</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1123950" y="49720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amazed</a:t>
            </a:r>
            <a:r>
              <a:rPr sz="2025" b="0">
                <a:solidFill>
                  <a:srgbClr val="000000"/>
                </a:solidFill>
                <a:latin typeface="微软雅黑" panose="020B0503020204020204" charset="-122"/>
                <a:ea typeface="微软雅黑" panose="020B0503020204020204" charset="-122"/>
                <a:cs typeface="微软雅黑" panose="020B0503020204020204" charset="-122"/>
              </a:rPr>
              <a:t> 惊奇的，惊叹的；吃惊的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6172200" y="49720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amazement</a:t>
            </a:r>
            <a:r>
              <a:rPr sz="2025" b="0">
                <a:solidFill>
                  <a:srgbClr val="000000"/>
                </a:solidFill>
                <a:latin typeface="微软雅黑" panose="020B0503020204020204" charset="-122"/>
                <a:ea typeface="微软雅黑" panose="020B0503020204020204" charset="-122"/>
                <a:cs typeface="微软雅黑" panose="020B0503020204020204" charset="-122"/>
              </a:rPr>
              <a:t> 惊讶</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1123950" y="55245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surprised</a:t>
            </a:r>
            <a:r>
              <a:rPr sz="2025" b="0">
                <a:solidFill>
                  <a:srgbClr val="000000"/>
                </a:solidFill>
                <a:latin typeface="微软雅黑" panose="020B0503020204020204" charset="-122"/>
                <a:ea typeface="微软雅黑" panose="020B0503020204020204" charset="-122"/>
                <a:cs typeface="微软雅黑" panose="020B0503020204020204" charset="-122"/>
              </a:rPr>
              <a:t> 惊讶的，吃惊的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172200" y="55245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surprise</a:t>
            </a:r>
            <a:r>
              <a:rPr sz="2025" b="0">
                <a:solidFill>
                  <a:srgbClr val="000000"/>
                </a:solidFill>
                <a:latin typeface="微软雅黑" panose="020B0503020204020204" charset="-122"/>
                <a:ea typeface="微软雅黑" panose="020B0503020204020204" charset="-122"/>
                <a:cs typeface="微软雅黑" panose="020B0503020204020204" charset="-122"/>
              </a:rPr>
              <a:t> 惊讶</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图片 2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消极情绪总结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shocked</a:t>
            </a:r>
            <a:r>
              <a:rPr sz="2025" b="0">
                <a:solidFill>
                  <a:srgbClr val="000000"/>
                </a:solidFill>
                <a:latin typeface="微软雅黑" panose="020B0503020204020204" charset="-122"/>
                <a:ea typeface="微软雅黑" panose="020B0503020204020204" charset="-122"/>
                <a:cs typeface="微软雅黑" panose="020B0503020204020204" charset="-122"/>
              </a:rPr>
              <a:t> 震惊的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shock</a:t>
            </a:r>
            <a:r>
              <a:rPr sz="2025" b="0">
                <a:solidFill>
                  <a:srgbClr val="000000"/>
                </a:solidFill>
                <a:latin typeface="微软雅黑" panose="020B0503020204020204" charset="-122"/>
                <a:ea typeface="微软雅黑" panose="020B0503020204020204" charset="-122"/>
                <a:cs typeface="微软雅黑" panose="020B0503020204020204" charset="-122"/>
              </a:rPr>
              <a:t> 惊讶</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7622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astonished</a:t>
            </a:r>
            <a:r>
              <a:rPr sz="2025" b="0">
                <a:solidFill>
                  <a:srgbClr val="000000"/>
                </a:solidFill>
                <a:latin typeface="微软雅黑" panose="020B0503020204020204" charset="-122"/>
                <a:ea typeface="微软雅黑" panose="020B0503020204020204" charset="-122"/>
                <a:cs typeface="微软雅黑" panose="020B0503020204020204" charset="-122"/>
              </a:rPr>
              <a:t> 惊讶的，吃惊的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7622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astonishment</a:t>
            </a:r>
            <a:r>
              <a:rPr sz="2025" b="0">
                <a:solidFill>
                  <a:srgbClr val="000000"/>
                </a:solidFill>
                <a:latin typeface="微软雅黑" panose="020B0503020204020204" charset="-122"/>
                <a:ea typeface="微软雅黑" panose="020B0503020204020204" charset="-122"/>
                <a:cs typeface="微软雅黑" panose="020B0503020204020204" charset="-122"/>
              </a:rPr>
              <a:t> 惊讶</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3147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puzzled</a:t>
            </a:r>
            <a:r>
              <a:rPr sz="2025" b="0">
                <a:solidFill>
                  <a:srgbClr val="000000"/>
                </a:solidFill>
                <a:latin typeface="微软雅黑" panose="020B0503020204020204" charset="-122"/>
                <a:ea typeface="微软雅黑" panose="020B0503020204020204" charset="-122"/>
                <a:cs typeface="微软雅黑" panose="020B0503020204020204" charset="-122"/>
              </a:rPr>
              <a:t> 迷惑的，困惑的，不解的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3147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puzzle</a:t>
            </a:r>
            <a:r>
              <a:rPr sz="2025" b="0">
                <a:solidFill>
                  <a:srgbClr val="000000"/>
                </a:solidFill>
                <a:latin typeface="微软雅黑" panose="020B0503020204020204" charset="-122"/>
                <a:ea typeface="微软雅黑" panose="020B0503020204020204" charset="-122"/>
                <a:cs typeface="微软雅黑" panose="020B0503020204020204" charset="-122"/>
              </a:rPr>
              <a:t> 困惑</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38671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confused</a:t>
            </a:r>
            <a:r>
              <a:rPr sz="2025" b="0">
                <a:solidFill>
                  <a:srgbClr val="000000"/>
                </a:solidFill>
                <a:latin typeface="微软雅黑" panose="020B0503020204020204" charset="-122"/>
                <a:ea typeface="微软雅黑" panose="020B0503020204020204" charset="-122"/>
                <a:cs typeface="微软雅黑" panose="020B0503020204020204" charset="-122"/>
              </a:rPr>
              <a:t> 迷惑的，困惑的，不解的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38671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confusion困</a:t>
            </a:r>
            <a:r>
              <a:rPr sz="2025" b="0">
                <a:solidFill>
                  <a:srgbClr val="000000"/>
                </a:solidFill>
                <a:latin typeface="微软雅黑" panose="020B0503020204020204" charset="-122"/>
                <a:ea typeface="微软雅黑" panose="020B0503020204020204" charset="-122"/>
                <a:cs typeface="微软雅黑" panose="020B0503020204020204" charset="-122"/>
              </a:rPr>
              <a:t>惑</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4196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sad</a:t>
            </a:r>
            <a:r>
              <a:rPr sz="2025" b="0">
                <a:solidFill>
                  <a:srgbClr val="000000"/>
                </a:solidFill>
                <a:latin typeface="微软雅黑" panose="020B0503020204020204" charset="-122"/>
                <a:ea typeface="微软雅黑" panose="020B0503020204020204" charset="-122"/>
                <a:cs typeface="微软雅黑" panose="020B0503020204020204" charset="-122"/>
              </a:rPr>
              <a:t> 伤心的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4196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sadness</a:t>
            </a:r>
            <a:r>
              <a:rPr sz="2025" b="0">
                <a:solidFill>
                  <a:srgbClr val="000000"/>
                </a:solidFill>
                <a:latin typeface="微软雅黑" panose="020B0503020204020204" charset="-122"/>
                <a:ea typeface="微软雅黑" panose="020B0503020204020204" charset="-122"/>
                <a:cs typeface="微软雅黑" panose="020B0503020204020204" charset="-122"/>
              </a:rPr>
              <a:t> 伤心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1123950" y="49720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upset</a:t>
            </a:r>
            <a:r>
              <a:rPr sz="2025" b="0">
                <a:solidFill>
                  <a:srgbClr val="000000"/>
                </a:solidFill>
                <a:latin typeface="微软雅黑" panose="020B0503020204020204" charset="-122"/>
                <a:ea typeface="微软雅黑" panose="020B0503020204020204" charset="-122"/>
                <a:cs typeface="微软雅黑" panose="020B0503020204020204" charset="-122"/>
              </a:rPr>
              <a:t> 伤心的，心烦意乱的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6172200" y="49720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upset</a:t>
            </a:r>
            <a:r>
              <a:rPr sz="2025" b="0">
                <a:solidFill>
                  <a:srgbClr val="000000"/>
                </a:solidFill>
                <a:latin typeface="微软雅黑" panose="020B0503020204020204" charset="-122"/>
                <a:ea typeface="微软雅黑" panose="020B0503020204020204" charset="-122"/>
                <a:cs typeface="微软雅黑" panose="020B0503020204020204" charset="-122"/>
              </a:rPr>
              <a:t> 伤心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1123950" y="55245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sorrowful</a:t>
            </a:r>
            <a:r>
              <a:rPr sz="2025" b="0">
                <a:solidFill>
                  <a:srgbClr val="000000"/>
                </a:solidFill>
                <a:latin typeface="微软雅黑" panose="020B0503020204020204" charset="-122"/>
                <a:ea typeface="微软雅黑" panose="020B0503020204020204" charset="-122"/>
                <a:cs typeface="微软雅黑" panose="020B0503020204020204" charset="-122"/>
              </a:rPr>
              <a:t> 悲伤的，悲痛的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172200" y="55245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sorrow</a:t>
            </a:r>
            <a:r>
              <a:rPr sz="2025" b="0">
                <a:solidFill>
                  <a:srgbClr val="000000"/>
                </a:solidFill>
                <a:latin typeface="微软雅黑" panose="020B0503020204020204" charset="-122"/>
                <a:ea typeface="微软雅黑" panose="020B0503020204020204" charset="-122"/>
                <a:cs typeface="微软雅黑" panose="020B0503020204020204" charset="-122"/>
              </a:rPr>
              <a:t> 伤心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图片 2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消极情绪总结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disappointed</a:t>
            </a:r>
            <a:r>
              <a:rPr sz="2025" b="0">
                <a:solidFill>
                  <a:srgbClr val="000000"/>
                </a:solidFill>
                <a:latin typeface="微软雅黑" panose="020B0503020204020204" charset="-122"/>
                <a:ea typeface="微软雅黑" panose="020B0503020204020204" charset="-122"/>
                <a:cs typeface="微软雅黑" panose="020B0503020204020204" charset="-122"/>
              </a:rPr>
              <a:t> 失望的，沮丧的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disappointment</a:t>
            </a:r>
            <a:r>
              <a:rPr sz="2025" b="0">
                <a:solidFill>
                  <a:srgbClr val="000000"/>
                </a:solidFill>
                <a:latin typeface="微软雅黑" panose="020B0503020204020204" charset="-122"/>
                <a:ea typeface="微软雅黑" panose="020B0503020204020204" charset="-122"/>
                <a:cs typeface="微软雅黑" panose="020B0503020204020204" charset="-122"/>
              </a:rPr>
              <a:t> 失望、失落</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7622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depressed</a:t>
            </a:r>
            <a:r>
              <a:rPr sz="2025" b="0">
                <a:solidFill>
                  <a:srgbClr val="000000"/>
                </a:solidFill>
                <a:latin typeface="微软雅黑" panose="020B0503020204020204" charset="-122"/>
                <a:ea typeface="微软雅黑" panose="020B0503020204020204" charset="-122"/>
                <a:cs typeface="微软雅黑" panose="020B0503020204020204" charset="-122"/>
              </a:rPr>
              <a:t> 沮丧的，抑郁的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7622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depression</a:t>
            </a:r>
            <a:r>
              <a:rPr sz="2025" b="0">
                <a:solidFill>
                  <a:srgbClr val="000000"/>
                </a:solidFill>
                <a:latin typeface="微软雅黑" panose="020B0503020204020204" charset="-122"/>
                <a:ea typeface="微软雅黑" panose="020B0503020204020204" charset="-122"/>
                <a:cs typeface="微软雅黑" panose="020B0503020204020204" charset="-122"/>
              </a:rPr>
              <a:t> 失望、失落</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3147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frustrated</a:t>
            </a:r>
            <a:r>
              <a:rPr sz="2025" b="0">
                <a:solidFill>
                  <a:srgbClr val="000000"/>
                </a:solidFill>
                <a:latin typeface="微软雅黑" panose="020B0503020204020204" charset="-122"/>
                <a:ea typeface="微软雅黑" panose="020B0503020204020204" charset="-122"/>
                <a:cs typeface="微软雅黑" panose="020B0503020204020204" charset="-122"/>
              </a:rPr>
              <a:t> 沮丧的，挫败的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3147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frustration</a:t>
            </a:r>
            <a:r>
              <a:rPr sz="2025" b="0">
                <a:solidFill>
                  <a:srgbClr val="000000"/>
                </a:solidFill>
                <a:latin typeface="微软雅黑" panose="020B0503020204020204" charset="-122"/>
                <a:ea typeface="微软雅黑" panose="020B0503020204020204" charset="-122"/>
                <a:cs typeface="微软雅黑" panose="020B0503020204020204" charset="-122"/>
              </a:rPr>
              <a:t> 失望、失落</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38671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discouraged</a:t>
            </a:r>
            <a:r>
              <a:rPr sz="2025" b="0">
                <a:solidFill>
                  <a:srgbClr val="000000"/>
                </a:solidFill>
                <a:latin typeface="微软雅黑" panose="020B0503020204020204" charset="-122"/>
                <a:ea typeface="微软雅黑" panose="020B0503020204020204" charset="-122"/>
                <a:cs typeface="微软雅黑" panose="020B0503020204020204" charset="-122"/>
              </a:rPr>
              <a:t> 灰心的，丧气的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38671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discouragement</a:t>
            </a:r>
            <a:r>
              <a:rPr sz="2025" b="0">
                <a:solidFill>
                  <a:srgbClr val="000000"/>
                </a:solidFill>
                <a:latin typeface="微软雅黑" panose="020B0503020204020204" charset="-122"/>
                <a:ea typeface="微软雅黑" panose="020B0503020204020204" charset="-122"/>
                <a:cs typeface="微软雅黑" panose="020B0503020204020204" charset="-122"/>
              </a:rPr>
              <a:t> 气馁</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4196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embarrassed</a:t>
            </a:r>
            <a:r>
              <a:rPr sz="2025" b="0">
                <a:solidFill>
                  <a:srgbClr val="000000"/>
                </a:solidFill>
                <a:latin typeface="微软雅黑" panose="020B0503020204020204" charset="-122"/>
                <a:ea typeface="微软雅黑" panose="020B0503020204020204" charset="-122"/>
                <a:cs typeface="微软雅黑" panose="020B0503020204020204" charset="-122"/>
              </a:rPr>
              <a:t> 尴尬的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4196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embarrassment</a:t>
            </a:r>
            <a:r>
              <a:rPr sz="2025" b="0">
                <a:solidFill>
                  <a:srgbClr val="000000"/>
                </a:solidFill>
                <a:latin typeface="微软雅黑" panose="020B0503020204020204" charset="-122"/>
                <a:ea typeface="微软雅黑" panose="020B0503020204020204" charset="-122"/>
                <a:cs typeface="微软雅黑" panose="020B0503020204020204" charset="-122"/>
              </a:rPr>
              <a:t> 尴尬</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1123950" y="49720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afraid</a:t>
            </a:r>
            <a:r>
              <a:rPr sz="2025" b="0">
                <a:solidFill>
                  <a:srgbClr val="000000"/>
                </a:solidFill>
                <a:latin typeface="微软雅黑" panose="020B0503020204020204" charset="-122"/>
                <a:ea typeface="微软雅黑" panose="020B0503020204020204" charset="-122"/>
                <a:cs typeface="微软雅黑" panose="020B0503020204020204" charset="-122"/>
              </a:rPr>
              <a:t> 害怕的 (胆小、懦弱)</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6172200" y="497205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0">
                <a:solidFill>
                  <a:srgbClr val="000000"/>
                </a:solidFill>
                <a:latin typeface="微软雅黑" panose="020B0503020204020204" charset="-122"/>
                <a:ea typeface="微软雅黑" panose="020B0503020204020204" charset="-122"/>
                <a:cs typeface="微软雅黑" panose="020B0503020204020204" charset="-122"/>
              </a:rPr>
              <a:t>/害怕</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1123950" y="55245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afraid</a:t>
            </a:r>
            <a:r>
              <a:rPr sz="2025" b="0">
                <a:solidFill>
                  <a:srgbClr val="000000"/>
                </a:solidFill>
                <a:latin typeface="微软雅黑" panose="020B0503020204020204" charset="-122"/>
                <a:ea typeface="微软雅黑" panose="020B0503020204020204" charset="-122"/>
                <a:cs typeface="微软雅黑" panose="020B0503020204020204" charset="-122"/>
              </a:rPr>
              <a:t> 害怕的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172200" y="5524500"/>
            <a:ext cx="4895850" cy="504825"/>
          </a:xfrm>
          <a:prstGeom prst="roundRect">
            <a:avLst>
              <a:gd name="adj" fmla="val 18868"/>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0">
                <a:solidFill>
                  <a:srgbClr val="000000"/>
                </a:solidFill>
                <a:latin typeface="微软雅黑" panose="020B0503020204020204" charset="-122"/>
                <a:ea typeface="微软雅黑" panose="020B0503020204020204" charset="-122"/>
                <a:cs typeface="微软雅黑" panose="020B0503020204020204" charset="-122"/>
              </a:rPr>
              <a:t>/害怕</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 name="图片 2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消极情绪总结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scared</a:t>
            </a:r>
            <a:r>
              <a:rPr sz="2025" b="0">
                <a:solidFill>
                  <a:srgbClr val="000000"/>
                </a:solidFill>
                <a:latin typeface="微软雅黑" panose="020B0503020204020204" charset="-122"/>
                <a:ea typeface="微软雅黑" panose="020B0503020204020204" charset="-122"/>
                <a:cs typeface="微软雅黑" panose="020B0503020204020204" charset="-122"/>
              </a:rPr>
              <a:t> 害怕的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scare</a:t>
            </a:r>
            <a:r>
              <a:rPr sz="2025" b="0">
                <a:solidFill>
                  <a:srgbClr val="000000"/>
                </a:solidFill>
                <a:latin typeface="微软雅黑" panose="020B0503020204020204" charset="-122"/>
                <a:ea typeface="微软雅黑" panose="020B0503020204020204" charset="-122"/>
                <a:cs typeface="微软雅黑" panose="020B0503020204020204" charset="-122"/>
              </a:rPr>
              <a:t> 害怕</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6955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fearful害怕</a:t>
            </a:r>
            <a:r>
              <a:rPr sz="2025" b="0">
                <a:solidFill>
                  <a:srgbClr val="000000"/>
                </a:solidFill>
                <a:latin typeface="微软雅黑" panose="020B0503020204020204" charset="-122"/>
                <a:ea typeface="微软雅黑" panose="020B0503020204020204" charset="-122"/>
                <a:cs typeface="微软雅黑" panose="020B0503020204020204" charset="-122"/>
              </a:rPr>
              <a:t>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6955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fear</a:t>
            </a:r>
            <a:r>
              <a:rPr sz="2025" b="0">
                <a:solidFill>
                  <a:srgbClr val="000000"/>
                </a:solidFill>
                <a:latin typeface="微软雅黑" panose="020B0503020204020204" charset="-122"/>
                <a:ea typeface="微软雅黑" panose="020B0503020204020204" charset="-122"/>
                <a:cs typeface="微软雅黑" panose="020B0503020204020204" charset="-122"/>
              </a:rPr>
              <a:t> 害怕</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1813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terrified</a:t>
            </a:r>
            <a:r>
              <a:rPr sz="2025" b="0">
                <a:solidFill>
                  <a:srgbClr val="000000"/>
                </a:solidFill>
                <a:latin typeface="微软雅黑" panose="020B0503020204020204" charset="-122"/>
                <a:ea typeface="微软雅黑" panose="020B0503020204020204" charset="-122"/>
                <a:cs typeface="微软雅黑" panose="020B0503020204020204" charset="-122"/>
              </a:rPr>
              <a:t> 恐惧的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1813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terror</a:t>
            </a:r>
            <a:r>
              <a:rPr sz="2025" b="0">
                <a:solidFill>
                  <a:srgbClr val="000000"/>
                </a:solidFill>
                <a:latin typeface="微软雅黑" panose="020B0503020204020204" charset="-122"/>
                <a:ea typeface="微软雅黑" panose="020B0503020204020204" charset="-122"/>
                <a:cs typeface="微软雅黑" panose="020B0503020204020204" charset="-122"/>
              </a:rPr>
              <a:t> 害怕</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36671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horrified</a:t>
            </a:r>
            <a:r>
              <a:rPr sz="2025" b="0">
                <a:solidFill>
                  <a:srgbClr val="000000"/>
                </a:solidFill>
                <a:latin typeface="微软雅黑" panose="020B0503020204020204" charset="-122"/>
                <a:ea typeface="微软雅黑" panose="020B0503020204020204" charset="-122"/>
                <a:cs typeface="微软雅黑" panose="020B0503020204020204" charset="-122"/>
              </a:rPr>
              <a:t> 恐惧的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36671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horror</a:t>
            </a:r>
            <a:r>
              <a:rPr sz="2025" b="0">
                <a:solidFill>
                  <a:srgbClr val="000000"/>
                </a:solidFill>
                <a:latin typeface="微软雅黑" panose="020B0503020204020204" charset="-122"/>
                <a:ea typeface="微软雅黑" panose="020B0503020204020204" charset="-122"/>
                <a:cs typeface="微软雅黑" panose="020B0503020204020204" charset="-122"/>
              </a:rPr>
              <a:t> 害怕</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1529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frightened</a:t>
            </a:r>
            <a:r>
              <a:rPr sz="2025" b="0">
                <a:solidFill>
                  <a:srgbClr val="000000"/>
                </a:solidFill>
                <a:latin typeface="微软雅黑" panose="020B0503020204020204" charset="-122"/>
                <a:ea typeface="微软雅黑" panose="020B0503020204020204" charset="-122"/>
                <a:cs typeface="微软雅黑" panose="020B0503020204020204" charset="-122"/>
              </a:rPr>
              <a:t> 恐惧的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1529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fright</a:t>
            </a:r>
            <a:r>
              <a:rPr sz="2025" b="0">
                <a:solidFill>
                  <a:srgbClr val="000000"/>
                </a:solidFill>
                <a:latin typeface="微软雅黑" panose="020B0503020204020204" charset="-122"/>
                <a:ea typeface="微软雅黑" panose="020B0503020204020204" charset="-122"/>
                <a:cs typeface="微软雅黑" panose="020B0503020204020204" charset="-122"/>
              </a:rPr>
              <a:t> 害怕</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1123950" y="46386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panic</a:t>
            </a:r>
            <a:r>
              <a:rPr sz="2025" b="0">
                <a:solidFill>
                  <a:srgbClr val="000000"/>
                </a:solidFill>
                <a:latin typeface="微软雅黑" panose="020B0503020204020204" charset="-122"/>
                <a:ea typeface="微软雅黑" panose="020B0503020204020204" charset="-122"/>
                <a:cs typeface="微软雅黑" panose="020B0503020204020204" charset="-122"/>
              </a:rPr>
              <a:t> 惊恐的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6172200" y="46386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panic</a:t>
            </a:r>
            <a:r>
              <a:rPr sz="2025" b="0">
                <a:solidFill>
                  <a:srgbClr val="000000"/>
                </a:solidFill>
                <a:latin typeface="微软雅黑" panose="020B0503020204020204" charset="-122"/>
                <a:ea typeface="微软雅黑" panose="020B0503020204020204" charset="-122"/>
                <a:cs typeface="微软雅黑" panose="020B0503020204020204" charset="-122"/>
              </a:rPr>
              <a:t> 惊恐</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1123950" y="51244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alarmed</a:t>
            </a:r>
            <a:r>
              <a:rPr sz="2025" b="0">
                <a:solidFill>
                  <a:srgbClr val="000000"/>
                </a:solidFill>
                <a:latin typeface="微软雅黑" panose="020B0503020204020204" charset="-122"/>
                <a:ea typeface="微软雅黑" panose="020B0503020204020204" charset="-122"/>
                <a:cs typeface="微软雅黑" panose="020B0503020204020204" charset="-122"/>
              </a:rPr>
              <a:t> 惊慌的，惊恐的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172200" y="51244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alarm</a:t>
            </a:r>
            <a:r>
              <a:rPr sz="2025" b="0">
                <a:solidFill>
                  <a:srgbClr val="000000"/>
                </a:solidFill>
                <a:latin typeface="微软雅黑" panose="020B0503020204020204" charset="-122"/>
                <a:ea typeface="微软雅黑" panose="020B0503020204020204" charset="-122"/>
                <a:cs typeface="微软雅黑" panose="020B0503020204020204" charset="-122"/>
              </a:rPr>
              <a:t> 惊恐</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1" name="圆角矩形 20"/>
          <p:cNvSpPr>
            <a:spLocks noGrp="1"/>
          </p:cNvSpPr>
          <p:nvPr/>
        </p:nvSpPr>
        <p:spPr>
          <a:xfrm>
            <a:off x="1123950" y="56102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threatened</a:t>
            </a:r>
            <a:r>
              <a:rPr sz="2025" b="0">
                <a:solidFill>
                  <a:srgbClr val="000000"/>
                </a:solidFill>
                <a:latin typeface="微软雅黑" panose="020B0503020204020204" charset="-122"/>
                <a:ea typeface="微软雅黑" panose="020B0503020204020204" charset="-122"/>
                <a:cs typeface="微软雅黑" panose="020B0503020204020204" charset="-122"/>
              </a:rPr>
              <a:t> 受到威胁的...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6172200" y="56102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threat</a:t>
            </a:r>
            <a:r>
              <a:rPr sz="2025" b="0">
                <a:solidFill>
                  <a:srgbClr val="000000"/>
                </a:solidFill>
                <a:latin typeface="微软雅黑" panose="020B0503020204020204" charset="-122"/>
                <a:ea typeface="微软雅黑" panose="020B0503020204020204" charset="-122"/>
                <a:cs typeface="微软雅黑" panose="020B0503020204020204" charset="-122"/>
              </a:rPr>
              <a:t> 孤独</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 name="图片 2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积极情绪总结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satisfaction</a:t>
            </a:r>
            <a:r>
              <a:rPr sz="2025" b="0">
                <a:solidFill>
                  <a:srgbClr val="000000"/>
                </a:solidFill>
                <a:latin typeface="微软雅黑" panose="020B0503020204020204" charset="-122"/>
                <a:ea typeface="微软雅黑" panose="020B0503020204020204" charset="-122"/>
                <a:cs typeface="微软雅黑" panose="020B0503020204020204" charset="-122"/>
              </a:rPr>
              <a:t> 满意</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satisfied</a:t>
            </a:r>
            <a:r>
              <a:rPr sz="2025" b="0">
                <a:solidFill>
                  <a:srgbClr val="000000"/>
                </a:solidFill>
                <a:latin typeface="微软雅黑" panose="020B0503020204020204" charset="-122"/>
                <a:ea typeface="微软雅黑" panose="020B0503020204020204" charset="-122"/>
                <a:cs typeface="微软雅黑" panose="020B0503020204020204" charset="-122"/>
              </a:rPr>
              <a:t> 满意的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6955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pleasure</a:t>
            </a:r>
            <a:r>
              <a:rPr sz="2025" b="0">
                <a:solidFill>
                  <a:srgbClr val="000000"/>
                </a:solidFill>
                <a:latin typeface="微软雅黑" panose="020B0503020204020204" charset="-122"/>
                <a:ea typeface="微软雅黑" panose="020B0503020204020204" charset="-122"/>
                <a:cs typeface="微软雅黑" panose="020B0503020204020204" charset="-122"/>
              </a:rPr>
              <a:t> 满意</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6955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pleased</a:t>
            </a:r>
            <a:r>
              <a:rPr sz="2025" b="0">
                <a:solidFill>
                  <a:srgbClr val="000000"/>
                </a:solidFill>
                <a:latin typeface="微软雅黑" panose="020B0503020204020204" charset="-122"/>
                <a:ea typeface="微软雅黑" panose="020B0503020204020204" charset="-122"/>
                <a:cs typeface="微软雅黑" panose="020B0503020204020204" charset="-122"/>
              </a:rPr>
              <a:t> 满意的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1813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content</a:t>
            </a:r>
            <a:r>
              <a:rPr sz="2025" b="0">
                <a:solidFill>
                  <a:srgbClr val="000000"/>
                </a:solidFill>
                <a:latin typeface="微软雅黑" panose="020B0503020204020204" charset="-122"/>
                <a:ea typeface="微软雅黑" panose="020B0503020204020204" charset="-122"/>
                <a:cs typeface="微软雅黑" panose="020B0503020204020204" charset="-122"/>
              </a:rPr>
              <a:t> 满意</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1813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content</a:t>
            </a:r>
            <a:r>
              <a:rPr sz="2025" b="0">
                <a:solidFill>
                  <a:srgbClr val="000000"/>
                </a:solidFill>
                <a:latin typeface="微软雅黑" panose="020B0503020204020204" charset="-122"/>
                <a:ea typeface="微软雅黑" panose="020B0503020204020204" charset="-122"/>
                <a:cs typeface="微软雅黑" panose="020B0503020204020204" charset="-122"/>
              </a:rPr>
              <a:t> 满意的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36671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happiness</a:t>
            </a:r>
            <a:r>
              <a:rPr sz="2025" b="0">
                <a:solidFill>
                  <a:srgbClr val="000000"/>
                </a:solidFill>
                <a:latin typeface="微软雅黑" panose="020B0503020204020204" charset="-122"/>
                <a:ea typeface="微软雅黑" panose="020B0503020204020204" charset="-122"/>
                <a:cs typeface="微软雅黑" panose="020B0503020204020204" charset="-122"/>
              </a:rPr>
              <a:t> 开心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36671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happy</a:t>
            </a:r>
            <a:r>
              <a:rPr sz="2025" b="0">
                <a:solidFill>
                  <a:srgbClr val="000000"/>
                </a:solidFill>
                <a:latin typeface="微软雅黑" panose="020B0503020204020204" charset="-122"/>
                <a:ea typeface="微软雅黑" panose="020B0503020204020204" charset="-122"/>
                <a:cs typeface="微软雅黑" panose="020B0503020204020204" charset="-122"/>
              </a:rPr>
              <a:t> 开心的，高兴的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1529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joy</a:t>
            </a:r>
            <a:r>
              <a:rPr sz="2025" b="0">
                <a:solidFill>
                  <a:srgbClr val="000000"/>
                </a:solidFill>
                <a:latin typeface="微软雅黑" panose="020B0503020204020204" charset="-122"/>
                <a:ea typeface="微软雅黑" panose="020B0503020204020204" charset="-122"/>
                <a:cs typeface="微软雅黑" panose="020B0503020204020204" charset="-122"/>
              </a:rPr>
              <a:t> 开心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1529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joyful</a:t>
            </a:r>
            <a:r>
              <a:rPr sz="2025" b="0">
                <a:solidFill>
                  <a:srgbClr val="000000"/>
                </a:solidFill>
                <a:latin typeface="微软雅黑" panose="020B0503020204020204" charset="-122"/>
                <a:ea typeface="微软雅黑" panose="020B0503020204020204" charset="-122"/>
                <a:cs typeface="微软雅黑" panose="020B0503020204020204" charset="-122"/>
              </a:rPr>
              <a:t> 开心的，高兴的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1123950" y="46386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delight</a:t>
            </a:r>
            <a:r>
              <a:rPr sz="2025" b="0">
                <a:solidFill>
                  <a:srgbClr val="000000"/>
                </a:solidFill>
                <a:latin typeface="微软雅黑" panose="020B0503020204020204" charset="-122"/>
                <a:ea typeface="微软雅黑" panose="020B0503020204020204" charset="-122"/>
                <a:cs typeface="微软雅黑" panose="020B0503020204020204" charset="-122"/>
              </a:rPr>
              <a:t> 开心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6172200" y="46386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delighted</a:t>
            </a:r>
            <a:r>
              <a:rPr sz="2025" b="0">
                <a:solidFill>
                  <a:srgbClr val="000000"/>
                </a:solidFill>
                <a:latin typeface="微软雅黑" panose="020B0503020204020204" charset="-122"/>
                <a:ea typeface="微软雅黑" panose="020B0503020204020204" charset="-122"/>
                <a:cs typeface="微软雅黑" panose="020B0503020204020204" charset="-122"/>
              </a:rPr>
              <a:t> 开心的，高兴的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1123950" y="51244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cheer</a:t>
            </a:r>
            <a:r>
              <a:rPr sz="2025" b="0">
                <a:solidFill>
                  <a:srgbClr val="000000"/>
                </a:solidFill>
                <a:latin typeface="微软雅黑" panose="020B0503020204020204" charset="-122"/>
                <a:ea typeface="微软雅黑" panose="020B0503020204020204" charset="-122"/>
                <a:cs typeface="微软雅黑" panose="020B0503020204020204" charset="-122"/>
              </a:rPr>
              <a:t> 开心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172200" y="51244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cheerful</a:t>
            </a:r>
            <a:r>
              <a:rPr sz="2025" b="0">
                <a:solidFill>
                  <a:srgbClr val="000000"/>
                </a:solidFill>
                <a:latin typeface="微软雅黑" panose="020B0503020204020204" charset="-122"/>
                <a:ea typeface="微软雅黑" panose="020B0503020204020204" charset="-122"/>
                <a:cs typeface="微软雅黑" panose="020B0503020204020204" charset="-122"/>
              </a:rPr>
              <a:t> 兴高采烈的，开心的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1" name="圆角矩形 20"/>
          <p:cNvSpPr>
            <a:spLocks noGrp="1"/>
          </p:cNvSpPr>
          <p:nvPr/>
        </p:nvSpPr>
        <p:spPr>
          <a:xfrm>
            <a:off x="1123950" y="56102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pleasure</a:t>
            </a:r>
            <a:r>
              <a:rPr sz="2025" b="0">
                <a:solidFill>
                  <a:srgbClr val="000000"/>
                </a:solidFill>
                <a:latin typeface="微软雅黑" panose="020B0503020204020204" charset="-122"/>
                <a:ea typeface="微软雅黑" panose="020B0503020204020204" charset="-122"/>
                <a:cs typeface="微软雅黑" panose="020B0503020204020204" charset="-122"/>
              </a:rPr>
              <a:t> 开心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6172200" y="56102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pleased</a:t>
            </a:r>
            <a:r>
              <a:rPr sz="2025" b="0">
                <a:solidFill>
                  <a:srgbClr val="000000"/>
                </a:solidFill>
                <a:latin typeface="微软雅黑" panose="020B0503020204020204" charset="-122"/>
                <a:ea typeface="微软雅黑" panose="020B0503020204020204" charset="-122"/>
                <a:cs typeface="微软雅黑" panose="020B0503020204020204" charset="-122"/>
              </a:rPr>
              <a:t> 开心的，高兴的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 name="图片 22"/>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积极情绪总结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excitement</a:t>
            </a:r>
            <a:r>
              <a:rPr sz="2025" b="0">
                <a:solidFill>
                  <a:srgbClr val="000000"/>
                </a:solidFill>
                <a:latin typeface="微软雅黑" panose="020B0503020204020204" charset="-122"/>
                <a:ea typeface="微软雅黑" panose="020B0503020204020204" charset="-122"/>
                <a:cs typeface="微软雅黑" panose="020B0503020204020204" charset="-122"/>
              </a:rPr>
              <a:t> 激动</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excited</a:t>
            </a:r>
            <a:r>
              <a:rPr sz="2025" b="0">
                <a:solidFill>
                  <a:srgbClr val="000000"/>
                </a:solidFill>
                <a:latin typeface="微软雅黑" panose="020B0503020204020204" charset="-122"/>
                <a:ea typeface="微软雅黑" panose="020B0503020204020204" charset="-122"/>
                <a:cs typeface="微软雅黑" panose="020B0503020204020204" charset="-122"/>
              </a:rPr>
              <a:t> 兴奋的，激动的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6955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Thrill</a:t>
            </a:r>
            <a:r>
              <a:rPr sz="2025" b="0">
                <a:solidFill>
                  <a:srgbClr val="000000"/>
                </a:solidFill>
                <a:latin typeface="微软雅黑" panose="020B0503020204020204" charset="-122"/>
                <a:ea typeface="微软雅黑" panose="020B0503020204020204" charset="-122"/>
                <a:cs typeface="微软雅黑" panose="020B0503020204020204" charset="-122"/>
              </a:rPr>
              <a:t> 激动</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6955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thrilled</a:t>
            </a:r>
            <a:r>
              <a:rPr sz="2025" b="0">
                <a:solidFill>
                  <a:srgbClr val="000000"/>
                </a:solidFill>
                <a:latin typeface="微软雅黑" panose="020B0503020204020204" charset="-122"/>
                <a:ea typeface="微软雅黑" panose="020B0503020204020204" charset="-122"/>
                <a:cs typeface="微软雅黑" panose="020B0503020204020204" charset="-122"/>
              </a:rPr>
              <a:t> 异常兴奋的，激动的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1813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amusement</a:t>
            </a:r>
            <a:r>
              <a:rPr sz="2025" b="0">
                <a:solidFill>
                  <a:srgbClr val="000000"/>
                </a:solidFill>
                <a:latin typeface="微软雅黑" panose="020B0503020204020204" charset="-122"/>
                <a:ea typeface="微软雅黑" panose="020B0503020204020204" charset="-122"/>
                <a:cs typeface="微软雅黑" panose="020B0503020204020204" charset="-122"/>
              </a:rPr>
              <a:t> 逗笑</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1813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amused</a:t>
            </a:r>
            <a:r>
              <a:rPr sz="2025" b="0">
                <a:solidFill>
                  <a:srgbClr val="000000"/>
                </a:solidFill>
                <a:latin typeface="微软雅黑" panose="020B0503020204020204" charset="-122"/>
                <a:ea typeface="微软雅黑" panose="020B0503020204020204" charset="-122"/>
                <a:cs typeface="微软雅黑" panose="020B0503020204020204" charset="-122"/>
              </a:rPr>
              <a:t> 被逗乐的；感到好笑的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36671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entertainmen</a:t>
            </a:r>
            <a:r>
              <a:rPr sz="2025" b="0">
                <a:solidFill>
                  <a:srgbClr val="000000"/>
                </a:solidFill>
                <a:latin typeface="微软雅黑" panose="020B0503020204020204" charset="-122"/>
                <a:ea typeface="微软雅黑" panose="020B0503020204020204" charset="-122"/>
                <a:cs typeface="微软雅黑" panose="020B0503020204020204" charset="-122"/>
              </a:rPr>
              <a:t>t逗笑</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36671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entertained</a:t>
            </a:r>
            <a:r>
              <a:rPr sz="2025" b="0">
                <a:solidFill>
                  <a:srgbClr val="000000"/>
                </a:solidFill>
                <a:latin typeface="微软雅黑" panose="020B0503020204020204" charset="-122"/>
                <a:ea typeface="微软雅黑" panose="020B0503020204020204" charset="-122"/>
                <a:cs typeface="微软雅黑" panose="020B0503020204020204" charset="-122"/>
              </a:rPr>
              <a:t> 娱乐的，愉快的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1529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encouragement</a:t>
            </a:r>
            <a:r>
              <a:rPr sz="2025" b="0">
                <a:solidFill>
                  <a:srgbClr val="000000"/>
                </a:solidFill>
                <a:latin typeface="微软雅黑" panose="020B0503020204020204" charset="-122"/>
                <a:ea typeface="微软雅黑" panose="020B0503020204020204" charset="-122"/>
                <a:cs typeface="微软雅黑" panose="020B0503020204020204" charset="-122"/>
              </a:rPr>
              <a:t> 鼓舞的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15290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encouraged</a:t>
            </a:r>
            <a:r>
              <a:rPr sz="2025" b="0">
                <a:solidFill>
                  <a:srgbClr val="000000"/>
                </a:solidFill>
                <a:latin typeface="微软雅黑" panose="020B0503020204020204" charset="-122"/>
                <a:ea typeface="微软雅黑" panose="020B0503020204020204" charset="-122"/>
                <a:cs typeface="微软雅黑" panose="020B0503020204020204" charset="-122"/>
              </a:rPr>
              <a:t> 受到鼓舞的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1123950" y="46386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Inspiration</a:t>
            </a:r>
            <a:r>
              <a:rPr sz="2025" b="0">
                <a:solidFill>
                  <a:srgbClr val="000000"/>
                </a:solidFill>
                <a:latin typeface="微软雅黑" panose="020B0503020204020204" charset="-122"/>
                <a:ea typeface="微软雅黑" panose="020B0503020204020204" charset="-122"/>
                <a:cs typeface="微软雅黑" panose="020B0503020204020204" charset="-122"/>
              </a:rPr>
              <a:t> 激励</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6172200" y="463867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inspired</a:t>
            </a:r>
            <a:r>
              <a:rPr sz="2025" b="0">
                <a:solidFill>
                  <a:srgbClr val="000000"/>
                </a:solidFill>
                <a:latin typeface="微软雅黑" panose="020B0503020204020204" charset="-122"/>
                <a:ea typeface="微软雅黑" panose="020B0503020204020204" charset="-122"/>
                <a:cs typeface="微软雅黑" panose="020B0503020204020204" charset="-122"/>
              </a:rPr>
              <a:t> 感到鼓舞的；受启发的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9" name="圆角矩形 18"/>
          <p:cNvSpPr>
            <a:spLocks noGrp="1"/>
          </p:cNvSpPr>
          <p:nvPr/>
        </p:nvSpPr>
        <p:spPr>
          <a:xfrm>
            <a:off x="1123950" y="51244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movement</a:t>
            </a:r>
            <a:r>
              <a:rPr sz="2025" b="0">
                <a:solidFill>
                  <a:srgbClr val="000000"/>
                </a:solidFill>
                <a:latin typeface="微软雅黑" panose="020B0503020204020204" charset="-122"/>
                <a:ea typeface="微软雅黑" panose="020B0503020204020204" charset="-122"/>
                <a:cs typeface="微软雅黑" panose="020B0503020204020204" charset="-122"/>
              </a:rPr>
              <a:t> 感动</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0" name="圆角矩形 19"/>
          <p:cNvSpPr>
            <a:spLocks noGrp="1"/>
          </p:cNvSpPr>
          <p:nvPr/>
        </p:nvSpPr>
        <p:spPr>
          <a:xfrm>
            <a:off x="6172200" y="5124450"/>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moved</a:t>
            </a:r>
            <a:r>
              <a:rPr sz="2025" b="0">
                <a:solidFill>
                  <a:srgbClr val="000000"/>
                </a:solidFill>
                <a:latin typeface="微软雅黑" panose="020B0503020204020204" charset="-122"/>
                <a:ea typeface="微软雅黑" panose="020B0503020204020204" charset="-122"/>
                <a:cs typeface="微软雅黑" panose="020B0503020204020204" charset="-122"/>
              </a:rPr>
              <a:t> 感动的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1" name="圆角矩形 20"/>
          <p:cNvSpPr>
            <a:spLocks noGrp="1"/>
          </p:cNvSpPr>
          <p:nvPr/>
        </p:nvSpPr>
        <p:spPr>
          <a:xfrm>
            <a:off x="1123950" y="56102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motivation</a:t>
            </a:r>
            <a:r>
              <a:rPr sz="2025" b="0">
                <a:solidFill>
                  <a:srgbClr val="000000"/>
                </a:solidFill>
                <a:latin typeface="微软雅黑" panose="020B0503020204020204" charset="-122"/>
                <a:ea typeface="微软雅黑" panose="020B0503020204020204" charset="-122"/>
                <a:cs typeface="微软雅黑" panose="020B0503020204020204" charset="-122"/>
              </a:rPr>
              <a:t> 鼓舞的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22" name="圆角矩形 21"/>
          <p:cNvSpPr>
            <a:spLocks noGrp="1"/>
          </p:cNvSpPr>
          <p:nvPr/>
        </p:nvSpPr>
        <p:spPr>
          <a:xfrm>
            <a:off x="6172200" y="5610225"/>
            <a:ext cx="4895850" cy="438150"/>
          </a:xfrm>
          <a:prstGeom prst="roundRect">
            <a:avLst>
              <a:gd name="adj" fmla="val 21739"/>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motivated</a:t>
            </a:r>
            <a:r>
              <a:rPr sz="2025" b="0">
                <a:solidFill>
                  <a:srgbClr val="000000"/>
                </a:solidFill>
                <a:latin typeface="微软雅黑" panose="020B0503020204020204" charset="-122"/>
                <a:ea typeface="微软雅黑" panose="020B0503020204020204" charset="-122"/>
                <a:cs typeface="微软雅黑" panose="020B0503020204020204" charset="-122"/>
              </a:rPr>
              <a:t> 积极的；有动力的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图片 1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积极情绪总结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touch</a:t>
            </a:r>
            <a:r>
              <a:rPr sz="2025" b="0">
                <a:solidFill>
                  <a:srgbClr val="000000"/>
                </a:solidFill>
                <a:latin typeface="微软雅黑" panose="020B0503020204020204" charset="-122"/>
                <a:ea typeface="微软雅黑" panose="020B0503020204020204" charset="-122"/>
                <a:cs typeface="微软雅黑" panose="020B0503020204020204" charset="-122"/>
              </a:rPr>
              <a:t> 感动</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touched</a:t>
            </a:r>
            <a:r>
              <a:rPr sz="2025" b="0">
                <a:solidFill>
                  <a:srgbClr val="000000"/>
                </a:solidFill>
                <a:latin typeface="微软雅黑" panose="020B0503020204020204" charset="-122"/>
                <a:ea typeface="微软雅黑" panose="020B0503020204020204" charset="-122"/>
                <a:cs typeface="微软雅黑" panose="020B0503020204020204" charset="-122"/>
              </a:rPr>
              <a:t> 感动的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80987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thanks</a:t>
            </a:r>
            <a:r>
              <a:rPr sz="2025" b="0">
                <a:solidFill>
                  <a:srgbClr val="000000"/>
                </a:solidFill>
                <a:latin typeface="微软雅黑" panose="020B0503020204020204" charset="-122"/>
                <a:ea typeface="微软雅黑" panose="020B0503020204020204" charset="-122"/>
                <a:cs typeface="微软雅黑" panose="020B0503020204020204" charset="-122"/>
              </a:rPr>
              <a:t> 感激</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80987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thankfu</a:t>
            </a:r>
            <a:r>
              <a:rPr sz="2025" b="0">
                <a:solidFill>
                  <a:srgbClr val="000000"/>
                </a:solidFill>
                <a:latin typeface="微软雅黑" panose="020B0503020204020204" charset="-122"/>
                <a:ea typeface="微软雅黑" panose="020B0503020204020204" charset="-122"/>
                <a:cs typeface="微软雅黑" panose="020B0503020204020204" charset="-122"/>
              </a:rPr>
              <a:t>l感激 / 谢的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40995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gratitude</a:t>
            </a:r>
            <a:r>
              <a:rPr sz="2025" b="0">
                <a:solidFill>
                  <a:srgbClr val="000000"/>
                </a:solidFill>
                <a:latin typeface="微软雅黑" panose="020B0503020204020204" charset="-122"/>
                <a:ea typeface="微软雅黑" panose="020B0503020204020204" charset="-122"/>
                <a:cs typeface="微软雅黑" panose="020B0503020204020204" charset="-122"/>
              </a:rPr>
              <a:t> 感激</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40995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grateful</a:t>
            </a:r>
            <a:r>
              <a:rPr sz="2025" b="0">
                <a:solidFill>
                  <a:srgbClr val="000000"/>
                </a:solidFill>
                <a:latin typeface="微软雅黑" panose="020B0503020204020204" charset="-122"/>
                <a:ea typeface="微软雅黑" panose="020B0503020204020204" charset="-122"/>
                <a:cs typeface="微软雅黑" panose="020B0503020204020204" charset="-122"/>
              </a:rPr>
              <a:t> 感激 / 谢的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401002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appreciation</a:t>
            </a:r>
            <a:r>
              <a:rPr sz="2025" b="0">
                <a:solidFill>
                  <a:srgbClr val="000000"/>
                </a:solidFill>
                <a:latin typeface="微软雅黑" panose="020B0503020204020204" charset="-122"/>
                <a:ea typeface="微软雅黑" panose="020B0503020204020204" charset="-122"/>
                <a:cs typeface="微软雅黑" panose="020B0503020204020204" charset="-122"/>
              </a:rPr>
              <a:t> 感激</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401002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appreciative</a:t>
            </a:r>
            <a:r>
              <a:rPr sz="2025" b="0">
                <a:solidFill>
                  <a:srgbClr val="000000"/>
                </a:solidFill>
                <a:latin typeface="微软雅黑" panose="020B0503020204020204" charset="-122"/>
                <a:ea typeface="微软雅黑" panose="020B0503020204020204" charset="-122"/>
                <a:cs typeface="微软雅黑" panose="020B0503020204020204" charset="-122"/>
              </a:rPr>
              <a:t> 感激 / 谢的；欣赏的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6101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Curiosity</a:t>
            </a:r>
            <a:r>
              <a:rPr sz="2025" b="0">
                <a:solidFill>
                  <a:srgbClr val="000000"/>
                </a:solidFill>
                <a:latin typeface="微软雅黑" panose="020B0503020204020204" charset="-122"/>
                <a:ea typeface="微软雅黑" panose="020B0503020204020204" charset="-122"/>
                <a:cs typeface="微软雅黑" panose="020B0503020204020204" charset="-122"/>
              </a:rPr>
              <a:t> 好奇心</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6101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Curious</a:t>
            </a:r>
            <a:r>
              <a:rPr sz="2025" b="0">
                <a:solidFill>
                  <a:srgbClr val="000000"/>
                </a:solidFill>
                <a:latin typeface="微软雅黑" panose="020B0503020204020204" charset="-122"/>
                <a:ea typeface="微软雅黑" panose="020B0503020204020204" charset="-122"/>
                <a:cs typeface="微软雅黑" panose="020B0503020204020204" charset="-122"/>
              </a:rPr>
              <a:t> 好奇的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a:spLocks noGrp="1"/>
          </p:cNvSpPr>
          <p:nvPr/>
        </p:nvSpPr>
        <p:spPr>
          <a:xfrm>
            <a:off x="1123950" y="521017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Determination</a:t>
            </a:r>
            <a:r>
              <a:rPr sz="2025" b="0">
                <a:solidFill>
                  <a:srgbClr val="000000"/>
                </a:solidFill>
                <a:latin typeface="微软雅黑" panose="020B0503020204020204" charset="-122"/>
                <a:ea typeface="微软雅黑" panose="020B0503020204020204" charset="-122"/>
                <a:cs typeface="微软雅黑" panose="020B0503020204020204" charset="-122"/>
              </a:rPr>
              <a:t> 决定</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8" name="圆角矩形 17"/>
          <p:cNvSpPr>
            <a:spLocks noGrp="1"/>
          </p:cNvSpPr>
          <p:nvPr/>
        </p:nvSpPr>
        <p:spPr>
          <a:xfrm>
            <a:off x="6172200" y="521017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determined</a:t>
            </a:r>
            <a:r>
              <a:rPr sz="2025" b="0">
                <a:solidFill>
                  <a:srgbClr val="000000"/>
                </a:solidFill>
                <a:latin typeface="微软雅黑" panose="020B0503020204020204" charset="-122"/>
                <a:ea typeface="微软雅黑" panose="020B0503020204020204" charset="-122"/>
                <a:cs typeface="微软雅黑" panose="020B0503020204020204" charset="-122"/>
              </a:rPr>
              <a:t> 坚定的，下定决心的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667500" cy="723900"/>
          </a:xfrm>
          <a:prstGeom prst="rect">
            <a:avLst/>
          </a:prstGeom>
          <a:solidFill>
            <a:srgbClr val="F2F1EE"/>
          </a:solidFill>
          <a:ln w="0">
            <a:noFill/>
            <a:prstDash val="solid"/>
          </a:ln>
        </p:spPr>
      </p:sp>
      <p:sp>
        <p:nvSpPr>
          <p:cNvPr id="3" name="矩形 2"/>
          <p:cNvSpPr>
            <a:spLocks noGrp="1"/>
          </p:cNvSpPr>
          <p:nvPr/>
        </p:nvSpPr>
        <p:spPr>
          <a:xfrm>
            <a:off x="838200" y="590550"/>
            <a:ext cx="6191250" cy="552450"/>
          </a:xfrm>
          <a:prstGeom prst="rect">
            <a:avLst/>
          </a:prstGeom>
          <a:noFill/>
          <a:ln w="0">
            <a:noFill/>
            <a:prstDash val="solid"/>
          </a:ln>
        </p:spPr>
        <p:txBody>
          <a:bodyPr wrap="square" lIns="76200" tIns="0" rIns="76200" bIns="0" anchor="ctr"/>
          <a:lstStyle/>
          <a:p>
            <a:pPr algn="l">
              <a:lnSpc>
                <a:spcPct val="100000"/>
              </a:lnSpc>
              <a:buNone/>
              <a:defRPr sz="3000">
                <a:latin typeface="微软雅黑" panose="020B0503020204020204" charset="-122"/>
                <a:ea typeface="微软雅黑" panose="020B0503020204020204" charset="-122"/>
                <a:cs typeface="微软雅黑" panose="020B0503020204020204" charset="-122"/>
              </a:defRPr>
            </a:pPr>
            <a:r>
              <a:rPr sz="3000" b="1">
                <a:solidFill>
                  <a:srgbClr val="EE0000"/>
                </a:solidFill>
                <a:latin typeface="微软雅黑" panose="020B0503020204020204" charset="-122"/>
                <a:ea typeface="微软雅黑" panose="020B0503020204020204" charset="-122"/>
                <a:cs typeface="微软雅黑" panose="020B0503020204020204" charset="-122"/>
              </a:rPr>
              <a:t>积极情绪总结</a:t>
            </a:r>
            <a:endParaRPr sz="30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466850"/>
            <a:ext cx="10439400" cy="4838700"/>
          </a:xfrm>
          <a:prstGeom prst="roundRect">
            <a:avLst>
              <a:gd name="adj" fmla="val 3937"/>
            </a:avLst>
          </a:prstGeom>
          <a:solidFill>
            <a:srgbClr val="FFF8F0"/>
          </a:solidFill>
          <a:ln w="13335">
            <a:solidFill>
              <a:srgbClr val="FF8B2D"/>
            </a:solidFill>
            <a:prstDash val="solid"/>
          </a:ln>
        </p:spPr>
      </p:sp>
      <p:sp>
        <p:nvSpPr>
          <p:cNvPr id="5" name="圆角矩形 4"/>
          <p:cNvSpPr>
            <a:spLocks noGrp="1"/>
          </p:cNvSpPr>
          <p:nvPr/>
        </p:nvSpPr>
        <p:spPr>
          <a:xfrm>
            <a:off x="112395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adj.（形容词）中文释义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6172200" y="1695450"/>
            <a:ext cx="4895850" cy="419100"/>
          </a:xfrm>
          <a:prstGeom prst="roundRect">
            <a:avLst>
              <a:gd name="adj" fmla="val 27273"/>
            </a:avLst>
          </a:prstGeom>
          <a:solidFill>
            <a:srgbClr val="FFF2E7"/>
          </a:solidFill>
          <a:ln w="13335">
            <a:solidFill>
              <a:srgbClr val="FF8B2D"/>
            </a:solidFill>
            <a:prstDash val="solid"/>
          </a:ln>
        </p:spPr>
        <p:txBody>
          <a:bodyPr wrap="square" lIns="76200" tIns="38100" rIns="76200" bIns="38100" anchor="ctr"/>
          <a:lstStyle/>
          <a:p>
            <a:pPr algn="ctr">
              <a:lnSpc>
                <a:spcPct val="105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EE0000"/>
                </a:solidFill>
                <a:latin typeface="微软雅黑" panose="020B0503020204020204" charset="-122"/>
                <a:ea typeface="微软雅黑" panose="020B0503020204020204" charset="-122"/>
                <a:cs typeface="微软雅黑" panose="020B0503020204020204" charset="-122"/>
              </a:rPr>
              <a:t>n.（名词）中文释义</a:t>
            </a:r>
            <a:endParaRPr sz="2100" b="1">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a:spLocks noGrp="1"/>
          </p:cNvSpPr>
          <p:nvPr/>
        </p:nvSpPr>
        <p:spPr>
          <a:xfrm>
            <a:off x="1123950" y="22098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confidence</a:t>
            </a:r>
            <a:r>
              <a:rPr sz="2025" b="0">
                <a:solidFill>
                  <a:srgbClr val="000000"/>
                </a:solidFill>
                <a:latin typeface="微软雅黑" panose="020B0503020204020204" charset="-122"/>
                <a:ea typeface="微软雅黑" panose="020B0503020204020204" charset="-122"/>
                <a:cs typeface="微软雅黑" panose="020B0503020204020204" charset="-122"/>
              </a:rPr>
              <a:t> 自信</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6172200" y="22098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confident</a:t>
            </a:r>
            <a:r>
              <a:rPr sz="2025" b="0">
                <a:solidFill>
                  <a:srgbClr val="000000"/>
                </a:solidFill>
                <a:latin typeface="微软雅黑" panose="020B0503020204020204" charset="-122"/>
                <a:ea typeface="微软雅黑" panose="020B0503020204020204" charset="-122"/>
                <a:cs typeface="微软雅黑" panose="020B0503020204020204" charset="-122"/>
              </a:rPr>
              <a:t> 自信的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9" name="圆角矩形 8"/>
          <p:cNvSpPr>
            <a:spLocks noGrp="1"/>
          </p:cNvSpPr>
          <p:nvPr/>
        </p:nvSpPr>
        <p:spPr>
          <a:xfrm>
            <a:off x="1123950" y="280987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enthusiasm</a:t>
            </a:r>
            <a:r>
              <a:rPr sz="2025" b="0">
                <a:solidFill>
                  <a:srgbClr val="000000"/>
                </a:solidFill>
                <a:latin typeface="微软雅黑" panose="020B0503020204020204" charset="-122"/>
                <a:ea typeface="微软雅黑" panose="020B0503020204020204" charset="-122"/>
                <a:cs typeface="微软雅黑" panose="020B0503020204020204" charset="-122"/>
              </a:rPr>
              <a:t> 热情</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6172200" y="280987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enthusiastic</a:t>
            </a:r>
            <a:r>
              <a:rPr sz="2025" b="0">
                <a:solidFill>
                  <a:srgbClr val="000000"/>
                </a:solidFill>
                <a:latin typeface="微软雅黑" panose="020B0503020204020204" charset="-122"/>
                <a:ea typeface="微软雅黑" panose="020B0503020204020204" charset="-122"/>
                <a:cs typeface="微软雅黑" panose="020B0503020204020204" charset="-122"/>
              </a:rPr>
              <a:t> 热情的 (对… 的态度)</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1123950" y="340995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passion</a:t>
            </a:r>
            <a:r>
              <a:rPr sz="2025" b="0">
                <a:solidFill>
                  <a:srgbClr val="000000"/>
                </a:solidFill>
                <a:latin typeface="微软雅黑" panose="020B0503020204020204" charset="-122"/>
                <a:ea typeface="微软雅黑" panose="020B0503020204020204" charset="-122"/>
                <a:cs typeface="微软雅黑" panose="020B0503020204020204" charset="-122"/>
              </a:rPr>
              <a:t> 热情</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6172200" y="340995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passionate</a:t>
            </a:r>
            <a:r>
              <a:rPr sz="2025" b="0">
                <a:solidFill>
                  <a:srgbClr val="000000"/>
                </a:solidFill>
                <a:latin typeface="微软雅黑" panose="020B0503020204020204" charset="-122"/>
                <a:ea typeface="微软雅黑" panose="020B0503020204020204" charset="-122"/>
                <a:cs typeface="微软雅黑" panose="020B0503020204020204" charset="-122"/>
              </a:rPr>
              <a:t> 酷爱的 (艺术、信仰等)</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1123950" y="401002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pride</a:t>
            </a:r>
            <a:r>
              <a:rPr sz="2025" b="0">
                <a:solidFill>
                  <a:srgbClr val="000000"/>
                </a:solidFill>
                <a:latin typeface="微软雅黑" panose="020B0503020204020204" charset="-122"/>
                <a:ea typeface="微软雅黑" panose="020B0503020204020204" charset="-122"/>
                <a:cs typeface="微软雅黑" panose="020B0503020204020204" charset="-122"/>
              </a:rPr>
              <a:t> 骄傲</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6172200" y="4010025"/>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proud</a:t>
            </a:r>
            <a:r>
              <a:rPr sz="2025" b="0">
                <a:solidFill>
                  <a:srgbClr val="000000"/>
                </a:solidFill>
                <a:latin typeface="微软雅黑" panose="020B0503020204020204" charset="-122"/>
                <a:ea typeface="微软雅黑" panose="020B0503020204020204" charset="-122"/>
                <a:cs typeface="微软雅黑" panose="020B0503020204020204" charset="-122"/>
              </a:rPr>
              <a:t> 骄傲的，自豪的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a:spLocks noGrp="1"/>
          </p:cNvSpPr>
          <p:nvPr/>
        </p:nvSpPr>
        <p:spPr>
          <a:xfrm>
            <a:off x="1123950" y="46101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relief</a:t>
            </a:r>
            <a:r>
              <a:rPr sz="2025" b="0">
                <a:solidFill>
                  <a:srgbClr val="000000"/>
                </a:solidFill>
                <a:latin typeface="微软雅黑" panose="020B0503020204020204" charset="-122"/>
                <a:ea typeface="微软雅黑" panose="020B0503020204020204" charset="-122"/>
                <a:cs typeface="微软雅黑" panose="020B0503020204020204" charset="-122"/>
              </a:rPr>
              <a:t> 宽慰</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圆角矩形 15"/>
          <p:cNvSpPr>
            <a:spLocks noGrp="1"/>
          </p:cNvSpPr>
          <p:nvPr/>
        </p:nvSpPr>
        <p:spPr>
          <a:xfrm>
            <a:off x="6172200" y="4610100"/>
            <a:ext cx="4895850" cy="552450"/>
          </a:xfrm>
          <a:prstGeom prst="roundRect">
            <a:avLst>
              <a:gd name="adj" fmla="val 17241"/>
            </a:avLst>
          </a:prstGeom>
          <a:solidFill>
            <a:srgbClr val="FFFAF5"/>
          </a:solidFill>
          <a:ln w="9525">
            <a:solidFill>
              <a:srgbClr val="FFBF86"/>
            </a:solidFill>
            <a:prstDash val="solid"/>
          </a:ln>
        </p:spPr>
        <p:txBody>
          <a:bodyPr wrap="square" lIns="114300" tIns="38100" rIns="95250" bIns="38100" anchor="ctr"/>
          <a:lstStyle/>
          <a:p>
            <a:pPr algn="l">
              <a:lnSpc>
                <a:spcPct val="102000"/>
              </a:lnSpc>
              <a:buNone/>
              <a:defRPr sz="2025">
                <a:latin typeface="微软雅黑" panose="020B0503020204020204" charset="-122"/>
                <a:ea typeface="微软雅黑" panose="020B0503020204020204" charset="-122"/>
                <a:cs typeface="微软雅黑" panose="020B0503020204020204" charset="-122"/>
              </a:defRPr>
            </a:pPr>
            <a:r>
              <a:rPr sz="2025" b="1">
                <a:solidFill>
                  <a:srgbClr val="000000"/>
                </a:solidFill>
                <a:latin typeface="微软雅黑" panose="020B0503020204020204" charset="-122"/>
                <a:ea typeface="微软雅黑" panose="020B0503020204020204" charset="-122"/>
                <a:cs typeface="微软雅黑" panose="020B0503020204020204" charset="-122"/>
              </a:rPr>
              <a:t>relieved</a:t>
            </a:r>
            <a:r>
              <a:rPr sz="2025" b="0">
                <a:solidFill>
                  <a:srgbClr val="000000"/>
                </a:solidFill>
                <a:latin typeface="微软雅黑" panose="020B0503020204020204" charset="-122"/>
                <a:ea typeface="微软雅黑" panose="020B0503020204020204" charset="-122"/>
                <a:cs typeface="微软雅黑" panose="020B0503020204020204" charset="-122"/>
              </a:rPr>
              <a:t> 宽慰的，慰藉的</a:t>
            </a:r>
            <a:endParaRPr sz="2025" b="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读后续写---高级句型仿写---心理描写</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i="0">
                <a:solidFill>
                  <a:srgbClr val="FFFFFF"/>
                </a:solidFill>
                <a:latin typeface="微软雅黑" panose="020B0503020204020204" charset="-122"/>
                <a:ea typeface="微软雅黑" panose="020B0503020204020204" charset="-122"/>
                <a:cs typeface="微软雅黑" panose="020B0503020204020204" charset="-122"/>
              </a:rPr>
              <a:t>读后续写
高级句型仿写
心理描写</a:t>
            </a:r>
            <a:endParaRPr sz="29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714750" cy="323850"/>
          </a:xfrm>
          <a:prstGeom prst="rect">
            <a:avLst/>
          </a:prstGeom>
          <a:noFill/>
          <a:ln w="0">
            <a:noFill/>
            <a:prstDash val="solid"/>
          </a:ln>
        </p:spPr>
        <p:txBody>
          <a:bodyPr wrap="square" lIns="0" tIns="0" rIns="0" bIns="0" anchor="ctr"/>
          <a:lstStyle/>
          <a:p>
            <a:pPr algn="l">
              <a:lnSpc>
                <a:spcPct val="105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5A2A10"/>
                </a:solidFill>
                <a:latin typeface="微软雅黑" panose="020B0503020204020204" charset="-122"/>
                <a:ea typeface="微软雅黑" panose="020B0503020204020204" charset="-122"/>
                <a:cs typeface="微软雅黑" panose="020B0503020204020204" charset="-122"/>
              </a:rPr>
              <a:t>第一部分仿写训练：句型1-7</a:t>
            </a:r>
            <a:endParaRPr sz="1875"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第一部分仿写训练：句型1（1/6）</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情绪名词负面n. gave way to 情绪名词正向n. </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从….情绪转变正…..情</a:t>
            </a:r>
            <a:r>
              <a:rPr sz="2025" b="0" i="0" u="sng">
                <a:solidFill>
                  <a:srgbClr val="004E9A"/>
                </a:solidFill>
                <a:latin typeface="微软雅黑" panose="020B0503020204020204" charset="-122"/>
                <a:ea typeface="微软雅黑" panose="020B0503020204020204" charset="-122"/>
                <a:cs typeface="微软雅黑" panose="020B0503020204020204" charset="-122"/>
              </a:rPr>
              <a:t>绪</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At the sight of the touching sense, my  previous panic gave way to respect.</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1"/>
          <p:cNvSpPr>
            <a:spLocks noGrp="1"/>
          </p:cNvSpPr>
          <p:nvPr/>
        </p:nvSpPr>
        <p:spPr>
          <a:xfrm>
            <a:off x="1200150" y="356235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看到这感人的一幕，我先前的恐慌变成了尊重。</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听到这个好消息后，她眼中的焦虑被兴奋取代。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2"/>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After hearing the good news, </a:t>
            </a:r>
            <a:r>
              <a:rPr sz="2025" b="1" i="0" u="sng">
                <a:solidFill>
                  <a:srgbClr val="EE0000"/>
                </a:solidFill>
                <a:latin typeface="微软雅黑" panose="020B0503020204020204" charset="-122"/>
                <a:ea typeface="微软雅黑" panose="020B0503020204020204" charset="-122"/>
                <a:cs typeface="微软雅黑" panose="020B0503020204020204" charset="-122"/>
              </a:rPr>
              <a:t>anxiety</a:t>
            </a:r>
            <a:r>
              <a:rPr sz="2025" b="0" i="0" u="sng">
                <a:solidFill>
                  <a:srgbClr val="EE0000"/>
                </a:solidFill>
                <a:latin typeface="微软雅黑" panose="020B0503020204020204" charset="-122"/>
                <a:ea typeface="微软雅黑" panose="020B0503020204020204" charset="-122"/>
                <a:cs typeface="微软雅黑" panose="020B0503020204020204" charset="-122"/>
              </a:rPr>
              <a:t> gave way to </a:t>
            </a:r>
            <a:r>
              <a:rPr sz="2025" b="1" i="0" u="sng">
                <a:solidFill>
                  <a:srgbClr val="EE0000"/>
                </a:solidFill>
                <a:latin typeface="微软雅黑" panose="020B0503020204020204" charset="-122"/>
                <a:ea typeface="微软雅黑" panose="020B0503020204020204" charset="-122"/>
                <a:cs typeface="微软雅黑" panose="020B0503020204020204" charset="-122"/>
              </a:rPr>
              <a:t>excitement</a:t>
            </a:r>
            <a:r>
              <a:rPr sz="2025" b="0" i="0" u="sng">
                <a:solidFill>
                  <a:srgbClr val="EE0000"/>
                </a:solidFill>
                <a:latin typeface="微软雅黑" panose="020B0503020204020204" charset="-122"/>
                <a:ea typeface="微软雅黑" panose="020B0503020204020204" charset="-122"/>
                <a:cs typeface="微软雅黑" panose="020B0503020204020204" charset="-122"/>
              </a:rPr>
              <a:t> in her eyes.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第一部分仿写训练：句型1（2/6）</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情绪名词负面n. gave way to 情绪名词正向n. </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从….情绪转变正…..情</a:t>
            </a:r>
            <a:r>
              <a:rPr sz="2025" b="0" i="0" u="sng">
                <a:solidFill>
                  <a:srgbClr val="004E9A"/>
                </a:solidFill>
                <a:latin typeface="微软雅黑" panose="020B0503020204020204" charset="-122"/>
                <a:ea typeface="微软雅黑" panose="020B0503020204020204" charset="-122"/>
                <a:cs typeface="微软雅黑" panose="020B0503020204020204" charset="-122"/>
              </a:rPr>
              <a:t>绪</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当球队踢进制胜球时，球迷们的失望化作了喜悦。</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3"/>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As the team scored the winning goal, </a:t>
            </a:r>
            <a:r>
              <a:rPr sz="2025" b="1" i="0" u="sng">
                <a:solidFill>
                  <a:srgbClr val="EE0000"/>
                </a:solidFill>
                <a:latin typeface="微软雅黑" panose="020B0503020204020204" charset="-122"/>
                <a:ea typeface="微软雅黑" panose="020B0503020204020204" charset="-122"/>
                <a:cs typeface="微软雅黑" panose="020B0503020204020204" charset="-122"/>
              </a:rPr>
              <a:t>disappointment</a:t>
            </a:r>
            <a:r>
              <a:rPr sz="2025" b="0" i="0" u="sng">
                <a:solidFill>
                  <a:srgbClr val="EE0000"/>
                </a:solidFill>
                <a:latin typeface="微软雅黑" panose="020B0503020204020204" charset="-122"/>
                <a:ea typeface="微软雅黑" panose="020B0503020204020204" charset="-122"/>
                <a:cs typeface="微软雅黑" panose="020B0503020204020204" charset="-122"/>
              </a:rPr>
              <a:t> gave way to </a:t>
            </a:r>
            <a:r>
              <a:rPr sz="2025" b="1" i="0" u="sng">
                <a:solidFill>
                  <a:srgbClr val="EE0000"/>
                </a:solidFill>
                <a:latin typeface="微软雅黑" panose="020B0503020204020204" charset="-122"/>
                <a:ea typeface="微软雅黑" panose="020B0503020204020204" charset="-122"/>
                <a:cs typeface="微软雅黑" panose="020B0503020204020204" charset="-122"/>
              </a:rPr>
              <a:t>joy</a:t>
            </a:r>
            <a:r>
              <a:rPr sz="2025" b="0" i="0" u="sng">
                <a:solidFill>
                  <a:srgbClr val="EE0000"/>
                </a:solidFill>
                <a:latin typeface="微软雅黑" panose="020B0503020204020204" charset="-122"/>
                <a:ea typeface="微软雅黑" panose="020B0503020204020204" charset="-122"/>
                <a:cs typeface="微软雅黑" panose="020B0503020204020204" charset="-122"/>
              </a:rPr>
              <a:t> among the fans.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在朋友们的鼓励下，孤独渐渐被快乐取代。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4"/>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 his friends' encouragement, </a:t>
            </a:r>
            <a:r>
              <a:rPr sz="2025" b="1" i="0">
                <a:solidFill>
                  <a:srgbClr val="EE0000"/>
                </a:solidFill>
                <a:latin typeface="微软雅黑" panose="020B0503020204020204" charset="-122"/>
                <a:ea typeface="微软雅黑" panose="020B0503020204020204" charset="-122"/>
                <a:cs typeface="微软雅黑" panose="020B0503020204020204" charset="-122"/>
              </a:rPr>
              <a:t>loneliness</a:t>
            </a:r>
            <a:r>
              <a:rPr sz="2025" b="0" i="0">
                <a:solidFill>
                  <a:srgbClr val="EE0000"/>
                </a:solidFill>
                <a:latin typeface="微软雅黑" panose="020B0503020204020204" charset="-122"/>
                <a:ea typeface="微软雅黑" panose="020B0503020204020204" charset="-122"/>
                <a:cs typeface="微软雅黑" panose="020B0503020204020204" charset="-122"/>
              </a:rPr>
              <a:t> gradually gave way to </a:t>
            </a:r>
            <a:r>
              <a:rPr sz="2025" b="1" i="0">
                <a:solidFill>
                  <a:srgbClr val="EE0000"/>
                </a:solidFill>
                <a:latin typeface="微软雅黑" panose="020B0503020204020204" charset="-122"/>
                <a:ea typeface="微软雅黑" panose="020B0503020204020204" charset="-122"/>
                <a:cs typeface="微软雅黑" panose="020B0503020204020204" charset="-122"/>
              </a:rPr>
              <a:t>happiness</a:t>
            </a:r>
            <a:r>
              <a:rPr sz="2025" b="0" i="0">
                <a:solidFill>
                  <a:srgbClr val="EE0000"/>
                </a:solidFill>
                <a:latin typeface="微软雅黑" panose="020B0503020204020204" charset="-122"/>
                <a:ea typeface="微软雅黑" panose="020B0503020204020204" charset="-122"/>
                <a:cs typeface="微软雅黑" panose="020B0503020204020204" charset="-122"/>
              </a:rPr>
              <a: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第一部分仿写训练：句型1（3/6）</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情绪名词负面n. gave way to 情绪名词正向n. </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从….情绪转变正…..情</a:t>
            </a:r>
            <a:r>
              <a:rPr sz="2025" b="0" i="0" u="sng">
                <a:solidFill>
                  <a:srgbClr val="004E9A"/>
                </a:solidFill>
                <a:latin typeface="微软雅黑" panose="020B0503020204020204" charset="-122"/>
                <a:ea typeface="微软雅黑" panose="020B0503020204020204" charset="-122"/>
                <a:cs typeface="微软雅黑" panose="020B0503020204020204" charset="-122"/>
              </a:rPr>
              <a:t>绪</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解出这道难题后，挫败感被满足感取代。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5"/>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After solving the difficult problem, </a:t>
            </a:r>
            <a:r>
              <a:rPr sz="2025" b="1" i="0">
                <a:solidFill>
                  <a:srgbClr val="EE0000"/>
                </a:solidFill>
                <a:latin typeface="微软雅黑" panose="020B0503020204020204" charset="-122"/>
                <a:ea typeface="微软雅黑" panose="020B0503020204020204" charset="-122"/>
                <a:cs typeface="微软雅黑" panose="020B0503020204020204" charset="-122"/>
              </a:rPr>
              <a:t>frustration</a:t>
            </a:r>
            <a:r>
              <a:rPr sz="2025" b="0" i="0">
                <a:solidFill>
                  <a:srgbClr val="EE0000"/>
                </a:solidFill>
                <a:latin typeface="微软雅黑" panose="020B0503020204020204" charset="-122"/>
                <a:ea typeface="微软雅黑" panose="020B0503020204020204" charset="-122"/>
                <a:cs typeface="微软雅黑" panose="020B0503020204020204" charset="-122"/>
              </a:rPr>
              <a:t> gave way to </a:t>
            </a:r>
            <a:r>
              <a:rPr sz="2025" b="1" i="0">
                <a:solidFill>
                  <a:srgbClr val="EE0000"/>
                </a:solidFill>
                <a:latin typeface="微软雅黑" panose="020B0503020204020204" charset="-122"/>
                <a:ea typeface="微软雅黑" panose="020B0503020204020204" charset="-122"/>
                <a:cs typeface="微软雅黑" panose="020B0503020204020204" charset="-122"/>
              </a:rPr>
              <a:t>satisfaction</a:t>
            </a:r>
            <a:r>
              <a:rPr sz="2025" b="0" i="0">
                <a:solidFill>
                  <a:srgbClr val="EE0000"/>
                </a:solidFill>
                <a:latin typeface="微软雅黑" panose="020B0503020204020204" charset="-122"/>
                <a:ea typeface="微软雅黑" panose="020B0503020204020204" charset="-122"/>
                <a:cs typeface="微软雅黑" panose="020B0503020204020204" charset="-122"/>
              </a:rPr>
              <a: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看到父母在等她时，恐惧化作了宽慰。</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6"/>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When she saw her parents waiting for her, </a:t>
            </a:r>
            <a:r>
              <a:rPr sz="2025" b="1" i="0">
                <a:solidFill>
                  <a:srgbClr val="EE0000"/>
                </a:solidFill>
                <a:latin typeface="微软雅黑" panose="020B0503020204020204" charset="-122"/>
                <a:ea typeface="微软雅黑" panose="020B0503020204020204" charset="-122"/>
                <a:cs typeface="微软雅黑" panose="020B0503020204020204" charset="-122"/>
              </a:rPr>
              <a:t>fear</a:t>
            </a:r>
            <a:r>
              <a:rPr sz="2025" b="0" i="0">
                <a:solidFill>
                  <a:srgbClr val="EE0000"/>
                </a:solidFill>
                <a:latin typeface="微软雅黑" panose="020B0503020204020204" charset="-122"/>
                <a:ea typeface="微软雅黑" panose="020B0503020204020204" charset="-122"/>
                <a:cs typeface="微软雅黑" panose="020B0503020204020204" charset="-122"/>
              </a:rPr>
              <a:t> gave way to </a:t>
            </a:r>
            <a:r>
              <a:rPr sz="2025" b="1" i="0">
                <a:solidFill>
                  <a:srgbClr val="EE0000"/>
                </a:solidFill>
                <a:latin typeface="微软雅黑" panose="020B0503020204020204" charset="-122"/>
                <a:ea typeface="微软雅黑" panose="020B0503020204020204" charset="-122"/>
                <a:cs typeface="微软雅黑" panose="020B0503020204020204" charset="-122"/>
              </a:rPr>
              <a:t>relief</a:t>
            </a:r>
            <a:r>
              <a:rPr sz="2025" b="0" i="0">
                <a:solidFill>
                  <a:srgbClr val="EE0000"/>
                </a:solidFill>
                <a:latin typeface="微软雅黑" panose="020B0503020204020204" charset="-122"/>
                <a:ea typeface="微软雅黑" panose="020B0503020204020204" charset="-122"/>
                <a:cs typeface="微软雅黑" panose="020B0503020204020204" charset="-122"/>
              </a:rPr>
              <a: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第一部分仿写训练：句型1（4/6）</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情绪名词负面n. gave way to 情绪名词正向n. </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从….情绪转变正…..情</a:t>
            </a:r>
            <a:r>
              <a:rPr sz="2025" b="0" i="0" u="sng">
                <a:solidFill>
                  <a:srgbClr val="004E9A"/>
                </a:solidFill>
                <a:latin typeface="微软雅黑" panose="020B0503020204020204" charset="-122"/>
                <a:ea typeface="微软雅黑" panose="020B0503020204020204" charset="-122"/>
                <a:cs typeface="微软雅黑" panose="020B0503020204020204" charset="-122"/>
              </a:rPr>
              <a:t>绪</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漫长的等待终于结束，不耐烦被愉悦取代。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7"/>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long wait finally ended, and </a:t>
            </a:r>
            <a:r>
              <a:rPr sz="2025" b="1" i="0">
                <a:solidFill>
                  <a:srgbClr val="EE0000"/>
                </a:solidFill>
                <a:latin typeface="微软雅黑" panose="020B0503020204020204" charset="-122"/>
                <a:ea typeface="微软雅黑" panose="020B0503020204020204" charset="-122"/>
                <a:cs typeface="微软雅黑" panose="020B0503020204020204" charset="-122"/>
              </a:rPr>
              <a:t>impatience</a:t>
            </a:r>
            <a:r>
              <a:rPr sz="2025" b="0" i="0">
                <a:solidFill>
                  <a:srgbClr val="EE0000"/>
                </a:solidFill>
                <a:latin typeface="微软雅黑" panose="020B0503020204020204" charset="-122"/>
                <a:ea typeface="微软雅黑" panose="020B0503020204020204" charset="-122"/>
                <a:cs typeface="微软雅黑" panose="020B0503020204020204" charset="-122"/>
              </a:rPr>
              <a:t> gave way to </a:t>
            </a:r>
            <a:r>
              <a:rPr sz="2025" b="1" i="0">
                <a:solidFill>
                  <a:srgbClr val="EE0000"/>
                </a:solidFill>
                <a:latin typeface="微软雅黑" panose="020B0503020204020204" charset="-122"/>
                <a:ea typeface="微软雅黑" panose="020B0503020204020204" charset="-122"/>
                <a:cs typeface="微软雅黑" panose="020B0503020204020204" charset="-122"/>
              </a:rPr>
              <a:t>pleasure</a:t>
            </a:r>
            <a:r>
              <a:rPr sz="2025" b="0" i="0">
                <a:solidFill>
                  <a:srgbClr val="EE0000"/>
                </a:solidFill>
                <a:latin typeface="微软雅黑" panose="020B0503020204020204" charset="-122"/>
                <a:ea typeface="微软雅黑" panose="020B0503020204020204" charset="-122"/>
                <a:cs typeface="微软雅黑" panose="020B0503020204020204" charset="-122"/>
              </a:rPr>
              <a: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他真诚的道歉让她的愤怒化作了原谅。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8"/>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His sincere apology made her </a:t>
            </a:r>
            <a:r>
              <a:rPr sz="2025" b="1" i="0">
                <a:solidFill>
                  <a:srgbClr val="EE0000"/>
                </a:solidFill>
                <a:latin typeface="微软雅黑" panose="020B0503020204020204" charset="-122"/>
                <a:ea typeface="微软雅黑" panose="020B0503020204020204" charset="-122"/>
                <a:cs typeface="微软雅黑" panose="020B0503020204020204" charset="-122"/>
              </a:rPr>
              <a:t>anger</a:t>
            </a:r>
            <a:r>
              <a:rPr sz="2025" b="0" i="0">
                <a:solidFill>
                  <a:srgbClr val="EE0000"/>
                </a:solidFill>
                <a:latin typeface="微软雅黑" panose="020B0503020204020204" charset="-122"/>
                <a:ea typeface="微软雅黑" panose="020B0503020204020204" charset="-122"/>
                <a:cs typeface="微软雅黑" panose="020B0503020204020204" charset="-122"/>
              </a:rPr>
              <a:t> give way to </a:t>
            </a:r>
            <a:r>
              <a:rPr sz="2025" b="1" i="0">
                <a:solidFill>
                  <a:srgbClr val="EE0000"/>
                </a:solidFill>
                <a:latin typeface="微软雅黑" panose="020B0503020204020204" charset="-122"/>
                <a:ea typeface="微软雅黑" panose="020B0503020204020204" charset="-122"/>
                <a:cs typeface="微软雅黑" panose="020B0503020204020204" charset="-122"/>
              </a:rPr>
              <a:t>forgiveness</a:t>
            </a:r>
            <a:r>
              <a:rPr sz="2025" b="0" i="0">
                <a:solidFill>
                  <a:srgbClr val="EE0000"/>
                </a:solidFill>
                <a:latin typeface="微软雅黑" panose="020B0503020204020204" charset="-122"/>
                <a:ea typeface="微软雅黑" panose="020B0503020204020204" charset="-122"/>
                <a:cs typeface="微软雅黑" panose="020B0503020204020204" charset="-122"/>
              </a:rPr>
              <a: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第一部分仿写训练：句型1（5/6）</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情绪名词负面n. gave way to 情绪名词正向n. </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从….情绪转变正…..情</a:t>
            </a:r>
            <a:r>
              <a:rPr sz="2025" b="0" i="0" u="sng">
                <a:solidFill>
                  <a:srgbClr val="004E9A"/>
                </a:solidFill>
                <a:latin typeface="微软雅黑" panose="020B0503020204020204" charset="-122"/>
                <a:ea typeface="微软雅黑" panose="020B0503020204020204" charset="-122"/>
                <a:cs typeface="微软雅黑" panose="020B0503020204020204" charset="-122"/>
              </a:rPr>
              <a:t>绪</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太阳升起时，夜晚的悲伤被新一天的希望取代。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9"/>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As the sun rose, the </a:t>
            </a:r>
            <a:r>
              <a:rPr sz="2025" b="1" i="0">
                <a:solidFill>
                  <a:srgbClr val="EE0000"/>
                </a:solidFill>
                <a:latin typeface="微软雅黑" panose="020B0503020204020204" charset="-122"/>
                <a:ea typeface="微软雅黑" panose="020B0503020204020204" charset="-122"/>
                <a:cs typeface="微软雅黑" panose="020B0503020204020204" charset="-122"/>
              </a:rPr>
              <a:t>sadness</a:t>
            </a:r>
            <a:r>
              <a:rPr sz="2025" b="0" i="0">
                <a:solidFill>
                  <a:srgbClr val="EE0000"/>
                </a:solidFill>
                <a:latin typeface="微软雅黑" panose="020B0503020204020204" charset="-122"/>
                <a:ea typeface="微软雅黑" panose="020B0503020204020204" charset="-122"/>
                <a:cs typeface="微软雅黑" panose="020B0503020204020204" charset="-122"/>
              </a:rPr>
              <a:t> of the night gave way to </a:t>
            </a:r>
            <a:r>
              <a:rPr sz="2025" b="1" i="0">
                <a:solidFill>
                  <a:srgbClr val="EE0000"/>
                </a:solidFill>
                <a:latin typeface="微软雅黑" panose="020B0503020204020204" charset="-122"/>
                <a:ea typeface="微软雅黑" panose="020B0503020204020204" charset="-122"/>
                <a:cs typeface="微软雅黑" panose="020B0503020204020204" charset="-122"/>
              </a:rPr>
              <a:t>hope</a:t>
            </a:r>
            <a:r>
              <a:rPr sz="2025" b="0" i="0">
                <a:solidFill>
                  <a:srgbClr val="EE0000"/>
                </a:solidFill>
                <a:latin typeface="微软雅黑" panose="020B0503020204020204" charset="-122"/>
                <a:ea typeface="微软雅黑" panose="020B0503020204020204" charset="-122"/>
                <a:cs typeface="微软雅黑" panose="020B0503020204020204" charset="-122"/>
              </a:rPr>
              <a:t> for a new day.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赢得比赛后，他心中的紧张被自豪取代。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0"/>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After winning the competition, </a:t>
            </a:r>
            <a:r>
              <a:rPr sz="2025" b="1" i="0">
                <a:solidFill>
                  <a:srgbClr val="EE0000"/>
                </a:solidFill>
                <a:latin typeface="微软雅黑" panose="020B0503020204020204" charset="-122"/>
                <a:ea typeface="微软雅黑" panose="020B0503020204020204" charset="-122"/>
                <a:cs typeface="微软雅黑" panose="020B0503020204020204" charset="-122"/>
              </a:rPr>
              <a:t>nervousness</a:t>
            </a:r>
            <a:r>
              <a:rPr sz="2025" b="0" i="0">
                <a:solidFill>
                  <a:srgbClr val="EE0000"/>
                </a:solidFill>
                <a:latin typeface="微软雅黑" panose="020B0503020204020204" charset="-122"/>
                <a:ea typeface="微软雅黑" panose="020B0503020204020204" charset="-122"/>
                <a:cs typeface="微软雅黑" panose="020B0503020204020204" charset="-122"/>
              </a:rPr>
              <a:t> gave way to </a:t>
            </a:r>
            <a:r>
              <a:rPr sz="2025" b="1" i="0">
                <a:solidFill>
                  <a:srgbClr val="EE0000"/>
                </a:solidFill>
                <a:latin typeface="微软雅黑" panose="020B0503020204020204" charset="-122"/>
                <a:ea typeface="微软雅黑" panose="020B0503020204020204" charset="-122"/>
                <a:cs typeface="微软雅黑" panose="020B0503020204020204" charset="-122"/>
              </a:rPr>
              <a:t>pride</a:t>
            </a:r>
            <a:r>
              <a:rPr sz="2025" b="0" i="0">
                <a:solidFill>
                  <a:srgbClr val="EE0000"/>
                </a:solidFill>
                <a:latin typeface="微软雅黑" panose="020B0503020204020204" charset="-122"/>
                <a:ea typeface="微软雅黑" panose="020B0503020204020204" charset="-122"/>
                <a:cs typeface="微软雅黑" panose="020B0503020204020204" charset="-122"/>
              </a:rPr>
              <a:t> in his heart.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第一部分仿写训练：句型1（6/6）</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情绪名词负面n. gave way to 情绪名词正向n. </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从….情绪转变正…..情</a:t>
            </a:r>
            <a:r>
              <a:rPr sz="2025" b="0" i="0" u="sng">
                <a:solidFill>
                  <a:srgbClr val="004E9A"/>
                </a:solidFill>
                <a:latin typeface="微软雅黑" panose="020B0503020204020204" charset="-122"/>
                <a:ea typeface="微软雅黑" panose="020B0503020204020204" charset="-122"/>
                <a:cs typeface="微软雅黑" panose="020B0503020204020204" charset="-122"/>
              </a:rPr>
              <a:t>绪</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老师讲的有趣故事让枯燥化作了笑声。</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1"/>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funny story told by the teacher made </a:t>
            </a:r>
            <a:r>
              <a:rPr sz="2025" b="1" i="0">
                <a:solidFill>
                  <a:srgbClr val="EE0000"/>
                </a:solidFill>
                <a:latin typeface="微软雅黑" panose="020B0503020204020204" charset="-122"/>
                <a:ea typeface="微软雅黑" panose="020B0503020204020204" charset="-122"/>
                <a:cs typeface="微软雅黑" panose="020B0503020204020204" charset="-122"/>
              </a:rPr>
              <a:t>boredom</a:t>
            </a:r>
            <a:r>
              <a:rPr sz="2025" b="0" i="0">
                <a:solidFill>
                  <a:srgbClr val="EE0000"/>
                </a:solidFill>
                <a:latin typeface="微软雅黑" panose="020B0503020204020204" charset="-122"/>
                <a:ea typeface="微软雅黑" panose="020B0503020204020204" charset="-122"/>
                <a:cs typeface="微软雅黑" panose="020B0503020204020204" charset="-122"/>
              </a:rPr>
              <a:t> give way to </a:t>
            </a:r>
            <a:r>
              <a:rPr sz="2025" b="1" i="0">
                <a:solidFill>
                  <a:srgbClr val="EE0000"/>
                </a:solidFill>
                <a:latin typeface="微软雅黑" panose="020B0503020204020204" charset="-122"/>
                <a:ea typeface="微软雅黑" panose="020B0503020204020204" charset="-122"/>
                <a:cs typeface="微软雅黑" panose="020B0503020204020204" charset="-122"/>
              </a:rPr>
              <a:t>laughter</a:t>
            </a:r>
            <a:r>
              <a:rPr sz="2025" b="0" i="0">
                <a:solidFill>
                  <a:srgbClr val="EE0000"/>
                </a:solidFill>
                <a:latin typeface="微软雅黑" panose="020B0503020204020204" charset="-122"/>
                <a:ea typeface="微软雅黑" panose="020B0503020204020204" charset="-122"/>
                <a:cs typeface="微软雅黑" panose="020B0503020204020204" charset="-122"/>
              </a:rPr>
              <a: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第一部分仿写训练：句型2（1/5）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….mingled with …..(…是表示心理的名词)</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a:t>
            </a:r>
            <a:r>
              <a:rPr sz="2025" b="0" i="0">
                <a:solidFill>
                  <a:srgbClr val="000000"/>
                </a:solidFill>
                <a:latin typeface="微软雅黑" panose="020B0503020204020204" charset="-122"/>
                <a:ea typeface="微软雅黑" panose="020B0503020204020204" charset="-122"/>
                <a:cs typeface="微软雅黑" panose="020B0503020204020204" charset="-122"/>
              </a:rPr>
              <a:t>秋雨听到她被叫起来介绍他的名字的由来，紧张和兴奋交织在一起。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2"/>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N</a:t>
            </a:r>
            <a:r>
              <a:rPr sz="2025" b="0" i="0">
                <a:solidFill>
                  <a:srgbClr val="EE0000"/>
                </a:solidFill>
                <a:latin typeface="微软雅黑" panose="020B0503020204020204" charset="-122"/>
                <a:ea typeface="微软雅黑" panose="020B0503020204020204" charset="-122"/>
                <a:cs typeface="微软雅黑" panose="020B0503020204020204" charset="-122"/>
              </a:rPr>
              <a:t>ervousness mingled with excitement when Qiuyu was called to introduce the origin of her name.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2.在他眼中，为女儿成就感到的自豪与对逝去岁月的淡淡伤感交织在一起。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3"/>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In his eyes, </a:t>
            </a:r>
            <a:r>
              <a:rPr sz="2025" b="1" i="0">
                <a:solidFill>
                  <a:srgbClr val="EE0000"/>
                </a:solidFill>
                <a:latin typeface="微软雅黑" panose="020B0503020204020204" charset="-122"/>
                <a:ea typeface="微软雅黑" panose="020B0503020204020204" charset="-122"/>
                <a:cs typeface="微软雅黑" panose="020B0503020204020204" charset="-122"/>
              </a:rPr>
              <a:t>pride</a:t>
            </a:r>
            <a:r>
              <a:rPr sz="2025" b="0" i="0">
                <a:solidFill>
                  <a:srgbClr val="EE0000"/>
                </a:solidFill>
                <a:latin typeface="微软雅黑" panose="020B0503020204020204" charset="-122"/>
                <a:ea typeface="微软雅黑" panose="020B0503020204020204" charset="-122"/>
                <a:cs typeface="微软雅黑" panose="020B0503020204020204" charset="-122"/>
              </a:rPr>
              <a:t> in his daughter’s achievement mingled with </a:t>
            </a:r>
            <a:r>
              <a:rPr sz="2025" b="1" i="0">
                <a:solidFill>
                  <a:srgbClr val="EE0000"/>
                </a:solidFill>
                <a:latin typeface="微软雅黑" panose="020B0503020204020204" charset="-122"/>
                <a:ea typeface="微软雅黑" panose="020B0503020204020204" charset="-122"/>
                <a:cs typeface="微软雅黑" panose="020B0503020204020204" charset="-122"/>
              </a:rPr>
              <a:t>gentle sadness </a:t>
            </a:r>
            <a:r>
              <a:rPr sz="2025" b="0" i="0">
                <a:solidFill>
                  <a:srgbClr val="EE0000"/>
                </a:solidFill>
                <a:latin typeface="微软雅黑" panose="020B0503020204020204" charset="-122"/>
                <a:ea typeface="微软雅黑" panose="020B0503020204020204" charset="-122"/>
                <a:cs typeface="微软雅黑" panose="020B0503020204020204" charset="-122"/>
              </a:rPr>
              <a:t>for the years that had passed</a:t>
            </a:r>
            <a:r>
              <a:rPr sz="2025" b="0" i="0">
                <a:solidFill>
                  <a:srgbClr val="000000"/>
                </a:solidFill>
                <a:latin typeface="微软雅黑" panose="020B0503020204020204" charset="-122"/>
                <a:ea typeface="微软雅黑" panose="020B0503020204020204" charset="-122"/>
                <a:cs typeface="微软雅黑" panose="020B0503020204020204" charset="-122"/>
              </a:rPr>
              <a:t>.</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第一部分仿写训练：句型2（2/5）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….mingled with …..(…是表示心理的名词)</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3.节日里人群的喜悦中，夹杂着对往昔庆典的怀念。</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4"/>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crowd’s </a:t>
            </a:r>
            <a:r>
              <a:rPr sz="2025" b="1" i="0">
                <a:solidFill>
                  <a:srgbClr val="EE0000"/>
                </a:solidFill>
                <a:latin typeface="微软雅黑" panose="020B0503020204020204" charset="-122"/>
                <a:ea typeface="微软雅黑" panose="020B0503020204020204" charset="-122"/>
                <a:cs typeface="微软雅黑" panose="020B0503020204020204" charset="-122"/>
              </a:rPr>
              <a:t>joy </a:t>
            </a:r>
            <a:r>
              <a:rPr sz="2025" b="0" i="0">
                <a:solidFill>
                  <a:srgbClr val="EE0000"/>
                </a:solidFill>
                <a:latin typeface="微软雅黑" panose="020B0503020204020204" charset="-122"/>
                <a:ea typeface="微软雅黑" panose="020B0503020204020204" charset="-122"/>
                <a:cs typeface="微软雅黑" panose="020B0503020204020204" charset="-122"/>
              </a:rPr>
              <a:t>at the festival mingled with </a:t>
            </a:r>
            <a:r>
              <a:rPr sz="2025" b="1" i="0">
                <a:solidFill>
                  <a:srgbClr val="EE0000"/>
                </a:solidFill>
                <a:latin typeface="微软雅黑" panose="020B0503020204020204" charset="-122"/>
                <a:ea typeface="微软雅黑" panose="020B0503020204020204" charset="-122"/>
                <a:cs typeface="微软雅黑" panose="020B0503020204020204" charset="-122"/>
              </a:rPr>
              <a:t>nostalgia</a:t>
            </a:r>
            <a:r>
              <a:rPr sz="2025" b="0" i="0">
                <a:solidFill>
                  <a:srgbClr val="EE0000"/>
                </a:solidFill>
                <a:latin typeface="微软雅黑" panose="020B0503020204020204" charset="-122"/>
                <a:ea typeface="微软雅黑" panose="020B0503020204020204" charset="-122"/>
                <a:cs typeface="微软雅黑" panose="020B0503020204020204" charset="-122"/>
              </a:rPr>
              <a:t> as they remembered past celebrations.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4.他完成任务后的释然，与连日不休工作带来的疲惫交织在一起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5"/>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His </a:t>
            </a:r>
            <a:r>
              <a:rPr sz="2025" b="1" i="0">
                <a:solidFill>
                  <a:srgbClr val="EE0000"/>
                </a:solidFill>
                <a:latin typeface="微软雅黑" panose="020B0503020204020204" charset="-122"/>
                <a:ea typeface="微软雅黑" panose="020B0503020204020204" charset="-122"/>
                <a:cs typeface="微软雅黑" panose="020B0503020204020204" charset="-122"/>
              </a:rPr>
              <a:t>relief</a:t>
            </a:r>
            <a:r>
              <a:rPr sz="2025" b="0" i="0">
                <a:solidFill>
                  <a:srgbClr val="EE0000"/>
                </a:solidFill>
                <a:latin typeface="微软雅黑" panose="020B0503020204020204" charset="-122"/>
                <a:ea typeface="微软雅黑" panose="020B0503020204020204" charset="-122"/>
                <a:cs typeface="微软雅黑" panose="020B0503020204020204" charset="-122"/>
              </a:rPr>
              <a:t> at finishing the task mingled with </a:t>
            </a:r>
            <a:r>
              <a:rPr sz="2025" b="1" i="0">
                <a:solidFill>
                  <a:srgbClr val="EE0000"/>
                </a:solidFill>
                <a:latin typeface="微软雅黑" panose="020B0503020204020204" charset="-122"/>
                <a:ea typeface="微软雅黑" panose="020B0503020204020204" charset="-122"/>
                <a:cs typeface="微软雅黑" panose="020B0503020204020204" charset="-122"/>
              </a:rPr>
              <a:t>exhaustion</a:t>
            </a:r>
            <a:r>
              <a:rPr sz="2025" b="0" i="0">
                <a:solidFill>
                  <a:srgbClr val="EE0000"/>
                </a:solidFill>
                <a:latin typeface="微软雅黑" panose="020B0503020204020204" charset="-122"/>
                <a:ea typeface="微软雅黑" panose="020B0503020204020204" charset="-122"/>
                <a:cs typeface="微软雅黑" panose="020B0503020204020204" charset="-122"/>
              </a:rPr>
              <a:t> after working for days without rest.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第一部分仿写训练：句型2（3/5）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….mingled with …..(…是表示心理的名词)</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5.寂静房间里的孤独，与她想到即将到来的重逢时的希望交织在一</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6"/>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Loneliness</a:t>
            </a:r>
            <a:r>
              <a:rPr sz="2025" b="0" i="0">
                <a:solidFill>
                  <a:srgbClr val="EE0000"/>
                </a:solidFill>
                <a:latin typeface="微软雅黑" panose="020B0503020204020204" charset="-122"/>
                <a:ea typeface="微软雅黑" panose="020B0503020204020204" charset="-122"/>
                <a:cs typeface="微软雅黑" panose="020B0503020204020204" charset="-122"/>
              </a:rPr>
              <a:t> in the quiet room mingled with</a:t>
            </a:r>
            <a:r>
              <a:rPr sz="2025" b="1" i="0">
                <a:solidFill>
                  <a:srgbClr val="EE0000"/>
                </a:solidFill>
                <a:latin typeface="微软雅黑" panose="020B0503020204020204" charset="-122"/>
                <a:ea typeface="微软雅黑" panose="020B0503020204020204" charset="-122"/>
                <a:cs typeface="微软雅黑" panose="020B0503020204020204" charset="-122"/>
              </a:rPr>
              <a:t> hope</a:t>
            </a:r>
            <a:r>
              <a:rPr sz="2025" b="0" i="0">
                <a:solidFill>
                  <a:srgbClr val="EE0000"/>
                </a:solidFill>
                <a:latin typeface="微软雅黑" panose="020B0503020204020204" charset="-122"/>
                <a:ea typeface="微软雅黑" panose="020B0503020204020204" charset="-122"/>
                <a:cs typeface="微软雅黑" panose="020B0503020204020204" charset="-122"/>
              </a:rPr>
              <a:t> as she thought of the upcoming reunion.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6.孩子对新玩具的好奇，与被要求解释时的羞怯交织在一起。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7"/>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child’s </a:t>
            </a:r>
            <a:r>
              <a:rPr sz="2025" b="1" i="0">
                <a:solidFill>
                  <a:srgbClr val="EE0000"/>
                </a:solidFill>
                <a:latin typeface="微软雅黑" panose="020B0503020204020204" charset="-122"/>
                <a:ea typeface="微软雅黑" panose="020B0503020204020204" charset="-122"/>
                <a:cs typeface="微软雅黑" panose="020B0503020204020204" charset="-122"/>
              </a:rPr>
              <a:t>curiosity</a:t>
            </a:r>
            <a:r>
              <a:rPr sz="2025" b="0" i="0">
                <a:solidFill>
                  <a:srgbClr val="EE0000"/>
                </a:solidFill>
                <a:latin typeface="微软雅黑" panose="020B0503020204020204" charset="-122"/>
                <a:ea typeface="微软雅黑" panose="020B0503020204020204" charset="-122"/>
                <a:cs typeface="微软雅黑" panose="020B0503020204020204" charset="-122"/>
              </a:rPr>
              <a:t> about the new toy mingled with</a:t>
            </a:r>
            <a:r>
              <a:rPr sz="2025" b="1" i="0">
                <a:solidFill>
                  <a:srgbClr val="EE0000"/>
                </a:solidFill>
                <a:latin typeface="微软雅黑" panose="020B0503020204020204" charset="-122"/>
                <a:ea typeface="微软雅黑" panose="020B0503020204020204" charset="-122"/>
                <a:cs typeface="微软雅黑" panose="020B0503020204020204" charset="-122"/>
              </a:rPr>
              <a:t> shyness</a:t>
            </a:r>
            <a:r>
              <a:rPr sz="2025" b="0" i="0">
                <a:solidFill>
                  <a:srgbClr val="EE0000"/>
                </a:solidFill>
                <a:latin typeface="微软雅黑" panose="020B0503020204020204" charset="-122"/>
                <a:ea typeface="微软雅黑" panose="020B0503020204020204" charset="-122"/>
                <a:cs typeface="微软雅黑" panose="020B0503020204020204" charset="-122"/>
              </a:rPr>
              <a:t> when asked to explain it.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第一部分仿写训练：句型2（4/5）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….mingled with …..(…是表示心理的名词)</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7.他对不公待遇的愤怒，与意识到自己无能为力时的顺从交织在一起。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8"/>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Anger </a:t>
            </a:r>
            <a:r>
              <a:rPr sz="2025" b="0" i="0">
                <a:solidFill>
                  <a:srgbClr val="EE0000"/>
                </a:solidFill>
                <a:latin typeface="微软雅黑" panose="020B0503020204020204" charset="-122"/>
                <a:ea typeface="微软雅黑" panose="020B0503020204020204" charset="-122"/>
                <a:cs typeface="微软雅黑" panose="020B0503020204020204" charset="-122"/>
              </a:rPr>
              <a:t>at the unfair treatment mingled with </a:t>
            </a:r>
            <a:r>
              <a:rPr sz="2025" b="1" i="0">
                <a:solidFill>
                  <a:srgbClr val="EE0000"/>
                </a:solidFill>
                <a:latin typeface="微软雅黑" panose="020B0503020204020204" charset="-122"/>
                <a:ea typeface="微软雅黑" panose="020B0503020204020204" charset="-122"/>
                <a:cs typeface="微软雅黑" panose="020B0503020204020204" charset="-122"/>
              </a:rPr>
              <a:t>resignation</a:t>
            </a:r>
            <a:r>
              <a:rPr sz="2025" b="0" i="0">
                <a:solidFill>
                  <a:srgbClr val="EE0000"/>
                </a:solidFill>
                <a:latin typeface="微软雅黑" panose="020B0503020204020204" charset="-122"/>
                <a:ea typeface="微软雅黑" panose="020B0503020204020204" charset="-122"/>
                <a:cs typeface="微软雅黑" panose="020B0503020204020204" charset="-122"/>
              </a:rPr>
              <a:t> as he realized there was little he could do.</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8.她对旅行的兴奋与对飞行的恐惧交织，让她整夜辗转难眠。</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9"/>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Her </a:t>
            </a:r>
            <a:r>
              <a:rPr sz="2025" b="1" i="0">
                <a:solidFill>
                  <a:srgbClr val="EE0000"/>
                </a:solidFill>
                <a:latin typeface="微软雅黑" panose="020B0503020204020204" charset="-122"/>
                <a:ea typeface="微软雅黑" panose="020B0503020204020204" charset="-122"/>
                <a:cs typeface="微软雅黑" panose="020B0503020204020204" charset="-122"/>
              </a:rPr>
              <a:t>excitement</a:t>
            </a:r>
            <a:r>
              <a:rPr sz="2025" b="0" i="0">
                <a:solidFill>
                  <a:srgbClr val="EE0000"/>
                </a:solidFill>
                <a:latin typeface="微软雅黑" panose="020B0503020204020204" charset="-122"/>
                <a:ea typeface="微软雅黑" panose="020B0503020204020204" charset="-122"/>
                <a:cs typeface="微软雅黑" panose="020B0503020204020204" charset="-122"/>
              </a:rPr>
              <a:t> for the trip mingled with </a:t>
            </a:r>
            <a:r>
              <a:rPr sz="2025" b="1" i="0">
                <a:solidFill>
                  <a:srgbClr val="EE0000"/>
                </a:solidFill>
                <a:latin typeface="微软雅黑" panose="020B0503020204020204" charset="-122"/>
                <a:ea typeface="微软雅黑" panose="020B0503020204020204" charset="-122"/>
                <a:cs typeface="微软雅黑" panose="020B0503020204020204" charset="-122"/>
              </a:rPr>
              <a:t>fear</a:t>
            </a:r>
            <a:r>
              <a:rPr sz="2025" b="0" i="0">
                <a:solidFill>
                  <a:srgbClr val="EE0000"/>
                </a:solidFill>
                <a:latin typeface="微软雅黑" panose="020B0503020204020204" charset="-122"/>
                <a:ea typeface="微软雅黑" panose="020B0503020204020204" charset="-122"/>
                <a:cs typeface="微软雅黑" panose="020B0503020204020204" charset="-122"/>
              </a:rPr>
              <a:t> of flying, making her toss and turn all night.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第一部分仿写训练：句型2（5/5）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….mingled with …..(…是表示心理的名词)</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9.老人对平淡生活的满足，与对错过机会的遗憾交织在一起。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0"/>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old man’s</a:t>
            </a:r>
            <a:r>
              <a:rPr sz="2025" b="1" i="0">
                <a:solidFill>
                  <a:srgbClr val="EE0000"/>
                </a:solidFill>
                <a:latin typeface="微软雅黑" panose="020B0503020204020204" charset="-122"/>
                <a:ea typeface="微软雅黑" panose="020B0503020204020204" charset="-122"/>
                <a:cs typeface="微软雅黑" panose="020B0503020204020204" charset="-122"/>
              </a:rPr>
              <a:t> contentment</a:t>
            </a:r>
            <a:r>
              <a:rPr sz="2025" b="0" i="0">
                <a:solidFill>
                  <a:srgbClr val="EE0000"/>
                </a:solidFill>
                <a:latin typeface="微软雅黑" panose="020B0503020204020204" charset="-122"/>
                <a:ea typeface="微软雅黑" panose="020B0503020204020204" charset="-122"/>
                <a:cs typeface="微软雅黑" panose="020B0503020204020204" charset="-122"/>
              </a:rPr>
              <a:t> with his simple life mingled with </a:t>
            </a:r>
            <a:r>
              <a:rPr sz="2025" b="1" i="0">
                <a:solidFill>
                  <a:srgbClr val="EE0000"/>
                </a:solidFill>
                <a:latin typeface="微软雅黑" panose="020B0503020204020204" charset="-122"/>
                <a:ea typeface="微软雅黑" panose="020B0503020204020204" charset="-122"/>
                <a:cs typeface="微软雅黑" panose="020B0503020204020204" charset="-122"/>
              </a:rPr>
              <a:t>regret</a:t>
            </a:r>
            <a:r>
              <a:rPr sz="2025" b="0" i="0">
                <a:solidFill>
                  <a:srgbClr val="EE0000"/>
                </a:solidFill>
                <a:latin typeface="微软雅黑" panose="020B0503020204020204" charset="-122"/>
                <a:ea typeface="微软雅黑" panose="020B0503020204020204" charset="-122"/>
                <a:cs typeface="微软雅黑" panose="020B0503020204020204" charset="-122"/>
              </a:rPr>
              <a:t> for the chances he’d missed.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10.团队对计划的信心，与对变幻莫测天气的不确定感交织在一起。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1"/>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team's </a:t>
            </a:r>
            <a:r>
              <a:rPr sz="2025" b="1" i="0">
                <a:solidFill>
                  <a:srgbClr val="EE0000"/>
                </a:solidFill>
                <a:latin typeface="微软雅黑" panose="020B0503020204020204" charset="-122"/>
                <a:ea typeface="微软雅黑" panose="020B0503020204020204" charset="-122"/>
                <a:cs typeface="微软雅黑" panose="020B0503020204020204" charset="-122"/>
              </a:rPr>
              <a:t>confidence</a:t>
            </a:r>
            <a:r>
              <a:rPr sz="2025" b="0" i="0">
                <a:solidFill>
                  <a:srgbClr val="EE0000"/>
                </a:solidFill>
                <a:latin typeface="微软雅黑" panose="020B0503020204020204" charset="-122"/>
                <a:ea typeface="微软雅黑" panose="020B0503020204020204" charset="-122"/>
                <a:cs typeface="微软雅黑" panose="020B0503020204020204" charset="-122"/>
              </a:rPr>
              <a:t> in the plan is mingled with the </a:t>
            </a:r>
            <a:r>
              <a:rPr sz="2025" b="1" i="0">
                <a:solidFill>
                  <a:srgbClr val="EE0000"/>
                </a:solidFill>
                <a:latin typeface="微软雅黑" panose="020B0503020204020204" charset="-122"/>
                <a:ea typeface="微软雅黑" panose="020B0503020204020204" charset="-122"/>
                <a:cs typeface="微软雅黑" panose="020B0503020204020204" charset="-122"/>
              </a:rPr>
              <a:t>uncertainty</a:t>
            </a:r>
            <a:r>
              <a:rPr sz="2025" b="0" i="0">
                <a:solidFill>
                  <a:srgbClr val="EE0000"/>
                </a:solidFill>
                <a:latin typeface="微软雅黑" panose="020B0503020204020204" charset="-122"/>
                <a:ea typeface="微软雅黑" panose="020B0503020204020204" charset="-122"/>
                <a:cs typeface="微软雅黑" panose="020B0503020204020204" charset="-122"/>
              </a:rPr>
              <a:t> about the unpredictable weather</a:t>
            </a:r>
            <a:r>
              <a:rPr sz="2025" b="0" i="0">
                <a:solidFill>
                  <a:srgbClr val="000000"/>
                </a:solidFill>
                <a:latin typeface="微软雅黑" panose="020B0503020204020204" charset="-122"/>
                <a:ea typeface="微软雅黑" panose="020B0503020204020204" charset="-122"/>
                <a:cs typeface="微软雅黑" panose="020B0503020204020204" charset="-122"/>
              </a:rPr>
              <a:t>.</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第一部分仿写训练：句型3（1/5）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情绪1 and 情绪2, 主语的一个动作….</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628775"/>
          </a:xfrm>
          <a:prstGeom prst="roundRect">
            <a:avLst>
              <a:gd name="adj" fmla="val 8187"/>
            </a:avLst>
          </a:prstGeom>
          <a:solidFill>
            <a:srgbClr val="FFFAF5"/>
          </a:solidFill>
          <a:ln w="9525">
            <a:solidFill>
              <a:srgbClr val="FFBF86"/>
            </a:solidFill>
            <a:prstDash val="solid"/>
          </a:ln>
        </p:spPr>
      </p:sp>
      <p:sp>
        <p:nvSpPr>
          <p:cNvPr id="9" name="矩形 8"/>
          <p:cNvSpPr>
            <a:spLocks noGrp="1"/>
          </p:cNvSpPr>
          <p:nvPr/>
        </p:nvSpPr>
        <p:spPr>
          <a:xfrm>
            <a:off x="1200150" y="2919413"/>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既焦虑又满怀希望，她咬着嘴唇，盯着即将送来成绩单的门。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2"/>
          <p:cNvSpPr>
            <a:spLocks noGrp="1"/>
          </p:cNvSpPr>
          <p:nvPr/>
        </p:nvSpPr>
        <p:spPr>
          <a:xfrm>
            <a:off x="1200150" y="32242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Anxious and hopeful</a:t>
            </a:r>
            <a:r>
              <a:rPr sz="2025" b="0" i="0">
                <a:solidFill>
                  <a:srgbClr val="EE0000"/>
                </a:solidFill>
                <a:latin typeface="微软雅黑" panose="020B0503020204020204" charset="-122"/>
                <a:ea typeface="微软雅黑" panose="020B0503020204020204" charset="-122"/>
                <a:cs typeface="微软雅黑" panose="020B0503020204020204" charset="-122"/>
              </a:rPr>
              <a:t>, she bit her lip, staring at the door where her exam results would soon arrive.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76725"/>
            <a:ext cx="10439400" cy="1914525"/>
          </a:xfrm>
          <a:prstGeom prst="roundRect">
            <a:avLst>
              <a:gd name="adj" fmla="val 6965"/>
            </a:avLst>
          </a:prstGeom>
          <a:solidFill>
            <a:srgbClr val="FFFAF5"/>
          </a:solidFill>
          <a:ln w="9525">
            <a:solidFill>
              <a:srgbClr val="FFBF86"/>
            </a:solidFill>
            <a:prstDash val="solid"/>
          </a:ln>
        </p:spPr>
      </p:sp>
      <p:sp>
        <p:nvSpPr>
          <p:cNvPr id="12" name="矩形 11"/>
          <p:cNvSpPr>
            <a:spLocks noGrp="1"/>
          </p:cNvSpPr>
          <p:nvPr/>
        </p:nvSpPr>
        <p:spPr>
          <a:xfrm>
            <a:off x="1200150" y="4638675"/>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既困惑又好奇，男孩探身向前，努力想弄明白那个旧盒子里传出的奇怪声音。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3"/>
          <p:cNvSpPr>
            <a:spLocks noGrp="1"/>
          </p:cNvSpPr>
          <p:nvPr/>
        </p:nvSpPr>
        <p:spPr>
          <a:xfrm>
            <a:off x="1200150" y="494347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Confused and curious</a:t>
            </a:r>
            <a:r>
              <a:rPr sz="2025" b="0" i="0">
                <a:solidFill>
                  <a:srgbClr val="EE0000"/>
                </a:solidFill>
                <a:latin typeface="微软雅黑" panose="020B0503020204020204" charset="-122"/>
                <a:ea typeface="微软雅黑" panose="020B0503020204020204" charset="-122"/>
                <a:cs typeface="微软雅黑" panose="020B0503020204020204" charset="-122"/>
              </a:rPr>
              <a:t>, the boy leaned forward, trying to understand the strange noise coming from the old box.</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第一部分仿写训练：句型3（2/5）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情绪1 and 情绪2, 主语的一个动作….</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71650"/>
          </a:xfrm>
          <a:prstGeom prst="roundRect">
            <a:avLst>
              <a:gd name="adj" fmla="val 7527"/>
            </a:avLst>
          </a:prstGeom>
          <a:solidFill>
            <a:srgbClr val="FFFAF5"/>
          </a:solidFill>
          <a:ln w="9525">
            <a:solidFill>
              <a:srgbClr val="FFBF86"/>
            </a:solidFill>
            <a:prstDash val="solid"/>
          </a:ln>
        </p:spPr>
      </p:sp>
      <p:sp>
        <p:nvSpPr>
          <p:cNvPr id="9" name="矩形 8"/>
          <p:cNvSpPr>
            <a:spLocks noGrp="1"/>
          </p:cNvSpPr>
          <p:nvPr/>
        </p:nvSpPr>
        <p:spPr>
          <a:xfrm>
            <a:off x="1200150" y="2843213"/>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既害怕又勇敢，小女孩紧紧拉着弟弟的手，带他穿过漆黑的走廊。</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4"/>
          <p:cNvSpPr>
            <a:spLocks noGrp="1"/>
          </p:cNvSpPr>
          <p:nvPr/>
        </p:nvSpPr>
        <p:spPr>
          <a:xfrm>
            <a:off x="1200150" y="3148013"/>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Frightened but brave</a:t>
            </a:r>
            <a:r>
              <a:rPr sz="2025" b="0" i="0">
                <a:solidFill>
                  <a:srgbClr val="EE0000"/>
                </a:solidFill>
                <a:latin typeface="微软雅黑" panose="020B0503020204020204" charset="-122"/>
                <a:ea typeface="微软雅黑" panose="020B0503020204020204" charset="-122"/>
                <a:cs typeface="微软雅黑" panose="020B0503020204020204" charset="-122"/>
              </a:rPr>
              <a:t>, the little girl held her brother’s hand tightly, leading him through the dark corridor.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19600"/>
            <a:ext cx="10439400" cy="1771650"/>
          </a:xfrm>
          <a:prstGeom prst="roundRect">
            <a:avLst>
              <a:gd name="adj" fmla="val 7527"/>
            </a:avLst>
          </a:prstGeom>
          <a:solidFill>
            <a:srgbClr val="FFFAF5"/>
          </a:solidFill>
          <a:ln w="9525">
            <a:solidFill>
              <a:srgbClr val="FFBF86"/>
            </a:solidFill>
            <a:prstDash val="solid"/>
          </a:ln>
        </p:spPr>
      </p:sp>
      <p:sp>
        <p:nvSpPr>
          <p:cNvPr id="12" name="矩形 11"/>
          <p:cNvSpPr>
            <a:spLocks noGrp="1"/>
          </p:cNvSpPr>
          <p:nvPr/>
        </p:nvSpPr>
        <p:spPr>
          <a:xfrm>
            <a:off x="1200150" y="4710113"/>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既失望又坚定，他把拒信揉成一团，又重新展开，想看看有没有隐藏的线索。</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5"/>
          <p:cNvSpPr>
            <a:spLocks noGrp="1"/>
          </p:cNvSpPr>
          <p:nvPr/>
        </p:nvSpPr>
        <p:spPr>
          <a:xfrm>
            <a:off x="1200150" y="5014913"/>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Disappointed yet determined</a:t>
            </a:r>
            <a:r>
              <a:rPr sz="2025" b="0" i="0">
                <a:solidFill>
                  <a:srgbClr val="EE0000"/>
                </a:solidFill>
                <a:latin typeface="微软雅黑" panose="020B0503020204020204" charset="-122"/>
                <a:ea typeface="微软雅黑" panose="020B0503020204020204" charset="-122"/>
                <a:cs typeface="微软雅黑" panose="020B0503020204020204" charset="-122"/>
              </a:rPr>
              <a:t>, he crumpled the rejection letter, then unfolded it again to check for any hidden clues</a:t>
            </a:r>
            <a:r>
              <a:rPr sz="2025" b="0" i="0">
                <a:solidFill>
                  <a:srgbClr val="EE0000"/>
                </a:solidFill>
                <a:latin typeface="微软雅黑" panose="020B0503020204020204" charset="-122"/>
                <a:ea typeface="微软雅黑" panose="020B0503020204020204" charset="-122"/>
                <a:cs typeface="微软雅黑" panose="020B0503020204020204" charset="-122"/>
              </a:rPr>
              <a: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第一部分仿写训练：句型3（3/5）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情绪1 and 情绪2, 主语的一个动作….</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既兴奋又紧张，汤姆反复整理领带，等着走上演讲台。</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6"/>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Excited and nervous</a:t>
            </a:r>
            <a:r>
              <a:rPr sz="2025" b="0" i="0">
                <a:solidFill>
                  <a:srgbClr val="EE0000"/>
                </a:solidFill>
                <a:latin typeface="微软雅黑" panose="020B0503020204020204" charset="-122"/>
                <a:ea typeface="微软雅黑" panose="020B0503020204020204" charset="-122"/>
                <a:cs typeface="微软雅黑" panose="020B0503020204020204" charset="-122"/>
              </a:rPr>
              <a:t>, Tom adjusted his tie repeatedly, waiting to walk onto the stage for his speech.</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既难过又宽慰，母亲抱着失而复得的狗，泪水混着笑容，感受着它温暖的皮毛。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7"/>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Sad but relieved</a:t>
            </a:r>
            <a:r>
              <a:rPr sz="2025" b="0" i="0">
                <a:solidFill>
                  <a:srgbClr val="EE0000"/>
                </a:solidFill>
                <a:latin typeface="微软雅黑" panose="020B0503020204020204" charset="-122"/>
                <a:ea typeface="微软雅黑" panose="020B0503020204020204" charset="-122"/>
                <a:cs typeface="微软雅黑" panose="020B0503020204020204" charset="-122"/>
              </a:rPr>
              <a:t>, the mother hugged her lost dog, tears mixing with smiles as she felt its warm fur.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第一部分仿写训练：句型3（4/5）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情绪1 and 情绪2, 主语的一个动作….</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71650"/>
          </a:xfrm>
          <a:prstGeom prst="roundRect">
            <a:avLst>
              <a:gd name="adj" fmla="val 7527"/>
            </a:avLst>
          </a:prstGeom>
          <a:solidFill>
            <a:srgbClr val="FFFAF5"/>
          </a:solidFill>
          <a:ln w="9525">
            <a:solidFill>
              <a:srgbClr val="FFBF86"/>
            </a:solidFill>
            <a:prstDash val="solid"/>
          </a:ln>
        </p:spPr>
      </p:sp>
      <p:sp>
        <p:nvSpPr>
          <p:cNvPr id="9" name="矩形 8"/>
          <p:cNvSpPr>
            <a:spLocks noGrp="1"/>
          </p:cNvSpPr>
          <p:nvPr/>
        </p:nvSpPr>
        <p:spPr>
          <a:xfrm>
            <a:off x="1200150" y="2843213"/>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既生气又愧疚，莉莉猛地关上门，却立刻僵住了，意识到自己不该对最好的朋友大喊大叫。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8"/>
          <p:cNvSpPr>
            <a:spLocks noGrp="1"/>
          </p:cNvSpPr>
          <p:nvPr/>
        </p:nvSpPr>
        <p:spPr>
          <a:xfrm>
            <a:off x="1200150" y="3148013"/>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Angry yet guilty</a:t>
            </a:r>
            <a:r>
              <a:rPr sz="2025" b="0" i="0">
                <a:solidFill>
                  <a:srgbClr val="EE0000"/>
                </a:solidFill>
                <a:latin typeface="微软雅黑" panose="020B0503020204020204" charset="-122"/>
                <a:ea typeface="微软雅黑" panose="020B0503020204020204" charset="-122"/>
                <a:cs typeface="微软雅黑" panose="020B0503020204020204" charset="-122"/>
              </a:rPr>
              <a:t>, Lily slammed the door, but immediately froze, realizing she had shouted at her best friend unfairly.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19600"/>
            <a:ext cx="10439400" cy="1771650"/>
          </a:xfrm>
          <a:prstGeom prst="roundRect">
            <a:avLst>
              <a:gd name="adj" fmla="val 7527"/>
            </a:avLst>
          </a:prstGeom>
          <a:solidFill>
            <a:srgbClr val="FFFAF5"/>
          </a:solidFill>
          <a:ln w="9525">
            <a:solidFill>
              <a:srgbClr val="FFBF86"/>
            </a:solidFill>
            <a:prstDash val="solid"/>
          </a:ln>
        </p:spPr>
      </p:sp>
      <p:sp>
        <p:nvSpPr>
          <p:cNvPr id="12" name="矩形 11"/>
          <p:cNvSpPr>
            <a:spLocks noGrp="1"/>
          </p:cNvSpPr>
          <p:nvPr/>
        </p:nvSpPr>
        <p:spPr>
          <a:xfrm>
            <a:off x="1200150" y="4710113"/>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既孤独又满怀希望，老人坐在长椅上，看着孩子们玩耍，手里紧握着家人的照片。</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9"/>
          <p:cNvSpPr>
            <a:spLocks noGrp="1"/>
          </p:cNvSpPr>
          <p:nvPr/>
        </p:nvSpPr>
        <p:spPr>
          <a:xfrm>
            <a:off x="1200150" y="5014913"/>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Lonely and hopeful</a:t>
            </a:r>
            <a:r>
              <a:rPr sz="2025" b="0" i="0">
                <a:solidFill>
                  <a:srgbClr val="EE0000"/>
                </a:solidFill>
                <a:latin typeface="微软雅黑" panose="020B0503020204020204" charset="-122"/>
                <a:ea typeface="微软雅黑" panose="020B0503020204020204" charset="-122"/>
                <a:cs typeface="微软雅黑" panose="020B0503020204020204" charset="-122"/>
              </a:rPr>
              <a:t>, the old man sat on the bench, watching children play while holding a photo of his family.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第一部分仿写训练：句型3（5/5）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情绪1 and 情绪2, 主语的一个动作….</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628775"/>
          </a:xfrm>
          <a:prstGeom prst="roundRect">
            <a:avLst>
              <a:gd name="adj" fmla="val 8187"/>
            </a:avLst>
          </a:prstGeom>
          <a:solidFill>
            <a:srgbClr val="FFFAF5"/>
          </a:solidFill>
          <a:ln w="9525">
            <a:solidFill>
              <a:srgbClr val="FFBF86"/>
            </a:solidFill>
            <a:prstDash val="solid"/>
          </a:ln>
        </p:spPr>
      </p:sp>
      <p:sp>
        <p:nvSpPr>
          <p:cNvPr id="9" name="矩形 8"/>
          <p:cNvSpPr>
            <a:spLocks noGrp="1"/>
          </p:cNvSpPr>
          <p:nvPr/>
        </p:nvSpPr>
        <p:spPr>
          <a:xfrm>
            <a:off x="1200150" y="2919413"/>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既疲惫又自豪，运动员们互相击掌，跑完艰难的马拉松后，他们的双腿阵阵酸痛。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0"/>
          <p:cNvSpPr>
            <a:spLocks noGrp="1"/>
          </p:cNvSpPr>
          <p:nvPr/>
        </p:nvSpPr>
        <p:spPr>
          <a:xfrm>
            <a:off x="1200150" y="32242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Tired but proud</a:t>
            </a:r>
            <a:r>
              <a:rPr sz="2025" b="0" i="0">
                <a:solidFill>
                  <a:srgbClr val="EE0000"/>
                </a:solidFill>
                <a:latin typeface="微软雅黑" panose="020B0503020204020204" charset="-122"/>
                <a:ea typeface="微软雅黑" panose="020B0503020204020204" charset="-122"/>
                <a:cs typeface="微软雅黑" panose="020B0503020204020204" charset="-122"/>
              </a:rPr>
              <a:t>, the athletes high-fived each other, their legs aching after finishing the tough marathon.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76725"/>
            <a:ext cx="10439400" cy="1914525"/>
          </a:xfrm>
          <a:prstGeom prst="roundRect">
            <a:avLst>
              <a:gd name="adj" fmla="val 6965"/>
            </a:avLst>
          </a:prstGeom>
          <a:solidFill>
            <a:srgbClr val="FFFAF5"/>
          </a:solidFill>
          <a:ln w="9525">
            <a:solidFill>
              <a:srgbClr val="FFBF86"/>
            </a:solidFill>
            <a:prstDash val="solid"/>
          </a:ln>
        </p:spPr>
      </p:sp>
      <p:sp>
        <p:nvSpPr>
          <p:cNvPr id="12" name="矩形 11"/>
          <p:cNvSpPr>
            <a:spLocks noGrp="1"/>
          </p:cNvSpPr>
          <p:nvPr/>
        </p:nvSpPr>
        <p:spPr>
          <a:xfrm>
            <a:off x="1200150" y="4638675"/>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既尴尬又感激，玛丽微微鞠躬，感谢帮她捡起散落书本的陌生人。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1"/>
          <p:cNvSpPr>
            <a:spLocks noGrp="1"/>
          </p:cNvSpPr>
          <p:nvPr/>
        </p:nvSpPr>
        <p:spPr>
          <a:xfrm>
            <a:off x="1200150" y="494347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Embarrassed and grateful</a:t>
            </a:r>
            <a:r>
              <a:rPr sz="2025" b="0" i="0">
                <a:solidFill>
                  <a:srgbClr val="EE0000"/>
                </a:solidFill>
                <a:latin typeface="微软雅黑" panose="020B0503020204020204" charset="-122"/>
                <a:ea typeface="微软雅黑" panose="020B0503020204020204" charset="-122"/>
                <a:cs typeface="微软雅黑" panose="020B0503020204020204" charset="-122"/>
              </a:rPr>
              <a:t>, Mary bowed slightly, thanking the stranger who had helped her pick up the scattered books.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第一部分仿写训练：句型4（1/5）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A sense (wave/flush/ripple) of +情绪名词 flooded (swept over/overwhelmed )sb</a:t>
            </a:r>
            <a:r>
              <a:rPr sz="2025" b="0" i="0" u="sng">
                <a:solidFill>
                  <a:srgbClr val="004E9A"/>
                </a:solidFill>
                <a:latin typeface="微软雅黑" panose="020B0503020204020204" charset="-122"/>
                <a:ea typeface="微软雅黑" panose="020B0503020204020204" charset="-122"/>
                <a:cs typeface="微软雅黑" panose="020B0503020204020204" charset="-122"/>
              </a:rPr>
              <a:t>.一阵…的情绪席卷某人。</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看到自己的名字出现在比赛获奖名单上时，一阵兴奋席卷了她。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2"/>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 </a:t>
            </a:r>
            <a:r>
              <a:rPr sz="2025" b="1" i="0">
                <a:solidFill>
                  <a:srgbClr val="EE0000"/>
                </a:solidFill>
                <a:latin typeface="微软雅黑" panose="020B0503020204020204" charset="-122"/>
                <a:ea typeface="微软雅黑" panose="020B0503020204020204" charset="-122"/>
                <a:cs typeface="微软雅黑" panose="020B0503020204020204" charset="-122"/>
              </a:rPr>
              <a:t>wave of excitement</a:t>
            </a:r>
            <a:r>
              <a:rPr sz="2025" b="0" i="0">
                <a:solidFill>
                  <a:srgbClr val="EE0000"/>
                </a:solidFill>
                <a:latin typeface="微软雅黑" panose="020B0503020204020204" charset="-122"/>
                <a:ea typeface="微软雅黑" panose="020B0503020204020204" charset="-122"/>
                <a:cs typeface="微软雅黑" panose="020B0503020204020204" charset="-122"/>
              </a:rPr>
              <a:t> flooded her when she saw her name on the competition winner list.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乌云密布时，一阵恐惧席卷了在山中迷路的徒步者们。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3"/>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As the dark clouds gathered, a </a:t>
            </a:r>
            <a:r>
              <a:rPr sz="2025" b="1" i="0">
                <a:solidFill>
                  <a:srgbClr val="EE0000"/>
                </a:solidFill>
                <a:latin typeface="微软雅黑" panose="020B0503020204020204" charset="-122"/>
                <a:ea typeface="微软雅黑" panose="020B0503020204020204" charset="-122"/>
                <a:cs typeface="微软雅黑" panose="020B0503020204020204" charset="-122"/>
              </a:rPr>
              <a:t>sense of fear</a:t>
            </a:r>
            <a:r>
              <a:rPr sz="2025" b="0" i="0">
                <a:solidFill>
                  <a:srgbClr val="EE0000"/>
                </a:solidFill>
                <a:latin typeface="微软雅黑" panose="020B0503020204020204" charset="-122"/>
                <a:ea typeface="微软雅黑" panose="020B0503020204020204" charset="-122"/>
                <a:cs typeface="微软雅黑" panose="020B0503020204020204" charset="-122"/>
              </a:rPr>
              <a:t> swept over the hikers lost in the mountain.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第一部分仿写训练：句型4（2/5）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A sense (wave/flush/ripple) of +情绪名词 flooded (swept over/overwhelmed )sb</a:t>
            </a:r>
            <a:r>
              <a:rPr sz="2025" b="0" i="0" u="sng">
                <a:solidFill>
                  <a:srgbClr val="004E9A"/>
                </a:solidFill>
                <a:latin typeface="微软雅黑" panose="020B0503020204020204" charset="-122"/>
                <a:ea typeface="微软雅黑" panose="020B0503020204020204" charset="-122"/>
                <a:cs typeface="微软雅黑" panose="020B0503020204020204" charset="-122"/>
              </a:rPr>
              <a:t>.一阵…的情绪席卷某人。</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当他真诚道歉时，一阵愧疚感因之前怀疑他而席卷了她。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4"/>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When he apologized sincerely, a </a:t>
            </a:r>
            <a:r>
              <a:rPr sz="2025" b="1" i="0">
                <a:solidFill>
                  <a:srgbClr val="EE0000"/>
                </a:solidFill>
                <a:latin typeface="微软雅黑" panose="020B0503020204020204" charset="-122"/>
                <a:ea typeface="微软雅黑" panose="020B0503020204020204" charset="-122"/>
                <a:cs typeface="微软雅黑" panose="020B0503020204020204" charset="-122"/>
              </a:rPr>
              <a:t>ripple of guilt</a:t>
            </a:r>
            <a:r>
              <a:rPr sz="2025" b="0" i="0">
                <a:solidFill>
                  <a:srgbClr val="EE0000"/>
                </a:solidFill>
                <a:latin typeface="微软雅黑" panose="020B0503020204020204" charset="-122"/>
                <a:ea typeface="微软雅黑" panose="020B0503020204020204" charset="-122"/>
                <a:cs typeface="微软雅黑" panose="020B0503020204020204" charset="-122"/>
              </a:rPr>
              <a:t> overwhelmed her for doubting him earlier.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在他犯了愚蠢的错误后，所有目光都投向他，一阵尴尬席卷了这个男孩。</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5"/>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 </a:t>
            </a:r>
            <a:r>
              <a:rPr sz="2025" b="1" i="0">
                <a:solidFill>
                  <a:srgbClr val="EE0000"/>
                </a:solidFill>
                <a:latin typeface="微软雅黑" panose="020B0503020204020204" charset="-122"/>
                <a:ea typeface="微软雅黑" panose="020B0503020204020204" charset="-122"/>
                <a:cs typeface="微软雅黑" panose="020B0503020204020204" charset="-122"/>
              </a:rPr>
              <a:t>flush of embarrassment</a:t>
            </a:r>
            <a:r>
              <a:rPr sz="2025" b="0" i="0">
                <a:solidFill>
                  <a:srgbClr val="EE0000"/>
                </a:solidFill>
                <a:latin typeface="微软雅黑" panose="020B0503020204020204" charset="-122"/>
                <a:ea typeface="微软雅黑" panose="020B0503020204020204" charset="-122"/>
                <a:cs typeface="微软雅黑" panose="020B0503020204020204" charset="-122"/>
              </a:rPr>
              <a:t> flooded the boy as all eyes turned to him after his silly mistake.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第一部分仿写训练：句型4（3/5）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A sense (wave/flush/ripple) of +情绪名词 flooded (swept over/overwhelmed )sb</a:t>
            </a:r>
            <a:r>
              <a:rPr sz="2025" b="0" i="0" u="sng">
                <a:solidFill>
                  <a:srgbClr val="004E9A"/>
                </a:solidFill>
                <a:latin typeface="微软雅黑" panose="020B0503020204020204" charset="-122"/>
                <a:ea typeface="微软雅黑" panose="020B0503020204020204" charset="-122"/>
                <a:cs typeface="微软雅黑" panose="020B0503020204020204" charset="-122"/>
              </a:rPr>
              <a:t>.一阵…的情绪席卷某人。</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听着老人讲述他失散家人的故事，一阵悲伤席卷了整个房间。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6"/>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Listening to the old man’s story of his lost family, a </a:t>
            </a:r>
            <a:r>
              <a:rPr sz="2025" b="1" i="0">
                <a:solidFill>
                  <a:srgbClr val="EE0000"/>
                </a:solidFill>
                <a:latin typeface="微软雅黑" panose="020B0503020204020204" charset="-122"/>
                <a:ea typeface="微软雅黑" panose="020B0503020204020204" charset="-122"/>
                <a:cs typeface="微软雅黑" panose="020B0503020204020204" charset="-122"/>
              </a:rPr>
              <a:t>sense of sorrow</a:t>
            </a:r>
            <a:r>
              <a:rPr sz="2025" b="0" i="0">
                <a:solidFill>
                  <a:srgbClr val="EE0000"/>
                </a:solidFill>
                <a:latin typeface="微软雅黑" panose="020B0503020204020204" charset="-122"/>
                <a:ea typeface="微软雅黑" panose="020B0503020204020204" charset="-122"/>
                <a:cs typeface="微软雅黑" panose="020B0503020204020204" charset="-122"/>
              </a:rPr>
              <a:t> swept over the whole room.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门开的那一刻，父母出现了，一阵喜悦席卷了这个孤独的女孩。</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7"/>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moment the door opened and her parents appeared, a </a:t>
            </a:r>
            <a:r>
              <a:rPr sz="2025" b="1" i="0">
                <a:solidFill>
                  <a:srgbClr val="EE0000"/>
                </a:solidFill>
                <a:latin typeface="微软雅黑" panose="020B0503020204020204" charset="-122"/>
                <a:ea typeface="微软雅黑" panose="020B0503020204020204" charset="-122"/>
                <a:cs typeface="微软雅黑" panose="020B0503020204020204" charset="-122"/>
              </a:rPr>
              <a:t>wave of joy</a:t>
            </a:r>
            <a:r>
              <a:rPr sz="2025" b="0" i="0">
                <a:solidFill>
                  <a:srgbClr val="EE0000"/>
                </a:solidFill>
                <a:latin typeface="微软雅黑" panose="020B0503020204020204" charset="-122"/>
                <a:ea typeface="微软雅黑" panose="020B0503020204020204" charset="-122"/>
                <a:cs typeface="微软雅黑" panose="020B0503020204020204" charset="-122"/>
              </a:rPr>
              <a:t> overwhelmed the lonely girl.</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第一部分仿写训练：句型4（4/5）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A sense (wave/flush/ripple) of +情绪名词 flooded (swept over/overwhelmed )sb</a:t>
            </a:r>
            <a:r>
              <a:rPr sz="2025" b="0" i="0" u="sng">
                <a:solidFill>
                  <a:srgbClr val="004E9A"/>
                </a:solidFill>
                <a:latin typeface="微软雅黑" panose="020B0503020204020204" charset="-122"/>
                <a:ea typeface="微软雅黑" panose="020B0503020204020204" charset="-122"/>
                <a:cs typeface="微软雅黑" panose="020B0503020204020204" charset="-122"/>
              </a:rPr>
              <a:t>.一阵…的情绪席卷某人。</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在偏远的村庄里，当他发现手机上有微弱信号时，一阵希望席卷了他。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8"/>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 </a:t>
            </a:r>
            <a:r>
              <a:rPr sz="2025" b="1" i="0">
                <a:solidFill>
                  <a:srgbClr val="EE0000"/>
                </a:solidFill>
                <a:latin typeface="微软雅黑" panose="020B0503020204020204" charset="-122"/>
                <a:ea typeface="微软雅黑" panose="020B0503020204020204" charset="-122"/>
                <a:cs typeface="微软雅黑" panose="020B0503020204020204" charset="-122"/>
              </a:rPr>
              <a:t>ripple of hope</a:t>
            </a:r>
            <a:r>
              <a:rPr sz="2025" b="0" i="0">
                <a:solidFill>
                  <a:srgbClr val="EE0000"/>
                </a:solidFill>
                <a:latin typeface="微软雅黑" panose="020B0503020204020204" charset="-122"/>
                <a:ea typeface="微软雅黑" panose="020B0503020204020204" charset="-122"/>
                <a:cs typeface="微软雅黑" panose="020B0503020204020204" charset="-122"/>
              </a:rPr>
              <a:t> flooded him when he found a faint signal on his phone in the remote village.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当老师宣布考试推迟时，一阵宽慰席卷了紧张的学生们。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9"/>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As the teacher announced the delay of the exam, a </a:t>
            </a:r>
            <a:r>
              <a:rPr sz="2025" b="1" i="0">
                <a:solidFill>
                  <a:srgbClr val="EE0000"/>
                </a:solidFill>
                <a:latin typeface="微软雅黑" panose="020B0503020204020204" charset="-122"/>
                <a:ea typeface="微软雅黑" panose="020B0503020204020204" charset="-122"/>
                <a:cs typeface="微软雅黑" panose="020B0503020204020204" charset="-122"/>
              </a:rPr>
              <a:t>sense of relief</a:t>
            </a:r>
            <a:r>
              <a:rPr sz="2025" b="0" i="0">
                <a:solidFill>
                  <a:srgbClr val="EE0000"/>
                </a:solidFill>
                <a:latin typeface="微软雅黑" panose="020B0503020204020204" charset="-122"/>
                <a:ea typeface="微软雅黑" panose="020B0503020204020204" charset="-122"/>
                <a:cs typeface="微软雅黑" panose="020B0503020204020204" charset="-122"/>
              </a:rPr>
              <a:t> swept over the nervous students.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第一部分仿写训练：句型4（5/5）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A sense (wave/flush/ripple) of +情绪名词 flooded (swept over/overwhelmed )sb</a:t>
            </a:r>
            <a:r>
              <a:rPr sz="2025" b="0" i="0" u="sng">
                <a:solidFill>
                  <a:srgbClr val="004E9A"/>
                </a:solidFill>
                <a:latin typeface="微软雅黑" panose="020B0503020204020204" charset="-122"/>
                <a:ea typeface="微软雅黑" panose="020B0503020204020204" charset="-122"/>
                <a:cs typeface="微软雅黑" panose="020B0503020204020204" charset="-122"/>
              </a:rPr>
              <a:t>.一阵…的情绪席卷某人。</a:t>
            </a:r>
            <a:endParaRPr sz="2025" b="0"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看到他珍爱的花瓶碎了，一阵愤怒席卷了他的祖父。</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0"/>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Seeing the broken vase he had cherished, a </a:t>
            </a:r>
            <a:r>
              <a:rPr sz="2025" b="1" i="0">
                <a:solidFill>
                  <a:srgbClr val="EE0000"/>
                </a:solidFill>
                <a:latin typeface="微软雅黑" panose="020B0503020204020204" charset="-122"/>
                <a:ea typeface="微软雅黑" panose="020B0503020204020204" charset="-122"/>
                <a:cs typeface="微软雅黑" panose="020B0503020204020204" charset="-122"/>
              </a:rPr>
              <a:t>flush of anger</a:t>
            </a:r>
            <a:r>
              <a:rPr sz="2025" b="0" i="0">
                <a:solidFill>
                  <a:srgbClr val="EE0000"/>
                </a:solidFill>
                <a:latin typeface="微软雅黑" panose="020B0503020204020204" charset="-122"/>
                <a:ea typeface="微软雅黑" panose="020B0503020204020204" charset="-122"/>
                <a:cs typeface="微软雅黑" panose="020B0503020204020204" charset="-122"/>
              </a:rPr>
              <a:t> overwhelmed his grandfather.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经过数月的艰苦训练，当他的团队第一个冲过终点线时，一阵自豪席卷了教练。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1"/>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A </a:t>
            </a:r>
            <a:r>
              <a:rPr sz="2025" b="1" i="0">
                <a:solidFill>
                  <a:srgbClr val="EE0000"/>
                </a:solidFill>
                <a:latin typeface="微软雅黑" panose="020B0503020204020204" charset="-122"/>
                <a:ea typeface="微软雅黑" panose="020B0503020204020204" charset="-122"/>
                <a:cs typeface="微软雅黑" panose="020B0503020204020204" charset="-122"/>
              </a:rPr>
              <a:t>sense of pride</a:t>
            </a:r>
            <a:r>
              <a:rPr sz="2025" b="0" i="0">
                <a:solidFill>
                  <a:srgbClr val="EE0000"/>
                </a:solidFill>
                <a:latin typeface="微软雅黑" panose="020B0503020204020204" charset="-122"/>
                <a:ea typeface="微软雅黑" panose="020B0503020204020204" charset="-122"/>
                <a:cs typeface="微软雅黑" panose="020B0503020204020204" charset="-122"/>
              </a:rPr>
              <a:t> flooded the coach as his team crossed the finish line first after months of hard training.</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第一部分仿写训练：句型5（1/5）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so 情绪adj was sb. that +陈述句….</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她太兴奋了，以至于手舞足蹈地挥舞着录取通知书。</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2"/>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excited</a:t>
            </a:r>
            <a:r>
              <a:rPr sz="2025" b="0" i="0">
                <a:solidFill>
                  <a:srgbClr val="EE0000"/>
                </a:solidFill>
                <a:latin typeface="微软雅黑" panose="020B0503020204020204" charset="-122"/>
                <a:ea typeface="微软雅黑" panose="020B0503020204020204" charset="-122"/>
                <a:cs typeface="微软雅黑" panose="020B0503020204020204" charset="-122"/>
              </a:rPr>
              <a:t> was she that she jumped up and down, waving the acceptance letter in her hand.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他太害怕了，以至于用手捂住脸，止不住地发抖。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3"/>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frightened was he</a:t>
            </a:r>
            <a:r>
              <a:rPr sz="2025" b="0" i="0">
                <a:solidFill>
                  <a:srgbClr val="EE0000"/>
                </a:solidFill>
                <a:latin typeface="微软雅黑" panose="020B0503020204020204" charset="-122"/>
                <a:ea typeface="微软雅黑" panose="020B0503020204020204" charset="-122"/>
                <a:cs typeface="微软雅黑" panose="020B0503020204020204" charset="-122"/>
              </a:rPr>
              <a:t> that he buried his face in his hands and couldn’t stop trembling.</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第一部分仿写训练：句型5（2/5）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so 情绪adj was sb. that +陈述句….</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小女孩太伤心了，以至于蜷缩在沙发上，泪水浸湿了枕头。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4"/>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sad</a:t>
            </a:r>
            <a:r>
              <a:rPr sz="2025" b="0" i="0">
                <a:solidFill>
                  <a:srgbClr val="EE0000"/>
                </a:solidFill>
                <a:latin typeface="微软雅黑" panose="020B0503020204020204" charset="-122"/>
                <a:ea typeface="微软雅黑" panose="020B0503020204020204" charset="-122"/>
                <a:cs typeface="微软雅黑" panose="020B0503020204020204" charset="-122"/>
              </a:rPr>
              <a:t>  was the little girl  that she curled up on the sofa, tears soaking the pillow.</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汤姆太紧张了，以至于站起来演讲时声音都在发抖。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5"/>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nervous</a:t>
            </a:r>
            <a:r>
              <a:rPr sz="2025" b="0" i="0">
                <a:solidFill>
                  <a:srgbClr val="EE0000"/>
                </a:solidFill>
                <a:latin typeface="微软雅黑" panose="020B0503020204020204" charset="-122"/>
                <a:ea typeface="微软雅黑" panose="020B0503020204020204" charset="-122"/>
                <a:cs typeface="微软雅黑" panose="020B0503020204020204" charset="-122"/>
              </a:rPr>
              <a:t> was  Tom that his voice shook when he stood up to give the speech.</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第一部分仿写训练：句型5（3/5）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so 情绪adj was sb. that +陈述句….</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他们太高兴了，以至于紧紧相拥，忘记了周围的大雨。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6"/>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delighted</a:t>
            </a:r>
            <a:r>
              <a:rPr sz="2025" b="0" i="0">
                <a:solidFill>
                  <a:srgbClr val="EE0000"/>
                </a:solidFill>
                <a:latin typeface="微软雅黑" panose="020B0503020204020204" charset="-122"/>
                <a:ea typeface="微软雅黑" panose="020B0503020204020204" charset="-122"/>
                <a:cs typeface="微软雅黑" panose="020B0503020204020204" charset="-122"/>
              </a:rPr>
              <a:t> were They that they hugged each other tightly, forgetting the heavy rain around them.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她太尴尬了，以至于脸颊涨得通红，低头盯着自己的鞋子。</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7"/>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embarrassed</a:t>
            </a:r>
            <a:r>
              <a:rPr sz="2025" b="0" i="0">
                <a:solidFill>
                  <a:srgbClr val="EE0000"/>
                </a:solidFill>
                <a:latin typeface="微软雅黑" panose="020B0503020204020204" charset="-122"/>
                <a:ea typeface="微软雅黑" panose="020B0503020204020204" charset="-122"/>
                <a:cs typeface="微软雅黑" panose="020B0503020204020204" charset="-122"/>
              </a:rPr>
              <a:t> was she that her cheeks turned bright red and she looked down at her </a:t>
            </a:r>
            <a:r>
              <a:rPr sz="2025" b="0" i="0">
                <a:solidFill>
                  <a:srgbClr val="EE0000"/>
                </a:solidFill>
                <a:latin typeface="微软雅黑" panose="020B0503020204020204" charset="-122"/>
                <a:ea typeface="微软雅黑" panose="020B0503020204020204" charset="-122"/>
                <a:cs typeface="微软雅黑" panose="020B0503020204020204" charset="-122"/>
              </a:rPr>
              <a:t>shoes.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第一部分仿写训练：句型5（4/5）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so 情绪adj was sb. that +陈述句….</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老人太感激了，以至于紧紧握住陌生人的手，不停地说 “谢谢”。</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8"/>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grateful</a:t>
            </a:r>
            <a:r>
              <a:rPr sz="2025" b="0" i="0">
                <a:solidFill>
                  <a:srgbClr val="EE0000"/>
                </a:solidFill>
                <a:latin typeface="微软雅黑" panose="020B0503020204020204" charset="-122"/>
                <a:ea typeface="微软雅黑" panose="020B0503020204020204" charset="-122"/>
                <a:cs typeface="微软雅黑" panose="020B0503020204020204" charset="-122"/>
              </a:rPr>
              <a:t> was the old man that he held the stranger’s hand and kept saying “thank you”.</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他太生气了，以至于摔门而去，一句话也没说。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9"/>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angry</a:t>
            </a:r>
            <a:r>
              <a:rPr sz="2025" b="0" i="0">
                <a:solidFill>
                  <a:srgbClr val="EE0000"/>
                </a:solidFill>
                <a:latin typeface="微软雅黑" panose="020B0503020204020204" charset="-122"/>
                <a:ea typeface="微软雅黑" panose="020B0503020204020204" charset="-122"/>
                <a:cs typeface="微软雅黑" panose="020B0503020204020204" charset="-122"/>
              </a:rPr>
              <a:t> was he that he slammed the door and walked away without saying a word.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第一部分仿写训练：句型5（5/5）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so 情绪adj was sb. that +陈述句….</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莉莉太好奇了，以至于踮起脚尖走到窗边，想看看外面发生了什么。</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0"/>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curious</a:t>
            </a:r>
            <a:r>
              <a:rPr sz="2025" b="0" i="0">
                <a:solidFill>
                  <a:srgbClr val="EE0000"/>
                </a:solidFill>
                <a:latin typeface="微软雅黑" panose="020B0503020204020204" charset="-122"/>
                <a:ea typeface="微软雅黑" panose="020B0503020204020204" charset="-122"/>
                <a:cs typeface="微软雅黑" panose="020B0503020204020204" charset="-122"/>
              </a:rPr>
              <a:t> was Lily that she tiptoed to the window to see what was happening outside.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长途徒步后，学生们太累了，以至于一躺在草地上就睡着了。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1"/>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So </a:t>
            </a:r>
            <a:r>
              <a:rPr sz="2025" b="1" i="0">
                <a:solidFill>
                  <a:srgbClr val="EE0000"/>
                </a:solidFill>
                <a:latin typeface="微软雅黑" panose="020B0503020204020204" charset="-122"/>
                <a:ea typeface="微软雅黑" panose="020B0503020204020204" charset="-122"/>
                <a:cs typeface="微软雅黑" panose="020B0503020204020204" charset="-122"/>
              </a:rPr>
              <a:t>tired were the students</a:t>
            </a:r>
            <a:r>
              <a:rPr sz="2025" b="0" i="0">
                <a:solidFill>
                  <a:srgbClr val="EE0000"/>
                </a:solidFill>
                <a:latin typeface="微软雅黑" panose="020B0503020204020204" charset="-122"/>
                <a:ea typeface="微软雅黑" panose="020B0503020204020204" charset="-122"/>
                <a:cs typeface="微软雅黑" panose="020B0503020204020204" charset="-122"/>
              </a:rPr>
              <a:t> that they fell asleep as soon as they lay down on the grass after the long hike.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第一部分仿写训练：句型6（1/5）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1875">
                <a:latin typeface="微软雅黑" panose="020B0503020204020204" charset="-122"/>
                <a:ea typeface="微软雅黑" panose="020B0503020204020204" charset="-122"/>
                <a:cs typeface="微软雅黑" panose="020B0503020204020204" charset="-122"/>
              </a:defRPr>
            </a:pPr>
            <a:r>
              <a:rPr sz="1875" b="1" i="0" u="sng">
                <a:solidFill>
                  <a:srgbClr val="004E9A"/>
                </a:solidFill>
                <a:latin typeface="微软雅黑" panose="020B0503020204020204" charset="-122"/>
                <a:ea typeface="微软雅黑" panose="020B0503020204020204" charset="-122"/>
                <a:cs typeface="微软雅黑" panose="020B0503020204020204" charset="-122"/>
              </a:rPr>
              <a:t>To one’s +情绪名词，主句…. </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Much/greatly to one’s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To one’s great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 令某人…..的是，主句</a:t>
            </a:r>
            <a:endParaRPr sz="187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914525"/>
          </a:xfrm>
          <a:prstGeom prst="roundRect">
            <a:avLst>
              <a:gd name="adj" fmla="val 6965"/>
            </a:avLst>
          </a:prstGeom>
          <a:solidFill>
            <a:srgbClr val="FFFAF5"/>
          </a:solidFill>
          <a:ln w="9525">
            <a:solidFill>
              <a:srgbClr val="FFBF86"/>
            </a:solidFill>
            <a:prstDash val="solid"/>
          </a:ln>
        </p:spPr>
      </p:sp>
      <p:sp>
        <p:nvSpPr>
          <p:cNvPr id="9" name="矩形 8"/>
          <p:cNvSpPr>
            <a:spLocks noGrp="1"/>
          </p:cNvSpPr>
          <p:nvPr/>
        </p:nvSpPr>
        <p:spPr>
          <a:xfrm>
            <a:off x="1200150" y="291465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1.令秋雨欣慰的是，在她介绍完她的名字后，他的老师和同学们都变现出好奇和尊重的表情。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2"/>
          <p:cNvSpPr>
            <a:spLocks noGrp="1"/>
          </p:cNvSpPr>
          <p:nvPr/>
        </p:nvSpPr>
        <p:spPr>
          <a:xfrm>
            <a:off x="1200150" y="3219450"/>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To Qiuyu's</a:t>
            </a:r>
            <a:r>
              <a:rPr sz="2025" b="1" i="0">
                <a:solidFill>
                  <a:srgbClr val="EE0000"/>
                </a:solidFill>
                <a:latin typeface="微软雅黑" panose="020B0503020204020204" charset="-122"/>
                <a:ea typeface="微软雅黑" panose="020B0503020204020204" charset="-122"/>
                <a:cs typeface="微软雅黑" panose="020B0503020204020204" charset="-122"/>
              </a:rPr>
              <a:t> relie</a:t>
            </a:r>
            <a:r>
              <a:rPr sz="2025" b="1" i="0">
                <a:solidFill>
                  <a:srgbClr val="EE0000"/>
                </a:solidFill>
                <a:latin typeface="微软雅黑" panose="020B0503020204020204" charset="-122"/>
                <a:ea typeface="微软雅黑" panose="020B0503020204020204" charset="-122"/>
                <a:cs typeface="微软雅黑" panose="020B0503020204020204" charset="-122"/>
              </a:rPr>
              <a:t>f,</a:t>
            </a:r>
            <a:r>
              <a:rPr sz="2025" b="0" i="0">
                <a:solidFill>
                  <a:srgbClr val="EE0000"/>
                </a:solidFill>
                <a:latin typeface="微软雅黑" panose="020B0503020204020204" charset="-122"/>
                <a:ea typeface="微软雅黑" panose="020B0503020204020204" charset="-122"/>
                <a:cs typeface="微软雅黑" panose="020B0503020204020204" charset="-122"/>
              </a:rPr>
              <a:t> her teacher and classmates all showed the expressions of curiosity and respect, after she introduced her name.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62475"/>
            <a:ext cx="10439400" cy="1628775"/>
          </a:xfrm>
          <a:prstGeom prst="roundRect">
            <a:avLst>
              <a:gd name="adj" fmla="val 8187"/>
            </a:avLst>
          </a:prstGeom>
          <a:solidFill>
            <a:srgbClr val="FFFAF5"/>
          </a:solidFill>
          <a:ln w="9525">
            <a:solidFill>
              <a:srgbClr val="FFBF86"/>
            </a:solidFill>
            <a:prstDash val="solid"/>
          </a:ln>
        </p:spPr>
      </p:sp>
      <p:sp>
        <p:nvSpPr>
          <p:cNvPr id="12" name="矩形 11"/>
          <p:cNvSpPr>
            <a:spLocks noGrp="1"/>
          </p:cNvSpPr>
          <p:nvPr/>
        </p:nvSpPr>
        <p:spPr>
          <a:xfrm>
            <a:off x="1200150" y="4929188"/>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2.令她大为宽慰的是，邻居发现那只走失的小狗正在公园入口附近徘徊。</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3"/>
          <p:cNvSpPr>
            <a:spLocks noGrp="1"/>
          </p:cNvSpPr>
          <p:nvPr/>
        </p:nvSpPr>
        <p:spPr>
          <a:xfrm>
            <a:off x="1200150" y="523398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Much to her</a:t>
            </a:r>
            <a:r>
              <a:rPr sz="2025" b="1" i="0">
                <a:solidFill>
                  <a:srgbClr val="EE0000"/>
                </a:solidFill>
                <a:latin typeface="微软雅黑" panose="020B0503020204020204" charset="-122"/>
                <a:ea typeface="微软雅黑" panose="020B0503020204020204" charset="-122"/>
                <a:cs typeface="微软雅黑" panose="020B0503020204020204" charset="-122"/>
              </a:rPr>
              <a:t> relief</a:t>
            </a:r>
            <a:r>
              <a:rPr sz="2025" b="0" i="0">
                <a:solidFill>
                  <a:srgbClr val="EE0000"/>
                </a:solidFill>
                <a:latin typeface="微软雅黑" panose="020B0503020204020204" charset="-122"/>
                <a:ea typeface="微软雅黑" panose="020B0503020204020204" charset="-122"/>
                <a:cs typeface="微软雅黑" panose="020B0503020204020204" charset="-122"/>
              </a:rPr>
              <a:t>, the lost puppy was spotted by a neighbor wandering near the park entrance.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第一部分仿写训练：句型6（2/5）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1875">
                <a:latin typeface="微软雅黑" panose="020B0503020204020204" charset="-122"/>
                <a:ea typeface="微软雅黑" panose="020B0503020204020204" charset="-122"/>
                <a:cs typeface="微软雅黑" panose="020B0503020204020204" charset="-122"/>
              </a:defRPr>
            </a:pPr>
            <a:r>
              <a:rPr sz="1875" b="1" i="0" u="sng">
                <a:solidFill>
                  <a:srgbClr val="004E9A"/>
                </a:solidFill>
                <a:latin typeface="微软雅黑" panose="020B0503020204020204" charset="-122"/>
                <a:ea typeface="微软雅黑" panose="020B0503020204020204" charset="-122"/>
                <a:cs typeface="微软雅黑" panose="020B0503020204020204" charset="-122"/>
              </a:rPr>
              <a:t>To one’s +情绪名词，主句…. </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Much/greatly to one’s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To one’s great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 令某人…..的是，主句</a:t>
            </a:r>
            <a:endParaRPr sz="187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3.令他们极为高兴的是，就在他们准备取消户外毕业典礼时，雨停了。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4"/>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To their </a:t>
            </a:r>
            <a:r>
              <a:rPr sz="2025" b="1" i="0">
                <a:solidFill>
                  <a:srgbClr val="EE0000"/>
                </a:solidFill>
                <a:latin typeface="微软雅黑" panose="020B0503020204020204" charset="-122"/>
                <a:ea typeface="微软雅黑" panose="020B0503020204020204" charset="-122"/>
                <a:cs typeface="微软雅黑" panose="020B0503020204020204" charset="-122"/>
              </a:rPr>
              <a:t>great joy</a:t>
            </a:r>
            <a:r>
              <a:rPr sz="2025" b="0" i="0">
                <a:solidFill>
                  <a:srgbClr val="EE0000"/>
                </a:solidFill>
                <a:latin typeface="微软雅黑" panose="020B0503020204020204" charset="-122"/>
                <a:ea typeface="微软雅黑" panose="020B0503020204020204" charset="-122"/>
                <a:cs typeface="微软雅黑" panose="020B0503020204020204" charset="-122"/>
              </a:rPr>
              <a:t>, the rain stopped just as they were about to cancel the outdoor graduation ceremony.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4.令我失望的是，那家书店把我等了好几个月的小说卖光了。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5"/>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To my </a:t>
            </a:r>
            <a:r>
              <a:rPr sz="2025" b="1" i="0">
                <a:solidFill>
                  <a:srgbClr val="EE0000"/>
                </a:solidFill>
                <a:latin typeface="微软雅黑" panose="020B0503020204020204" charset="-122"/>
                <a:ea typeface="微软雅黑" panose="020B0503020204020204" charset="-122"/>
                <a:cs typeface="微软雅黑" panose="020B0503020204020204" charset="-122"/>
              </a:rPr>
              <a:t>disappointment</a:t>
            </a:r>
            <a:r>
              <a:rPr sz="2025" b="0" i="0">
                <a:solidFill>
                  <a:srgbClr val="EE0000"/>
                </a:solidFill>
                <a:latin typeface="微软雅黑" panose="020B0503020204020204" charset="-122"/>
                <a:ea typeface="微软雅黑" panose="020B0503020204020204" charset="-122"/>
                <a:cs typeface="微软雅黑" panose="020B0503020204020204" charset="-122"/>
              </a:rPr>
              <a:t>, the bookstore had sold out of the novel I’d been waiting months to read.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第一部分仿写训练：句型6（3/5）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1875">
                <a:latin typeface="微软雅黑" panose="020B0503020204020204" charset="-122"/>
                <a:ea typeface="微软雅黑" panose="020B0503020204020204" charset="-122"/>
                <a:cs typeface="微软雅黑" panose="020B0503020204020204" charset="-122"/>
              </a:defRPr>
            </a:pPr>
            <a:r>
              <a:rPr sz="1875" b="1" i="0" u="sng">
                <a:solidFill>
                  <a:srgbClr val="004E9A"/>
                </a:solidFill>
                <a:latin typeface="微软雅黑" panose="020B0503020204020204" charset="-122"/>
                <a:ea typeface="微软雅黑" panose="020B0503020204020204" charset="-122"/>
                <a:cs typeface="微软雅黑" panose="020B0503020204020204" charset="-122"/>
              </a:rPr>
              <a:t>To one’s +情绪名词，主句…. </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Much/greatly to one’s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To one’s great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 令某人…..的是，主句</a:t>
            </a:r>
            <a:endParaRPr sz="187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5.令他极为尴尬的是，在走上台领奖时，他被自己的脚绊倒了。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6"/>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Much to his </a:t>
            </a:r>
            <a:r>
              <a:rPr sz="2025" b="1" i="0">
                <a:solidFill>
                  <a:srgbClr val="EE0000"/>
                </a:solidFill>
                <a:latin typeface="微软雅黑" panose="020B0503020204020204" charset="-122"/>
                <a:ea typeface="微软雅黑" panose="020B0503020204020204" charset="-122"/>
                <a:cs typeface="微软雅黑" panose="020B0503020204020204" charset="-122"/>
              </a:rPr>
              <a:t>embarrassment</a:t>
            </a:r>
            <a:r>
              <a:rPr sz="2025" b="0" i="0">
                <a:solidFill>
                  <a:srgbClr val="EE0000"/>
                </a:solidFill>
                <a:latin typeface="微软雅黑" panose="020B0503020204020204" charset="-122"/>
                <a:ea typeface="微软雅黑" panose="020B0503020204020204" charset="-122"/>
                <a:cs typeface="微软雅黑" panose="020B0503020204020204" charset="-122"/>
              </a:rPr>
              <a:t>, he tripped over his own feet while walking up to receive the award.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6.令她极度伤心的是，小女孩意识到她最爱的泰迪熊被落在酒店了。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7"/>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To her </a:t>
            </a:r>
            <a:r>
              <a:rPr sz="2025" b="1" i="0">
                <a:solidFill>
                  <a:srgbClr val="EE0000"/>
                </a:solidFill>
                <a:latin typeface="微软雅黑" panose="020B0503020204020204" charset="-122"/>
                <a:ea typeface="微软雅黑" panose="020B0503020204020204" charset="-122"/>
                <a:cs typeface="微软雅黑" panose="020B0503020204020204" charset="-122"/>
              </a:rPr>
              <a:t>great sadness</a:t>
            </a:r>
            <a:r>
              <a:rPr sz="2025" b="0" i="0">
                <a:solidFill>
                  <a:srgbClr val="EE0000"/>
                </a:solidFill>
                <a:latin typeface="微软雅黑" panose="020B0503020204020204" charset="-122"/>
                <a:ea typeface="微软雅黑" panose="020B0503020204020204" charset="-122"/>
                <a:cs typeface="微软雅黑" panose="020B0503020204020204" charset="-122"/>
              </a:rPr>
              <a:t>, the little girl realized her favorite teddy bear had been left at the hotel.</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第一部分仿写训练：句型6（4/5）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1875">
                <a:latin typeface="微软雅黑" panose="020B0503020204020204" charset="-122"/>
                <a:ea typeface="微软雅黑" panose="020B0503020204020204" charset="-122"/>
                <a:cs typeface="微软雅黑" panose="020B0503020204020204" charset="-122"/>
              </a:defRPr>
            </a:pPr>
            <a:r>
              <a:rPr sz="1875" b="1" i="0" u="sng">
                <a:solidFill>
                  <a:srgbClr val="004E9A"/>
                </a:solidFill>
                <a:latin typeface="微软雅黑" panose="020B0503020204020204" charset="-122"/>
                <a:ea typeface="微软雅黑" panose="020B0503020204020204" charset="-122"/>
                <a:cs typeface="微软雅黑" panose="020B0503020204020204" charset="-122"/>
              </a:rPr>
              <a:t>To one’s +情绪名词，主句…. </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Much/greatly to one’s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To one’s great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 令某人…..的是，主句</a:t>
            </a:r>
            <a:endParaRPr sz="187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7.令我们惊叹的是，那个害羞的男孩站起来发表了一番演讲，感动了在场的所有人。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8"/>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To our </a:t>
            </a:r>
            <a:r>
              <a:rPr sz="2025" b="1" i="0">
                <a:solidFill>
                  <a:srgbClr val="EE0000"/>
                </a:solidFill>
                <a:latin typeface="微软雅黑" panose="020B0503020204020204" charset="-122"/>
                <a:ea typeface="微软雅黑" panose="020B0503020204020204" charset="-122"/>
                <a:cs typeface="微软雅黑" panose="020B0503020204020204" charset="-122"/>
              </a:rPr>
              <a:t>amazement,</a:t>
            </a:r>
            <a:r>
              <a:rPr sz="2025" b="0" i="0">
                <a:solidFill>
                  <a:srgbClr val="EE0000"/>
                </a:solidFill>
                <a:latin typeface="微软雅黑" panose="020B0503020204020204" charset="-122"/>
                <a:ea typeface="微软雅黑" panose="020B0503020204020204" charset="-122"/>
                <a:cs typeface="微软雅黑" panose="020B0503020204020204" charset="-122"/>
              </a:rPr>
              <a:t> the shy boy stood up and delivered a speech that moved everyone in the room.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8.令我深感遗憾的是，在我最好的朋友搬到另一个国家前，我没能跟她说再见。</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9"/>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Much to my</a:t>
            </a:r>
            <a:r>
              <a:rPr sz="2025" b="1" i="0">
                <a:solidFill>
                  <a:srgbClr val="EE0000"/>
                </a:solidFill>
                <a:latin typeface="微软雅黑" panose="020B0503020204020204" charset="-122"/>
                <a:ea typeface="微软雅黑" panose="020B0503020204020204" charset="-122"/>
                <a:cs typeface="微软雅黑" panose="020B0503020204020204" charset="-122"/>
              </a:rPr>
              <a:t> regret,</a:t>
            </a:r>
            <a:r>
              <a:rPr sz="2025" b="0" i="0">
                <a:solidFill>
                  <a:srgbClr val="EE0000"/>
                </a:solidFill>
                <a:latin typeface="微软雅黑" panose="020B0503020204020204" charset="-122"/>
                <a:ea typeface="微软雅黑" panose="020B0503020204020204" charset="-122"/>
                <a:cs typeface="微软雅黑" panose="020B0503020204020204" charset="-122"/>
              </a:rPr>
              <a:t> I didn’t say goodbye to my best friend before she moved to another country.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第一部分仿写训练：句型6（5/5）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1875">
                <a:latin typeface="微软雅黑" panose="020B0503020204020204" charset="-122"/>
                <a:ea typeface="微软雅黑" panose="020B0503020204020204" charset="-122"/>
                <a:cs typeface="微软雅黑" panose="020B0503020204020204" charset="-122"/>
              </a:defRPr>
            </a:pPr>
            <a:r>
              <a:rPr sz="1875" b="1" i="0" u="sng">
                <a:solidFill>
                  <a:srgbClr val="004E9A"/>
                </a:solidFill>
                <a:latin typeface="微软雅黑" panose="020B0503020204020204" charset="-122"/>
                <a:ea typeface="微软雅黑" panose="020B0503020204020204" charset="-122"/>
                <a:cs typeface="微软雅黑" panose="020B0503020204020204" charset="-122"/>
              </a:rPr>
              <a:t>To one’s +情绪名词，主句…. </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Much/greatly to one’s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a:t>
            </a:r>
            <a:r>
              <a:rPr sz="1875" b="1" i="0" u="sng">
                <a:solidFill>
                  <a:srgbClr val="004E9A"/>
                </a:solidFill>
                <a:latin typeface="微软雅黑" panose="020B0503020204020204" charset="-122"/>
                <a:ea typeface="微软雅黑" panose="020B0503020204020204" charset="-122"/>
                <a:cs typeface="微软雅黑" panose="020B0503020204020204" charset="-122"/>
              </a:rPr>
              <a:t>To one’s great +情绪名词，主句…</a:t>
            </a:r>
            <a:r>
              <a:rPr sz="1875" b="1" i="0" u="sng">
                <a:solidFill>
                  <a:srgbClr val="004E9A"/>
                </a:solidFill>
                <a:latin typeface="微软雅黑" panose="020B0503020204020204" charset="-122"/>
                <a:ea typeface="微软雅黑" panose="020B0503020204020204" charset="-122"/>
                <a:cs typeface="微软雅黑" panose="020B0503020204020204" charset="-122"/>
              </a:rPr>
              <a:t> 令某人…..的是，主句</a:t>
            </a:r>
            <a:endParaRPr sz="187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 令他怒不可遏的是，他发现有人在一夜之间毁坏了他精心栽种的花园。</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0"/>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To his</a:t>
            </a:r>
            <a:r>
              <a:rPr sz="2025" b="1" i="0">
                <a:solidFill>
                  <a:srgbClr val="EE0000"/>
                </a:solidFill>
                <a:latin typeface="微软雅黑" panose="020B0503020204020204" charset="-122"/>
                <a:ea typeface="微软雅黑" panose="020B0503020204020204" charset="-122"/>
                <a:cs typeface="微软雅黑" panose="020B0503020204020204" charset="-122"/>
              </a:rPr>
              <a:t> great anger</a:t>
            </a:r>
            <a:r>
              <a:rPr sz="2025" b="0" i="0">
                <a:solidFill>
                  <a:srgbClr val="EE0000"/>
                </a:solidFill>
                <a:latin typeface="微软雅黑" panose="020B0503020204020204" charset="-122"/>
                <a:ea typeface="微软雅黑" panose="020B0503020204020204" charset="-122"/>
                <a:cs typeface="微软雅黑" panose="020B0503020204020204" charset="-122"/>
              </a:rPr>
              <a:t>, he found that someone had damaged his carefully planted garden overnight.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a:t>
            </a:r>
            <a:r>
              <a:rPr sz="2025" b="0" i="0">
                <a:solidFill>
                  <a:srgbClr val="000000"/>
                </a:solidFill>
                <a:latin typeface="微软雅黑" panose="020B0503020204020204" charset="-122"/>
                <a:ea typeface="微软雅黑" panose="020B0503020204020204" charset="-122"/>
                <a:cs typeface="微软雅黑" panose="020B0503020204020204" charset="-122"/>
              </a:rPr>
              <a:t> 令他们松了一口气的是，就在村民们感到非常绝望的时候，救援队及时地赶到了。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1"/>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To their </a:t>
            </a:r>
            <a:r>
              <a:rPr sz="2025" b="1" i="0">
                <a:solidFill>
                  <a:srgbClr val="EE0000"/>
                </a:solidFill>
                <a:latin typeface="微软雅黑" panose="020B0503020204020204" charset="-122"/>
                <a:ea typeface="微软雅黑" panose="020B0503020204020204" charset="-122"/>
                <a:cs typeface="微软雅黑" panose="020B0503020204020204" charset="-122"/>
              </a:rPr>
              <a:t>relief</a:t>
            </a:r>
            <a:r>
              <a:rPr sz="2025" b="0" i="0">
                <a:solidFill>
                  <a:srgbClr val="EE0000"/>
                </a:solidFill>
                <a:latin typeface="微软雅黑" panose="020B0503020204020204" charset="-122"/>
                <a:ea typeface="微软雅黑" panose="020B0503020204020204" charset="-122"/>
                <a:cs typeface="微软雅黑" panose="020B0503020204020204" charset="-122"/>
              </a:rPr>
              <a:t>, the rescue team arrived just as the villagers felt extremely hopeless.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第一部分仿写训练：句型7（1/5）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With复合结构/（growing +情绪n.）,sb. did sth.带着….的情绪，某人做了…..</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914525"/>
          </a:xfrm>
          <a:prstGeom prst="roundRect">
            <a:avLst>
              <a:gd name="adj" fmla="val 6965"/>
            </a:avLst>
          </a:prstGeom>
          <a:solidFill>
            <a:srgbClr val="FFFAF5"/>
          </a:solidFill>
          <a:ln w="9525">
            <a:solidFill>
              <a:srgbClr val="FFBF86"/>
            </a:solidFill>
            <a:prstDash val="solid"/>
          </a:ln>
        </p:spPr>
      </p:sp>
      <p:sp>
        <p:nvSpPr>
          <p:cNvPr id="9" name="矩形 8"/>
          <p:cNvSpPr>
            <a:spLocks noGrp="1"/>
          </p:cNvSpPr>
          <p:nvPr/>
        </p:nvSpPr>
        <p:spPr>
          <a:xfrm>
            <a:off x="1200150" y="291465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随着成</a:t>
            </a:r>
            <a:r>
              <a:rPr sz="2025" b="0" i="0">
                <a:solidFill>
                  <a:srgbClr val="000000"/>
                </a:solidFill>
                <a:latin typeface="微软雅黑" panose="020B0503020204020204" charset="-122"/>
                <a:ea typeface="微软雅黑" panose="020B0503020204020204" charset="-122"/>
                <a:cs typeface="微软雅黑" panose="020B0503020204020204" charset="-122"/>
              </a:rPr>
              <a:t>就</a:t>
            </a:r>
            <a:r>
              <a:rPr sz="2025" b="0" i="0">
                <a:solidFill>
                  <a:srgbClr val="000000"/>
                </a:solidFill>
                <a:latin typeface="微软雅黑" panose="020B0503020204020204" charset="-122"/>
                <a:ea typeface="微软雅黑" panose="020B0503020204020204" charset="-122"/>
                <a:cs typeface="微软雅黑" panose="020B0503020204020204" charset="-122"/>
              </a:rPr>
              <a:t>感和自信心越来越强，秋雨甚至给教授和同学们介绍了中国取名字的文化和习俗。</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2"/>
          <p:cNvSpPr>
            <a:spLocks noGrp="1"/>
          </p:cNvSpPr>
          <p:nvPr/>
        </p:nvSpPr>
        <p:spPr>
          <a:xfrm>
            <a:off x="1200150" y="3387090"/>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sense of achievement and confidence, </a:t>
            </a:r>
            <a:r>
              <a:rPr sz="2025" b="0" i="0">
                <a:solidFill>
                  <a:srgbClr val="EE0000"/>
                </a:solidFill>
                <a:latin typeface="微软雅黑" panose="020B0503020204020204" charset="-122"/>
                <a:ea typeface="微软雅黑" panose="020B0503020204020204" charset="-122"/>
                <a:cs typeface="微软雅黑" panose="020B0503020204020204" charset="-122"/>
              </a:rPr>
              <a:t>Qiuyu even introduced the culture and customs of Chinese name-giving to the professor and her classmates.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62475"/>
            <a:ext cx="10439400" cy="1628775"/>
          </a:xfrm>
          <a:prstGeom prst="roundRect">
            <a:avLst>
              <a:gd name="adj" fmla="val 8187"/>
            </a:avLst>
          </a:prstGeom>
          <a:solidFill>
            <a:srgbClr val="FFFAF5"/>
          </a:solidFill>
          <a:ln w="9525">
            <a:solidFill>
              <a:srgbClr val="FFBF86"/>
            </a:solidFill>
            <a:prstDash val="solid"/>
          </a:ln>
        </p:spPr>
      </p:sp>
      <p:sp>
        <p:nvSpPr>
          <p:cNvPr id="12" name="ans_063"/>
          <p:cNvSpPr>
            <a:spLocks noGrp="1"/>
          </p:cNvSpPr>
          <p:nvPr/>
        </p:nvSpPr>
        <p:spPr>
          <a:xfrm>
            <a:off x="1200150" y="4929188"/>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2.</a:t>
            </a:r>
            <a:r>
              <a:rPr sz="2025" b="0" i="0">
                <a:solidFill>
                  <a:srgbClr val="000000"/>
                </a:solidFill>
                <a:latin typeface="微软雅黑" panose="020B0503020204020204" charset="-122"/>
                <a:ea typeface="微软雅黑" panose="020B0503020204020204" charset="-122"/>
                <a:cs typeface="微软雅黑" panose="020B0503020204020204" charset="-122"/>
              </a:rPr>
              <a:t>随着担忧不断加剧，鲍勃在公园里四处张望，努力寻找他的小妹妹。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4"/>
          <p:cNvSpPr>
            <a:spLocks noGrp="1"/>
          </p:cNvSpPr>
          <p:nvPr/>
        </p:nvSpPr>
        <p:spPr>
          <a:xfrm>
            <a:off x="1200150" y="523398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worry, </a:t>
            </a:r>
            <a:r>
              <a:rPr sz="2025" b="0" i="0">
                <a:solidFill>
                  <a:srgbClr val="EE0000"/>
                </a:solidFill>
                <a:latin typeface="微软雅黑" panose="020B0503020204020204" charset="-122"/>
                <a:ea typeface="微软雅黑" panose="020B0503020204020204" charset="-122"/>
                <a:cs typeface="微软雅黑" panose="020B0503020204020204" charset="-122"/>
              </a:rPr>
              <a:t>Bob looked around the park, trying to find his little sister.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2"/>
                                        </p:tgtEl>
                                        <p:attrNameLst>
                                          <p:attrName>style.visibility</p:attrName>
                                        </p:attrNameLst>
                                      </p:cBhvr>
                                      <p:to>
                                        <p:strVal val="visible"/>
                                      </p:to>
                                    </p:set>
                                    <p:animEffect transition="in" filter="fade">
                                      <p:cBhvr>
                                        <p:cTn id="12" dur="3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3"/>
                                        </p:tgtEl>
                                        <p:attrNameLst>
                                          <p:attrName>style.visibility</p:attrName>
                                        </p:attrNameLst>
                                      </p:cBhvr>
                                      <p:to>
                                        <p:strVal val="visible"/>
                                      </p:to>
                                    </p:set>
                                    <p:animEffect transition="in" filter="fade">
                                      <p:cBhvr>
                                        <p:cTn id="17"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第一部分仿写训练：句型7（2/5）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With复合结构/（growing +情绪n.）,sb. did sth.带着….的情绪，某人做了…..</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随着兴趣愈发浓厚，琳达听着那位老人讲述他童年的故事。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5"/>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interest</a:t>
            </a:r>
            <a:r>
              <a:rPr sz="2025" b="0" i="0">
                <a:solidFill>
                  <a:srgbClr val="EE0000"/>
                </a:solidFill>
                <a:latin typeface="微软雅黑" panose="020B0503020204020204" charset="-122"/>
                <a:ea typeface="微软雅黑" panose="020B0503020204020204" charset="-122"/>
                <a:cs typeface="微软雅黑" panose="020B0503020204020204" charset="-122"/>
              </a:rPr>
              <a:t>, Linda listened to the old man tell stories about his childhood.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随着疲惫感越来越强，汤姆躺在床上，很快就沉沉睡去。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6"/>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tiredness,</a:t>
            </a:r>
            <a:r>
              <a:rPr sz="2025" b="0" i="0">
                <a:solidFill>
                  <a:srgbClr val="EE0000"/>
                </a:solidFill>
                <a:latin typeface="微软雅黑" panose="020B0503020204020204" charset="-122"/>
                <a:ea typeface="微软雅黑" panose="020B0503020204020204" charset="-122"/>
                <a:cs typeface="微软雅黑" panose="020B0503020204020204" charset="-122"/>
              </a:rPr>
              <a:t> Tom lay down on the bed and soon fell fast asleep.</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第一部分仿写训练：句型7（3/5）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With复合结构/（growing +情绪n.）,sb. did sth.带着….的情绪，某人做了…..</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随着惊讶感不断加深，安娜打开盒子，发现里面有一条漂亮的项链。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7"/>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surprise,</a:t>
            </a:r>
            <a:r>
              <a:rPr sz="2025" b="0" i="0">
                <a:solidFill>
                  <a:srgbClr val="EE0000"/>
                </a:solidFill>
                <a:latin typeface="微软雅黑" panose="020B0503020204020204" charset="-122"/>
                <a:ea typeface="微软雅黑" panose="020B0503020204020204" charset="-122"/>
                <a:cs typeface="微软雅黑" panose="020B0503020204020204" charset="-122"/>
              </a:rPr>
              <a:t> Anna opened the box and found a beautiful necklace inside.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随着耐心越来越足，爸爸在院子里教儿子骑自行车。</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8"/>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patience,</a:t>
            </a:r>
            <a:r>
              <a:rPr sz="2025" b="0" i="0">
                <a:solidFill>
                  <a:srgbClr val="EE0000"/>
                </a:solidFill>
                <a:latin typeface="微软雅黑" panose="020B0503020204020204" charset="-122"/>
                <a:ea typeface="微软雅黑" panose="020B0503020204020204" charset="-122"/>
                <a:cs typeface="微软雅黑" panose="020B0503020204020204" charset="-122"/>
              </a:rPr>
              <a:t> Dad taught his son how to ride a bike in the yard.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第一部分仿写训练：句型7（4/5）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With复合结构/（growing +情绪n.）,sb. did sth.带着….的情绪，某人做了…..</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随着悲伤情绪渐浓，玛丽在火车站和她最好的朋友道别。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9"/>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sadness,</a:t>
            </a:r>
            <a:r>
              <a:rPr sz="2025" b="0" i="0">
                <a:solidFill>
                  <a:srgbClr val="EE0000"/>
                </a:solidFill>
                <a:latin typeface="微软雅黑" panose="020B0503020204020204" charset="-122"/>
                <a:ea typeface="微软雅黑" panose="020B0503020204020204" charset="-122"/>
                <a:cs typeface="微软雅黑" panose="020B0503020204020204" charset="-122"/>
              </a:rPr>
              <a:t> Mary said goodbye to her best friend at the train station.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随着兴奋感不断升温，杰克打开生日礼物，看到了一个新篮球。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0"/>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excitement,</a:t>
            </a:r>
            <a:r>
              <a:rPr sz="2025" b="0" i="0">
                <a:solidFill>
                  <a:srgbClr val="EE0000"/>
                </a:solidFill>
                <a:latin typeface="微软雅黑" panose="020B0503020204020204" charset="-122"/>
                <a:ea typeface="微软雅黑" panose="020B0503020204020204" charset="-122"/>
                <a:cs typeface="微软雅黑" panose="020B0503020204020204" charset="-122"/>
              </a:rPr>
              <a:t> Jack opened his birthday present and saw a new basketball.</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6858000" cy="723900"/>
          </a:xfrm>
          <a:prstGeom prst="rect">
            <a:avLst/>
          </a:prstGeom>
          <a:solidFill>
            <a:srgbClr val="F2F1EE"/>
          </a:solidFill>
          <a:ln w="0">
            <a:noFill/>
            <a:prstDash val="solid"/>
          </a:ln>
        </p:spPr>
      </p:sp>
      <p:sp>
        <p:nvSpPr>
          <p:cNvPr id="3" name="矩形 2"/>
          <p:cNvSpPr>
            <a:spLocks noGrp="1"/>
          </p:cNvSpPr>
          <p:nvPr/>
        </p:nvSpPr>
        <p:spPr>
          <a:xfrm>
            <a:off x="838200" y="590550"/>
            <a:ext cx="6477000" cy="552450"/>
          </a:xfrm>
          <a:prstGeom prst="rect">
            <a:avLst/>
          </a:prstGeom>
          <a:noFill/>
          <a:ln w="0">
            <a:noFill/>
            <a:prstDash val="solid"/>
          </a:ln>
        </p:spPr>
        <p:txBody>
          <a:bodyPr wrap="square" lIns="76200" tIns="0" rIns="76200" bIns="0" anchor="ctr"/>
          <a:lstStyle/>
          <a:p>
            <a:pPr algn="l">
              <a:lnSpc>
                <a:spcPct val="100000"/>
              </a:lnSpc>
              <a:buNone/>
              <a:defRPr sz="2775">
                <a:latin typeface="微软雅黑" panose="020B0503020204020204" charset="-122"/>
                <a:ea typeface="微软雅黑" panose="020B0503020204020204" charset="-122"/>
                <a:cs typeface="微软雅黑" panose="020B0503020204020204" charset="-122"/>
              </a:defRPr>
            </a:pPr>
            <a:r>
              <a:rPr sz="2775" b="1" i="0">
                <a:solidFill>
                  <a:srgbClr val="000000"/>
                </a:solidFill>
                <a:latin typeface="微软雅黑" panose="020B0503020204020204" charset="-122"/>
                <a:ea typeface="微软雅黑" panose="020B0503020204020204" charset="-122"/>
                <a:cs typeface="微软雅黑" panose="020B0503020204020204" charset="-122"/>
              </a:rPr>
              <a:t>第一部分仿写训练：句型7（5/5）</a:t>
            </a:r>
            <a:endParaRPr sz="277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With复合结构/（growing +情绪n.）,sb. did sth.带着….的情绪，某人做了…..</a:t>
            </a:r>
            <a:endParaRPr sz="2025" b="1" i="0" u="sng">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733550"/>
          </a:xfrm>
          <a:prstGeom prst="roundRect">
            <a:avLst>
              <a:gd name="adj" fmla="val 7692"/>
            </a:avLst>
          </a:prstGeom>
          <a:solidFill>
            <a:srgbClr val="FFFAF5"/>
          </a:solidFill>
          <a:ln w="9525">
            <a:solidFill>
              <a:srgbClr val="FFBF86"/>
            </a:solidFill>
            <a:prstDash val="solid"/>
          </a:ln>
        </p:spPr>
      </p:sp>
      <p:sp>
        <p:nvSpPr>
          <p:cNvPr id="9" name="矩形 8"/>
          <p:cNvSpPr>
            <a:spLocks noGrp="1"/>
          </p:cNvSpPr>
          <p:nvPr/>
        </p:nvSpPr>
        <p:spPr>
          <a:xfrm>
            <a:off x="1200150" y="29718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随着内心越来越平静，休在课堂上开始演讲前深吸了一口气。</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71"/>
          <p:cNvSpPr>
            <a:spLocks noGrp="1"/>
          </p:cNvSpPr>
          <p:nvPr/>
        </p:nvSpPr>
        <p:spPr>
          <a:xfrm>
            <a:off x="1200150" y="32766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calm,</a:t>
            </a:r>
            <a:r>
              <a:rPr sz="2025" b="0" i="0">
                <a:solidFill>
                  <a:srgbClr val="EE0000"/>
                </a:solidFill>
                <a:latin typeface="微软雅黑" panose="020B0503020204020204" charset="-122"/>
                <a:ea typeface="微软雅黑" panose="020B0503020204020204" charset="-122"/>
                <a:cs typeface="微软雅黑" panose="020B0503020204020204" charset="-122"/>
              </a:rPr>
              <a:t> Sue took a deep breath before starting her speech in class.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381500"/>
            <a:ext cx="10439400" cy="1733550"/>
          </a:xfrm>
          <a:prstGeom prst="roundRect">
            <a:avLst>
              <a:gd name="adj" fmla="val 7692"/>
            </a:avLst>
          </a:prstGeom>
          <a:solidFill>
            <a:srgbClr val="FFFAF5"/>
          </a:solidFill>
          <a:ln w="9525">
            <a:solidFill>
              <a:srgbClr val="FFBF86"/>
            </a:solidFill>
            <a:prstDash val="solid"/>
          </a:ln>
        </p:spPr>
      </p:sp>
      <p:sp>
        <p:nvSpPr>
          <p:cNvPr id="12" name="矩形 11"/>
          <p:cNvSpPr>
            <a:spLocks noGrp="1"/>
          </p:cNvSpPr>
          <p:nvPr/>
        </p:nvSpPr>
        <p:spPr>
          <a:xfrm>
            <a:off x="1200150" y="4800600"/>
            <a:ext cx="9791700" cy="3238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随着好奇心越来越重，本走进小花园，想看看那奇怪的声音是什么。</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2"/>
          <p:cNvSpPr>
            <a:spLocks noGrp="1"/>
          </p:cNvSpPr>
          <p:nvPr/>
        </p:nvSpPr>
        <p:spPr>
          <a:xfrm>
            <a:off x="1200150" y="51054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1" i="0">
                <a:solidFill>
                  <a:srgbClr val="EE0000"/>
                </a:solidFill>
                <a:latin typeface="微软雅黑" panose="020B0503020204020204" charset="-122"/>
                <a:ea typeface="微软雅黑" panose="020B0503020204020204" charset="-122"/>
                <a:cs typeface="微软雅黑" panose="020B0503020204020204" charset="-122"/>
              </a:rPr>
              <a:t>With growing curiosity, </a:t>
            </a:r>
            <a:r>
              <a:rPr sz="2025" b="0" i="0">
                <a:solidFill>
                  <a:srgbClr val="EE0000"/>
                </a:solidFill>
                <a:latin typeface="微软雅黑" panose="020B0503020204020204" charset="-122"/>
                <a:ea typeface="微软雅黑" panose="020B0503020204020204" charset="-122"/>
                <a:cs typeface="微软雅黑" panose="020B0503020204020204" charset="-122"/>
              </a:rPr>
              <a:t>Ben walked into the small garden to see what the strange noise was.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读后续写---高级句型仿写---动作描写</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i="0">
                <a:solidFill>
                  <a:srgbClr val="FFFFFF"/>
                </a:solidFill>
                <a:latin typeface="微软雅黑" panose="020B0503020204020204" charset="-122"/>
                <a:ea typeface="微软雅黑" panose="020B0503020204020204" charset="-122"/>
                <a:cs typeface="微软雅黑" panose="020B0503020204020204" charset="-122"/>
              </a:rPr>
              <a:t>读后续写
高级句型仿写
动作描写</a:t>
            </a:r>
            <a:endParaRPr sz="29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905250" cy="323850"/>
          </a:xfrm>
          <a:prstGeom prst="rect">
            <a:avLst/>
          </a:prstGeom>
          <a:noFill/>
          <a:ln w="0">
            <a:noFill/>
            <a:prstDash val="solid"/>
          </a:ln>
        </p:spPr>
        <p:txBody>
          <a:bodyPr wrap="square" lIns="0" tIns="0" rIns="0" bIns="0" anchor="ctr"/>
          <a:lstStyle/>
          <a:p>
            <a:pPr algn="l">
              <a:lnSpc>
                <a:spcPct val="105000"/>
              </a:lnSpc>
              <a:buNone/>
              <a:defRPr sz="1800">
                <a:latin typeface="微软雅黑" panose="020B0503020204020204" charset="-122"/>
                <a:ea typeface="微软雅黑" panose="020B0503020204020204" charset="-122"/>
                <a:cs typeface="微软雅黑" panose="020B0503020204020204" charset="-122"/>
              </a:defRPr>
            </a:pPr>
            <a:r>
              <a:rPr sz="1800" b="1" i="0">
                <a:solidFill>
                  <a:srgbClr val="5A2A10"/>
                </a:solidFill>
                <a:latin typeface="微软雅黑" panose="020B0503020204020204" charset="-122"/>
                <a:ea typeface="微软雅黑" panose="020B0503020204020204" charset="-122"/>
                <a:cs typeface="微软雅黑" panose="020B0503020204020204" charset="-122"/>
              </a:rPr>
              <a:t>第二部分句型仿写训练：句型1-7</a:t>
            </a:r>
            <a:endParaRPr sz="1800"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1.听到这个坏消息，我们抑制不住自己的情绪，悲伤的泪水从脸上掉下来。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1"/>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Hearing the bad news, we couldn't hold back our emotions, and sad tears rolled down our faces.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847850"/>
          </a:xfrm>
          <a:prstGeom prst="roundRect">
            <a:avLst>
              <a:gd name="adj" fmla="val 7216"/>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2.看着电视里播放的春节联欢晚会，我的家人正在教我包饺子，那不仅是有趣的而且是传统的。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2"/>
          <p:cNvSpPr>
            <a:spLocks noGrp="1"/>
          </p:cNvSpPr>
          <p:nvPr/>
        </p:nvSpPr>
        <p:spPr>
          <a:xfrm>
            <a:off x="1200150" y="48482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Watching the Spring Festival Gala on TV, my family was teaching me how to make dumplings, which was not only interesting but also traditional.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3.了解到你对中国文化感兴趣，我正写信向你介绍中国的剪纸。</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3"/>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Learning that you're interested in Chinese culture, I'm writing to introduce Chinese paper - cutting to you.</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847850"/>
          </a:xfrm>
          <a:prstGeom prst="roundRect">
            <a:avLst>
              <a:gd name="adj" fmla="val 7216"/>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4.听到Simona的话，她被鼓励着继续爬山。最终，她成功地登顶了。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4"/>
          <p:cNvSpPr>
            <a:spLocks noGrp="1"/>
          </p:cNvSpPr>
          <p:nvPr/>
        </p:nvSpPr>
        <p:spPr>
          <a:xfrm>
            <a:off x="1200150" y="48482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Hearing Simona's words, she was encouraged to keep climbing the mountain. Eventually, she successfully reached the summit.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847850"/>
          </a:xfrm>
          <a:prstGeom prst="roundRect">
            <a:avLst>
              <a:gd name="adj" fmla="val 7216"/>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5.看着这些可爱的，圆圆的饺子，我的内心充满了幸福和温暖，那不仅是有趣的而且是有意义的。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5"/>
          <p:cNvSpPr>
            <a:spLocks noGrp="1"/>
          </p:cNvSpPr>
          <p:nvPr/>
        </p:nvSpPr>
        <p:spPr>
          <a:xfrm>
            <a:off x="1200150" y="319087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Looking at these lovely, round dumplings, my heart was filled with happiness and warmth, which was not only interesting but also meaningful.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9580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482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6.沿着河边散步时，她突然听到一声响亮的呼救声。</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6"/>
          <p:cNvSpPr>
            <a:spLocks noGrp="1"/>
          </p:cNvSpPr>
          <p:nvPr/>
        </p:nvSpPr>
        <p:spPr>
          <a:xfrm>
            <a:off x="1200150" y="51339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Walking along the river, she suddenly heard a loud cry for help.</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7.老人坐在长椅上，看着孩子们在公园里开心地玩耍。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7"/>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old man sat on the bench, watching children play happily in the park.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8.听着美妙的音乐，他们忍不住跟着节奏跳起舞来。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8"/>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Listening to the beautiful music, they couldn't help dancing to the rhythm.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9.我们站在山顶，欣赏着整座城市令人惊叹的景色。</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9"/>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We stood at the top of the mountain, enjoying the breathtaking view of the whole city.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第二部分句型仿写训练：句型1（5/5）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--Doing…,主句/ 主句,doing…..</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某人做着某事，同时也做着某事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10.快速在键盘上敲击着，他在截止日期前完成了报告</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0"/>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Typing quickly on the keyboard, he finished the report before the deadline.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收到妈妈的来信，她兴奋地跳起来。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1"/>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received a letter from her mother, she jumped up with excitement.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被告知他被选择参加决赛的之后，她兴奋地把这个消息告诉了他的家人。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2"/>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been informed that he was chosen to participate in the final, she excitedly told the news to his family.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从大学毕业后，Simona就回到了她的家乡，一个美丽且宁静的村庄。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3"/>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graduated from university, Simona returned to her hometown, a beautiful and peaceful village.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4.做好充分的准备后，他站在窗边，等待着孩子们的到来。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4"/>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made full preparations, he stood by the window, waiting for the children to come.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847850"/>
          </a:xfrm>
          <a:prstGeom prst="roundRect">
            <a:avLst>
              <a:gd name="adj" fmla="val 7216"/>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5.做好充分的准备后，我和我的家人就准备包饺子了，那不仅是有趣的而且是传统的。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5"/>
          <p:cNvSpPr>
            <a:spLocks noGrp="1"/>
          </p:cNvSpPr>
          <p:nvPr/>
        </p:nvSpPr>
        <p:spPr>
          <a:xfrm>
            <a:off x="1200150" y="48482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Having made full preparations, my family and I were ready to make dumplings, which was not only fun but also traditional.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6.冲过终点线后，这个运动员跑向了他的母亲，眼泪流过他的脸颊。</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6"/>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crossed the finish line, the athlete ran towards his mother, with tears streaming down his cheeks.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 为自己的错误道歉后，他希望能得到老师的原谅。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7"/>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apologized for his mistake, he hoped to be forgiven by his teacher.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 之前看过这部电影后，她决定今晚看一部别的。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8"/>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seen the movie before, she decided to watch a different one tonight.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第二部分句型仿写训练：句型2（4/4）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动作链：</a:t>
            </a:r>
            <a:r>
              <a:rPr sz="2025" b="1" i="0" u="sng">
                <a:solidFill>
                  <a:srgbClr val="000000"/>
                </a:solidFill>
                <a:latin typeface="微软雅黑" panose="020B0503020204020204" charset="-122"/>
                <a:ea typeface="微软雅黑" panose="020B0503020204020204" charset="-122"/>
                <a:cs typeface="微软雅黑" panose="020B0503020204020204" charset="-122"/>
              </a:rPr>
              <a:t>Having done…..，主句….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做了某事后，某人又做接着做了某事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9.</a:t>
            </a:r>
            <a:r>
              <a:rPr sz="2025" b="0" i="0">
                <a:solidFill>
                  <a:srgbClr val="000000"/>
                </a:solidFill>
                <a:latin typeface="微软雅黑" panose="020B0503020204020204" charset="-122"/>
                <a:ea typeface="微软雅黑" panose="020B0503020204020204" charset="-122"/>
                <a:cs typeface="微软雅黑" panose="020B0503020204020204" charset="-122"/>
              </a:rPr>
              <a:t> 攒够了足够的钱后，他们计划在城里买一套新房子。</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9"/>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saved enough money, they planned to buy a new house in the city.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10.</a:t>
            </a:r>
            <a:r>
              <a:rPr sz="2025" b="0" i="0">
                <a:solidFill>
                  <a:srgbClr val="000000"/>
                </a:solidFill>
                <a:latin typeface="微软雅黑" panose="020B0503020204020204" charset="-122"/>
                <a:ea typeface="微软雅黑" panose="020B0503020204020204" charset="-122"/>
                <a:cs typeface="微软雅黑" panose="020B0503020204020204" charset="-122"/>
              </a:rPr>
              <a:t>从失败中吸取教训后，他尝试用新方法来解决这个问题。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0"/>
          <p:cNvSpPr>
            <a:spLocks noGrp="1"/>
          </p:cNvSpPr>
          <p:nvPr/>
        </p:nvSpPr>
        <p:spPr>
          <a:xfrm>
            <a:off x="1200150" y="48482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Having learned from his failure, he tried a new method to solve the problem.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她深吸了一口气，拿着她的书和水杯，缓缓地走进了教室。</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1"/>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took a deep breath, picked up her book and cup, and slowly walked into the classroom.</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她抬起她的头，举起她的手，然后正确地回答了老师的问题。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2"/>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raised her head, lifted her hand, and then answered the teacher's question correctly.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Simona站了起来，抱住父母，微笑着，尽量不让情绪失控。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23"/>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Simona stood up, hugged her parents, smiled, and tried not to let her emotions get out of control.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133600"/>
          </a:xfrm>
          <a:prstGeom prst="roundRect">
            <a:avLst>
              <a:gd name="adj" fmla="val 6250"/>
            </a:avLst>
          </a:prstGeom>
          <a:solidFill>
            <a:srgbClr val="FFFAF5"/>
          </a:solidFill>
          <a:ln w="9525">
            <a:solidFill>
              <a:srgbClr val="FFBF86"/>
            </a:solidFill>
            <a:prstDash val="solid"/>
          </a:ln>
        </p:spPr>
      </p:sp>
      <p:sp>
        <p:nvSpPr>
          <p:cNvPr id="9" name="矩形 8"/>
          <p:cNvSpPr>
            <a:spLocks noGrp="1"/>
          </p:cNvSpPr>
          <p:nvPr/>
        </p:nvSpPr>
        <p:spPr>
          <a:xfrm>
            <a:off x="1200150" y="29051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这个农民冲进他的农场，看着这些兔子和乱七八糟的萝卜，用一个生气的声音喊道，“你们在干什么？赶紧从我的田里滚出来！”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4"/>
          <p:cNvSpPr>
            <a:spLocks noGrp="1"/>
          </p:cNvSpPr>
          <p:nvPr/>
        </p:nvSpPr>
        <p:spPr>
          <a:xfrm>
            <a:off x="1200150" y="34766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farmer rushed into his farm, looked at the rabbits and the messy radishes, and shouted in an angry voice, "What are you doing? Get out of my field right now!"</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200275"/>
          </a:xfrm>
          <a:prstGeom prst="roundRect">
            <a:avLst>
              <a:gd name="adj" fmla="val 6061"/>
            </a:avLst>
          </a:prstGeom>
          <a:solidFill>
            <a:srgbClr val="FFFAF5"/>
          </a:solidFill>
          <a:ln w="9525">
            <a:solidFill>
              <a:srgbClr val="FFBF86"/>
            </a:solidFill>
            <a:prstDash val="solid"/>
          </a:ln>
        </p:spPr>
      </p:sp>
      <p:sp>
        <p:nvSpPr>
          <p:cNvPr id="9" name="矩形 8"/>
          <p:cNvSpPr>
            <a:spLocks noGrp="1"/>
          </p:cNvSpPr>
          <p:nvPr/>
        </p:nvSpPr>
        <p:spPr>
          <a:xfrm>
            <a:off x="1200150" y="2795588"/>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她走向我，递给我一瓶水，告诉我不要放弃，然后我才能看见最美的风景，这极大地鼓励了我并让我感到内心充满了幸福和温暖。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5"/>
          <p:cNvSpPr>
            <a:spLocks noGrp="1"/>
          </p:cNvSpPr>
          <p:nvPr/>
        </p:nvSpPr>
        <p:spPr>
          <a:xfrm>
            <a:off x="1200150" y="3367088"/>
            <a:ext cx="9791700" cy="11620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walked up to me, handed me a bottle of water, and told me not to give up so that I could see the most beautiful scenery. This greatly encouraged me and made my heart filled with happiness and warmth .</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848225"/>
            <a:ext cx="10439400" cy="1343025"/>
          </a:xfrm>
          <a:prstGeom prst="roundRect">
            <a:avLst>
              <a:gd name="adj" fmla="val 9929"/>
            </a:avLst>
          </a:prstGeom>
          <a:solidFill>
            <a:srgbClr val="FFFAF5"/>
          </a:solidFill>
          <a:ln w="9525">
            <a:solidFill>
              <a:srgbClr val="FFBF86"/>
            </a:solidFill>
            <a:prstDash val="solid"/>
          </a:ln>
        </p:spPr>
      </p:sp>
      <p:sp>
        <p:nvSpPr>
          <p:cNvPr id="12" name="矩形 11"/>
          <p:cNvSpPr>
            <a:spLocks noGrp="1"/>
          </p:cNvSpPr>
          <p:nvPr/>
        </p:nvSpPr>
        <p:spPr>
          <a:xfrm>
            <a:off x="1200150" y="5091113"/>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她抬起的头，把声音提高然后大声喊：“不要瞧不起任何人！不要以貌取人！”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6"/>
          <p:cNvSpPr>
            <a:spLocks noGrp="1"/>
          </p:cNvSpPr>
          <p:nvPr/>
        </p:nvSpPr>
        <p:spPr>
          <a:xfrm>
            <a:off x="1200150" y="5376863"/>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raised her head, raised her voice, and shouted, "Don't look down on anyone! Don't judge a book by its cover!"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705100"/>
          </a:xfrm>
          <a:prstGeom prst="roundRect">
            <a:avLst>
              <a:gd name="adj" fmla="val 4930"/>
            </a:avLst>
          </a:prstGeom>
          <a:solidFill>
            <a:srgbClr val="FFFAF5"/>
          </a:solidFill>
          <a:ln w="9525">
            <a:solidFill>
              <a:srgbClr val="FFBF86"/>
            </a:solidFill>
            <a:prstDash val="solid"/>
          </a:ln>
        </p:spPr>
      </p:sp>
      <p:sp>
        <p:nvSpPr>
          <p:cNvPr id="9" name="矩形 8"/>
          <p:cNvSpPr>
            <a:spLocks noGrp="1"/>
          </p:cNvSpPr>
          <p:nvPr/>
        </p:nvSpPr>
        <p:spPr>
          <a:xfrm>
            <a:off x="1200150" y="29051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我的好朋友Simona走向我，递给我一瓶水，告诉我“再坚持一下，你就会到达山顶。”我被她的话深深地感动了。每次我想起这次经历，我的内心都充满了温暖和力量。</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7"/>
          <p:cNvSpPr>
            <a:spLocks noGrp="1"/>
          </p:cNvSpPr>
          <p:nvPr/>
        </p:nvSpPr>
        <p:spPr>
          <a:xfrm>
            <a:off x="1200150" y="3667125"/>
            <a:ext cx="9791700" cy="1447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My good friend Simona walked up to me, handed me a bottle of water, and told me, "Hold on a little longer, and you'll reach the top of the mountain." I was deeply touched by her words. Every time I think of this experience, my heart is filled with warmth and strength.</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第二部分句型仿写训练：句型3（5/5）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动作面：</a:t>
            </a:r>
            <a:r>
              <a:rPr sz="2025" b="1" i="0" u="sng">
                <a:solidFill>
                  <a:srgbClr val="000000"/>
                </a:solidFill>
                <a:latin typeface="微软雅黑" panose="020B0503020204020204" charset="-122"/>
                <a:ea typeface="微软雅黑" panose="020B0503020204020204" charset="-122"/>
                <a:cs typeface="微软雅黑" panose="020B0503020204020204" charset="-122"/>
              </a:rPr>
              <a:t> 某人 did A，B and C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    某人做了A，B 和C 三个动作</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2133600"/>
          </a:xfrm>
          <a:prstGeom prst="roundRect">
            <a:avLst>
              <a:gd name="adj" fmla="val 6250"/>
            </a:avLst>
          </a:prstGeom>
          <a:solidFill>
            <a:srgbClr val="FFFAF5"/>
          </a:solidFill>
          <a:ln w="9525">
            <a:solidFill>
              <a:srgbClr val="FFBF86"/>
            </a:solidFill>
            <a:prstDash val="solid"/>
          </a:ln>
        </p:spPr>
      </p:sp>
      <p:sp>
        <p:nvSpPr>
          <p:cNvPr id="9" name="矩形 8"/>
          <p:cNvSpPr>
            <a:spLocks noGrp="1"/>
          </p:cNvSpPr>
          <p:nvPr/>
        </p:nvSpPr>
        <p:spPr>
          <a:xfrm>
            <a:off x="1200150" y="29051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我的同桌Simona微笑着看着我，递给我一个笔记本，然后说“给你，希望对你有帮助。”在她的帮助下，我以一个新的方法算出了这个数学题。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8"/>
          <p:cNvSpPr>
            <a:spLocks noGrp="1"/>
          </p:cNvSpPr>
          <p:nvPr/>
        </p:nvSpPr>
        <p:spPr>
          <a:xfrm>
            <a:off x="1200150" y="347662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My desk mate Simona looked at me with a smile, handed me a notebook, and then said, "Here you are. Hope it helps." With her help, I worked out the math problem in a new method.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146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幸运的是，不久后这个教授和同学们都被秋雨的介绍所打动。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9"/>
          <p:cNvSpPr>
            <a:spLocks noGrp="1"/>
          </p:cNvSpPr>
          <p:nvPr/>
        </p:nvSpPr>
        <p:spPr>
          <a:xfrm>
            <a:off x="1200150" y="30003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both the professor and the students were moved by Qiuyu's introduction.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528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幸运的是，迷路的孩子不久后就被路人发现了。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0"/>
          <p:cNvSpPr>
            <a:spLocks noGrp="1"/>
          </p:cNvSpPr>
          <p:nvPr/>
        </p:nvSpPr>
        <p:spPr>
          <a:xfrm>
            <a:off x="1200150" y="42386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lost child was found by a passer-by.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91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幸运的是，他不久后就想起来把文件放在了哪里。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1"/>
          <p:cNvSpPr>
            <a:spLocks noGrp="1"/>
          </p:cNvSpPr>
          <p:nvPr/>
        </p:nvSpPr>
        <p:spPr>
          <a:xfrm>
            <a:off x="1200150" y="5476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he remembered where he had put the document.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146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幸运的是，这株枯萎的植物不久后就重新抽出了嫩芽。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2"/>
          <p:cNvSpPr>
            <a:spLocks noGrp="1"/>
          </p:cNvSpPr>
          <p:nvPr/>
        </p:nvSpPr>
        <p:spPr>
          <a:xfrm>
            <a:off x="1200150" y="30003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withered plant sprouted new buds again.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528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幸运的是，故障的电梯不久后就被维修人员修好了。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3"/>
          <p:cNvSpPr>
            <a:spLocks noGrp="1"/>
          </p:cNvSpPr>
          <p:nvPr/>
        </p:nvSpPr>
        <p:spPr>
          <a:xfrm>
            <a:off x="1200150" y="42386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the broken elevator was fixed by the maintenance workers.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91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幸运的是，她不久后就收到了心仪公司的面试通知。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4"/>
          <p:cNvSpPr>
            <a:spLocks noGrp="1"/>
          </p:cNvSpPr>
          <p:nvPr/>
        </p:nvSpPr>
        <p:spPr>
          <a:xfrm>
            <a:off x="1200150" y="5476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she received an interview notice from her desired company.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146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幸运的是，这场突如其来的冰雹不久后就停了。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5"/>
          <p:cNvSpPr>
            <a:spLocks noGrp="1"/>
          </p:cNvSpPr>
          <p:nvPr/>
        </p:nvSpPr>
        <p:spPr>
          <a:xfrm>
            <a:off x="1200150" y="30003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the sudden hailstorm stopped.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528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幸运的是，受伤的小狗不久后就被好心的兽医救助了。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6"/>
          <p:cNvSpPr>
            <a:spLocks noGrp="1"/>
          </p:cNvSpPr>
          <p:nvPr/>
        </p:nvSpPr>
        <p:spPr>
          <a:xfrm>
            <a:off x="1200150" y="42386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injured puppy was rescued by a kind veterinarian.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91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幸运的是，他不久后就克服了语言障碍，能流利交流了。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7"/>
          <p:cNvSpPr>
            <a:spLocks noGrp="1"/>
          </p:cNvSpPr>
          <p:nvPr/>
        </p:nvSpPr>
        <p:spPr>
          <a:xfrm>
            <a:off x="1200150" y="5476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Luckily, it didn’t take long before he overcame the language barrier and could communicate fluently.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第二部分句型仿写训练：句型4（4/4）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09650"/>
          </a:xfrm>
          <a:prstGeom prst="roundRect">
            <a:avLst>
              <a:gd name="adj" fmla="val 16981"/>
            </a:avLst>
          </a:prstGeom>
          <a:solidFill>
            <a:srgbClr val="FFF8F0"/>
          </a:solidFill>
          <a:ln w="13335">
            <a:solidFill>
              <a:srgbClr val="FF8B2D"/>
            </a:solidFill>
            <a:prstDash val="solid"/>
          </a:ln>
        </p:spPr>
      </p:sp>
      <p:sp>
        <p:nvSpPr>
          <p:cNvPr id="5" name="圆角矩形 4"/>
          <p:cNvSpPr>
            <a:spLocks noGrp="1"/>
          </p:cNvSpPr>
          <p:nvPr/>
        </p:nvSpPr>
        <p:spPr>
          <a:xfrm>
            <a:off x="1104900" y="1628775"/>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24025"/>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191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Luckily/Fortunately，it didn’t take long before sb. did…</a:t>
            </a:r>
            <a:r>
              <a:rPr sz="2025" b="0" i="0" u="sng">
                <a:solidFill>
                  <a:srgbClr val="000000"/>
                </a:solidFill>
                <a:latin typeface="微软雅黑" panose="020B0503020204020204" charset="-122"/>
                <a:ea typeface="微软雅黑" panose="020B0503020204020204" charset="-122"/>
                <a:cs typeface="微软雅黑" panose="020B0503020204020204" charset="-122"/>
              </a:rPr>
              <a:t>幸运的是，某人不久后就做了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241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幸运的是，被困在电梯里的乘客不久后就被安全解救出来了。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8"/>
          <p:cNvSpPr>
            <a:spLocks noGrp="1"/>
          </p:cNvSpPr>
          <p:nvPr/>
        </p:nvSpPr>
        <p:spPr>
          <a:xfrm>
            <a:off x="1200150" y="32099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Fortunately, it didn’t take long before the passengers trapped in the elevator were safely rescued.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 受她的话启发，学生们决定更加努力以实现自己的梦想。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9"/>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the students decided to work harder to achieve their dreams.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2.受她的话启发，他下定决心就误会向朋友道歉。</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0"/>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he made up his mind to apologize to his friend for the misunderstanding.</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3.受她的话启发，我们成立了一个志愿者小组，帮助社区里的老人。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1"/>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we started a volunteer group to help the elderly in our community.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4.受她的话启发，莉莉开始每天练习绘画以提高自己的技能。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2"/>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Lily began to practice painting every day to improve her skills.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5.受她的话启发，团队改变了策略，最终赢得了比赛。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3"/>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the team changed their strategy and finally won the competition.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6.受她的话启发，汤姆决定多读书以拓宽自己的视野。</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4"/>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Tom decided to read more books to broaden his horizons.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32099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7.受她的话启发，全班组织了一场慈善义卖，为有需要的儿童筹款。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5"/>
          <p:cNvSpPr>
            <a:spLocks noGrp="1"/>
          </p:cNvSpPr>
          <p:nvPr/>
        </p:nvSpPr>
        <p:spPr>
          <a:xfrm>
            <a:off x="1200150" y="34956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the class organized a charity sale to raise money for children in need.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148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8672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8.受她的话启发，安娜克服了羞怯，加入了学校的辩论社。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6"/>
          <p:cNvSpPr>
            <a:spLocks noGrp="1"/>
          </p:cNvSpPr>
          <p:nvPr/>
        </p:nvSpPr>
        <p:spPr>
          <a:xfrm>
            <a:off x="1200150" y="51530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Anna overcame her shyness and joined the school debate club.</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第二部分句型仿写训练：句型5（5/5）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5"/>
          <p:cNvSpPr>
            <a:spLocks noGrp="1"/>
          </p:cNvSpPr>
          <p:nvPr/>
        </p:nvSpPr>
        <p:spPr>
          <a:xfrm>
            <a:off x="876300" y="1371600"/>
            <a:ext cx="10439400" cy="1295400"/>
          </a:xfrm>
          <a:prstGeom prst="roundRect">
            <a:avLst>
              <a:gd name="adj" fmla="val 13235"/>
            </a:avLst>
          </a:prstGeom>
          <a:solidFill>
            <a:srgbClr val="FFF8F0"/>
          </a:solidFill>
          <a:ln w="13335">
            <a:solidFill>
              <a:srgbClr val="FF8B2D"/>
            </a:solidFill>
            <a:prstDash val="solid"/>
          </a:ln>
        </p:spPr>
      </p:sp>
      <p:sp>
        <p:nvSpPr>
          <p:cNvPr id="5" name="圆角矩形 4"/>
          <p:cNvSpPr>
            <a:spLocks noGrp="1"/>
          </p:cNvSpPr>
          <p:nvPr/>
        </p:nvSpPr>
        <p:spPr>
          <a:xfrm>
            <a:off x="1104900" y="17716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669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句型5</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04900"/>
          </a:xfrm>
          <a:prstGeom prst="rect">
            <a:avLst/>
          </a:prstGeom>
          <a:noFill/>
          <a:ln w="0">
            <a:noFill/>
            <a:prstDash val="solid"/>
          </a:ln>
        </p:spPr>
        <p:txBody>
          <a:bodyPr wrap="square" lIns="76200" tIns="19050" rIns="76200" bIns="19050" anchor="ctr"/>
          <a:lstStyle/>
          <a:p>
            <a:pPr algn="l">
              <a:lnSpc>
                <a:spcPct val="108000"/>
              </a:lnSpc>
              <a:buNone/>
              <a:defRPr sz="1725">
                <a:latin typeface="微软雅黑" panose="020B0503020204020204" charset="-122"/>
                <a:ea typeface="微软雅黑" panose="020B0503020204020204" charset="-122"/>
                <a:cs typeface="微软雅黑" panose="020B0503020204020204" charset="-122"/>
              </a:defRPr>
            </a:pPr>
            <a:r>
              <a:rPr sz="17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1725" b="1" i="0" u="sng">
                <a:solidFill>
                  <a:srgbClr val="000000"/>
                </a:solidFill>
                <a:latin typeface="微软雅黑" panose="020B0503020204020204" charset="-122"/>
                <a:ea typeface="微软雅黑" panose="020B0503020204020204" charset="-122"/>
                <a:cs typeface="微软雅黑" panose="020B0503020204020204" charset="-122"/>
              </a:rPr>
              <a:t>Inspired by what sb. said, 某人 made up one’s mind  to to./be determined to do/took actions  to do .、</a:t>
            </a:r>
            <a:r>
              <a:rPr sz="1725" b="0" i="0" u="sng">
                <a:solidFill>
                  <a:srgbClr val="000000"/>
                </a:solidFill>
                <a:latin typeface="微软雅黑" panose="020B0503020204020204" charset="-122"/>
                <a:ea typeface="微软雅黑" panose="020B0503020204020204" charset="-122"/>
                <a:cs typeface="微软雅黑" panose="020B0503020204020204" charset="-122"/>
              </a:rPr>
              <a:t>受到某人说的话的鼓励，某人下定决心做某事、决定做某事、采取行动做某事  </a:t>
            </a:r>
            <a:endParaRPr sz="17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57500"/>
            <a:ext cx="10439400" cy="1476375"/>
          </a:xfrm>
          <a:prstGeom prst="roundRect">
            <a:avLst>
              <a:gd name="adj" fmla="val 9032"/>
            </a:avLst>
          </a:prstGeom>
          <a:solidFill>
            <a:srgbClr val="FFFAF5"/>
          </a:solidFill>
          <a:ln w="9525">
            <a:solidFill>
              <a:srgbClr val="FFBF86"/>
            </a:solidFill>
            <a:prstDash val="solid"/>
          </a:ln>
        </p:spPr>
      </p:sp>
      <p:sp>
        <p:nvSpPr>
          <p:cNvPr id="9" name="矩形 8"/>
          <p:cNvSpPr>
            <a:spLocks noGrp="1"/>
          </p:cNvSpPr>
          <p:nvPr/>
        </p:nvSpPr>
        <p:spPr>
          <a:xfrm>
            <a:off x="1200150" y="3167063"/>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9.受她的话启发，他们计划了一次乡村之旅，体验田园生活。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7"/>
          <p:cNvSpPr>
            <a:spLocks noGrp="1"/>
          </p:cNvSpPr>
          <p:nvPr/>
        </p:nvSpPr>
        <p:spPr>
          <a:xfrm>
            <a:off x="1200150" y="3452813"/>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 Inspired by what she said, they planned a trip to the countryside to experience rural life.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29125"/>
            <a:ext cx="10439400" cy="1762125"/>
          </a:xfrm>
          <a:prstGeom prst="roundRect">
            <a:avLst>
              <a:gd name="adj" fmla="val 7568"/>
            </a:avLst>
          </a:prstGeom>
          <a:solidFill>
            <a:srgbClr val="FFFAF5"/>
          </a:solidFill>
          <a:ln w="9525">
            <a:solidFill>
              <a:srgbClr val="FFBF86"/>
            </a:solidFill>
            <a:prstDash val="solid"/>
          </a:ln>
        </p:spPr>
      </p:sp>
      <p:sp>
        <p:nvSpPr>
          <p:cNvPr id="12" name="矩形 11"/>
          <p:cNvSpPr>
            <a:spLocks noGrp="1"/>
          </p:cNvSpPr>
          <p:nvPr/>
        </p:nvSpPr>
        <p:spPr>
          <a:xfrm>
            <a:off x="1200150" y="4738688"/>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10.受她的话启发，这个22岁的年轻人下定决定认真梳理自己的能力并找到一份适合自己的工作。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8"/>
          <p:cNvSpPr>
            <a:spLocks noGrp="1"/>
          </p:cNvSpPr>
          <p:nvPr/>
        </p:nvSpPr>
        <p:spPr>
          <a:xfrm>
            <a:off x="1200150" y="5024438"/>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Inspired by what she said, the 22-year-old young man made up his mind to sort out his abilities carefully and find a job suitable for himself.</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At the sight of the ferocious wolf ,I froze with terror, too scared to move an inch.看到这匹凶猛的狼，我害怕得冻住了，太害怕，一动不动。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1" name="矩形 10"/>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一看到失散多年的哥哥，她立刻哭了起来，跑过去紧紧抱住了他。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ans_049"/>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her long-lost brother, she burst into tears and ran to hug him tightly.</a:t>
            </a:r>
            <a:r>
              <a:rPr sz="2025" b="0" i="0" u="sng">
                <a:solidFill>
                  <a:srgbClr val="EE0000"/>
                </a:solidFill>
                <a:latin typeface="微软雅黑" panose="020B0503020204020204" charset="-122"/>
                <a:ea typeface="微软雅黑" panose="020B0503020204020204" charset="-122"/>
                <a:cs typeface="微软雅黑" panose="020B0503020204020204" charset="-122"/>
              </a:rPr>
              <a:t>   </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3" name="圆角矩形 12"/>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4" name="矩形 13"/>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狗一看见主人打开前门，就高兴地摇起了尾巴。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5" name="ans_050"/>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dog wagged its tail happily at the sight of its owner opening the front door.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2"/>
                                        </p:tgtEl>
                                        <p:attrNameLst>
                                          <p:attrName>style.visibility</p:attrName>
                                        </p:attrNameLst>
                                      </p:cBhvr>
                                      <p:to>
                                        <p:strVal val="visible"/>
                                      </p:to>
                                    </p:set>
                                    <p:animEffect transition="in" filter="fade">
                                      <p:cBhvr>
                                        <p:cTn id="7" dur="35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5"/>
                                        </p:tgtEl>
                                        <p:attrNameLst>
                                          <p:attrName>style.visibility</p:attrName>
                                        </p:attrNameLst>
                                      </p:cBhvr>
                                      <p:to>
                                        <p:strVal val="visible"/>
                                      </p:to>
                                    </p:set>
                                    <p:animEffect transition="in" filter="fade">
                                      <p:cBhvr>
                                        <p:cTn id="12" dur="3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2" grpId="1"/>
      <p:bldP spid="15"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3.看到海上美丽的日落，我们都停下来拍了照。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1"/>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beautiful sunset over the ocean, we all stopped to take photos.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4.一看到那条蛇在小路上蜿蜒爬行，他突然感到一阵恐惧。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2"/>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He felt a sudden rush of fear at the sight of the snake slithering across the path.</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5.孩子们一看到冰淇淋车朝公园开来，就欢呼起来。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3"/>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children cheered at the sight of the ice cream truck approaching the park.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6.看到那张旧照片，她童年的回忆如潮水般涌了回来。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4"/>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old photograph, memories of her childhood came flooding back.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7.看到自家猫咪试图钻进一个小盒子里的样子，她忍不住笑了起来。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5"/>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She couldn’t help but laugh at the sight of her cat trying to fit into a tiny box.</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8．看到暴风雨后受损的房屋，村民们都悲伤地叹了口气。</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6"/>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damaged house after the storm, the villagers sighed with sadness.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第二部分句型仿写训练：句型6（4/4）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-At the sight of…，sb. did sth.</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一看到…的时候,某人做了某事。</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9.学生们一看到老师走进喧闹的教室，就安静了下来。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7"/>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students grew quiet at the sight of their teacher entering the noisy classroom.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10050"/>
            <a:ext cx="10439400" cy="1562100"/>
          </a:xfrm>
          <a:prstGeom prst="roundRect">
            <a:avLst>
              <a:gd name="adj" fmla="val 8537"/>
            </a:avLst>
          </a:prstGeom>
          <a:solidFill>
            <a:srgbClr val="FFFAF5"/>
          </a:solidFill>
          <a:ln w="9525">
            <a:solidFill>
              <a:srgbClr val="FFBF86"/>
            </a:solidFill>
            <a:prstDash val="solid"/>
          </a:ln>
        </p:spPr>
      </p:sp>
      <p:sp>
        <p:nvSpPr>
          <p:cNvPr id="12" name="矩形 11"/>
          <p:cNvSpPr>
            <a:spLocks noGrp="1"/>
          </p:cNvSpPr>
          <p:nvPr/>
        </p:nvSpPr>
        <p:spPr>
          <a:xfrm>
            <a:off x="1200150" y="45624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10.看到国旗冉冉升起，所有人都站直身体敬礼。</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8"/>
          <p:cNvSpPr>
            <a:spLocks noGrp="1"/>
          </p:cNvSpPr>
          <p:nvPr/>
        </p:nvSpPr>
        <p:spPr>
          <a:xfrm>
            <a:off x="1200150" y="48482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At the sight of the national flag being raised, everyone stood straight and saluted.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0" grpId="1"/>
      <p:bldP spid="13" grpId="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她不仅英语说得流利，而且还擅长法语。</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9"/>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does she speak English fluently, but also she is good at French.</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他不仅按时完成了自己的任务，还帮同事完成了他们的任务。</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0"/>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did he finish his task on time, but also he helped his colleagues with theirs.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这台机器不仅能节能，还能减少噪音。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1"/>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can this machine save energy, but also it can reduce noise.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她不仅读过这本书，还写了一篇书评。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2"/>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has she read the book, but also she has written a review of it.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他们不仅喜欢踢足球，还对篮球感兴趣。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3"/>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do they enjoy playing football, but also they are interested in basketball.</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这家公司不仅增加了利润，还改善了工作条件。</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4"/>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did the company increase its profits, but also it improved its working conditions.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6955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他不仅是一位有天赋的音乐家，还是一位技艺精湛的画家。</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5"/>
          <p:cNvSpPr>
            <a:spLocks noGrp="1"/>
          </p:cNvSpPr>
          <p:nvPr/>
        </p:nvSpPr>
        <p:spPr>
          <a:xfrm>
            <a:off x="1200150" y="29813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is he a talented musician, but also he is a skilled painter.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9095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38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不仅参观了博物馆，还游览了老城区。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6"/>
          <p:cNvSpPr>
            <a:spLocks noGrp="1"/>
          </p:cNvSpPr>
          <p:nvPr/>
        </p:nvSpPr>
        <p:spPr>
          <a:xfrm>
            <a:off x="1200150" y="42195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have we visited the museum, but also we have explored the old town.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2920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207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这项新政策不仅有益于个人，还能促进社会发展。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7"/>
          <p:cNvSpPr>
            <a:spLocks noGrp="1"/>
          </p:cNvSpPr>
          <p:nvPr/>
        </p:nvSpPr>
        <p:spPr>
          <a:xfrm>
            <a:off x="1200150" y="545782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does this new policy benefit individuals, but also it promotes social development.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0" grpId="0"/>
      <p:bldP spid="13" grpId="1"/>
      <p:bldP spid="16" grpId="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第二部分句型仿写训练：句型7（4/4）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990600"/>
          </a:xfrm>
          <a:prstGeom prst="roundRect">
            <a:avLst>
              <a:gd name="adj" fmla="val 17308"/>
            </a:avLst>
          </a:prstGeom>
          <a:solidFill>
            <a:srgbClr val="FFF8F0"/>
          </a:solidFill>
          <a:ln w="13335">
            <a:solidFill>
              <a:srgbClr val="FF8B2D"/>
            </a:solidFill>
            <a:prstDash val="solid"/>
          </a:ln>
        </p:spPr>
      </p:sp>
      <p:sp>
        <p:nvSpPr>
          <p:cNvPr id="5" name="圆角矩形 4"/>
          <p:cNvSpPr>
            <a:spLocks noGrp="1"/>
          </p:cNvSpPr>
          <p:nvPr/>
        </p:nvSpPr>
        <p:spPr>
          <a:xfrm>
            <a:off x="1104900" y="161925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1450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001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Not only 情/助/be+主语+动词…but also…陈述句 倒装句型   </a:t>
            </a:r>
            <a:r>
              <a:rPr sz="2025" b="0" i="0" u="sng">
                <a:solidFill>
                  <a:srgbClr val="000000"/>
                </a:solidFill>
                <a:latin typeface="微软雅黑" panose="020B0503020204020204" charset="-122"/>
                <a:ea typeface="微软雅黑" panose="020B0503020204020204" charset="-122"/>
                <a:cs typeface="微软雅黑" panose="020B0503020204020204" charset="-122"/>
              </a:rPr>
              <a:t>某人不仅…而且….</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52700"/>
            <a:ext cx="10439400" cy="1562100"/>
          </a:xfrm>
          <a:prstGeom prst="roundRect">
            <a:avLst>
              <a:gd name="adj" fmla="val 8537"/>
            </a:avLst>
          </a:prstGeom>
          <a:solidFill>
            <a:srgbClr val="FFFAF5"/>
          </a:solidFill>
          <a:ln w="9525">
            <a:solidFill>
              <a:srgbClr val="FFBF86"/>
            </a:solidFill>
            <a:prstDash val="solid"/>
          </a:ln>
        </p:spPr>
      </p:sp>
      <p:sp>
        <p:nvSpPr>
          <p:cNvPr id="9" name="矩形 8"/>
          <p:cNvSpPr>
            <a:spLocks noGrp="1"/>
          </p:cNvSpPr>
          <p:nvPr/>
        </p:nvSpPr>
        <p:spPr>
          <a:xfrm>
            <a:off x="1200150" y="2905125"/>
            <a:ext cx="979170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她不仅为自己的错误道歉，还采取了措施去纠正。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8"/>
          <p:cNvSpPr>
            <a:spLocks noGrp="1"/>
          </p:cNvSpPr>
          <p:nvPr/>
        </p:nvSpPr>
        <p:spPr>
          <a:xfrm>
            <a:off x="1200150" y="3190875"/>
            <a:ext cx="979170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Not only did she apologize for her mistake, but also she took measures to correct it.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1"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读后续写---高级句型仿写---第三部分仿写</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i="0">
                <a:solidFill>
                  <a:srgbClr val="FFFFFF"/>
                </a:solidFill>
                <a:latin typeface="微软雅黑" panose="020B0503020204020204" charset="-122"/>
                <a:ea typeface="微软雅黑" panose="020B0503020204020204" charset="-122"/>
                <a:cs typeface="微软雅黑" panose="020B0503020204020204" charset="-122"/>
              </a:rPr>
              <a:t>读后续写
高级句型仿写
第三部分仿写</a:t>
            </a:r>
            <a:endParaRPr sz="29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905250" cy="323850"/>
          </a:xfrm>
          <a:prstGeom prst="rect">
            <a:avLst/>
          </a:prstGeom>
          <a:noFill/>
          <a:ln w="0">
            <a:noFill/>
            <a:prstDash val="solid"/>
          </a:ln>
        </p:spPr>
        <p:txBody>
          <a:bodyPr wrap="square" lIns="0" tIns="0" rIns="0" bIns="0" anchor="ctr"/>
          <a:lstStyle/>
          <a:p>
            <a:pPr algn="l">
              <a:lnSpc>
                <a:spcPct val="105000"/>
              </a:lnSpc>
              <a:buNone/>
              <a:defRPr sz="1800">
                <a:latin typeface="微软雅黑" panose="020B0503020204020204" charset="-122"/>
                <a:ea typeface="微软雅黑" panose="020B0503020204020204" charset="-122"/>
                <a:cs typeface="微软雅黑" panose="020B0503020204020204" charset="-122"/>
              </a:defRPr>
            </a:pPr>
            <a:r>
              <a:rPr sz="1800" b="1" i="0">
                <a:solidFill>
                  <a:srgbClr val="5A2A10"/>
                </a:solidFill>
                <a:latin typeface="微软雅黑" panose="020B0503020204020204" charset="-122"/>
                <a:ea typeface="微软雅黑" panose="020B0503020204020204" charset="-122"/>
                <a:cs typeface="微软雅黑" panose="020B0503020204020204" charset="-122"/>
              </a:rPr>
              <a:t>第三部分仿写：句型1-15</a:t>
            </a:r>
            <a:endParaRPr sz="1800"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她用开心的声音说，“我在考试中得了第一名。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1"/>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said in a happy voice, "I got the first place in the exam."</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Peter以一个伤心的声音说，“我从自行车上摔下来并且伤到了我的右腿。”</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2"/>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Peter said in a sad voice, "I fell off my bike and hurt my right leg."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这个农民以一个生气的声音说，“赶紧从我的田里滚出来。”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3"/>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farmer said in an angry voice, "Get out of my field right now!"</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38250"/>
          </a:xfrm>
          <a:prstGeom prst="roundRect">
            <a:avLst>
              <a:gd name="adj" fmla="val 10769"/>
            </a:avLst>
          </a:prstGeom>
          <a:solidFill>
            <a:srgbClr val="FFFAF5"/>
          </a:solidFill>
          <a:ln w="9525">
            <a:solidFill>
              <a:srgbClr val="FFBF86"/>
            </a:solidFill>
            <a:prstDash val="solid"/>
          </a:ln>
        </p:spPr>
      </p:sp>
      <p:sp>
        <p:nvSpPr>
          <p:cNvPr id="9" name="矩形 8"/>
          <p:cNvSpPr>
            <a:spLocks noGrp="1"/>
          </p:cNvSpPr>
          <p:nvPr/>
        </p:nvSpPr>
        <p:spPr>
          <a:xfrm>
            <a:off x="1200150" y="27479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同学们以一个开心的声音说，“我们在足球比赛中得到了第一名。”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4"/>
          <p:cNvSpPr>
            <a:spLocks noGrp="1"/>
          </p:cNvSpPr>
          <p:nvPr/>
        </p:nvSpPr>
        <p:spPr>
          <a:xfrm>
            <a:off x="1200150" y="304323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classmates said in a happy voice, "We got the first place in the football match."</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905250"/>
            <a:ext cx="10439400" cy="942975"/>
          </a:xfrm>
          <a:prstGeom prst="roundRect">
            <a:avLst>
              <a:gd name="adj" fmla="val 14141"/>
            </a:avLst>
          </a:prstGeom>
          <a:solidFill>
            <a:srgbClr val="FFFAF5"/>
          </a:solidFill>
          <a:ln w="9525">
            <a:solidFill>
              <a:srgbClr val="FFBF86"/>
            </a:solidFill>
            <a:prstDash val="solid"/>
          </a:ln>
        </p:spPr>
      </p:sp>
      <p:sp>
        <p:nvSpPr>
          <p:cNvPr id="12" name="矩形 11"/>
          <p:cNvSpPr>
            <a:spLocks noGrp="1"/>
          </p:cNvSpPr>
          <p:nvPr/>
        </p:nvSpPr>
        <p:spPr>
          <a:xfrm>
            <a:off x="1200150" y="40814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Simona的儿子用一个低沉的对Simona说,”我的手表被我弄丢了。”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5"/>
          <p:cNvSpPr>
            <a:spLocks noGrp="1"/>
          </p:cNvSpPr>
          <p:nvPr/>
        </p:nvSpPr>
        <p:spPr>
          <a:xfrm>
            <a:off x="1200150" y="43767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Simona's son said to Simona in a low voice, "I lost my watch."</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943475"/>
            <a:ext cx="10439400" cy="1238250"/>
          </a:xfrm>
          <a:prstGeom prst="roundRect">
            <a:avLst>
              <a:gd name="adj" fmla="val 10769"/>
            </a:avLst>
          </a:prstGeom>
          <a:solidFill>
            <a:srgbClr val="FFFAF5"/>
          </a:solidFill>
          <a:ln w="9525">
            <a:solidFill>
              <a:srgbClr val="FFBF86"/>
            </a:solidFill>
            <a:prstDash val="solid"/>
          </a:ln>
        </p:spPr>
      </p:sp>
      <p:sp>
        <p:nvSpPr>
          <p:cNvPr id="15" name="矩形 14"/>
          <p:cNvSpPr>
            <a:spLocks noGrp="1"/>
          </p:cNvSpPr>
          <p:nvPr/>
        </p:nvSpPr>
        <p:spPr>
          <a:xfrm>
            <a:off x="1200150" y="51196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这个男孩以一个低沉的声音说，“是我把你的水杯不小心摔到地上去了。”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6"/>
          <p:cNvSpPr>
            <a:spLocks noGrp="1"/>
          </p:cNvSpPr>
          <p:nvPr/>
        </p:nvSpPr>
        <p:spPr>
          <a:xfrm>
            <a:off x="1200150" y="54149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boy said in a low voice, "I accidentally dropped your water cup on the ground."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38250"/>
          </a:xfrm>
          <a:prstGeom prst="roundRect">
            <a:avLst>
              <a:gd name="adj" fmla="val 10769"/>
            </a:avLst>
          </a:prstGeom>
          <a:solidFill>
            <a:srgbClr val="FFFAF5"/>
          </a:solidFill>
          <a:ln w="9525">
            <a:solidFill>
              <a:srgbClr val="FFBF86"/>
            </a:solidFill>
            <a:prstDash val="solid"/>
          </a:ln>
        </p:spPr>
      </p:sp>
      <p:sp>
        <p:nvSpPr>
          <p:cNvPr id="9" name="矩形 8"/>
          <p:cNvSpPr>
            <a:spLocks noGrp="1"/>
          </p:cNvSpPr>
          <p:nvPr/>
        </p:nvSpPr>
        <p:spPr>
          <a:xfrm>
            <a:off x="1200150" y="27479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这个司机以一个温柔的声音说，“孩子，醒醒，你坐过站了，赶紧起来了！”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07"/>
          <p:cNvSpPr>
            <a:spLocks noGrp="1"/>
          </p:cNvSpPr>
          <p:nvPr/>
        </p:nvSpPr>
        <p:spPr>
          <a:xfrm>
            <a:off x="1200150" y="304323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driver said in a gentle voice, "Wake up, kid. You've missed your stop. Get up quickly!"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905250"/>
            <a:ext cx="10439400" cy="1238250"/>
          </a:xfrm>
          <a:prstGeom prst="roundRect">
            <a:avLst>
              <a:gd name="adj" fmla="val 10769"/>
            </a:avLst>
          </a:prstGeom>
          <a:solidFill>
            <a:srgbClr val="FFFAF5"/>
          </a:solidFill>
          <a:ln w="9525">
            <a:solidFill>
              <a:srgbClr val="FFBF86"/>
            </a:solidFill>
            <a:prstDash val="solid"/>
          </a:ln>
        </p:spPr>
      </p:sp>
      <p:sp>
        <p:nvSpPr>
          <p:cNvPr id="12" name="矩形 11"/>
          <p:cNvSpPr>
            <a:spLocks noGrp="1"/>
          </p:cNvSpPr>
          <p:nvPr/>
        </p:nvSpPr>
        <p:spPr>
          <a:xfrm>
            <a:off x="1200150" y="40814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这个老师以一个有耐心的声音说，“不要放弃学习，你才能实现自己的梦想。”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08"/>
          <p:cNvSpPr>
            <a:spLocks noGrp="1"/>
          </p:cNvSpPr>
          <p:nvPr/>
        </p:nvSpPr>
        <p:spPr>
          <a:xfrm>
            <a:off x="1200150" y="437673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 teacher said in a patient voice, "Don't give up studying, and you can realize your dream."</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238750"/>
            <a:ext cx="10439400" cy="942975"/>
          </a:xfrm>
          <a:prstGeom prst="roundRect">
            <a:avLst>
              <a:gd name="adj" fmla="val 14141"/>
            </a:avLst>
          </a:prstGeom>
          <a:solidFill>
            <a:srgbClr val="FFFAF5"/>
          </a:solidFill>
          <a:ln w="9525">
            <a:solidFill>
              <a:srgbClr val="FFBF86"/>
            </a:solidFill>
            <a:prstDash val="solid"/>
          </a:ln>
        </p:spPr>
      </p:sp>
      <p:sp>
        <p:nvSpPr>
          <p:cNvPr id="15" name="矩形 14"/>
          <p:cNvSpPr>
            <a:spLocks noGrp="1"/>
          </p:cNvSpPr>
          <p:nvPr/>
        </p:nvSpPr>
        <p:spPr>
          <a:xfrm>
            <a:off x="1200150" y="54149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我的好朋友Simona以一个高的声音说，“这题我会。”</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09"/>
          <p:cNvSpPr>
            <a:spLocks noGrp="1"/>
          </p:cNvSpPr>
          <p:nvPr/>
        </p:nvSpPr>
        <p:spPr>
          <a:xfrm>
            <a:off x="1200150" y="57102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My good friend Simona said in a loud voice, "I can do this question."</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Sb. said …..in a/an adj voice</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她以一个不耐烦的声音说，“不要在这里吵，这个Baby正在睡觉呢。”</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0"/>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She said in an impatient voice, "Don't make noise here. The baby is sleeping."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“我一定会努力做到的。” 他坚定地说。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1"/>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“I will definitely try my best to do it,” he said in a determined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“这到底是怎么回事啊？” 她困惑地说。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2"/>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on earth is going on here?” she said in a confused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“谢谢你给予我的帮助。” 他感激地说。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3"/>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“Thank you for your help,” he said in a grateful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038225"/>
          </a:xfrm>
          <a:prstGeom prst="roundRect">
            <a:avLst>
              <a:gd name="adj" fmla="val 12844"/>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“对不起，我不是故意的。” 她愧疚地说。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4"/>
          <p:cNvSpPr>
            <a:spLocks noGrp="1"/>
          </p:cNvSpPr>
          <p:nvPr/>
        </p:nvSpPr>
        <p:spPr>
          <a:xfrm>
            <a:off x="1200150" y="30908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“I'm sorry, I didn't mean it,” she said in a guilty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05225"/>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39290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“太棒了，我们成功了！” 他们兴奋地说。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5"/>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“Great, we made it!” they said in an excited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838700"/>
            <a:ext cx="10439400" cy="1333500"/>
          </a:xfrm>
          <a:prstGeom prst="roundRect">
            <a:avLst>
              <a:gd name="adj" fmla="val 10000"/>
            </a:avLst>
          </a:prstGeom>
          <a:solidFill>
            <a:srgbClr val="FFFAF5"/>
          </a:solidFill>
          <a:ln w="9525">
            <a:solidFill>
              <a:srgbClr val="FFBF86"/>
            </a:solidFill>
            <a:prstDash val="solid"/>
          </a:ln>
        </p:spPr>
      </p:sp>
      <p:sp>
        <p:nvSpPr>
          <p:cNvPr id="15" name="矩形 14"/>
          <p:cNvSpPr>
            <a:spLocks noGrp="1"/>
          </p:cNvSpPr>
          <p:nvPr/>
        </p:nvSpPr>
        <p:spPr>
          <a:xfrm>
            <a:off x="1200150" y="50625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“请你小声一点，不要打扰别人。” 老师严肃地说。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6"/>
          <p:cNvSpPr>
            <a:spLocks noGrp="1"/>
          </p:cNvSpPr>
          <p:nvPr/>
        </p:nvSpPr>
        <p:spPr>
          <a:xfrm>
            <a:off x="1200150" y="53578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“Please keep your voice down and don't disturb others,” the teacher said in a serious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“这件事交给我，你放心吧。” 他自信地说。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17"/>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“Leave this to me, you can rest assured,” he said in a confident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“这里的风景真是太美了。” 她惊叹地说。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18"/>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scenery here is really beautiful,” she said in an amazed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“我真的不知道该怎么办了。” 他无助地说。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19"/>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“I really don't know what to do,” he said in a helpless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第三部分仿写训练：句型2（4/4）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句型2</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语言描写 </a:t>
            </a:r>
            <a:r>
              <a:rPr sz="2025" b="1" i="0" u="sng">
                <a:solidFill>
                  <a:srgbClr val="000000"/>
                </a:solidFill>
                <a:latin typeface="微软雅黑" panose="020B0503020204020204" charset="-122"/>
                <a:ea typeface="微软雅黑" panose="020B0503020204020204" charset="-122"/>
                <a:cs typeface="微软雅黑" panose="020B0503020204020204" charset="-122"/>
              </a:rPr>
              <a:t>“……”Sb. said in  a/an adj way</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某人说了…以一种什么的声音说。</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“明天我们一起去公园吧。” 她友好地说。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0"/>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“Let's go to the park together tomorrow,” she said in a friendly way.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第三部分仿写训练：句型3（1/3）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环境描写</a:t>
            </a:r>
            <a:r>
              <a:rPr sz="2025" b="1" i="0" u="sng">
                <a:solidFill>
                  <a:srgbClr val="000000"/>
                </a:solidFill>
                <a:latin typeface="微软雅黑" panose="020B0503020204020204" charset="-122"/>
                <a:ea typeface="微软雅黑" panose="020B0503020204020204" charset="-122"/>
                <a:cs typeface="微软雅黑" panose="020B0503020204020204" charset="-122"/>
              </a:rPr>
              <a:t>-Immediately/suddenly, an absolute /a complete + n ruled the +地点n and a wave of 情绪n, washed/swept over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突然，一种绝对。。。控制了某个地方并且一阵…的情绪席卷某人。</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瞬间，一片新鲜感笼罩了教室，一阵好奇席卷了学生们。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1"/>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Immediately, an absolute freshness ruled the classroom and a wave of curiosity swept over the students.</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突然，彻底的混乱占据了街道，一阵恐慌席卷了行人。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2"/>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Suddenly, a complete chaos ruled the street and a wave of panic washed over the pedestrians.</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第三部分仿写训练：句型3（2/3）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环境描写</a:t>
            </a:r>
            <a:r>
              <a:rPr sz="2025" b="1" i="0" u="sng">
                <a:solidFill>
                  <a:srgbClr val="000000"/>
                </a:solidFill>
                <a:latin typeface="微软雅黑" panose="020B0503020204020204" charset="-122"/>
                <a:ea typeface="微软雅黑" panose="020B0503020204020204" charset="-122"/>
                <a:cs typeface="微软雅黑" panose="020B0503020204020204" charset="-122"/>
              </a:rPr>
              <a:t>-Immediately/suddenly, an absolute /a complete + n ruled the +地点n and a wave of 情绪n, washed/swept over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突然，一种绝对。。。控制了某个地方并且一阵…的情绪席卷某人。</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立刻，全然的黑暗笼罩了房间，一阵恐惧席卷了孩子们。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3"/>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Immediately, an absolute darkness ruled the room and a wave of fear swept over the children.</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猛地，全场陷入一片寂静，一阵激动席卷了观众。</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4"/>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Suddenly, a complete silence ruled the stadium and a wave of excitement washed over the audience.</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第三部分仿写训练：句型3（3/3）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句型3</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环境描写</a:t>
            </a:r>
            <a:r>
              <a:rPr sz="2025" b="1" i="0" u="sng">
                <a:solidFill>
                  <a:srgbClr val="000000"/>
                </a:solidFill>
                <a:latin typeface="微软雅黑" panose="020B0503020204020204" charset="-122"/>
                <a:ea typeface="微软雅黑" panose="020B0503020204020204" charset="-122"/>
                <a:cs typeface="微软雅黑" panose="020B0503020204020204" charset="-122"/>
              </a:rPr>
              <a:t>-Immediately/suddenly, an absolute /a complete + n ruled the +地点n and a wave of 情绪n, washed/swept over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突然，一种绝对。。。控制了某个地方并且一阵…的情绪席卷某人。</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瞬间，纯粹的喜悦充斥了派对，一阵幸福席卷了所有宾客。</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5"/>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Immediately, a complete joy ruled the party and a wave of happiness swept over all the guests.</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她到公交站时才想起自己忘了锁门。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6"/>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her that she had forgotten to lock the door when she arrived at the bus stop.  </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我突然想到，这个难题我们可以向老师求助。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27"/>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me that we could turn to the teacher for help with this difficult problem.</a:t>
            </a:r>
            <a:r>
              <a:rPr sz="2025" b="0" i="0" u="sng">
                <a:solidFill>
                  <a:srgbClr val="000000"/>
                </a:solidFill>
                <a:latin typeface="微软雅黑" panose="020B0503020204020204" charset="-122"/>
                <a:ea typeface="微软雅黑" panose="020B0503020204020204" charset="-122"/>
                <a:cs typeface="微软雅黑" panose="020B0503020204020204" charset="-122"/>
              </a:rPr>
              <a:t>  </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他突然觉得自己以前在哪儿见过这个陌生人，但记不太清了。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28"/>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him that he had seen this stranger somewhere before, but he couldn’t remember clearly.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经理突然想到，他们应该开个会来讨论这个新计划。</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29"/>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manager that they should hold a meeting to discuss the new plan.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莉萨突然意识到，她差不多有一周没回朋友的邮件了。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0"/>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Lisa that she hadn’t replied to her friend’s email for almost a week.</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这个男孩想到，他可以用零花钱给妈妈买一份生日礼物。</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1"/>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boy that he could use his pocket money to buy a birthday present for his mother.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学生们想到，他们应该比平时更早开始为考试做准备。</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2"/>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students that they should start preparing for the exam earlier than usual.</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他们突然想到，他们可以利用DeepSeek来找到一些做这个项目的思路。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3"/>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them that they could use DeepSeek to find some ideas for the project.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教练意识到，下半场他们需要改变策略。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4"/>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the coach that they needed to change their strategy in the second half.</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第三部分仿写训练：句型4（4/4）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4"/>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句型4</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occurred to sb that</a:t>
            </a:r>
            <a:r>
              <a:rPr sz="2025" b="0" i="0" u="sng">
                <a:solidFill>
                  <a:srgbClr val="000000"/>
                </a:solidFill>
                <a:latin typeface="微软雅黑" panose="020B0503020204020204" charset="-122"/>
                <a:ea typeface="微软雅黑" panose="020B0503020204020204" charset="-122"/>
                <a:cs typeface="微软雅黑" panose="020B0503020204020204" charset="-122"/>
              </a:rPr>
              <a:t> 某人突然想起….</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玛丽想到，放学后她把笔记本落在教室里了。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5"/>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It occurred to Mary that she had left her notebook in the classroom after school.</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5</a:t>
            </a:r>
            <a:r>
              <a:rPr sz="2700" b="1" i="0">
                <a:solidFill>
                  <a:srgbClr val="000000"/>
                </a:solidFill>
                <a:latin typeface="微软雅黑" panose="020B0503020204020204" charset="-122"/>
                <a:ea typeface="微软雅黑" panose="020B0503020204020204" charset="-122"/>
                <a:cs typeface="微软雅黑" panose="020B0503020204020204" charset="-122"/>
              </a:rPr>
              <a:t>（1/4）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5</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她毫不犹豫地冲进着火的房子，去救被困的孩子。</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6"/>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she rushed into the burning house to save the trapped child.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听到朋友遇到紧急情况，他不假思索地把积蓄借了出去。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37"/>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He lent his savings to his friend without a second thought when he heard about the emergency.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救生员毫不犹豫地跳进汹涌的大海，营救溺水的游泳者。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38"/>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the lifeguard jumped into the rough sea to rescue the drowning swimmer.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5</a:t>
            </a:r>
            <a:r>
              <a:rPr sz="2700" b="1" i="0">
                <a:solidFill>
                  <a:srgbClr val="000000"/>
                </a:solidFill>
                <a:latin typeface="微软雅黑" panose="020B0503020204020204" charset="-122"/>
                <a:ea typeface="微软雅黑" panose="020B0503020204020204" charset="-122"/>
                <a:cs typeface="微软雅黑" panose="020B0503020204020204" charset="-122"/>
              </a:rPr>
              <a:t>（2/4）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5</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尽管已经很忙，她还是不假思索地答应帮忙组织活动。</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39"/>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She agreed to help organize the event without a second thought, even though she was already busy.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他毫不犹豫地辞掉了稳定的工作，去追求成为艺术家的梦想。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0"/>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he quit his stable job to pursue his dream of becoming an artist.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天开始下雨时，这位善良的陌生人不假思索地把伞递给了老太太。</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41"/>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The kind stranger offered his umbrella to the old lady without a second thought when it started raining.</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5</a:t>
            </a:r>
            <a:r>
              <a:rPr sz="2700" b="1" i="0">
                <a:solidFill>
                  <a:srgbClr val="000000"/>
                </a:solidFill>
                <a:latin typeface="微软雅黑" panose="020B0503020204020204" charset="-122"/>
                <a:ea typeface="微软雅黑" panose="020B0503020204020204" charset="-122"/>
                <a:cs typeface="微软雅黑" panose="020B0503020204020204" charset="-122"/>
              </a:rPr>
              <a:t>（3/4）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5</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天开始下雨时，这位善良的陌生人不假思索地把伞递给了老太太。</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2"/>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they volunteered to clean up the park after the storm hit the town.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意识到自己伤害了妹妹的感情，她立刻不假思索地道歉了。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3"/>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She apologized to her sister without a second thought when she realized she’d hurt her feelings.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那个学生毫不犹豫地站起来，为受到不公批评的同学辩护。</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44"/>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Without a second thought, the student stood up to defend his classmate from unfair criticism.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5</a:t>
            </a:r>
            <a:r>
              <a:rPr sz="2700" b="1" i="0">
                <a:solidFill>
                  <a:srgbClr val="000000"/>
                </a:solidFill>
                <a:latin typeface="微软雅黑" panose="020B0503020204020204" charset="-122"/>
                <a:ea typeface="微软雅黑" panose="020B0503020204020204" charset="-122"/>
                <a:cs typeface="微软雅黑" panose="020B0503020204020204" charset="-122"/>
              </a:rPr>
              <a:t>（4/4）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6"/>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5</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Without a second thought, sb. did sth.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毫不犹豫地,某人做了什么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他不假思索地把大部分奖金捐给了慈善机构，希望能帮助有需要的人。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5"/>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He donated most of his prize money to charity without a second thought, hoping to help those in need.</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6</a:t>
            </a:r>
            <a:r>
              <a:rPr sz="2700" b="1" i="0">
                <a:solidFill>
                  <a:srgbClr val="000000"/>
                </a:solidFill>
                <a:latin typeface="微软雅黑" panose="020B0503020204020204" charset="-122"/>
                <a:ea typeface="微软雅黑" panose="020B0503020204020204" charset="-122"/>
                <a:cs typeface="微软雅黑" panose="020B0503020204020204" charset="-122"/>
              </a:rPr>
              <a:t>（1/4）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6</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1.尽管她很聪明，却仍是班上学习最努力的。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6"/>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Clever as she is, she still studies hardest in our class.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2.尽管很晚了，学生们仍在继续讨论这个问题。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47"/>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Late though it was, the students continued discussing the problem.</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3.尽管家境贫寒，这家人从未放弃孩子的教育。</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48"/>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Poor as they are, the family never gives up their child’s education.</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6</a:t>
            </a:r>
            <a:r>
              <a:rPr sz="2700" b="1" i="0">
                <a:solidFill>
                  <a:srgbClr val="000000"/>
                </a:solidFill>
                <a:latin typeface="微软雅黑" panose="020B0503020204020204" charset="-122"/>
                <a:ea typeface="微软雅黑" panose="020B0503020204020204" charset="-122"/>
                <a:cs typeface="微软雅黑" panose="020B0503020204020204" charset="-122"/>
              </a:rPr>
              <a:t>（2/4）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b="1">
                <a:solidFill>
                  <a:srgbClr val="FFFFFF"/>
                </a:solidFill>
                <a:sym typeface="+mn-ea"/>
              </a:rPr>
              <a:t>句型</a:t>
            </a:r>
            <a:r>
              <a:rPr lang="en-US" b="1">
                <a:solidFill>
                  <a:srgbClr val="FFFFFF"/>
                </a:solidFill>
                <a:sym typeface="+mn-ea"/>
              </a:rPr>
              <a:t>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4.尽管他努力了，还是没通过驾照考试。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49"/>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Hard as he tried, he failed to pass the driving test.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5.尽管他是个孩子，却懂得如何尊重他人。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0"/>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Child as he is, he knows how to respect others.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6.尽管他们很累，还是坚持跑到了比赛终点。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1"/>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Tired though they were, they kept running till the end of the race.</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6</a:t>
            </a:r>
            <a:r>
              <a:rPr sz="2700" b="1" i="0">
                <a:solidFill>
                  <a:srgbClr val="000000"/>
                </a:solidFill>
                <a:latin typeface="微软雅黑" panose="020B0503020204020204" charset="-122"/>
                <a:ea typeface="微软雅黑" panose="020B0503020204020204" charset="-122"/>
                <a:cs typeface="微软雅黑" panose="020B0503020204020204" charset="-122"/>
              </a:rPr>
              <a:t>（3/4）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b="1">
                <a:solidFill>
                  <a:srgbClr val="FFFFFF"/>
                </a:solidFill>
                <a:sym typeface="+mn-ea"/>
              </a:rPr>
              <a:t>句型</a:t>
            </a:r>
            <a:r>
              <a:rPr lang="en-US" b="1">
                <a:solidFill>
                  <a:srgbClr val="FFFFFF"/>
                </a:solidFill>
                <a:sym typeface="+mn-ea"/>
              </a:rPr>
              <a:t>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 尽管这个问题看似简单，却没几个学生能答对。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2"/>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Simple as the question seems, few students can answer it correctly.</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 尽管我很喜欢这本小说，但觉得它的结局很令人失望。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3"/>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Much as I like this novel, I think its ending is disappointing.</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 尽管她努力回想，还是记不起钥匙放在哪儿了。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4"/>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Try as she might, she couldn’t remember where she put her keys.</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6</a:t>
            </a:r>
            <a:r>
              <a:rPr sz="2700" b="1" i="0">
                <a:solidFill>
                  <a:srgbClr val="000000"/>
                </a:solidFill>
                <a:latin typeface="微软雅黑" panose="020B0503020204020204" charset="-122"/>
                <a:ea typeface="微软雅黑" panose="020B0503020204020204" charset="-122"/>
                <a:cs typeface="微软雅黑" panose="020B0503020204020204" charset="-122"/>
              </a:rPr>
              <a:t>（4/4）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7"/>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b="1">
                <a:solidFill>
                  <a:srgbClr val="FFFFFF"/>
                </a:solidFill>
                <a:sym typeface="+mn-ea"/>
              </a:rPr>
              <a:t>句型</a:t>
            </a:r>
            <a:r>
              <a:rPr lang="en-US" b="1">
                <a:solidFill>
                  <a:srgbClr val="FFFFFF"/>
                </a:solidFill>
                <a:sym typeface="+mn-ea"/>
              </a:rPr>
              <a:t>6</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as/though 引导倒装句，形容词/副词 as /though 主语+谓语，主句…尽管某人….，Ta还是做了…</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10.尽管这位老师很年轻，却赢得了学生们的尊重。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5"/>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Young though the teacher is, she has won the students’ respect.</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7</a:t>
            </a:r>
            <a:r>
              <a:rPr sz="2700" b="1" i="0">
                <a:solidFill>
                  <a:srgbClr val="000000"/>
                </a:solidFill>
                <a:latin typeface="微软雅黑" panose="020B0503020204020204" charset="-122"/>
                <a:ea typeface="微软雅黑" panose="020B0503020204020204" charset="-122"/>
                <a:cs typeface="微软雅黑" panose="020B0503020204020204" charset="-122"/>
              </a:rPr>
              <a:t>（1/4）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b="1">
                <a:solidFill>
                  <a:srgbClr val="FFFFFF"/>
                </a:solidFill>
                <a:sym typeface="+mn-ea"/>
              </a:rPr>
              <a:t>句型</a:t>
            </a:r>
            <a:r>
              <a:rPr lang="en-US" b="1">
                <a:solidFill>
                  <a:srgbClr val="FFFFFF"/>
                </a:solidFill>
                <a:sym typeface="+mn-ea"/>
              </a:rPr>
              <a:t>7</a:t>
            </a:r>
            <a:endParaRPr lang="en-US" sz="1875" b="1" i="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333500"/>
          </a:xfrm>
          <a:prstGeom prst="roundRect">
            <a:avLst>
              <a:gd name="adj" fmla="val 10000"/>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秋雨意识到只有以这种方式，她才能让教授和同学们理解她的名字的由来。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6"/>
          <p:cNvSpPr>
            <a:spLocks noGrp="1"/>
          </p:cNvSpPr>
          <p:nvPr/>
        </p:nvSpPr>
        <p:spPr>
          <a:xfrm>
            <a:off x="1200150" y="3090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Qiuyu realized that only in this way could she make the professor and the students understand the origin of her name.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000500"/>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只有当你冷静下来，你才能清晰地思考。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57"/>
          <p:cNvSpPr>
            <a:spLocks noGrp="1"/>
          </p:cNvSpPr>
          <p:nvPr/>
        </p:nvSpPr>
        <p:spPr>
          <a:xfrm>
            <a:off x="1200150" y="45196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calm down, can you think clearly.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133975"/>
            <a:ext cx="10439400" cy="1038225"/>
          </a:xfrm>
          <a:prstGeom prst="roundRect">
            <a:avLst>
              <a:gd name="adj" fmla="val 12844"/>
            </a:avLst>
          </a:prstGeom>
          <a:solidFill>
            <a:srgbClr val="FFFAF5"/>
          </a:solidFill>
          <a:ln w="9525">
            <a:solidFill>
              <a:srgbClr val="FFBF86"/>
            </a:solidFill>
            <a:prstDash val="solid"/>
          </a:ln>
        </p:spPr>
      </p:sp>
      <p:sp>
        <p:nvSpPr>
          <p:cNvPr id="15" name="矩形 14"/>
          <p:cNvSpPr>
            <a:spLocks noGrp="1"/>
          </p:cNvSpPr>
          <p:nvPr/>
        </p:nvSpPr>
        <p:spPr>
          <a:xfrm>
            <a:off x="1200150" y="53578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只有以这种方式，你才能赢得他人的信任。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58"/>
          <p:cNvSpPr>
            <a:spLocks noGrp="1"/>
          </p:cNvSpPr>
          <p:nvPr/>
        </p:nvSpPr>
        <p:spPr>
          <a:xfrm>
            <a:off x="1200150" y="56530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gain others' trust.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7</a:t>
            </a:r>
            <a:r>
              <a:rPr sz="2700" b="1" i="0">
                <a:solidFill>
                  <a:srgbClr val="000000"/>
                </a:solidFill>
                <a:latin typeface="微软雅黑" panose="020B0503020204020204" charset="-122"/>
                <a:ea typeface="微软雅黑" panose="020B0503020204020204" charset="-122"/>
                <a:cs typeface="微软雅黑" panose="020B0503020204020204" charset="-122"/>
              </a:rPr>
              <a:t>（2/4）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b="1">
                <a:solidFill>
                  <a:srgbClr val="FFFFFF"/>
                </a:solidFill>
                <a:sym typeface="+mn-ea"/>
              </a:rPr>
              <a:t>句型</a:t>
            </a:r>
            <a:r>
              <a:rPr lang="en-US" b="1">
                <a:solidFill>
                  <a:srgbClr val="FFFFFF"/>
                </a:solidFill>
                <a:sym typeface="+mn-ea"/>
              </a:rPr>
              <a:t>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只有当你努力奋斗，你才能实现自己的目标。</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59"/>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work hard, can you achieve your goals.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只有以这种方式，你才能快速提高英语口语。</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0"/>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improve your spoken English quickly.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只有当雨停了，我们才能出去散步。</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1"/>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the rain stops, can we go out for a walk.</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7</a:t>
            </a:r>
            <a:r>
              <a:rPr sz="2700" b="1" i="0">
                <a:solidFill>
                  <a:srgbClr val="000000"/>
                </a:solidFill>
                <a:latin typeface="微软雅黑" panose="020B0503020204020204" charset="-122"/>
                <a:ea typeface="微软雅黑" panose="020B0503020204020204" charset="-122"/>
                <a:cs typeface="微软雅黑" panose="020B0503020204020204" charset="-122"/>
              </a:rPr>
              <a:t>（3/4）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b="1">
                <a:solidFill>
                  <a:srgbClr val="FFFFFF"/>
                </a:solidFill>
                <a:sym typeface="+mn-ea"/>
              </a:rPr>
              <a:t>句型</a:t>
            </a:r>
            <a:r>
              <a:rPr lang="en-US" b="1">
                <a:solidFill>
                  <a:srgbClr val="FFFFFF"/>
                </a:solidFill>
                <a:sym typeface="+mn-ea"/>
              </a:rPr>
              <a:t>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只有以这种方式，你才能避免再次犯同样的错误。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2"/>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avoid making the same mistake again.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只有当你理解了这个理论，你才能把它应用到实践中。</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3"/>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understand the theory, can you apply it to practice.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只有以这种方式，你才能与他人保持良好的关系。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4"/>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in this way, can you maintain a good relationship with others.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7</a:t>
            </a:r>
            <a:r>
              <a:rPr sz="2700" b="1" i="0">
                <a:solidFill>
                  <a:srgbClr val="000000"/>
                </a:solidFill>
                <a:latin typeface="微软雅黑" panose="020B0503020204020204" charset="-122"/>
                <a:ea typeface="微软雅黑" panose="020B0503020204020204" charset="-122"/>
                <a:cs typeface="微软雅黑" panose="020B0503020204020204" charset="-122"/>
              </a:rPr>
              <a:t>（4/4）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8"/>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b="1">
                <a:solidFill>
                  <a:srgbClr val="FFFFFF"/>
                </a:solidFill>
                <a:sym typeface="+mn-ea"/>
              </a:rPr>
              <a:t>句型</a:t>
            </a:r>
            <a:r>
              <a:rPr lang="en-US" b="1">
                <a:solidFill>
                  <a:srgbClr val="FFFFFF"/>
                </a:solidFill>
                <a:sym typeface="+mn-ea"/>
              </a:rPr>
              <a:t>7</a:t>
            </a:r>
            <a:endParaRPr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in this way, can you ……只有以这种方式，你才能….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Only when, can you …..只有当….你才能….</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只有当你勇敢面对困难，你才能变得更强大。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5"/>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Only when you face difficulties bravely, can you grow stronger.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8</a:t>
            </a:r>
            <a:r>
              <a:rPr sz="2700" b="1" i="0">
                <a:solidFill>
                  <a:srgbClr val="000000"/>
                </a:solidFill>
                <a:latin typeface="微软雅黑" panose="020B0503020204020204" charset="-122"/>
                <a:ea typeface="微软雅黑" panose="020B0503020204020204" charset="-122"/>
                <a:cs typeface="微软雅黑" panose="020B0503020204020204" charset="-122"/>
              </a:rPr>
              <a:t>（1/3）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9"/>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8</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心理描写+动作描写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So adj was sb +that he/she…倒装句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某人是如此…以至于做了什么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秋雨是如此紧张以至于她不敢第一时间站起来回答教授的问题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6"/>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nervous was Qiuyu that she didn't dare to stand up and answer the professor's question immediately.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Simona是如此的紧张和忐忑，以至于她上台后不知道说什么。</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67"/>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So nervous and uneasy was Simona that she didn't know what to say after getting on stage.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这个戴着眼镜的男孩是如此害羞和紧张，以至于他不敢在人们面前说话。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68"/>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shy and nervous was the boy with glasses that he dared not speak in front of people.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8</a:t>
            </a:r>
            <a:r>
              <a:rPr sz="2700" b="1" i="0">
                <a:solidFill>
                  <a:srgbClr val="000000"/>
                </a:solidFill>
                <a:latin typeface="微软雅黑" panose="020B0503020204020204" charset="-122"/>
                <a:ea typeface="微软雅黑" panose="020B0503020204020204" charset="-122"/>
                <a:cs typeface="微软雅黑" panose="020B0503020204020204" charset="-122"/>
              </a:rPr>
              <a:t>（2/3）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9"/>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8</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心理描写+动作描写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So adj was sb +that he/she…倒装句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某人是如此…以至于做了什么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038225"/>
          </a:xfrm>
          <a:prstGeom prst="roundRect">
            <a:avLst>
              <a:gd name="adj" fmla="val 12844"/>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Simona是如此惊讶，以至于她不敢相信自己的眼睛。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69"/>
          <p:cNvSpPr>
            <a:spLocks noGrp="1"/>
          </p:cNvSpPr>
          <p:nvPr/>
        </p:nvSpPr>
        <p:spPr>
          <a:xfrm>
            <a:off x="1200150" y="30908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surprised was Simona that she couldn't believe her eyes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05225"/>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39290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他是如此的焦虑和担忧，以至于她整晚都无法入眠。</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0"/>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anxious and worried was he that he couldn't fall asleep all night.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838700"/>
            <a:ext cx="10439400" cy="1333500"/>
          </a:xfrm>
          <a:prstGeom prst="roundRect">
            <a:avLst>
              <a:gd name="adj" fmla="val 10000"/>
            </a:avLst>
          </a:prstGeom>
          <a:solidFill>
            <a:srgbClr val="FFFAF5"/>
          </a:solidFill>
          <a:ln w="9525">
            <a:solidFill>
              <a:srgbClr val="FFBF86"/>
            </a:solidFill>
            <a:prstDash val="solid"/>
          </a:ln>
        </p:spPr>
      </p:sp>
      <p:sp>
        <p:nvSpPr>
          <p:cNvPr id="15" name="矩形 14"/>
          <p:cNvSpPr>
            <a:spLocks noGrp="1"/>
          </p:cNvSpPr>
          <p:nvPr/>
        </p:nvSpPr>
        <p:spPr>
          <a:xfrm>
            <a:off x="1200150" y="50625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这次经历是如此有意义，以至于她经常在空闲时间想起。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71"/>
          <p:cNvSpPr>
            <a:spLocks noGrp="1"/>
          </p:cNvSpPr>
          <p:nvPr/>
        </p:nvSpPr>
        <p:spPr>
          <a:xfrm>
            <a:off x="1200150" y="53578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meaningful was this experience that she often thought of it in her free time.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8</a:t>
            </a:r>
            <a:r>
              <a:rPr sz="2700" b="1" i="0">
                <a:solidFill>
                  <a:srgbClr val="000000"/>
                </a:solidFill>
                <a:latin typeface="微软雅黑" panose="020B0503020204020204" charset="-122"/>
                <a:ea typeface="微软雅黑" panose="020B0503020204020204" charset="-122"/>
                <a:cs typeface="微软雅黑" panose="020B0503020204020204" charset="-122"/>
              </a:rPr>
              <a:t>（3/3）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9"/>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8</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心理描写+动作描写</a:t>
            </a:r>
            <a:r>
              <a:rPr sz="2025" b="1" i="0" u="sng">
                <a:solidFill>
                  <a:srgbClr val="000000"/>
                </a:solidFill>
                <a:latin typeface="微软雅黑" panose="020B0503020204020204" charset="-122"/>
                <a:ea typeface="微软雅黑" panose="020B0503020204020204" charset="-122"/>
                <a:cs typeface="微软雅黑" panose="020B0503020204020204" charset="-122"/>
              </a:rPr>
              <a:t> So adj was sb +that he/she…倒装句</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某人是如此…以至于做了什么</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他是如此紧张，以至于他不敢抬头回答老师的问题。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72"/>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nervous was he that he didn't dare to look up and answer the teacher's question.</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181475"/>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4958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这个节日是如此的吸引人（attractive），以至于有大量的游客来参观。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3"/>
          <p:cNvSpPr>
            <a:spLocks noGrp="1"/>
          </p:cNvSpPr>
          <p:nvPr/>
        </p:nvSpPr>
        <p:spPr>
          <a:xfrm>
            <a:off x="1200150" y="47910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So attractive is this festival that a large number of tourists come to visit.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9</a:t>
            </a:r>
            <a:r>
              <a:rPr sz="2700" b="1" i="0">
                <a:solidFill>
                  <a:srgbClr val="000000"/>
                </a:solidFill>
                <a:latin typeface="微软雅黑" panose="020B0503020204020204" charset="-122"/>
                <a:ea typeface="微软雅黑" panose="020B0503020204020204" charset="-122"/>
                <a:cs typeface="微软雅黑" panose="020B0503020204020204" charset="-122"/>
              </a:rPr>
              <a:t>（1/4）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9</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没有父母的支持，我不会取得这么多成就。</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74"/>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my parents' support, I wouldn't have achieved so much.</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没有你的帮助，我无法解决这个问题。</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5"/>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your help, I wouldn't be able to solve this problem.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没有音乐，我不会如此享受生活。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76"/>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music, I wouldn't enjoy my life so much.</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9</a:t>
            </a:r>
            <a:r>
              <a:rPr sz="2700" b="1" i="0">
                <a:solidFill>
                  <a:srgbClr val="000000"/>
                </a:solidFill>
                <a:latin typeface="微软雅黑" panose="020B0503020204020204" charset="-122"/>
                <a:ea typeface="微软雅黑" panose="020B0503020204020204" charset="-122"/>
                <a:cs typeface="微软雅黑" panose="020B0503020204020204" charset="-122"/>
              </a:rPr>
              <a:t>（2/4）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9</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038225"/>
          </a:xfrm>
          <a:prstGeom prst="roundRect">
            <a:avLst>
              <a:gd name="adj" fmla="val 12844"/>
            </a:avLst>
          </a:prstGeom>
          <a:solidFill>
            <a:srgbClr val="FFFAF5"/>
          </a:solidFill>
          <a:ln w="9525">
            <a:solidFill>
              <a:srgbClr val="FFBF86"/>
            </a:solidFill>
            <a:prstDash val="solid"/>
          </a:ln>
        </p:spPr>
      </p:sp>
      <p:sp>
        <p:nvSpPr>
          <p:cNvPr id="9" name="矩形 8"/>
          <p:cNvSpPr>
            <a:spLocks noGrp="1"/>
          </p:cNvSpPr>
          <p:nvPr/>
        </p:nvSpPr>
        <p:spPr>
          <a:xfrm>
            <a:off x="1200150" y="2795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没有充足的睡眠，我工作时无法集中精力。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77"/>
          <p:cNvSpPr>
            <a:spLocks noGrp="1"/>
          </p:cNvSpPr>
          <p:nvPr/>
        </p:nvSpPr>
        <p:spPr>
          <a:xfrm>
            <a:off x="1200150" y="30908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enough sleep, I wouldn't be focused at work.</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705225"/>
            <a:ext cx="10439400" cy="1038225"/>
          </a:xfrm>
          <a:prstGeom prst="roundRect">
            <a:avLst>
              <a:gd name="adj" fmla="val 12844"/>
            </a:avLst>
          </a:prstGeom>
          <a:solidFill>
            <a:srgbClr val="FFFAF5"/>
          </a:solidFill>
          <a:ln w="9525">
            <a:solidFill>
              <a:srgbClr val="FFBF86"/>
            </a:solidFill>
            <a:prstDash val="solid"/>
          </a:ln>
        </p:spPr>
      </p:sp>
      <p:sp>
        <p:nvSpPr>
          <p:cNvPr id="12" name="矩形 11"/>
          <p:cNvSpPr>
            <a:spLocks noGrp="1"/>
          </p:cNvSpPr>
          <p:nvPr/>
        </p:nvSpPr>
        <p:spPr>
          <a:xfrm>
            <a:off x="1200150" y="392906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没有他的鼓励，我不会尝试这项具有挑战性的任务。</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78"/>
          <p:cNvSpPr>
            <a:spLocks noGrp="1"/>
          </p:cNvSpPr>
          <p:nvPr/>
        </p:nvSpPr>
        <p:spPr>
          <a:xfrm>
            <a:off x="1200150" y="4224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his encouragement, I wouldn't have tried this challenging task.</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838700"/>
            <a:ext cx="10439400" cy="1333500"/>
          </a:xfrm>
          <a:prstGeom prst="roundRect">
            <a:avLst>
              <a:gd name="adj" fmla="val 10000"/>
            </a:avLst>
          </a:prstGeom>
          <a:solidFill>
            <a:srgbClr val="FFFAF5"/>
          </a:solidFill>
          <a:ln w="9525">
            <a:solidFill>
              <a:srgbClr val="FFBF86"/>
            </a:solidFill>
            <a:prstDash val="solid"/>
          </a:ln>
        </p:spPr>
      </p:sp>
      <p:sp>
        <p:nvSpPr>
          <p:cNvPr id="15" name="矩形 14"/>
          <p:cNvSpPr>
            <a:spLocks noGrp="1"/>
          </p:cNvSpPr>
          <p:nvPr/>
        </p:nvSpPr>
        <p:spPr>
          <a:xfrm>
            <a:off x="1200150" y="50625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没有互联网，我无法与海外的朋友保持联系。</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79"/>
          <p:cNvSpPr>
            <a:spLocks noGrp="1"/>
          </p:cNvSpPr>
          <p:nvPr/>
        </p:nvSpPr>
        <p:spPr>
          <a:xfrm>
            <a:off x="1200150" y="53578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the Internet, I wouldn't be able to keep in touch with friends overseas.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9</a:t>
            </a:r>
            <a:r>
              <a:rPr sz="2700" b="1" i="0">
                <a:solidFill>
                  <a:srgbClr val="000000"/>
                </a:solidFill>
                <a:latin typeface="微软雅黑" panose="020B0503020204020204" charset="-122"/>
                <a:ea typeface="微软雅黑" panose="020B0503020204020204" charset="-122"/>
                <a:cs typeface="微软雅黑" panose="020B0503020204020204" charset="-122"/>
              </a:rPr>
              <a:t>（3/4）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9</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8479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没有这本书，我不会获得这么多知识。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0"/>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this book, I wouldn't have gained so much knowledge.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40862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没有老师的指导，我不会通过考试。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81"/>
          <p:cNvSpPr>
            <a:spLocks noGrp="1"/>
          </p:cNvSpPr>
          <p:nvPr/>
        </p:nvSpPr>
        <p:spPr>
          <a:xfrm>
            <a:off x="1200150" y="43815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the teacher's guidance, I wouldn't have passed the exam.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3244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没有这个机会，我不会发展自己的技能。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82"/>
          <p:cNvSpPr>
            <a:spLocks noGrp="1"/>
          </p:cNvSpPr>
          <p:nvPr/>
        </p:nvSpPr>
        <p:spPr>
          <a:xfrm>
            <a:off x="1200150" y="56197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the opportunity, I wouldn't have developed my skills.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9</a:t>
            </a:r>
            <a:r>
              <a:rPr sz="2700" b="1" i="0">
                <a:solidFill>
                  <a:srgbClr val="000000"/>
                </a:solidFill>
                <a:latin typeface="微软雅黑" panose="020B0503020204020204" charset="-122"/>
                <a:ea typeface="微软雅黑" panose="020B0503020204020204" charset="-122"/>
                <a:cs typeface="微软雅黑" panose="020B0503020204020204" charset="-122"/>
              </a:rPr>
              <a:t>（4/4）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0"/>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9</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表示感谢某人：Without sb/sth, I wouldn’t do…</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没有谁，我将不能…</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219200"/>
          </a:xfrm>
          <a:prstGeom prst="roundRect">
            <a:avLst>
              <a:gd name="adj" fmla="val 10938"/>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没有你的建议，我不会做出正确的决定。</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3"/>
          <p:cNvSpPr>
            <a:spLocks noGrp="1"/>
          </p:cNvSpPr>
          <p:nvPr/>
        </p:nvSpPr>
        <p:spPr>
          <a:xfrm>
            <a:off x="1200150" y="31813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Without your advice, I wouldn't have made the right decision.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a:t>
            </a:r>
            <a:r>
              <a:rPr lang="en-US" sz="2700" b="1" i="0">
                <a:solidFill>
                  <a:srgbClr val="000000"/>
                </a:solidFill>
                <a:latin typeface="微软雅黑" panose="020B0503020204020204" charset="-122"/>
                <a:ea typeface="微软雅黑" panose="020B0503020204020204" charset="-122"/>
                <a:cs typeface="微软雅黑" panose="020B0503020204020204" charset="-122"/>
              </a:rPr>
              <a:t>10</a:t>
            </a:r>
            <a:r>
              <a:rPr sz="2700" b="1" i="0">
                <a:solidFill>
                  <a:srgbClr val="000000"/>
                </a:solidFill>
                <a:latin typeface="微软雅黑" panose="020B0503020204020204" charset="-122"/>
                <a:ea typeface="微软雅黑" panose="020B0503020204020204" charset="-122"/>
                <a:cs typeface="微软雅黑" panose="020B0503020204020204" charset="-122"/>
              </a:rPr>
              <a:t>（1/4）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a:t>
            </a:r>
            <a:r>
              <a:rPr lang="en-US" sz="1875" b="1" i="0">
                <a:solidFill>
                  <a:srgbClr val="FFFFFF"/>
                </a:solidFill>
                <a:latin typeface="微软雅黑" panose="020B0503020204020204" charset="-122"/>
                <a:ea typeface="微软雅黑" panose="020B0503020204020204" charset="-122"/>
                <a:cs typeface="微软雅黑" panose="020B0503020204020204" charset="-122"/>
              </a:rPr>
              <a:t>10</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847725"/>
          </a:xfrm>
          <a:prstGeom prst="roundRect">
            <a:avLst>
              <a:gd name="adj" fmla="val 15730"/>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正是这次经历让我明白了时间的重要性。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4"/>
          <p:cNvSpPr>
            <a:spLocks noGrp="1"/>
          </p:cNvSpPr>
          <p:nvPr/>
        </p:nvSpPr>
        <p:spPr>
          <a:xfrm>
            <a:off x="1200150" y="29956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the importance of time.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514725"/>
            <a:ext cx="10439400" cy="847725"/>
          </a:xfrm>
          <a:prstGeom prst="roundRect">
            <a:avLst>
              <a:gd name="adj" fmla="val 15730"/>
            </a:avLst>
          </a:prstGeom>
          <a:solidFill>
            <a:srgbClr val="FFFAF5"/>
          </a:solidFill>
          <a:ln w="9525">
            <a:solidFill>
              <a:srgbClr val="FFBF86"/>
            </a:solidFill>
            <a:prstDash val="solid"/>
          </a:ln>
        </p:spPr>
      </p:sp>
      <p:sp>
        <p:nvSpPr>
          <p:cNvPr id="12" name="矩形 11"/>
          <p:cNvSpPr>
            <a:spLocks noGrp="1"/>
          </p:cNvSpPr>
          <p:nvPr/>
        </p:nvSpPr>
        <p:spPr>
          <a:xfrm>
            <a:off x="1200150" y="3643313"/>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这是在那一刻，我意识到我们应该保持诚实。</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85"/>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at that moment that I realized we should remain honest.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4457700"/>
            <a:ext cx="10439400" cy="1733550"/>
          </a:xfrm>
          <a:prstGeom prst="roundRect">
            <a:avLst>
              <a:gd name="adj" fmla="val 7692"/>
            </a:avLst>
          </a:prstGeom>
          <a:solidFill>
            <a:srgbClr val="FFFAF5"/>
          </a:solidFill>
          <a:ln w="9525">
            <a:solidFill>
              <a:srgbClr val="FFBF86"/>
            </a:solidFill>
            <a:prstDash val="solid"/>
          </a:ln>
        </p:spPr>
      </p:sp>
      <p:sp>
        <p:nvSpPr>
          <p:cNvPr id="15" name="矩形 14"/>
          <p:cNvSpPr>
            <a:spLocks noGrp="1"/>
          </p:cNvSpPr>
          <p:nvPr/>
        </p:nvSpPr>
        <p:spPr>
          <a:xfrm>
            <a:off x="1200150" y="4586288"/>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正是这次难忘的经历教会我，不要以貌取人，每个人都有自己的优点。正如那句谚语所说，”三个臭皮匠顶个诸葛亮。”</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86"/>
          <p:cNvSpPr>
            <a:spLocks noGrp="1"/>
          </p:cNvSpPr>
          <p:nvPr/>
        </p:nvSpPr>
        <p:spPr>
          <a:xfrm>
            <a:off x="1200150" y="5176838"/>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unforgettable experience that taught me not to judge a person by appearance, for everyone has their own strengths. As the saying goes, "Two heads are better than one."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0</a:t>
            </a:r>
            <a:r>
              <a:rPr sz="2700" b="1" i="0">
                <a:solidFill>
                  <a:srgbClr val="000000"/>
                </a:solidFill>
                <a:latin typeface="微软雅黑" panose="020B0503020204020204" charset="-122"/>
                <a:ea typeface="微软雅黑" panose="020B0503020204020204" charset="-122"/>
                <a:cs typeface="微软雅黑" panose="020B0503020204020204" charset="-122"/>
              </a:rPr>
              <a:t>（2/4）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0</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正是你的鼓励和帮助，让我勇敢迎接挑战克服困难。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87"/>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your encouragement and help that enabled me to bravely meet challenges and overcome difficulties.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是我的妈妈一直教导我们要对困难保持乐观的态度。</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88"/>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is my mother who has always taught us to maintain an optimistic attitude towards difficulties.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正是那次难忘的旅途让我意识到了友谊的重要性。正如那句谚语所说，“患难见真情。”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89"/>
          <p:cNvSpPr>
            <a:spLocks noGrp="1"/>
          </p:cNvSpPr>
          <p:nvPr/>
        </p:nvSpPr>
        <p:spPr>
          <a:xfrm>
            <a:off x="1200150" y="561308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that unforgettable journey that made me realize the importance of friendship. As the saying goes, "A friend in need is a friend indeed."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0</a:t>
            </a:r>
            <a:r>
              <a:rPr sz="2700" b="1" i="0">
                <a:solidFill>
                  <a:srgbClr val="000000"/>
                </a:solidFill>
                <a:latin typeface="微软雅黑" panose="020B0503020204020204" charset="-122"/>
                <a:ea typeface="微软雅黑" panose="020B0503020204020204" charset="-122"/>
                <a:cs typeface="微软雅黑" panose="020B0503020204020204" charset="-122"/>
              </a:rPr>
              <a:t>（3/4）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0</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直到司机叫醒我，我才意识到我的公共汽车已经到达终点站了。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0"/>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not until the driver woke me up that I realized my bus had reached the terminal station.</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181475"/>
            <a:ext cx="10439400" cy="1809750"/>
          </a:xfrm>
          <a:prstGeom prst="roundRect">
            <a:avLst>
              <a:gd name="adj" fmla="val 7368"/>
            </a:avLst>
          </a:prstGeom>
          <a:solidFill>
            <a:srgbClr val="FFFAF5"/>
          </a:solidFill>
          <a:ln w="9525">
            <a:solidFill>
              <a:srgbClr val="FFBF86"/>
            </a:solidFill>
            <a:prstDash val="solid"/>
          </a:ln>
        </p:spPr>
      </p:sp>
      <p:sp>
        <p:nvSpPr>
          <p:cNvPr id="12" name="矩形 11"/>
          <p:cNvSpPr>
            <a:spLocks noGrp="1"/>
          </p:cNvSpPr>
          <p:nvPr/>
        </p:nvSpPr>
        <p:spPr>
          <a:xfrm>
            <a:off x="1200150" y="44958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是你的帮助和鼓励让我最终登上山顶看到了最美的风景，感受到了“人生是旷野”的感觉。</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1"/>
          <p:cNvSpPr>
            <a:spLocks noGrp="1"/>
          </p:cNvSpPr>
          <p:nvPr/>
        </p:nvSpPr>
        <p:spPr>
          <a:xfrm>
            <a:off x="1200150" y="498919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your help and encouragement that enabled me to finally reach the top of the mountain, see the most beautiful scenery, and feel the sense of "life is a wilderness".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0</a:t>
            </a:r>
            <a:r>
              <a:rPr sz="2700" b="1" i="0">
                <a:solidFill>
                  <a:srgbClr val="000000"/>
                </a:solidFill>
                <a:latin typeface="微软雅黑" panose="020B0503020204020204" charset="-122"/>
                <a:ea typeface="微软雅黑" panose="020B0503020204020204" charset="-122"/>
                <a:cs typeface="微软雅黑" panose="020B0503020204020204" charset="-122"/>
              </a:rPr>
              <a:t>（4/4）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1"/>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0</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强调句仿写：</a:t>
            </a:r>
            <a:r>
              <a:rPr sz="2025" b="1" i="0" u="sng">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It is/was not until …that …</a:t>
            </a:r>
            <a:r>
              <a:rPr sz="2025" b="0" i="0" u="sng">
                <a:solidFill>
                  <a:srgbClr val="000000"/>
                </a:solidFill>
                <a:latin typeface="微软雅黑" panose="020B0503020204020204" charset="-122"/>
                <a:ea typeface="微软雅黑" panose="020B0503020204020204" charset="-122"/>
                <a:cs typeface="微软雅黑" panose="020B0503020204020204" charset="-122"/>
              </a:rPr>
              <a:t>正是…..，某人才….</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正是通过相互倾听和相互理解，孩子和父母之间的问题才能被解决。</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2"/>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is through mutual listening and understanding that the problems between children and parents can be solved.</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181475"/>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4958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正是通过给予孩子足有的时间和耐心，他们才能更好地表达他们自己的观点。</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3"/>
          <p:cNvSpPr>
            <a:spLocks noGrp="1"/>
          </p:cNvSpPr>
          <p:nvPr/>
        </p:nvSpPr>
        <p:spPr>
          <a:xfrm>
            <a:off x="1200150" y="47910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is by giving children sufficient time and patience that they can better express their own opinions.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1</a:t>
            </a:r>
            <a:r>
              <a:rPr sz="2700" b="1" i="0">
                <a:solidFill>
                  <a:srgbClr val="000000"/>
                </a:solidFill>
                <a:latin typeface="微软雅黑" panose="020B0503020204020204" charset="-122"/>
                <a:ea typeface="微软雅黑" panose="020B0503020204020204" charset="-122"/>
                <a:cs typeface="微软雅黑" panose="020B0503020204020204" charset="-122"/>
              </a:rPr>
              <a:t>（1/4）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1</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1.这座古老的石桥早已成为一座桥梁，连接着河两岸的村庄与小镇。</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4"/>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old stone bridge had become a bridge, connecting the villages and towns on both sides of the river</a:t>
            </a:r>
            <a:r>
              <a:rPr sz="2025" b="0" i="0">
                <a:solidFill>
                  <a:srgbClr val="000000"/>
                </a:solidFill>
                <a:latin typeface="微软雅黑" panose="020B0503020204020204" charset="-122"/>
                <a:ea typeface="微软雅黑" panose="020B0503020204020204" charset="-122"/>
                <a:cs typeface="微软雅黑" panose="020B0503020204020204" charset="-122"/>
              </a:rPr>
              <a:t>.</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2.多年的书信往来已成为一座桥梁，连接着相隔千里的母女与彼此的思念。</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5"/>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Years of letter exchanges had become a bridge, connecting the mother and daughter thousands of miles apart with their mutual longing.</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3.这门共同的语言已成为一座桥梁，连接着不同国家的学者与学术思想的碰撞。</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96"/>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This common language had become a bridge, connecting scholars from different countries with the collision of academic ideas.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1</a:t>
            </a:r>
            <a:r>
              <a:rPr sz="2700" b="1" i="0">
                <a:solidFill>
                  <a:srgbClr val="000000"/>
                </a:solidFill>
                <a:latin typeface="微软雅黑" panose="020B0503020204020204" charset="-122"/>
                <a:ea typeface="微软雅黑" panose="020B0503020204020204" charset="-122"/>
                <a:cs typeface="微软雅黑" panose="020B0503020204020204" charset="-122"/>
              </a:rPr>
              <a:t>（2/4）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1</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4.传统手工艺市集已成为一座桥梁，连接着老手艺人的技艺与年轻一代的兴趣。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097"/>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traditional handicraft market had become a bridge, connecting the skills of old craftsmen with the interests of the younger generation.</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5.那首经典的老歌已成为一座桥梁，连接着逝去的时光与人们心中的温暖回忆。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098"/>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That classic old song had become a bridge, connecting the gone days with the warm memories in people's hearts.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6.线上公益平台已成为一座桥梁，连接着需要帮助的群体与愿意奉献爱心的人们。</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099"/>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online public welfare platform had become a bridge, connecting groups in need with people willing to offer their love.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图片 16"/>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1</a:t>
            </a:r>
            <a:r>
              <a:rPr sz="2700" b="1" i="0">
                <a:solidFill>
                  <a:srgbClr val="000000"/>
                </a:solidFill>
                <a:latin typeface="微软雅黑" panose="020B0503020204020204" charset="-122"/>
                <a:ea typeface="微软雅黑" panose="020B0503020204020204" charset="-122"/>
                <a:cs typeface="微软雅黑" panose="020B0503020204020204" charset="-122"/>
              </a:rPr>
              <a:t>（3/4）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1</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143000"/>
          </a:xfrm>
          <a:prstGeom prst="roundRect">
            <a:avLst>
              <a:gd name="adj" fmla="val 11667"/>
            </a:avLst>
          </a:prstGeom>
          <a:solidFill>
            <a:srgbClr val="FFFAF5"/>
          </a:solidFill>
          <a:ln w="9525">
            <a:solidFill>
              <a:srgbClr val="FFBF86"/>
            </a:solidFill>
            <a:prstDash val="solid"/>
          </a:ln>
        </p:spPr>
      </p:sp>
      <p:sp>
        <p:nvSpPr>
          <p:cNvPr id="9" name="矩形 8"/>
          <p:cNvSpPr>
            <a:spLocks noGrp="1"/>
          </p:cNvSpPr>
          <p:nvPr/>
        </p:nvSpPr>
        <p:spPr>
          <a:xfrm>
            <a:off x="1200150" y="27003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7.这场文化交流活动已成为一座桥梁，连接着东方的传统美学与西方的现代艺术。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0"/>
          <p:cNvSpPr>
            <a:spLocks noGrp="1"/>
          </p:cNvSpPr>
          <p:nvPr/>
        </p:nvSpPr>
        <p:spPr>
          <a:xfrm>
            <a:off x="1200150" y="29956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This cultural exchange activity had become a bridge, connecting Oriental traditional aesthetics with Western modern art.</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3810000"/>
            <a:ext cx="10439400" cy="1143000"/>
          </a:xfrm>
          <a:prstGeom prst="roundRect">
            <a:avLst>
              <a:gd name="adj" fmla="val 11667"/>
            </a:avLst>
          </a:prstGeom>
          <a:solidFill>
            <a:srgbClr val="FFFAF5"/>
          </a:solidFill>
          <a:ln w="9525">
            <a:solidFill>
              <a:srgbClr val="FFBF86"/>
            </a:solidFill>
            <a:prstDash val="solid"/>
          </a:ln>
        </p:spPr>
      </p:sp>
      <p:sp>
        <p:nvSpPr>
          <p:cNvPr id="12" name="矩形 11"/>
          <p:cNvSpPr>
            <a:spLocks noGrp="1"/>
          </p:cNvSpPr>
          <p:nvPr/>
        </p:nvSpPr>
        <p:spPr>
          <a:xfrm>
            <a:off x="1200150" y="393858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8.父亲的故事已成为一座桥梁，连接着他坎坷的过往与孩子们对生活的理解。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1"/>
          <p:cNvSpPr>
            <a:spLocks noGrp="1"/>
          </p:cNvSpPr>
          <p:nvPr/>
        </p:nvSpPr>
        <p:spPr>
          <a:xfrm>
            <a:off x="1200150" y="423386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Father's stories had become a bridge, connecting his rough past with the children's understanding of life.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048250"/>
            <a:ext cx="10439400" cy="1143000"/>
          </a:xfrm>
          <a:prstGeom prst="roundRect">
            <a:avLst>
              <a:gd name="adj" fmla="val 11667"/>
            </a:avLst>
          </a:prstGeom>
          <a:solidFill>
            <a:srgbClr val="FFFAF5"/>
          </a:solidFill>
          <a:ln w="9525">
            <a:solidFill>
              <a:srgbClr val="FFBF86"/>
            </a:solidFill>
            <a:prstDash val="solid"/>
          </a:ln>
        </p:spPr>
      </p:sp>
      <p:sp>
        <p:nvSpPr>
          <p:cNvPr id="15" name="矩形 14"/>
          <p:cNvSpPr>
            <a:spLocks noGrp="1"/>
          </p:cNvSpPr>
          <p:nvPr/>
        </p:nvSpPr>
        <p:spPr>
          <a:xfrm>
            <a:off x="1200150" y="5176838"/>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9.科技创新已成为一座桥梁，连接着人类的奇思妙想与现实世界的无限可能。</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6" name="ans_102"/>
          <p:cNvSpPr>
            <a:spLocks noGrp="1"/>
          </p:cNvSpPr>
          <p:nvPr/>
        </p:nvSpPr>
        <p:spPr>
          <a:xfrm>
            <a:off x="1200150" y="5472113"/>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Technological innovation had become a bridge, connecting human's wonderful ideas with the infinite possibilities of the real world.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350" fill="hold">
                                          <p:stCondLst>
                                            <p:cond delay="0"/>
                                          </p:stCondLst>
                                        </p:cTn>
                                        <p:tgtEl>
                                          <p:spTgt spid="16"/>
                                        </p:tgtEl>
                                        <p:attrNameLst>
                                          <p:attrName>style.visibility</p:attrName>
                                        </p:attrNameLst>
                                      </p:cBhvr>
                                      <p:to>
                                        <p:strVal val="visible"/>
                                      </p:to>
                                    </p:set>
                                    <p:animEffect transition="in" filter="fade">
                                      <p:cBhvr>
                                        <p:cTn id="17"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6"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1</a:t>
            </a:r>
            <a:r>
              <a:rPr sz="2700" b="1" i="0">
                <a:solidFill>
                  <a:srgbClr val="000000"/>
                </a:solidFill>
                <a:latin typeface="微软雅黑" panose="020B0503020204020204" charset="-122"/>
                <a:ea typeface="微软雅黑" panose="020B0503020204020204" charset="-122"/>
                <a:cs typeface="微软雅黑" panose="020B0503020204020204" charset="-122"/>
              </a:rPr>
              <a:t>（4/4）</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2"/>
          <p:cNvSpPr>
            <a:spLocks noGrp="1"/>
          </p:cNvSpPr>
          <p:nvPr/>
        </p:nvSpPr>
        <p:spPr>
          <a:xfrm>
            <a:off x="876300" y="1371600"/>
            <a:ext cx="10439400" cy="1028700"/>
          </a:xfrm>
          <a:prstGeom prst="roundRect">
            <a:avLst>
              <a:gd name="adj" fmla="val 16667"/>
            </a:avLst>
          </a:prstGeom>
          <a:solidFill>
            <a:srgbClr val="FFF8F0"/>
          </a:solidFill>
          <a:ln w="13335">
            <a:solidFill>
              <a:srgbClr val="FF8B2D"/>
            </a:solidFill>
            <a:prstDash val="solid"/>
          </a:ln>
        </p:spPr>
      </p:sp>
      <p:sp>
        <p:nvSpPr>
          <p:cNvPr id="5" name="圆角矩形 4"/>
          <p:cNvSpPr>
            <a:spLocks noGrp="1"/>
          </p:cNvSpPr>
          <p:nvPr/>
        </p:nvSpPr>
        <p:spPr>
          <a:xfrm>
            <a:off x="1104900" y="1638300"/>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733550"/>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1</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83820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EE0000"/>
                </a:solidFill>
                <a:latin typeface="微软雅黑" panose="020B0503020204020204" charset="-122"/>
                <a:ea typeface="微软雅黑" panose="020B0503020204020204" charset="-122"/>
                <a:cs typeface="微软雅黑" panose="020B0503020204020204" charset="-122"/>
              </a:rPr>
              <a:t>..</a:t>
            </a:r>
            <a:r>
              <a:rPr sz="2025" b="1" i="0" u="sng">
                <a:solidFill>
                  <a:srgbClr val="000000"/>
                </a:solidFill>
                <a:latin typeface="微软雅黑" panose="020B0503020204020204" charset="-122"/>
                <a:ea typeface="微软雅黑" panose="020B0503020204020204" charset="-122"/>
                <a:cs typeface="微软雅黑" panose="020B0503020204020204" charset="-122"/>
              </a:rPr>
              <a:t> had become a bridge, connecting A with B .</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…已经成为一座桥梁，连接了A和B</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571750"/>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288607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10.社区图书馆已成为一座桥梁，连接着居民们的闲暇时光与广阔的知识海洋。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3"/>
          <p:cNvSpPr>
            <a:spLocks noGrp="1"/>
          </p:cNvSpPr>
          <p:nvPr/>
        </p:nvSpPr>
        <p:spPr>
          <a:xfrm>
            <a:off x="1200150" y="318135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community library had become a bridge, connecting the residents' leisure time with the vast ocean of knowledge.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2</a:t>
            </a:r>
            <a:r>
              <a:rPr sz="2700" b="1" i="0">
                <a:solidFill>
                  <a:srgbClr val="000000"/>
                </a:solidFill>
                <a:latin typeface="微软雅黑" panose="020B0503020204020204" charset="-122"/>
                <a:ea typeface="微软雅黑" panose="020B0503020204020204" charset="-122"/>
                <a:cs typeface="微软雅黑" panose="020B0503020204020204" charset="-122"/>
              </a:rPr>
              <a:t>（1/5）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2</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619250"/>
          </a:xfrm>
          <a:prstGeom prst="roundRect">
            <a:avLst>
              <a:gd name="adj" fmla="val 8235"/>
            </a:avLst>
          </a:prstGeom>
          <a:solidFill>
            <a:srgbClr val="FFFAF5"/>
          </a:solidFill>
          <a:ln w="9525">
            <a:solidFill>
              <a:srgbClr val="FFBF86"/>
            </a:solidFill>
            <a:prstDash val="solid"/>
          </a:ln>
        </p:spPr>
      </p:sp>
      <p:sp>
        <p:nvSpPr>
          <p:cNvPr id="9" name="矩形 8"/>
          <p:cNvSpPr>
            <a:spLocks noGrp="1"/>
          </p:cNvSpPr>
          <p:nvPr/>
        </p:nvSpPr>
        <p:spPr>
          <a:xfrm>
            <a:off x="1200150" y="30670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最吸引我的是那天我们亲手制作了油纸伞，这帮助我们更好地理解中国传统手工艺的制作过程。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4"/>
          <p:cNvSpPr>
            <a:spLocks noGrp="1"/>
          </p:cNvSpPr>
          <p:nvPr/>
        </p:nvSpPr>
        <p:spPr>
          <a:xfrm>
            <a:off x="1200150" y="352615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attracted me most was that we made oil - paper umbrellas by hand that day，which helped us better understand the process of traditional Chinese handicrafts.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562475"/>
            <a:ext cx="10439400" cy="1619250"/>
          </a:xfrm>
          <a:prstGeom prst="roundRect">
            <a:avLst>
              <a:gd name="adj" fmla="val 8235"/>
            </a:avLst>
          </a:prstGeom>
          <a:solidFill>
            <a:srgbClr val="FFFAF5"/>
          </a:solidFill>
          <a:ln w="9525">
            <a:solidFill>
              <a:srgbClr val="FFBF86"/>
            </a:solidFill>
            <a:prstDash val="solid"/>
          </a:ln>
        </p:spPr>
      </p:sp>
      <p:sp>
        <p:nvSpPr>
          <p:cNvPr id="12" name="矩形 11"/>
          <p:cNvSpPr>
            <a:spLocks noGrp="1"/>
          </p:cNvSpPr>
          <p:nvPr/>
        </p:nvSpPr>
        <p:spPr>
          <a:xfrm>
            <a:off x="1200150" y="47815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2.最令我印象深刻的是我们体验了油纸伞的制作过程，这帮助我更深地理解中国传统文化。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5"/>
          <p:cNvSpPr>
            <a:spLocks noGrp="1"/>
          </p:cNvSpPr>
          <p:nvPr/>
        </p:nvSpPr>
        <p:spPr>
          <a:xfrm>
            <a:off x="1200150" y="507682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What impressed me most was that we experienced the process of making oil - paper umbrellas, which helped me have a deeper understanding of Chinese traditional culture.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2</a:t>
            </a:r>
            <a:r>
              <a:rPr sz="2700" b="1" i="0">
                <a:solidFill>
                  <a:srgbClr val="000000"/>
                </a:solidFill>
                <a:latin typeface="微软雅黑" panose="020B0503020204020204" charset="-122"/>
                <a:ea typeface="微软雅黑" panose="020B0503020204020204" charset="-122"/>
                <a:cs typeface="微软雅黑" panose="020B0503020204020204" charset="-122"/>
              </a:rPr>
              <a:t>（2/5）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2</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323975"/>
          </a:xfrm>
          <a:prstGeom prst="roundRect">
            <a:avLst>
              <a:gd name="adj" fmla="val 10072"/>
            </a:avLst>
          </a:prstGeom>
          <a:solidFill>
            <a:srgbClr val="FFFAF5"/>
          </a:solidFill>
          <a:ln w="9525">
            <a:solidFill>
              <a:srgbClr val="FFBF86"/>
            </a:solidFill>
            <a:prstDash val="solid"/>
          </a:ln>
        </p:spPr>
      </p:sp>
      <p:sp>
        <p:nvSpPr>
          <p:cNvPr id="9" name="矩形 8"/>
          <p:cNvSpPr>
            <a:spLocks noGrp="1"/>
          </p:cNvSpPr>
          <p:nvPr/>
        </p:nvSpPr>
        <p:spPr>
          <a:xfrm>
            <a:off x="1200150" y="30670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3.让我印象最深刻的是我们请观看了打铁花的表演，那是一种非物质文化遗产。</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6"/>
          <p:cNvSpPr>
            <a:spLocks noGrp="1"/>
          </p:cNvSpPr>
          <p:nvPr/>
        </p:nvSpPr>
        <p:spPr>
          <a:xfrm>
            <a:off x="1200150" y="336232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What impressed me the most was that we watched the performance of molten iron fireworks, which is an intangible cultural heritage. </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267200"/>
            <a:ext cx="10439400" cy="1914525"/>
          </a:xfrm>
          <a:prstGeom prst="roundRect">
            <a:avLst>
              <a:gd name="adj" fmla="val 6965"/>
            </a:avLst>
          </a:prstGeom>
          <a:solidFill>
            <a:srgbClr val="FFFAF5"/>
          </a:solidFill>
          <a:ln w="9525">
            <a:solidFill>
              <a:srgbClr val="FFBF86"/>
            </a:solidFill>
            <a:prstDash val="solid"/>
          </a:ln>
        </p:spPr>
      </p:sp>
      <p:sp>
        <p:nvSpPr>
          <p:cNvPr id="12" name="矩形 11"/>
          <p:cNvSpPr>
            <a:spLocks noGrp="1"/>
          </p:cNvSpPr>
          <p:nvPr/>
        </p:nvSpPr>
        <p:spPr>
          <a:xfrm>
            <a:off x="1200150" y="44862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4.最令我印象深刻的是通过辛勤工作后，我脸上的汗水，这不仅让我明白了农民的不易，而且也提醒我今后要节约粮食。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7"/>
          <p:cNvSpPr>
            <a:spLocks noGrp="1"/>
          </p:cNvSpPr>
          <p:nvPr/>
        </p:nvSpPr>
        <p:spPr>
          <a:xfrm>
            <a:off x="1200150" y="507682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impressed me most was the sweat on my face after hard work, which not only made me understand the hardships of farmers, but also reminded me to save food in the future.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2</a:t>
            </a:r>
            <a:r>
              <a:rPr sz="2700" b="1" i="0">
                <a:solidFill>
                  <a:srgbClr val="000000"/>
                </a:solidFill>
                <a:latin typeface="微软雅黑" panose="020B0503020204020204" charset="-122"/>
                <a:ea typeface="微软雅黑" panose="020B0503020204020204" charset="-122"/>
                <a:cs typeface="微软雅黑" panose="020B0503020204020204" charset="-122"/>
              </a:rPr>
              <a:t>（3/5）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2</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 最让我印象深刻的是，志愿者们不知疲倦地帮助那些受灾的人。</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08"/>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impressed me most is that the volunteers worked tirelessly to help those affected by the disaster.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最激励我的是，这位年轻的科学家尽管实验屡次失败，却从未放弃。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09"/>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inspired me most is that the young scientist never gave up despite repeated failures in his experiments.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2</a:t>
            </a:r>
            <a:r>
              <a:rPr sz="2700" b="1" i="0">
                <a:solidFill>
                  <a:srgbClr val="000000"/>
                </a:solidFill>
                <a:latin typeface="微软雅黑" panose="020B0503020204020204" charset="-122"/>
                <a:ea typeface="微软雅黑" panose="020B0503020204020204" charset="-122"/>
                <a:cs typeface="微软雅黑" panose="020B0503020204020204" charset="-122"/>
              </a:rPr>
              <a:t>（4/5）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2</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7.最让我感兴趣的是，这部小说将奇幻元素与现实社会问题结合在了一起。</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0"/>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interested me most is that the novel combines fantasy elements with realistic social issues.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8.最吸引我的是，这个山村一年四季都有令人惊叹的景色。</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1"/>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attracted me most is that the mountain village offers breathtaking views all year round.</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2</a:t>
            </a:r>
            <a:r>
              <a:rPr sz="2700" b="1" i="0">
                <a:solidFill>
                  <a:srgbClr val="000000"/>
                </a:solidFill>
                <a:latin typeface="微软雅黑" panose="020B0503020204020204" charset="-122"/>
                <a:ea typeface="微软雅黑" panose="020B0503020204020204" charset="-122"/>
                <a:cs typeface="微软雅黑" panose="020B0503020204020204" charset="-122"/>
              </a:rPr>
              <a:t>（5/5）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3"/>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2</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主语从句+表语从句</a:t>
            </a:r>
            <a:r>
              <a:rPr sz="2025" b="1" i="0" u="sng">
                <a:solidFill>
                  <a:srgbClr val="000000"/>
                </a:solidFill>
                <a:latin typeface="微软雅黑" panose="020B0503020204020204" charset="-122"/>
                <a:ea typeface="微软雅黑" panose="020B0503020204020204" charset="-122"/>
                <a:cs typeface="微软雅黑" panose="020B0503020204020204" charset="-122"/>
              </a:rPr>
              <a:t>第一句：(What interested/attracted/appealed/impressed/inspired me most)  is   (that….)</a:t>
            </a:r>
            <a:r>
              <a:rPr sz="2025" b="0" i="0" u="sng">
                <a:solidFill>
                  <a:srgbClr val="000000"/>
                </a:solidFill>
                <a:latin typeface="微软雅黑" panose="020B0503020204020204" charset="-122"/>
                <a:ea typeface="微软雅黑" panose="020B0503020204020204" charset="-122"/>
                <a:cs typeface="微软雅黑" panose="020B0503020204020204" charset="-122"/>
              </a:rPr>
              <a:t> 最使我感兴趣的是/最吸引我的是/最让我印象深刻的是/最鼓舞我的是…</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9.最让我印象深刻的是，这位老人 30 多年来一直捐款资助贫困学生。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2"/>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impressed me most is that the old man has been donating money to support poor students for over 30 years.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10.最激励我的是，这位残疾运动员通过多年的刻苦训练赢得了冠军。</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3"/>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What inspired me most is that the disabled athlete won the championship through years of hard training.</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3</a:t>
            </a:r>
            <a:r>
              <a:rPr sz="2700" b="1" i="0">
                <a:solidFill>
                  <a:srgbClr val="000000"/>
                </a:solidFill>
                <a:latin typeface="微软雅黑" panose="020B0503020204020204" charset="-122"/>
                <a:ea typeface="微软雅黑" panose="020B0503020204020204" charset="-122"/>
                <a:cs typeface="微软雅黑" panose="020B0503020204020204" charset="-122"/>
              </a:rPr>
              <a:t>（1/3）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4"/>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3</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动作+心理</a:t>
            </a:r>
            <a:r>
              <a:rPr sz="2025" b="1" i="0" u="sng">
                <a:solidFill>
                  <a:srgbClr val="000000"/>
                </a:solidFill>
                <a:latin typeface="微软雅黑" panose="020B0503020204020204" charset="-122"/>
                <a:ea typeface="微软雅黑" panose="020B0503020204020204" charset="-122"/>
                <a:cs typeface="微软雅黑" panose="020B0503020204020204" charset="-122"/>
              </a:rPr>
              <a:t>Seeing/Hearing sth. sb. felt a great sense of 情绪+welling up in one’s heart and surging through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听到、看到…某人感到一阵…的感觉涌上心头并且涌遍全身。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771650"/>
          </a:xfrm>
          <a:prstGeom prst="roundRect">
            <a:avLst>
              <a:gd name="adj" fmla="val 7527"/>
            </a:avLst>
          </a:prstGeom>
          <a:solidFill>
            <a:srgbClr val="FFFAF5"/>
          </a:solidFill>
          <a:ln w="9525">
            <a:solidFill>
              <a:srgbClr val="FFBF86"/>
            </a:solidFill>
            <a:prstDash val="solid"/>
          </a:ln>
        </p:spPr>
      </p:sp>
      <p:sp>
        <p:nvSpPr>
          <p:cNvPr id="9" name="矩形 8"/>
          <p:cNvSpPr>
            <a:spLocks noGrp="1"/>
          </p:cNvSpPr>
          <p:nvPr/>
        </p:nvSpPr>
        <p:spPr>
          <a:xfrm>
            <a:off x="1200150" y="31432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看到教授和同学们脸上的表情，秋雨心中涌起一阵强烈的自豪之情，席卷全身。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4"/>
          <p:cNvSpPr>
            <a:spLocks noGrp="1"/>
          </p:cNvSpPr>
          <p:nvPr/>
        </p:nvSpPr>
        <p:spPr>
          <a:xfrm>
            <a:off x="1200150" y="3438525"/>
            <a:ext cx="9791700" cy="90487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Seeing the expressions on the professor's and classmates' faces, Qiuyu felt a great sense of pride welling up in her heart and surging through her.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714875"/>
            <a:ext cx="10439400" cy="1476375"/>
          </a:xfrm>
          <a:prstGeom prst="roundRect">
            <a:avLst>
              <a:gd name="adj" fmla="val 9032"/>
            </a:avLst>
          </a:prstGeom>
          <a:solidFill>
            <a:srgbClr val="FFFAF5"/>
          </a:solidFill>
          <a:ln w="9525">
            <a:solidFill>
              <a:srgbClr val="FFBF86"/>
            </a:solidFill>
            <a:prstDash val="solid"/>
          </a:ln>
        </p:spPr>
      </p:sp>
      <p:sp>
        <p:nvSpPr>
          <p:cNvPr id="12" name="矩形 11"/>
          <p:cNvSpPr>
            <a:spLocks noGrp="1"/>
          </p:cNvSpPr>
          <p:nvPr/>
        </p:nvSpPr>
        <p:spPr>
          <a:xfrm>
            <a:off x="1200150" y="501015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2.看到那张旧照片，她心中涌起一阵强烈的怀旧之情，席卷全身。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5"/>
          <p:cNvSpPr>
            <a:spLocks noGrp="1"/>
          </p:cNvSpPr>
          <p:nvPr/>
        </p:nvSpPr>
        <p:spPr>
          <a:xfrm>
            <a:off x="1200150" y="530542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EE0000"/>
                </a:solidFill>
                <a:latin typeface="微软雅黑" panose="020B0503020204020204" charset="-122"/>
                <a:ea typeface="微软雅黑" panose="020B0503020204020204" charset="-122"/>
                <a:cs typeface="微软雅黑" panose="020B0503020204020204" charset="-122"/>
              </a:rPr>
              <a:t>Seeing the old photo, she felt a great sense of nostalgia welling up in her heart and surging through her.</a:t>
            </a:r>
            <a:endParaRPr sz="2025" b="0" i="0" u="sng">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3</a:t>
            </a:r>
            <a:r>
              <a:rPr sz="2700" b="1" i="0">
                <a:solidFill>
                  <a:srgbClr val="000000"/>
                </a:solidFill>
                <a:latin typeface="微软雅黑" panose="020B0503020204020204" charset="-122"/>
                <a:ea typeface="微软雅黑" panose="020B0503020204020204" charset="-122"/>
                <a:cs typeface="微软雅黑" panose="020B0503020204020204" charset="-122"/>
              </a:rPr>
              <a:t>（2/3）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4"/>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3</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动作+心理</a:t>
            </a:r>
            <a:r>
              <a:rPr sz="2025" b="1" i="0" u="sng">
                <a:solidFill>
                  <a:srgbClr val="000000"/>
                </a:solidFill>
                <a:latin typeface="微软雅黑" panose="020B0503020204020204" charset="-122"/>
                <a:ea typeface="微软雅黑" panose="020B0503020204020204" charset="-122"/>
                <a:cs typeface="微软雅黑" panose="020B0503020204020204" charset="-122"/>
              </a:rPr>
              <a:t>Seeing/Hearing sth. sb. felt a great sense of 情绪+welling up in one’s heart and surging through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听到、看到…某人感到一阵…的感觉涌上心头并且涌遍全身。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3.在颁奖典礼上听到国歌响起，他心中涌起一阵强烈的自豪感，席卷全身。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6"/>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Hearing the national anthem played at the award ceremony, he felt a great sense of pride welling up in his heart and surging through him.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4.看到孩子们开心的笑容，志愿者心中涌起一阵强烈的温暖，席卷全身。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17"/>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Seeing the children's happy smiles, the volunteer felt a great sense of warmth welling up in her heart and surging through her.</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3</a:t>
            </a:r>
            <a:r>
              <a:rPr sz="2700" b="1" i="0">
                <a:solidFill>
                  <a:srgbClr val="000000"/>
                </a:solidFill>
                <a:latin typeface="微软雅黑" panose="020B0503020204020204" charset="-122"/>
                <a:ea typeface="微软雅黑" panose="020B0503020204020204" charset="-122"/>
                <a:cs typeface="微软雅黑" panose="020B0503020204020204" charset="-122"/>
              </a:rPr>
              <a:t>（3/3）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4"/>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3</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4E9A"/>
                </a:solidFill>
                <a:latin typeface="微软雅黑" panose="020B0503020204020204" charset="-122"/>
                <a:ea typeface="微软雅黑" panose="020B0503020204020204" charset="-122"/>
                <a:cs typeface="微软雅黑" panose="020B0503020204020204" charset="-122"/>
              </a:rPr>
              <a:t>动作+心理</a:t>
            </a:r>
            <a:r>
              <a:rPr sz="2025" b="1" i="0" u="sng">
                <a:solidFill>
                  <a:srgbClr val="000000"/>
                </a:solidFill>
                <a:latin typeface="微软雅黑" panose="020B0503020204020204" charset="-122"/>
                <a:ea typeface="微软雅黑" panose="020B0503020204020204" charset="-122"/>
                <a:cs typeface="微软雅黑" panose="020B0503020204020204" charset="-122"/>
              </a:rPr>
              <a:t>Seeing/Hearing sth. sb. felt a great sense of 情绪+welling up in one’s heart and surging through sb.</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听到、看到…某人感到一阵…的感觉涌上心头并且涌遍全身。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5.听到自己球队获胜的消息，教练心中涌起一阵强烈的激动，席卷全身。</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8"/>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Hearing the news of his team's victory, the coach felt a great sense of excitement welling up in his heart and surging through him.</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4</a:t>
            </a:r>
            <a:r>
              <a:rPr sz="2700" b="1" i="0">
                <a:solidFill>
                  <a:srgbClr val="000000"/>
                </a:solidFill>
                <a:latin typeface="微软雅黑" panose="020B0503020204020204" charset="-122"/>
                <a:ea typeface="微软雅黑" panose="020B0503020204020204" charset="-122"/>
                <a:cs typeface="微软雅黑" panose="020B0503020204020204" charset="-122"/>
              </a:rPr>
              <a:t>（1/3）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5"/>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4</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动作+心理，one’s heart pounding fiercely and one’s plam sweating ,an inner voice told sb. that….</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某人的心脏狂跳，手掌出汗，内心有一个声音告诉自己要…</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秋雨的心跳剧烈，手心冒汗，一个内心的声音告诉她必须抓住这个宝贵的机会。</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19"/>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Qiuyu’s heart pounding fiercely and her palms sweating, an inner voice told her that she must seize this precious opportunity.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他心跳剧烈，手心冒汗，一个内心的声音告诉他自己有能力克服这个困难。</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20"/>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His heart pounding fiercely and his palms sweating, an inner voice told him that he was capable of overcoming this difficulty.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4</a:t>
            </a:r>
            <a:r>
              <a:rPr sz="2700" b="1" i="0">
                <a:solidFill>
                  <a:srgbClr val="000000"/>
                </a:solidFill>
                <a:latin typeface="微软雅黑" panose="020B0503020204020204" charset="-122"/>
                <a:ea typeface="微软雅黑" panose="020B0503020204020204" charset="-122"/>
                <a:cs typeface="微软雅黑" panose="020B0503020204020204" charset="-122"/>
              </a:rPr>
              <a:t>（2/3）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5"/>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4</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动作+心理，one’s heart pounding fiercely and one’s plam sweating ,an inner voice told sb. that….</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某人的心脏狂跳，手掌出汗，内心有一个声音告诉自己要…</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他们心跳剧烈，手心冒汗，一个内心的声音告诉他们这场演出会非常成功。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21"/>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Their hearts pounding fiercely and their palms sweating, an inner voice told them that the performance would be a great success.</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女孩心跳剧烈，手心冒汗，一个内心的声音告诉她应该勇敢地说出自己的真实想法。</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22"/>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girl's heart pounding fiercely and her palms sweating, an inner voice told her that she should speak out her true thoughts bravely.</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图片 13"/>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239000" cy="723900"/>
          </a:xfrm>
          <a:prstGeom prst="rect">
            <a:avLst/>
          </a:prstGeom>
          <a:solidFill>
            <a:srgbClr val="F2F1EE"/>
          </a:solidFill>
          <a:ln w="0">
            <a:noFill/>
            <a:prstDash val="solid"/>
          </a:ln>
        </p:spPr>
      </p:sp>
      <p:sp>
        <p:nvSpPr>
          <p:cNvPr id="3" name="矩形 2"/>
          <p:cNvSpPr>
            <a:spLocks noGrp="1"/>
          </p:cNvSpPr>
          <p:nvPr/>
        </p:nvSpPr>
        <p:spPr>
          <a:xfrm>
            <a:off x="838200" y="590550"/>
            <a:ext cx="68580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第三部分仿写训练：句型1</a:t>
            </a:r>
            <a:r>
              <a:rPr lang="en-US" sz="2700" b="1" i="0">
                <a:solidFill>
                  <a:srgbClr val="000000"/>
                </a:solidFill>
                <a:latin typeface="微软雅黑" panose="020B0503020204020204" charset="-122"/>
                <a:ea typeface="微软雅黑" panose="020B0503020204020204" charset="-122"/>
                <a:cs typeface="微软雅黑" panose="020B0503020204020204" charset="-122"/>
              </a:rPr>
              <a:t>4</a:t>
            </a:r>
            <a:r>
              <a:rPr sz="2700" b="1" i="0">
                <a:solidFill>
                  <a:srgbClr val="000000"/>
                </a:solidFill>
                <a:latin typeface="微软雅黑" panose="020B0503020204020204" charset="-122"/>
                <a:ea typeface="微软雅黑" panose="020B0503020204020204" charset="-122"/>
                <a:cs typeface="微软雅黑" panose="020B0503020204020204" charset="-122"/>
              </a:rPr>
              <a:t>（3/3）</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card-15"/>
          <p:cNvSpPr>
            <a:spLocks noGrp="1"/>
          </p:cNvSpPr>
          <p:nvPr/>
        </p:nvSpPr>
        <p:spPr>
          <a:xfrm>
            <a:off x="876300" y="1371600"/>
            <a:ext cx="10439400" cy="1304925"/>
          </a:xfrm>
          <a:prstGeom prst="roundRect">
            <a:avLst>
              <a:gd name="adj" fmla="val 13139"/>
            </a:avLst>
          </a:prstGeom>
          <a:solidFill>
            <a:srgbClr val="FFF8F0"/>
          </a:solidFill>
          <a:ln w="13335">
            <a:solidFill>
              <a:srgbClr val="FF8B2D"/>
            </a:solidFill>
            <a:prstDash val="solid"/>
          </a:ln>
        </p:spPr>
      </p:sp>
      <p:sp>
        <p:nvSpPr>
          <p:cNvPr id="5" name="圆角矩形 4"/>
          <p:cNvSpPr>
            <a:spLocks noGrp="1"/>
          </p:cNvSpPr>
          <p:nvPr/>
        </p:nvSpPr>
        <p:spPr>
          <a:xfrm>
            <a:off x="1104900" y="1776413"/>
            <a:ext cx="990600" cy="495300"/>
          </a:xfrm>
          <a:prstGeom prst="roundRect">
            <a:avLst>
              <a:gd name="adj" fmla="val 23077"/>
            </a:avLst>
          </a:prstGeom>
          <a:solidFill>
            <a:srgbClr val="FF7A18"/>
          </a:solidFill>
          <a:ln w="0">
            <a:solidFill>
              <a:srgbClr val="FF7A18"/>
            </a:solidFill>
            <a:prstDash val="solid"/>
          </a:ln>
        </p:spPr>
      </p:sp>
      <p:sp>
        <p:nvSpPr>
          <p:cNvPr id="6" name="矩形 5"/>
          <p:cNvSpPr>
            <a:spLocks noGrp="1"/>
          </p:cNvSpPr>
          <p:nvPr/>
        </p:nvSpPr>
        <p:spPr>
          <a:xfrm>
            <a:off x="1200150" y="1871663"/>
            <a:ext cx="800100" cy="285750"/>
          </a:xfrm>
          <a:prstGeom prst="rect">
            <a:avLst/>
          </a:prstGeom>
          <a:noFill/>
          <a:ln w="0">
            <a:noFill/>
            <a:prstDash val="solid"/>
          </a:ln>
        </p:spPr>
        <p:txBody>
          <a:bodyPr wrap="square" lIns="0" tIns="0" rIns="0" bIns="0" anchor="ctr"/>
          <a:lstStyle/>
          <a:p>
            <a:pPr algn="ctr">
              <a:lnSpc>
                <a:spcPct val="100000"/>
              </a:lnSpc>
              <a:buNone/>
              <a:defRPr sz="1875">
                <a:latin typeface="微软雅黑" panose="020B0503020204020204" charset="-122"/>
                <a:ea typeface="微软雅黑" panose="020B0503020204020204" charset="-122"/>
                <a:cs typeface="微软雅黑" panose="020B0503020204020204" charset="-122"/>
              </a:defRPr>
            </a:pPr>
            <a:r>
              <a:rPr sz="1875" b="1" i="0">
                <a:solidFill>
                  <a:srgbClr val="FFFFFF"/>
                </a:solidFill>
                <a:latin typeface="微软雅黑" panose="020B0503020204020204" charset="-122"/>
                <a:ea typeface="微软雅黑" panose="020B0503020204020204" charset="-122"/>
                <a:cs typeface="微软雅黑" panose="020B0503020204020204" charset="-122"/>
              </a:rPr>
              <a:t>句型1</a:t>
            </a:r>
            <a:r>
              <a:rPr lang="en-US" sz="1875" b="1" i="0">
                <a:solidFill>
                  <a:srgbClr val="FFFFFF"/>
                </a:solidFill>
                <a:latin typeface="微软雅黑" panose="020B0503020204020204" charset="-122"/>
                <a:ea typeface="微软雅黑" panose="020B0503020204020204" charset="-122"/>
                <a:cs typeface="微软雅黑" panose="020B0503020204020204" charset="-122"/>
              </a:rPr>
              <a:t>4</a:t>
            </a:r>
            <a:endParaRPr lang="en-US" sz="187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2305050" y="1466850"/>
            <a:ext cx="8648700" cy="1114425"/>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1" i="0" u="sng">
                <a:solidFill>
                  <a:srgbClr val="000000"/>
                </a:solidFill>
                <a:latin typeface="微软雅黑" panose="020B0503020204020204" charset="-122"/>
                <a:ea typeface="微软雅黑" panose="020B0503020204020204" charset="-122"/>
                <a:cs typeface="微软雅黑" panose="020B0503020204020204" charset="-122"/>
              </a:rPr>
              <a:t>动作+心理，one’s heart pounding fiercely and one’s plam sweating ,an inner voice told sb. that….</a:t>
            </a:r>
            <a:endParaRPr sz="2025" b="1" i="0" u="sng">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000000"/>
                </a:solidFill>
                <a:latin typeface="微软雅黑" panose="020B0503020204020204" charset="-122"/>
                <a:ea typeface="微软雅黑" panose="020B0503020204020204" charset="-122"/>
                <a:cs typeface="微软雅黑" panose="020B0503020204020204" charset="-122"/>
              </a:rPr>
              <a:t>某人的心脏狂跳，手掌出汗，内心有一个声音告诉自己要…</a:t>
            </a:r>
            <a:endParaRPr sz="2025"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2847975"/>
            <a:ext cx="10439400" cy="1514475"/>
          </a:xfrm>
          <a:prstGeom prst="roundRect">
            <a:avLst>
              <a:gd name="adj" fmla="val 8805"/>
            </a:avLst>
          </a:prstGeom>
          <a:solidFill>
            <a:srgbClr val="FFFAF5"/>
          </a:solidFill>
          <a:ln w="9525">
            <a:solidFill>
              <a:srgbClr val="FFBF86"/>
            </a:solidFill>
            <a:prstDash val="solid"/>
          </a:ln>
        </p:spPr>
      </p:sp>
      <p:sp>
        <p:nvSpPr>
          <p:cNvPr id="9" name="矩形 8"/>
          <p:cNvSpPr>
            <a:spLocks noGrp="1"/>
          </p:cNvSpPr>
          <p:nvPr/>
        </p:nvSpPr>
        <p:spPr>
          <a:xfrm>
            <a:off x="1200150" y="3162300"/>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球员心跳剧烈，手心冒汗，一个内心的声音告诉他自己能踢进制胜一球。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ans_123"/>
          <p:cNvSpPr>
            <a:spLocks noGrp="1"/>
          </p:cNvSpPr>
          <p:nvPr/>
        </p:nvSpPr>
        <p:spPr>
          <a:xfrm>
            <a:off x="1200150" y="3457575"/>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The player's heart pounding fiercely and his palms sweating, an inner voice told him that he could score the winning goal.</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
        <p:nvSpPr>
          <p:cNvPr id="11" name="圆角矩形 10"/>
          <p:cNvSpPr>
            <a:spLocks noGrp="1"/>
          </p:cNvSpPr>
          <p:nvPr/>
        </p:nvSpPr>
        <p:spPr>
          <a:xfrm>
            <a:off x="876300" y="4457700"/>
            <a:ext cx="10439400" cy="1514475"/>
          </a:xfrm>
          <a:prstGeom prst="roundRect">
            <a:avLst>
              <a:gd name="adj" fmla="val 8805"/>
            </a:avLst>
          </a:prstGeom>
          <a:solidFill>
            <a:srgbClr val="FFFAF5"/>
          </a:solidFill>
          <a:ln w="9525">
            <a:solidFill>
              <a:srgbClr val="FFBF86"/>
            </a:solidFill>
            <a:prstDash val="solid"/>
          </a:ln>
        </p:spPr>
      </p:sp>
      <p:sp>
        <p:nvSpPr>
          <p:cNvPr id="12" name="矩形 11"/>
          <p:cNvSpPr>
            <a:spLocks noGrp="1"/>
          </p:cNvSpPr>
          <p:nvPr/>
        </p:nvSpPr>
        <p:spPr>
          <a:xfrm>
            <a:off x="1200150" y="4772025"/>
            <a:ext cx="979170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我心跳剧烈，手心冒汗，一个内心的声音告诉我这个决定会改变我的人生。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3" name="ans_124"/>
          <p:cNvSpPr>
            <a:spLocks noGrp="1"/>
          </p:cNvSpPr>
          <p:nvPr/>
        </p:nvSpPr>
        <p:spPr>
          <a:xfrm>
            <a:off x="1200150" y="5067300"/>
            <a:ext cx="979170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EE0000"/>
                </a:solidFill>
                <a:latin typeface="微软雅黑" panose="020B0503020204020204" charset="-122"/>
                <a:ea typeface="微软雅黑" panose="020B0503020204020204" charset="-122"/>
                <a:cs typeface="微软雅黑" panose="020B0503020204020204" charset="-122"/>
              </a:rPr>
              <a:t>My heart pounding fiercely and my palms sweating, an inner voice told me that this decision would change my life.</a:t>
            </a:r>
            <a:endParaRPr sz="2025" b="0" i="0">
              <a:solidFill>
                <a:srgbClr val="EE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10"/>
                                        </p:tgtEl>
                                        <p:attrNameLst>
                                          <p:attrName>style.visibility</p:attrName>
                                        </p:attrNameLst>
                                      </p:cBhvr>
                                      <p:to>
                                        <p:strVal val="visible"/>
                                      </p:to>
                                    </p:set>
                                    <p:animEffect transition="in" filter="fade">
                                      <p:cBhvr>
                                        <p:cTn id="7" dur="3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350" fill="hold">
                                          <p:stCondLst>
                                            <p:cond delay="0"/>
                                          </p:stCondLst>
                                        </p:cTn>
                                        <p:tgtEl>
                                          <p:spTgt spid="13"/>
                                        </p:tgtEl>
                                        <p:attrNameLst>
                                          <p:attrName>style.visibility</p:attrName>
                                        </p:attrNameLst>
                                      </p:cBhvr>
                                      <p:to>
                                        <p:strVal val="visible"/>
                                      </p:to>
                                    </p:set>
                                    <p:animEffect transition="in" filter="fade">
                                      <p:cBhvr>
                                        <p:cTn id="12" dur="3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读后续写---高级句型仿写---小文段仿写</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i="0">
                <a:solidFill>
                  <a:srgbClr val="FFFFFF"/>
                </a:solidFill>
                <a:latin typeface="微软雅黑" panose="020B0503020204020204" charset="-122"/>
                <a:ea typeface="微软雅黑" panose="020B0503020204020204" charset="-122"/>
                <a:cs typeface="微软雅黑" panose="020B0503020204020204" charset="-122"/>
              </a:rPr>
              <a:t>读后续写
高级句型仿写
小文段仿写</a:t>
            </a:r>
            <a:endParaRPr sz="2925" b="1" i="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905250" cy="323850"/>
          </a:xfrm>
          <a:prstGeom prst="rect">
            <a:avLst/>
          </a:prstGeom>
          <a:noFill/>
          <a:ln w="0">
            <a:noFill/>
            <a:prstDash val="solid"/>
          </a:ln>
        </p:spPr>
        <p:txBody>
          <a:bodyPr wrap="square" lIns="0" tIns="0" rIns="0" bIns="0" anchor="ctr"/>
          <a:lstStyle/>
          <a:p>
            <a:pPr algn="l">
              <a:lnSpc>
                <a:spcPct val="104000"/>
              </a:lnSpc>
              <a:buNone/>
              <a:defRPr sz="1800">
                <a:latin typeface="微软雅黑" panose="020B0503020204020204" charset="-122"/>
                <a:ea typeface="微软雅黑" panose="020B0503020204020204" charset="-122"/>
                <a:cs typeface="微软雅黑" panose="020B0503020204020204" charset="-122"/>
              </a:defRPr>
            </a:pPr>
            <a:r>
              <a:rPr sz="1800" b="1" i="0">
                <a:solidFill>
                  <a:srgbClr val="5A2A10"/>
                </a:solidFill>
                <a:latin typeface="微软雅黑" panose="020B0503020204020204" charset="-122"/>
                <a:ea typeface="微软雅黑" panose="020B0503020204020204" charset="-122"/>
                <a:cs typeface="微软雅黑" panose="020B0503020204020204" charset="-122"/>
              </a:rPr>
              <a:t>小文段仿写</a:t>
            </a:r>
            <a:endParaRPr sz="1800"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(1/8)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正是这次难忘且有意义的经历让我懂得了面对问题时要冷静处理。正如谚语所说，“天助自助者。”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1"/>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unforgettable and meaningful experience that taught me to handle problems calmly when facing them. As the proverb goes, "God helps those who help themselves."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(2/8)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正是这次去Peter家做客的体验告诉我，当你不知道如何使用筷子的时候，跟着别人做就行了。正如谚语所说，“入乡随俗。”</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2"/>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the experience of visiting Peter's home that told me that when you don't know how to use chopsticks, you can just follow others. As the proverb goes, "When in Rome, do as the Romans do."</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(3/8)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这是这次爬山的经历让我明白了坚持的意义，正如这句谚语所说，“平静的湖面练不出强悍的水手。”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3"/>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mountain - climbing experience that made me understand the significance of perseverance. Just as the proverb says, "A smooth sea never made a skillful mariner."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(4/8)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66900"/>
          </a:xfrm>
          <a:prstGeom prst="roundRect">
            <a:avLst>
              <a:gd name="adj" fmla="val 7143"/>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正是有了齐心协力的精神，我们小组才按时完成了这个项目。这里有一句中国古话，“三个臭皮匠顶一个诸葛亮。”</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4"/>
          <p:cNvSpPr>
            <a:spLocks noGrp="1"/>
          </p:cNvSpPr>
          <p:nvPr/>
        </p:nvSpPr>
        <p:spPr>
          <a:xfrm>
            <a:off x="1162050" y="422973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the spirit of working together that enabled our group to complete the project on time. There is an old Chinese saying, "Two heads are better than one."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(5/8)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571625"/>
          </a:xfrm>
          <a:prstGeom prst="roundRect">
            <a:avLst>
              <a:gd name="adj" fmla="val 848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正是这次经历让我明白了持续练习的重要性。正如这句谚语所说，“失败乃成功之母。”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5"/>
          <p:cNvSpPr>
            <a:spLocks noGrp="1"/>
          </p:cNvSpPr>
          <p:nvPr/>
        </p:nvSpPr>
        <p:spPr>
          <a:xfrm>
            <a:off x="1162050" y="400621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the importance of continuous practice. As the proverb goes, "Failure is the mother of success."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(6/8)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571625"/>
          </a:xfrm>
          <a:prstGeom prst="roundRect">
            <a:avLst>
              <a:gd name="adj" fmla="val 848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正是这次经历让我明白了坚持的重要性。正如这样谚语所说，“有志者，事竟成。”</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6"/>
          <p:cNvSpPr>
            <a:spLocks noGrp="1"/>
          </p:cNvSpPr>
          <p:nvPr/>
        </p:nvSpPr>
        <p:spPr>
          <a:xfrm>
            <a:off x="1162050" y="386270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the importance of perseverance. As the proverb goes, "Where there's a will, there's a way."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(7/8)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正是这次经历让我明白了犯错也是正常的。最重要的是，我们应该从错误中学习。正如这句谚语所说，“失败乃成功之母。”</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7"/>
          <p:cNvSpPr>
            <a:spLocks noGrp="1"/>
          </p:cNvSpPr>
          <p:nvPr/>
        </p:nvSpPr>
        <p:spPr>
          <a:xfrm>
            <a:off x="1162050" y="4229735"/>
            <a:ext cx="9886950" cy="876300"/>
          </a:xfrm>
          <a:prstGeom prst="rect">
            <a:avLst/>
          </a:prstGeom>
          <a:noFill/>
          <a:ln w="0">
            <a:noFill/>
            <a:prstDash val="solid"/>
          </a:ln>
        </p:spPr>
        <p:txBody>
          <a:bodyPr wrap="square" lIns="76200" tIns="0" rIns="76200" bIns="0" anchor="ctr"/>
          <a:lstStyle/>
          <a:p>
            <a:pPr algn="l">
              <a:lnSpc>
                <a:spcPct val="103000"/>
              </a:lnSpc>
              <a:buNone/>
              <a:defRPr sz="1950">
                <a:latin typeface="微软雅黑" panose="020B0503020204020204" charset="-122"/>
                <a:ea typeface="微软雅黑" panose="020B0503020204020204" charset="-122"/>
                <a:cs typeface="微软雅黑" panose="020B0503020204020204" charset="-122"/>
              </a:defRPr>
            </a:pPr>
            <a:r>
              <a:rPr sz="1950"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that it's normal to make mistakes. The most important thing is that we should learn from our mistakes. As the proverb goes, "Failure is the mother of success."</a:t>
            </a:r>
            <a:endParaRPr sz="1950"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结尾段写作----强调句+谚语： (8/8)</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1"/>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is/was+被强调部分+that/who +剩余部分。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It is/was not until …that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As the saying goes,“……”正如谚语所说，</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is an old Chinese saying /proverb, “……”这里有一句中国古话，</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正是这次经历让我明白了，只有通过努力，我们才能达成目标，实现梦想。正如这句谚语所说，“平静的湖面练不出强悍的水手。”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8"/>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It was this experience that made me understand that only through hard work can we achieve our goals and realize our dreams. As the proverb goes, "A smooth sea never made a skillful mariner."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这里有各种各样的活动在那一天。我们赏月了，吃了月饼还讲了嫦娥的故事，那不仅是有趣的而且是传统的。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09"/>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There were various activities on that day. We admired the moon, ate mooncakes and told the story of Chang'e, which was not only interesting but also traditional.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在端午节那天有很多活动。我们看了龙舟比赛，吃了粽子还了解了屈原的故事，那不仅是有趣的而且是有意义的。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0"/>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There were many activities on the Dragon Boat Festival. We watched the dragon boat races, ate zongzi and learned about the story of Qu Yuan, which was not only interesting but also meaningful.</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在母亲节那天，我做了许多事。我亲手给妈妈制作了一个礼物，做了一顿早餐还打扫了卫生，那不仅是有意义的而且是重要的。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1"/>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On Mother's Day, I did many things. I made a gift for my mom with my own hands, cooked a breakfast and did some cleaning, which was not only meaningful but also important.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在艺术节那天，有很多活动。我们观看了汉服表演，品尝了美味的小吃还收到了精美的礼物，那不是有意义的而且是令人放松的。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2"/>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On the Art Festival, there were a lot of activities. We watched the Hanfu show, tasted delicious snacks and received beautiful gifts, which was not only meaningful but also relaxing.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小文段写作： (5/5)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2"/>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There be all kinds of…这里有各种各样的….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We did A ，did B and did C, 我们做了A,B and C.</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which is not only adj but also adj.那不仅是…的而且是…的。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上周六我们学校举办了徒步活动，我们爬了山，欣赏到了沿途的风景还拍到了漂亮的照片，那不仅是有意义的而且是令人放松的。</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3"/>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Last Saturday, our school held a hiking activity. We climbed the mountain, enjoyed the scenery along the way and took beautiful pictures, which was not only meaningful but also relaxing.</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如果你想更多了解中国文化，你可以亲自来中国。只有以这种方式，你才能对中国剪纸有更深的理解。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4"/>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want to know more about Chinese culture, you can come to China in person Only in this way can you gain a deeper understanding of Chinese paper - cutting.</a:t>
            </a:r>
            <a:r>
              <a:rPr sz="2025" b="0" i="0">
                <a:solidFill>
                  <a:srgbClr val="000000"/>
                </a:solidFill>
                <a:latin typeface="微软雅黑" panose="020B0503020204020204" charset="-122"/>
                <a:ea typeface="微软雅黑" panose="020B0503020204020204" charset="-122"/>
                <a:cs typeface="微软雅黑" panose="020B0503020204020204" charset="-122"/>
              </a:rPr>
              <a:t>. </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如果你想了解簪花，你可以来中国亲自感受。只有以这种方式，你才能对它有更深的理解。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5"/>
          <p:cNvSpPr>
            <a:spLocks noGrp="1"/>
          </p:cNvSpPr>
          <p:nvPr/>
        </p:nvSpPr>
        <p:spPr>
          <a:xfrm>
            <a:off x="1162050" y="400621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you're interested in learning about hair - adorning flowers, you can come to China and experience it firsthand. Only through this approach can you understand it more deeply.</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66900"/>
          </a:xfrm>
          <a:prstGeom prst="roundRect">
            <a:avLst>
              <a:gd name="adj" fmla="val 7143"/>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如果你想更多了解茶的制作，你可以来我的家乡感受。只有以这种方式，你才能更好地了解茶的精髓。</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6"/>
          <p:cNvSpPr>
            <a:spLocks noGrp="1"/>
          </p:cNvSpPr>
          <p:nvPr/>
        </p:nvSpPr>
        <p:spPr>
          <a:xfrm>
            <a:off x="1162050" y="4229735"/>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wish to know more about tea - making, you can come to my hometown to have a feel. Only in this way can you better understanding of the essence of tea.</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如果你想更多了解书法，你可以亲自来中国感受。只有以这种方式，你才能更好地了解它。</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7"/>
          <p:cNvSpPr>
            <a:spLocks noGrp="1"/>
          </p:cNvSpPr>
          <p:nvPr/>
        </p:nvSpPr>
        <p:spPr>
          <a:xfrm>
            <a:off x="1162050" y="400621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want to know more about Chinese calligraphy, you can come to China and experience it personally. Only in this way can you have a better understanding of it.</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结尾段写作有关文化传统的： (5/5)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3"/>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If you want to know more about…,you can come to China to experience it in person.如果你想了解….，你可以亲自来中国体验。</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Only in this way can you have a deeper understanding of…</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只有以这种方式，你才能对…有更深的理解。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如果你想更多了解舞狮和舞龙，你可以亲自来中国体验。只有以这种方式，你才能对它有更好的了解。</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8"/>
          <p:cNvSpPr>
            <a:spLocks noGrp="1"/>
          </p:cNvSpPr>
          <p:nvPr/>
        </p:nvSpPr>
        <p:spPr>
          <a:xfrm>
            <a:off x="1162050" y="4157980"/>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If you want to know more about lion and dragon dances, you can come to China and experience them by yourself. Only in this way can you understanding of them better.</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(1/5)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71700"/>
          </a:xfrm>
          <a:prstGeom prst="roundRect">
            <a:avLst>
              <a:gd name="adj" fmla="val 6140"/>
            </a:avLst>
          </a:prstGeom>
          <a:solidFill>
            <a:srgbClr val="FFFAF5"/>
          </a:solidFill>
          <a:ln w="9525">
            <a:solidFill>
              <a:srgbClr val="FFBF86"/>
            </a:solidFill>
            <a:prstDash val="solid"/>
          </a:ln>
        </p:spPr>
      </p:sp>
      <p:sp>
        <p:nvSpPr>
          <p:cNvPr id="7" name="矩形 6"/>
          <p:cNvSpPr>
            <a:spLocks noGrp="1"/>
          </p:cNvSpPr>
          <p:nvPr/>
        </p:nvSpPr>
        <p:spPr>
          <a:xfrm>
            <a:off x="1162050" y="3495675"/>
            <a:ext cx="9886950" cy="12001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例句：(What attracted me most )is( that we experienced the process of making Qingtuan), (which is a traditional food during the Qingming festival).</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19"/>
          <p:cNvSpPr>
            <a:spLocks noGrp="1"/>
          </p:cNvSpPr>
          <p:nvPr/>
        </p:nvSpPr>
        <p:spPr>
          <a:xfrm>
            <a:off x="1162050" y="4676775"/>
            <a:ext cx="9886950" cy="3048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FF0000"/>
                </a:solidFill>
                <a:latin typeface="微软雅黑" panose="020B0503020204020204" charset="-122"/>
                <a:ea typeface="微软雅黑" panose="020B0503020204020204" charset="-122"/>
                <a:cs typeface="微软雅黑" panose="020B0503020204020204" charset="-122"/>
              </a:rPr>
              <a:t>最吸引我的是我们体验了青团的制作过程，那在清明节期间是一种传统的食物。</a:t>
            </a:r>
            <a:endParaRPr sz="2025" b="0" i="0">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(2/5)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638550"/>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最吸引我的是那天我们亲手制作了油纸伞，这帮助我们更好地理解中国传统手工艺的制作过程。</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0"/>
          <p:cNvSpPr>
            <a:spLocks noGrp="1"/>
          </p:cNvSpPr>
          <p:nvPr/>
        </p:nvSpPr>
        <p:spPr>
          <a:xfrm>
            <a:off x="1162050" y="4292600"/>
            <a:ext cx="9886950" cy="59055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attracted me most was that we made oil - paper umbrellas by hand that day，which helped us better understand the process of traditional Chinese handicrafts.</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(3/5)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1857375"/>
          </a:xfrm>
          <a:prstGeom prst="roundRect">
            <a:avLst>
              <a:gd name="adj" fmla="val 717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314325"/>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2.最令我印象深刻的是我们体验了油纸伞的制作过程，这帮助我更深地理解中国传统文化。</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1"/>
          <p:cNvSpPr>
            <a:spLocks noGrp="1"/>
          </p:cNvSpPr>
          <p:nvPr/>
        </p:nvSpPr>
        <p:spPr>
          <a:xfrm>
            <a:off x="1162050" y="400621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What impressed me most was that we experienced the process of making oil - paper umbrellas, which helped me have a deeper understanding of Chinese traditional culture.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(4/5)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438400"/>
          </a:xfrm>
          <a:prstGeom prst="roundRect">
            <a:avLst>
              <a:gd name="adj" fmla="val 5469"/>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3.让我印象最深刻的是我们请观看了打铁花的表演，那是一种非物质文化遗产。正是这次经历让我明白我们应该采取行动来保护和传承我们宝贵的文化和风俗。</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2"/>
          <p:cNvSpPr>
            <a:spLocks noGrp="1"/>
          </p:cNvSpPr>
          <p:nvPr/>
        </p:nvSpPr>
        <p:spPr>
          <a:xfrm>
            <a:off x="1162050" y="4229735"/>
            <a:ext cx="9886950" cy="1162050"/>
          </a:xfrm>
          <a:prstGeom prst="rect">
            <a:avLst/>
          </a:prstGeom>
          <a:noFill/>
          <a:ln w="0">
            <a:noFill/>
            <a:prstDash val="solid"/>
          </a:ln>
        </p:spPr>
        <p:txBody>
          <a:bodyPr wrap="square" lIns="76200" tIns="0" rIns="76200" bIns="0" anchor="ctr"/>
          <a:lstStyle/>
          <a:p>
            <a:pPr algn="l">
              <a:lnSpc>
                <a:spcPct val="103000"/>
              </a:lnSpc>
              <a:buNone/>
              <a:defRPr sz="1950">
                <a:latin typeface="微软雅黑" panose="020B0503020204020204" charset="-122"/>
                <a:ea typeface="微软雅黑" panose="020B0503020204020204" charset="-122"/>
                <a:cs typeface="微软雅黑" panose="020B0503020204020204" charset="-122"/>
              </a:defRPr>
            </a:pPr>
            <a:r>
              <a:rPr sz="1950" b="0" i="0" u="sng">
                <a:solidFill>
                  <a:srgbClr val="FF0000"/>
                </a:solidFill>
                <a:latin typeface="微软雅黑" panose="020B0503020204020204" charset="-122"/>
                <a:ea typeface="微软雅黑" panose="020B0503020204020204" charset="-122"/>
                <a:cs typeface="微软雅黑" panose="020B0503020204020204" charset="-122"/>
              </a:rPr>
              <a:t>What impressed me the most was that we watched the performance of molten iron fireworks, which is an intangible cultural heritage. It was this experience that made me realize that we should take action to protect and inherit our precious culture and customs.</a:t>
            </a:r>
            <a:endParaRPr sz="1950"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7696200" cy="723900"/>
          </a:xfrm>
          <a:prstGeom prst="rect">
            <a:avLst/>
          </a:prstGeom>
          <a:solidFill>
            <a:srgbClr val="F2F1EE"/>
          </a:solidFill>
          <a:ln w="0">
            <a:noFill/>
            <a:prstDash val="solid"/>
          </a:ln>
        </p:spPr>
      </p:sp>
      <p:sp>
        <p:nvSpPr>
          <p:cNvPr id="3" name="矩形 2"/>
          <p:cNvSpPr>
            <a:spLocks noGrp="1"/>
          </p:cNvSpPr>
          <p:nvPr/>
        </p:nvSpPr>
        <p:spPr>
          <a:xfrm>
            <a:off x="838200" y="590550"/>
            <a:ext cx="73152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主语从句+状语从句句型 (5/5)</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formula-4"/>
          <p:cNvSpPr>
            <a:spLocks noGrp="1"/>
          </p:cNvSpPr>
          <p:nvPr/>
        </p:nvSpPr>
        <p:spPr>
          <a:xfrm>
            <a:off x="876300" y="1371600"/>
            <a:ext cx="10439400" cy="1619250"/>
          </a:xfrm>
          <a:prstGeom prst="roundRect">
            <a:avLst>
              <a:gd name="adj" fmla="val 10588"/>
            </a:avLst>
          </a:prstGeom>
          <a:solidFill>
            <a:srgbClr val="FFF8F0"/>
          </a:solidFill>
          <a:ln w="13335">
            <a:solidFill>
              <a:srgbClr val="FF8B2D"/>
            </a:solidFill>
            <a:prstDash val="solid"/>
          </a:ln>
        </p:spPr>
      </p:sp>
      <p:sp>
        <p:nvSpPr>
          <p:cNvPr id="5" name="矩形 4"/>
          <p:cNvSpPr>
            <a:spLocks noGrp="1"/>
          </p:cNvSpPr>
          <p:nvPr/>
        </p:nvSpPr>
        <p:spPr>
          <a:xfrm>
            <a:off x="1104900" y="1466850"/>
            <a:ext cx="9982200" cy="1428750"/>
          </a:xfrm>
          <a:prstGeom prst="rect">
            <a:avLst/>
          </a:prstGeom>
          <a:noFill/>
          <a:ln w="0">
            <a:noFill/>
            <a:prstDash val="solid"/>
          </a:ln>
        </p:spPr>
        <p:txBody>
          <a:bodyPr wrap="square" lIns="76200" tIns="19050" rIns="76200" bIns="19050" anchor="ctr"/>
          <a:lstStyle/>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第一句：</a:t>
            </a:r>
            <a:r>
              <a:rPr sz="2025" b="0" i="0">
                <a:solidFill>
                  <a:srgbClr val="000000"/>
                </a:solidFill>
                <a:latin typeface="微软雅黑" panose="020B0503020204020204" charset="-122"/>
                <a:ea typeface="微软雅黑" panose="020B0503020204020204" charset="-122"/>
                <a:cs typeface="微软雅黑" panose="020B0503020204020204" charset="-122"/>
              </a:rPr>
              <a:t>(What interested/attracted/appealed/impressed/inspired me most)  is   (that….)最使我感兴趣的是/最吸引我的是/最让我印象深刻的是/最鼓舞我的是…</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第二句：</a:t>
            </a:r>
            <a:r>
              <a:rPr sz="2025" b="0" i="0">
                <a:solidFill>
                  <a:srgbClr val="000000"/>
                </a:solidFill>
                <a:latin typeface="微软雅黑" panose="020B0503020204020204" charset="-122"/>
                <a:ea typeface="微软雅黑" panose="020B0503020204020204" charset="-122"/>
                <a:cs typeface="微软雅黑" panose="020B0503020204020204" charset="-122"/>
              </a:rPr>
              <a:t>主句,which 定语从句解释，说明，补充</a:t>
            </a:r>
            <a:endParaRPr sz="2025"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第三句：</a:t>
            </a:r>
            <a:r>
              <a:rPr sz="2025" b="0" i="0">
                <a:solidFill>
                  <a:srgbClr val="000000"/>
                </a:solidFill>
                <a:latin typeface="微软雅黑" panose="020B0503020204020204" charset="-122"/>
                <a:ea typeface="微软雅黑" panose="020B0503020204020204" charset="-122"/>
                <a:cs typeface="微软雅黑" panose="020B0503020204020204" charset="-122"/>
              </a:rPr>
              <a:t>It is/was +被强调部分+that/who +剩余部分</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143250"/>
            <a:ext cx="10439400" cy="2152650"/>
          </a:xfrm>
          <a:prstGeom prst="roundRect">
            <a:avLst>
              <a:gd name="adj" fmla="val 6195"/>
            </a:avLst>
          </a:prstGeom>
          <a:solidFill>
            <a:srgbClr val="FFFAF5"/>
          </a:solidFill>
          <a:ln w="9525">
            <a:solidFill>
              <a:srgbClr val="FFBF86"/>
            </a:solidFill>
            <a:prstDash val="solid"/>
          </a:ln>
        </p:spPr>
      </p:sp>
      <p:sp>
        <p:nvSpPr>
          <p:cNvPr id="7" name="矩形 6"/>
          <p:cNvSpPr>
            <a:spLocks noGrp="1"/>
          </p:cNvSpPr>
          <p:nvPr/>
        </p:nvSpPr>
        <p:spPr>
          <a:xfrm>
            <a:off x="1162050" y="3495675"/>
            <a:ext cx="9886950" cy="6096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a:solidFill>
                  <a:srgbClr val="000000"/>
                </a:solidFill>
                <a:latin typeface="微软雅黑" panose="020B0503020204020204" charset="-122"/>
                <a:ea typeface="微软雅黑" panose="020B0503020204020204" charset="-122"/>
                <a:cs typeface="微软雅黑" panose="020B0503020204020204" charset="-122"/>
              </a:rPr>
              <a:t>4.最令我印象深刻的是通过辛勤工作后，我脸上的汗水，这不仅让我明白了农民的不易，而且也提醒我今后要节约粮食。</a:t>
            </a:r>
            <a:endParaRPr sz="2025"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ans_023"/>
          <p:cNvSpPr>
            <a:spLocks noGrp="1"/>
          </p:cNvSpPr>
          <p:nvPr/>
        </p:nvSpPr>
        <p:spPr>
          <a:xfrm>
            <a:off x="1162050" y="4229735"/>
            <a:ext cx="9886950" cy="876300"/>
          </a:xfrm>
          <a:prstGeom prst="rect">
            <a:avLst/>
          </a:prstGeom>
          <a:noFill/>
          <a:ln w="0">
            <a:noFill/>
            <a:prstDash val="solid"/>
          </a:ln>
        </p:spPr>
        <p:txBody>
          <a:bodyPr wrap="square" lIns="76200" tIns="0" rIns="76200" bIns="0" anchor="ctr"/>
          <a:lstStyle/>
          <a:p>
            <a:pPr algn="l">
              <a:lnSpc>
                <a:spcPct val="103000"/>
              </a:lnSpc>
              <a:buNone/>
              <a:defRPr sz="2025">
                <a:latin typeface="微软雅黑" panose="020B0503020204020204" charset="-122"/>
                <a:ea typeface="微软雅黑" panose="020B0503020204020204" charset="-122"/>
                <a:cs typeface="微软雅黑" panose="020B0503020204020204" charset="-122"/>
              </a:defRPr>
            </a:pPr>
            <a:r>
              <a:rPr sz="2025" b="0" i="0" u="sng">
                <a:solidFill>
                  <a:srgbClr val="FF0000"/>
                </a:solidFill>
                <a:latin typeface="微软雅黑" panose="020B0503020204020204" charset="-122"/>
                <a:ea typeface="微软雅黑" panose="020B0503020204020204" charset="-122"/>
                <a:cs typeface="微软雅黑" panose="020B0503020204020204" charset="-122"/>
              </a:rPr>
              <a:t> What impressed me most was the sweat on my face after hard work, which not only made me understand the hardships of farmers, but also reminded me to save food in the future.</a:t>
            </a:r>
            <a:endParaRPr sz="2025" b="0" i="0" u="sng">
              <a:solidFill>
                <a:srgbClr val="FF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350" fill="hold">
                                          <p:stCondLst>
                                            <p:cond delay="0"/>
                                          </p:stCondLst>
                                        </p:cTn>
                                        <p:tgtEl>
                                          <p:spTgt spid="8"/>
                                        </p:tgtEl>
                                        <p:attrNameLst>
                                          <p:attrName>style.visibility</p:attrName>
                                        </p:attrNameLst>
                                      </p:cBhvr>
                                      <p:to>
                                        <p:strVal val="visible"/>
                                      </p:to>
                                    </p:set>
                                    <p:animEffect transition="in" filter="fade">
                                      <p:cBhvr>
                                        <p:cTn id="7" dur="3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a:srcRect/>
          <a:stretch>
            <a:fillRect/>
          </a:stretch>
        </p:blipFill>
        <p:spPr>
          <a:xfrm>
            <a:off x="0" y="0"/>
            <a:ext cx="12192000" cy="6858000"/>
          </a:xfrm>
          <a:prstGeom prst="rect">
            <a:avLst/>
          </a:prstGeom>
        </p:spPr>
      </p:pic>
      <p:sp>
        <p:nvSpPr>
          <p:cNvPr id="2" name="圆角矩形 1"/>
          <p:cNvSpPr>
            <a:spLocks noGrp="1"/>
          </p:cNvSpPr>
          <p:nvPr/>
        </p:nvSpPr>
        <p:spPr>
          <a:xfrm>
            <a:off x="6172200" y="2686050"/>
            <a:ext cx="4876800" cy="400050"/>
          </a:xfrm>
          <a:prstGeom prst="roundRect">
            <a:avLst>
              <a:gd name="adj" fmla="val 19048"/>
            </a:avLst>
          </a:prstGeom>
          <a:solidFill>
            <a:srgbClr val="FFF2E7"/>
          </a:solidFill>
          <a:ln w="9525">
            <a:solidFill>
              <a:srgbClr val="FFB36E"/>
            </a:solidFill>
            <a:prstDash val="solid"/>
          </a:ln>
        </p:spPr>
      </p:sp>
      <p:sp>
        <p:nvSpPr>
          <p:cNvPr id="3" name="矩形 2"/>
          <p:cNvSpPr>
            <a:spLocks noGrp="1"/>
          </p:cNvSpPr>
          <p:nvPr/>
        </p:nvSpPr>
        <p:spPr>
          <a:xfrm>
            <a:off x="6343650" y="2752725"/>
            <a:ext cx="4533900" cy="266700"/>
          </a:xfrm>
          <a:prstGeom prst="rect">
            <a:avLst/>
          </a:prstGeom>
          <a:noFill/>
          <a:ln w="0">
            <a:noFill/>
            <a:prstDash val="solid"/>
          </a:ln>
        </p:spPr>
        <p:txBody>
          <a:bodyPr wrap="square" lIns="0" tIns="0" rIns="0" bIns="0" anchor="ctr"/>
          <a:lstStyle/>
          <a:p>
            <a:pPr algn="l">
              <a:lnSpc>
                <a:spcPct val="100000"/>
              </a:lnSpc>
              <a:buNone/>
              <a:defRPr sz="1725">
                <a:latin typeface="微软雅黑" panose="020B0503020204020204" charset="-122"/>
                <a:ea typeface="微软雅黑" panose="020B0503020204020204" charset="-122"/>
                <a:cs typeface="微软雅黑" panose="020B0503020204020204" charset="-122"/>
              </a:defRPr>
            </a:pPr>
            <a:r>
              <a:rPr sz="1725" b="1" i="0">
                <a:solidFill>
                  <a:srgbClr val="004E9A"/>
                </a:solidFill>
                <a:latin typeface="微软雅黑" panose="020B0503020204020204" charset="-122"/>
                <a:ea typeface="微软雅黑" panose="020B0503020204020204" charset="-122"/>
                <a:cs typeface="微软雅黑" panose="020B0503020204020204" charset="-122"/>
              </a:rPr>
              <a:t>读后续写---基础版读后续写语料库</a:t>
            </a:r>
            <a:endParaRPr sz="1725" b="1" i="0">
              <a:solidFill>
                <a:srgbClr val="004E9A"/>
              </a:solidFill>
              <a:latin typeface="微软雅黑" panose="020B0503020204020204" charset="-122"/>
              <a:ea typeface="微软雅黑" panose="020B0503020204020204" charset="-122"/>
              <a:cs typeface="微软雅黑" panose="020B0503020204020204" charset="-122"/>
            </a:endParaRPr>
          </a:p>
        </p:txBody>
      </p:sp>
      <p:sp>
        <p:nvSpPr>
          <p:cNvPr id="4" name="矩形 3"/>
          <p:cNvSpPr>
            <a:spLocks noGrp="1"/>
          </p:cNvSpPr>
          <p:nvPr/>
        </p:nvSpPr>
        <p:spPr>
          <a:xfrm>
            <a:off x="6172200" y="3105150"/>
            <a:ext cx="4876800" cy="2057400"/>
          </a:xfrm>
          <a:prstGeom prst="rect">
            <a:avLst/>
          </a:prstGeom>
          <a:solidFill>
            <a:srgbClr val="FF7A18"/>
          </a:solidFill>
          <a:ln w="0">
            <a:noFill/>
            <a:prstDash val="solid"/>
          </a:ln>
        </p:spPr>
      </p:sp>
      <p:sp>
        <p:nvSpPr>
          <p:cNvPr id="5" name="矩形 4"/>
          <p:cNvSpPr>
            <a:spLocks noGrp="1"/>
          </p:cNvSpPr>
          <p:nvPr/>
        </p:nvSpPr>
        <p:spPr>
          <a:xfrm>
            <a:off x="6619875" y="3333750"/>
            <a:ext cx="4095750" cy="1257300"/>
          </a:xfrm>
          <a:prstGeom prst="rect">
            <a:avLst/>
          </a:prstGeom>
          <a:noFill/>
          <a:ln w="0">
            <a:noFill/>
            <a:prstDash val="solid"/>
          </a:ln>
        </p:spPr>
        <p:txBody>
          <a:bodyPr wrap="square" lIns="0" tIns="0" rIns="0" bIns="0" anchor="ctr"/>
          <a:lstStyle/>
          <a:p>
            <a:pPr algn="l">
              <a:lnSpc>
                <a:spcPct val="108000"/>
              </a:lnSpc>
              <a:buNone/>
              <a:defRPr sz="2925">
                <a:latin typeface="微软雅黑" panose="020B0503020204020204" charset="-122"/>
                <a:ea typeface="微软雅黑" panose="020B0503020204020204" charset="-122"/>
                <a:cs typeface="微软雅黑" panose="020B0503020204020204" charset="-122"/>
              </a:defRPr>
            </a:pPr>
            <a:r>
              <a:rPr sz="2925" b="1">
                <a:solidFill>
                  <a:srgbClr val="FFFFFF"/>
                </a:solidFill>
                <a:latin typeface="微软雅黑" panose="020B0503020204020204" charset="-122"/>
                <a:ea typeface="微软雅黑" panose="020B0503020204020204" charset="-122"/>
                <a:cs typeface="微软雅黑" panose="020B0503020204020204" charset="-122"/>
              </a:rPr>
              <a:t>读后续写
基础版读后续写语料库</a:t>
            </a:r>
            <a:endParaRPr sz="292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6667500" y="4714875"/>
            <a:ext cx="3905250" cy="323850"/>
          </a:xfrm>
          <a:prstGeom prst="rect">
            <a:avLst/>
          </a:prstGeom>
          <a:noFill/>
          <a:ln w="0">
            <a:noFill/>
            <a:prstDash val="solid"/>
          </a:ln>
        </p:spPr>
        <p:txBody>
          <a:bodyPr wrap="square" lIns="0" tIns="0" rIns="0" bIns="0" anchor="ctr"/>
          <a:lstStyle/>
          <a:p>
            <a:pPr algn="l">
              <a:lnSpc>
                <a:spcPct val="106000"/>
              </a:lnSpc>
              <a:buNone/>
              <a:defRPr sz="1800">
                <a:latin typeface="微软雅黑" panose="020B0503020204020204" charset="-122"/>
                <a:ea typeface="微软雅黑" panose="020B0503020204020204" charset="-122"/>
                <a:cs typeface="微软雅黑" panose="020B0503020204020204" charset="-122"/>
              </a:defRPr>
            </a:pPr>
            <a:r>
              <a:rPr sz="1800" b="1" i="0">
                <a:solidFill>
                  <a:srgbClr val="5A2A10"/>
                </a:solidFill>
                <a:latin typeface="微软雅黑" panose="020B0503020204020204" charset="-122"/>
                <a:ea typeface="微软雅黑" panose="020B0503020204020204" charset="-122"/>
                <a:cs typeface="微软雅黑" panose="020B0503020204020204" charset="-122"/>
              </a:rPr>
              <a:t>基础版读后续写语料库</a:t>
            </a:r>
            <a:endParaRPr sz="1800"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514350" y="400050"/>
            <a:ext cx="2476500" cy="838200"/>
          </a:xfrm>
          <a:prstGeom prst="rect">
            <a:avLst/>
          </a:prstGeom>
          <a:solidFill>
            <a:srgbClr val="FFFFFF"/>
          </a:solidFill>
          <a:ln w="0">
            <a:noFill/>
            <a:prstDash val="solid"/>
          </a:ln>
        </p:spPr>
      </p:sp>
      <p:sp>
        <p:nvSpPr>
          <p:cNvPr id="3" name="圆角矩形 2"/>
          <p:cNvSpPr>
            <a:spLocks noGrp="1"/>
          </p:cNvSpPr>
          <p:nvPr/>
        </p:nvSpPr>
        <p:spPr>
          <a:xfrm>
            <a:off x="1466850" y="1668145"/>
            <a:ext cx="9258300" cy="3133090"/>
          </a:xfrm>
          <a:prstGeom prst="roundRect">
            <a:avLst>
              <a:gd name="adj" fmla="val 9524"/>
            </a:avLst>
          </a:prstGeom>
          <a:solidFill>
            <a:srgbClr val="FFF8F0"/>
          </a:solidFill>
          <a:ln w="15240">
            <a:solidFill>
              <a:srgbClr val="FF8B2D"/>
            </a:solidFill>
            <a:prstDash val="solid"/>
          </a:ln>
        </p:spPr>
      </p:sp>
      <p:sp>
        <p:nvSpPr>
          <p:cNvPr id="4" name="矩形 3"/>
          <p:cNvSpPr>
            <a:spLocks noGrp="1"/>
          </p:cNvSpPr>
          <p:nvPr/>
        </p:nvSpPr>
        <p:spPr>
          <a:xfrm>
            <a:off x="2000250" y="2183765"/>
            <a:ext cx="8191500" cy="914400"/>
          </a:xfrm>
          <a:prstGeom prst="rect">
            <a:avLst/>
          </a:prstGeom>
          <a:noFill/>
          <a:ln w="0">
            <a:noFill/>
            <a:prstDash val="solid"/>
          </a:ln>
        </p:spPr>
        <p:txBody>
          <a:bodyPr wrap="square" lIns="76200" tIns="0" rIns="76200" bIns="0" anchor="ctr"/>
          <a:lstStyle/>
          <a:p>
            <a:pPr algn="ctr">
              <a:lnSpc>
                <a:spcPct val="100000"/>
              </a:lnSpc>
              <a:buNone/>
              <a:defRPr sz="3150">
                <a:latin typeface="微软雅黑" panose="020B0503020204020204" charset="-122"/>
                <a:ea typeface="微软雅黑" panose="020B0503020204020204" charset="-122"/>
                <a:cs typeface="微软雅黑" panose="020B0503020204020204" charset="-122"/>
              </a:defRPr>
            </a:pPr>
            <a:r>
              <a:rPr sz="4800" b="1" i="0">
                <a:solidFill>
                  <a:srgbClr val="000000"/>
                </a:solidFill>
                <a:latin typeface="微软雅黑" panose="020B0503020204020204" charset="-122"/>
                <a:ea typeface="微软雅黑" panose="020B0503020204020204" charset="-122"/>
                <a:cs typeface="微软雅黑" panose="020B0503020204020204" charset="-122"/>
              </a:rPr>
              <a:t>词汇/短语部分</a:t>
            </a:r>
            <a:endParaRPr sz="48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矩形 5"/>
          <p:cNvSpPr>
            <a:spLocks noGrp="1"/>
          </p:cNvSpPr>
          <p:nvPr/>
        </p:nvSpPr>
        <p:spPr>
          <a:xfrm>
            <a:off x="2000250" y="3116580"/>
            <a:ext cx="8191500" cy="914400"/>
          </a:xfrm>
          <a:prstGeom prst="rect">
            <a:avLst/>
          </a:prstGeom>
          <a:noFill/>
          <a:ln w="0">
            <a:noFill/>
            <a:prstDash val="solid"/>
          </a:ln>
        </p:spPr>
        <p:txBody>
          <a:bodyPr wrap="square" lIns="76200" tIns="0" rIns="76200" bIns="0" anchor="ctr"/>
          <a:p>
            <a:pPr algn="ctr">
              <a:lnSpc>
                <a:spcPct val="100000"/>
              </a:lnSpc>
              <a:buNone/>
              <a:defRPr sz="3150">
                <a:latin typeface="微软雅黑" panose="020B0503020204020204" charset="-122"/>
                <a:ea typeface="微软雅黑" panose="020B0503020204020204" charset="-122"/>
                <a:cs typeface="微软雅黑" panose="020B0503020204020204" charset="-122"/>
              </a:defRPr>
            </a:pPr>
            <a:r>
              <a:rPr sz="3150" b="1" i="0">
                <a:solidFill>
                  <a:srgbClr val="000000"/>
                </a:solidFill>
                <a:latin typeface="微软雅黑" panose="020B0503020204020204" charset="-122"/>
                <a:ea typeface="微软雅黑" panose="020B0503020204020204" charset="-122"/>
                <a:cs typeface="微软雅黑" panose="020B0503020204020204" charset="-122"/>
              </a:rPr>
              <a:t>动词以及动词短语（构造</a:t>
            </a:r>
            <a:r>
              <a:rPr sz="3150" b="1" i="0" u="sng">
                <a:solidFill>
                  <a:srgbClr val="000000"/>
                </a:solidFill>
                <a:latin typeface="微软雅黑" panose="020B0503020204020204" charset="-122"/>
                <a:ea typeface="微软雅黑" panose="020B0503020204020204" charset="-122"/>
                <a:cs typeface="微软雅黑" panose="020B0503020204020204" charset="-122"/>
              </a:rPr>
              <a:t>动作链</a:t>
            </a:r>
            <a:r>
              <a:rPr sz="3150" b="1" i="0">
                <a:solidFill>
                  <a:srgbClr val="000000"/>
                </a:solidFill>
                <a:latin typeface="微软雅黑" panose="020B0503020204020204" charset="-122"/>
                <a:ea typeface="微软雅黑" panose="020B0503020204020204" charset="-122"/>
                <a:cs typeface="微软雅黑" panose="020B0503020204020204" charset="-122"/>
              </a:rPr>
              <a:t>使用）</a:t>
            </a:r>
            <a:endParaRPr sz="3150" b="1"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看</a:t>
            </a:r>
            <a:endPar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00150"/>
          </a:xfrm>
          <a:prstGeom prst="roundRect">
            <a:avLst>
              <a:gd name="adj" fmla="val 1111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单词：look, see, watch, observe, notice, spot, stare, witness, sweep, overlook, glare, glance, peer, gaze, scan</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67000"/>
            <a:ext cx="10439400" cy="1200150"/>
          </a:xfrm>
          <a:prstGeom prst="roundRect">
            <a:avLst>
              <a:gd name="adj" fmla="val 11111"/>
            </a:avLst>
          </a:prstGeom>
          <a:solidFill>
            <a:srgbClr val="FFFAF5"/>
          </a:solidFill>
          <a:ln w="9525">
            <a:solidFill>
              <a:srgbClr val="FFBF86"/>
            </a:solidFill>
            <a:prstDash val="solid"/>
          </a:ln>
        </p:spPr>
      </p:sp>
      <p:sp>
        <p:nvSpPr>
          <p:cNvPr id="7" name="矩形 6"/>
          <p:cNvSpPr>
            <a:spLocks noGrp="1"/>
          </p:cNvSpPr>
          <p:nvPr/>
        </p:nvSpPr>
        <p:spPr>
          <a:xfrm>
            <a:off x="1123950" y="27432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短语：look back, look down, watch over, stare at, glare at, raise xxx’s eyes, at the sight of...,catch one’s eyes </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走、跑</a:t>
            </a:r>
            <a:endPar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00150"/>
          </a:xfrm>
          <a:prstGeom prst="roundRect">
            <a:avLst>
              <a:gd name="adj" fmla="val 1111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单词：walk, run, step, pace, wander, approach, snake, march, rush, dash,  race, move, edge, stagger, stumble, stride</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67000"/>
            <a:ext cx="10439400" cy="1905000"/>
          </a:xfrm>
          <a:prstGeom prst="roundRect">
            <a:avLst>
              <a:gd name="adj" fmla="val 7000"/>
            </a:avLst>
          </a:prstGeom>
          <a:solidFill>
            <a:srgbClr val="FFFAF5"/>
          </a:solidFill>
          <a:ln w="9525">
            <a:solidFill>
              <a:srgbClr val="FFBF86"/>
            </a:solidFill>
            <a:prstDash val="solid"/>
          </a:ln>
        </p:spPr>
      </p:sp>
      <p:sp>
        <p:nvSpPr>
          <p:cNvPr id="7" name="矩形 6"/>
          <p:cNvSpPr>
            <a:spLocks noGrp="1"/>
          </p:cNvSpPr>
          <p:nvPr/>
        </p:nvSpPr>
        <p:spPr>
          <a:xfrm>
            <a:off x="1123950" y="2743200"/>
            <a:ext cx="9944100" cy="17526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短语：run straight into, stride up to sb.（大步向某人走去）,rush into（冲进）,hurry off to, move towards, edge towards, head towards, dash towards, pace up and down（踱来踱去，走来走去），run as fast as xxx’s legs could carry sb.（飞快地跑）</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跳（包含“脚”的一些说法）</a:t>
            </a:r>
            <a:endPar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723900"/>
          </a:xfrm>
          <a:prstGeom prst="roundRect">
            <a:avLst>
              <a:gd name="adj" fmla="val 1842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单词：jump ,leap, spring, skip（蹦蹦跳跳地走）</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190750"/>
            <a:ext cx="10439400" cy="723900"/>
          </a:xfrm>
          <a:prstGeom prst="roundRect">
            <a:avLst>
              <a:gd name="adj" fmla="val 18421"/>
            </a:avLst>
          </a:prstGeom>
          <a:solidFill>
            <a:srgbClr val="FFFAF5"/>
          </a:solidFill>
          <a:ln w="9525">
            <a:solidFill>
              <a:srgbClr val="FFBF86"/>
            </a:solidFill>
            <a:prstDash val="solid"/>
          </a:ln>
        </p:spPr>
      </p:sp>
      <p:sp>
        <p:nvSpPr>
          <p:cNvPr id="7" name="矩形 6"/>
          <p:cNvSpPr>
            <a:spLocks noGrp="1"/>
          </p:cNvSpPr>
          <p:nvPr/>
        </p:nvSpPr>
        <p:spPr>
          <a:xfrm>
            <a:off x="1123950" y="22669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短语：jump/rise to xxx’s feet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009900"/>
            <a:ext cx="10439400" cy="723900"/>
          </a:xfrm>
          <a:prstGeom prst="roundRect">
            <a:avLst>
              <a:gd name="adj" fmla="val 18421"/>
            </a:avLst>
          </a:prstGeom>
          <a:solidFill>
            <a:srgbClr val="FFFAF5"/>
          </a:solidFill>
          <a:ln w="9525">
            <a:solidFill>
              <a:srgbClr val="FFBF86"/>
            </a:solidFill>
            <a:prstDash val="solid"/>
          </a:ln>
        </p:spPr>
      </p:sp>
      <p:sp>
        <p:nvSpPr>
          <p:cNvPr id="9" name="矩形 8"/>
          <p:cNvSpPr>
            <a:spLocks noGrp="1"/>
          </p:cNvSpPr>
          <p:nvPr/>
        </p:nvSpPr>
        <p:spPr>
          <a:xfrm>
            <a:off x="1123950" y="30861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struggle to sb’s feet 挣扎地站起来</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829050"/>
            <a:ext cx="10439400" cy="723900"/>
          </a:xfrm>
          <a:prstGeom prst="roundRect">
            <a:avLst>
              <a:gd name="adj" fmla="val 18421"/>
            </a:avLst>
          </a:prstGeom>
          <a:solidFill>
            <a:srgbClr val="FFFAF5"/>
          </a:solidFill>
          <a:ln w="9525">
            <a:solidFill>
              <a:srgbClr val="FFBF86"/>
            </a:solidFill>
            <a:prstDash val="solid"/>
          </a:ln>
        </p:spPr>
      </p:sp>
      <p:sp>
        <p:nvSpPr>
          <p:cNvPr id="11" name="矩形 10"/>
          <p:cNvSpPr>
            <a:spLocks noGrp="1"/>
          </p:cNvSpPr>
          <p:nvPr/>
        </p:nvSpPr>
        <p:spPr>
          <a:xfrm>
            <a:off x="1123950" y="39052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stagger to sb’s feet 摇摇晃晃地站起来</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648200"/>
            <a:ext cx="10439400" cy="723900"/>
          </a:xfrm>
          <a:prstGeom prst="roundRect">
            <a:avLst>
              <a:gd name="adj" fmla="val 18421"/>
            </a:avLst>
          </a:prstGeom>
          <a:solidFill>
            <a:srgbClr val="FFFAF5"/>
          </a:solidFill>
          <a:ln w="9525">
            <a:solidFill>
              <a:srgbClr val="FFBF86"/>
            </a:solidFill>
            <a:prstDash val="solid"/>
          </a:ln>
        </p:spPr>
      </p:sp>
      <p:sp>
        <p:nvSpPr>
          <p:cNvPr id="13" name="矩形 12"/>
          <p:cNvSpPr>
            <a:spLocks noGrp="1"/>
          </p:cNvSpPr>
          <p:nvPr/>
        </p:nvSpPr>
        <p:spPr>
          <a:xfrm>
            <a:off x="1123950" y="47244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drag sb’s feet 拖着脚</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467350"/>
            <a:ext cx="10439400" cy="723900"/>
          </a:xfrm>
          <a:prstGeom prst="roundRect">
            <a:avLst>
              <a:gd name="adj" fmla="val 18421"/>
            </a:avLst>
          </a:prstGeom>
          <a:solidFill>
            <a:srgbClr val="FFFAF5"/>
          </a:solidFill>
          <a:ln w="9525">
            <a:solidFill>
              <a:srgbClr val="FFBF86"/>
            </a:solidFill>
            <a:prstDash val="solid"/>
          </a:ln>
        </p:spPr>
      </p:sp>
      <p:sp>
        <p:nvSpPr>
          <p:cNvPr id="15" name="矩形 14"/>
          <p:cNvSpPr>
            <a:spLocks noGrp="1"/>
          </p:cNvSpPr>
          <p:nvPr/>
        </p:nvSpPr>
        <p:spPr>
          <a:xfrm>
            <a:off x="1123950" y="55435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dance with joy手舞足蹈</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动词以及动词短语（构造</a:t>
            </a:r>
            <a:r>
              <a:rPr sz="2700" b="1" i="0" u="sng">
                <a:solidFill>
                  <a:srgbClr val="000000"/>
                </a:solidFill>
                <a:latin typeface="微软雅黑" panose="020B0503020204020204" charset="-122"/>
                <a:ea typeface="微软雅黑" panose="020B0503020204020204" charset="-122"/>
                <a:cs typeface="微软雅黑" panose="020B0503020204020204" charset="-122"/>
              </a:rPr>
              <a:t>动作链</a:t>
            </a:r>
            <a:r>
              <a:rPr sz="2700" b="1" i="0">
                <a:solidFill>
                  <a:srgbClr val="000000"/>
                </a:solidFill>
                <a:latin typeface="微软雅黑" panose="020B0503020204020204" charset="-122"/>
                <a:ea typeface="微软雅黑" panose="020B0503020204020204" charset="-122"/>
                <a:cs typeface="微软雅黑" panose="020B0503020204020204" charset="-122"/>
              </a:rPr>
              <a:t>使用）</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733550"/>
          </a:xfrm>
          <a:prstGeom prst="roundRect">
            <a:avLst>
              <a:gd name="adj" fmla="val 7692"/>
            </a:avLst>
          </a:prstGeom>
          <a:solidFill>
            <a:srgbClr val="FFF9DF"/>
          </a:solidFill>
          <a:ln w="9525">
            <a:solidFill>
              <a:srgbClr val="FFBF86"/>
            </a:solidFill>
            <a:prstDash val="solid"/>
          </a:ln>
        </p:spPr>
      </p:sp>
      <p:sp>
        <p:nvSpPr>
          <p:cNvPr id="5" name="矩形 4"/>
          <p:cNvSpPr>
            <a:spLocks noGrp="1"/>
          </p:cNvSpPr>
          <p:nvPr/>
        </p:nvSpPr>
        <p:spPr>
          <a:xfrm>
            <a:off x="1123950" y="1447800"/>
            <a:ext cx="9944100" cy="15811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抓</a:t>
            </a:r>
            <a:endParaRPr sz="21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单词：hold, catch, grab, grasp, snatch（夺去，抢走）</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短语：hold onto（紧紧抓住）</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200400"/>
            <a:ext cx="10439400" cy="1276350"/>
          </a:xfrm>
          <a:prstGeom prst="roundRect">
            <a:avLst>
              <a:gd name="adj" fmla="val 10448"/>
            </a:avLst>
          </a:prstGeom>
          <a:solidFill>
            <a:srgbClr val="FFF9DF"/>
          </a:solidFill>
          <a:ln w="9525">
            <a:solidFill>
              <a:srgbClr val="FFBF86"/>
            </a:solidFill>
            <a:prstDash val="solid"/>
          </a:ln>
        </p:spPr>
      </p:sp>
      <p:sp>
        <p:nvSpPr>
          <p:cNvPr id="7" name="矩形 6"/>
          <p:cNvSpPr>
            <a:spLocks noGrp="1"/>
          </p:cNvSpPr>
          <p:nvPr/>
        </p:nvSpPr>
        <p:spPr>
          <a:xfrm>
            <a:off x="1123950" y="3276600"/>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拍</a:t>
            </a:r>
            <a:endParaRPr sz="21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单词：pat 短语：pat on xxx’s shoulder</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572000"/>
            <a:ext cx="10439400" cy="1276350"/>
          </a:xfrm>
          <a:prstGeom prst="roundRect">
            <a:avLst>
              <a:gd name="adj" fmla="val 10448"/>
            </a:avLst>
          </a:prstGeom>
          <a:solidFill>
            <a:srgbClr val="FFF9DF"/>
          </a:solidFill>
          <a:ln w="9525">
            <a:solidFill>
              <a:srgbClr val="FFBF86"/>
            </a:solidFill>
            <a:prstDash val="solid"/>
          </a:ln>
        </p:spPr>
      </p:sp>
      <p:sp>
        <p:nvSpPr>
          <p:cNvPr id="9" name="矩形 8"/>
          <p:cNvSpPr>
            <a:spLocks noGrp="1"/>
          </p:cNvSpPr>
          <p:nvPr/>
        </p:nvSpPr>
        <p:spPr>
          <a:xfrm>
            <a:off x="1123950" y="4648200"/>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抱</a:t>
            </a:r>
            <a:endParaRPr sz="21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单词：hug, embrace</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说</a:t>
            </a:r>
            <a:endPar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552575"/>
          </a:xfrm>
          <a:prstGeom prst="roundRect">
            <a:avLst>
              <a:gd name="adj" fmla="val 8589"/>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4001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单词：say, speak, tell, talk, shout, scream, whisper, add, insist, declare, complain, explain, announce, respond, comfort, utter, yell, roar, murmur, sigh, mutter, stammer（结结巴巴地说）,sniff（不屑、不以为然地说）</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019425"/>
            <a:ext cx="10439400" cy="1200150"/>
          </a:xfrm>
          <a:prstGeom prst="roundRect">
            <a:avLst>
              <a:gd name="adj" fmla="val 11111"/>
            </a:avLst>
          </a:prstGeom>
          <a:solidFill>
            <a:srgbClr val="FFFAF5"/>
          </a:solidFill>
          <a:ln w="9525">
            <a:solidFill>
              <a:srgbClr val="FFBF86"/>
            </a:solidFill>
            <a:prstDash val="solid"/>
          </a:ln>
        </p:spPr>
      </p:sp>
      <p:sp>
        <p:nvSpPr>
          <p:cNvPr id="7" name="矩形 6"/>
          <p:cNvSpPr>
            <a:spLocks noGrp="1"/>
          </p:cNvSpPr>
          <p:nvPr/>
        </p:nvSpPr>
        <p:spPr>
          <a:xfrm>
            <a:off x="1123950" y="3095625"/>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短语：in a low tone/voice, in a gentle/soft tone, in whispers, with absolute certainty（斩钉截铁地说）</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副词</a:t>
            </a:r>
            <a:r>
              <a:rPr sz="2700" b="1" i="0" u="sng">
                <a:solidFill>
                  <a:srgbClr val="000000"/>
                </a:solidFill>
                <a:latin typeface="微软雅黑" panose="020B0503020204020204" charset="-122"/>
                <a:ea typeface="微软雅黑" panose="020B0503020204020204" charset="-122"/>
                <a:cs typeface="微软雅黑" panose="020B0503020204020204" charset="-122"/>
              </a:rPr>
              <a:t>（与动词搭配使用）</a:t>
            </a:r>
            <a:endParaRPr sz="2700" b="1"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866900"/>
          </a:xfrm>
          <a:prstGeom prst="roundRect">
            <a:avLst>
              <a:gd name="adj" fmla="val 7143"/>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714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gently, quietly, enthusiastically, sincerely, seriously, polietly, proudly, loudly, patiently, smoothly, steadily, encouragingly, happily, cheerfully, brightly, sadly, breathlessly, firmly, definitely, rudely,thoughtfully,tightly, calmly, deeply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514350" y="400050"/>
            <a:ext cx="2476500" cy="838200"/>
          </a:xfrm>
          <a:prstGeom prst="rect">
            <a:avLst/>
          </a:prstGeom>
          <a:solidFill>
            <a:srgbClr val="FFFFFF"/>
          </a:solidFill>
          <a:ln w="0">
            <a:noFill/>
            <a:prstDash val="solid"/>
          </a:ln>
        </p:spPr>
      </p:sp>
      <p:sp>
        <p:nvSpPr>
          <p:cNvPr id="3" name="圆角矩形 2"/>
          <p:cNvSpPr>
            <a:spLocks noGrp="1"/>
          </p:cNvSpPr>
          <p:nvPr/>
        </p:nvSpPr>
        <p:spPr>
          <a:xfrm>
            <a:off x="1466850" y="2190750"/>
            <a:ext cx="9258300" cy="2000250"/>
          </a:xfrm>
          <a:prstGeom prst="roundRect">
            <a:avLst>
              <a:gd name="adj" fmla="val 9524"/>
            </a:avLst>
          </a:prstGeom>
          <a:solidFill>
            <a:srgbClr val="FFF8F0"/>
          </a:solidFill>
          <a:ln w="15240">
            <a:solidFill>
              <a:srgbClr val="FF8B2D"/>
            </a:solidFill>
            <a:prstDash val="solid"/>
          </a:ln>
        </p:spPr>
      </p:sp>
      <p:sp>
        <p:nvSpPr>
          <p:cNvPr id="4" name="矩形 3"/>
          <p:cNvSpPr>
            <a:spLocks noGrp="1"/>
          </p:cNvSpPr>
          <p:nvPr/>
        </p:nvSpPr>
        <p:spPr>
          <a:xfrm>
            <a:off x="2000250" y="2686050"/>
            <a:ext cx="8191500" cy="914400"/>
          </a:xfrm>
          <a:prstGeom prst="rect">
            <a:avLst/>
          </a:prstGeom>
          <a:noFill/>
          <a:ln w="0">
            <a:noFill/>
            <a:prstDash val="solid"/>
          </a:ln>
        </p:spPr>
        <p:txBody>
          <a:bodyPr wrap="square" lIns="76200" tIns="0" rIns="76200" bIns="0" anchor="ctr"/>
          <a:lstStyle/>
          <a:p>
            <a:pPr algn="ctr">
              <a:lnSpc>
                <a:spcPct val="100000"/>
              </a:lnSpc>
              <a:buNone/>
              <a:defRPr sz="3150">
                <a:latin typeface="微软雅黑" panose="020B0503020204020204" charset="-122"/>
                <a:ea typeface="微软雅黑" panose="020B0503020204020204" charset="-122"/>
                <a:cs typeface="微软雅黑" panose="020B0503020204020204" charset="-122"/>
              </a:defRPr>
            </a:pPr>
            <a:r>
              <a:rPr sz="3150" b="1" i="0">
                <a:solidFill>
                  <a:srgbClr val="000000"/>
                </a:solidFill>
                <a:latin typeface="微软雅黑" panose="020B0503020204020204" charset="-122"/>
                <a:ea typeface="微软雅黑" panose="020B0503020204020204" charset="-122"/>
                <a:cs typeface="微软雅黑" panose="020B0503020204020204" charset="-122"/>
              </a:rPr>
              <a:t>形容词（描写人物+描写环境）</a:t>
            </a:r>
            <a:endParaRPr sz="315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4533900" y="3714750"/>
            <a:ext cx="3124200" cy="361950"/>
          </a:xfrm>
          <a:prstGeom prst="rect">
            <a:avLst/>
          </a:prstGeom>
          <a:noFill/>
          <a:ln w="0">
            <a:noFill/>
            <a:prstDash val="solid"/>
          </a:ln>
        </p:spPr>
        <p:txBody>
          <a:bodyPr wrap="square" lIns="0" tIns="0" rIns="0" bIns="0" anchor="ctr"/>
          <a:lstStyle/>
          <a:p>
            <a:pPr algn="ctr">
              <a:lnSpc>
                <a:spcPct val="106000"/>
              </a:lnSpc>
              <a:buNone/>
              <a:defRPr sz="1575">
                <a:latin typeface="微软雅黑" panose="020B0503020204020204" charset="-122"/>
                <a:ea typeface="微软雅黑" panose="020B0503020204020204" charset="-122"/>
                <a:cs typeface="微软雅黑" panose="020B0503020204020204" charset="-122"/>
              </a:defRPr>
            </a:pPr>
            <a:r>
              <a:rPr sz="1575" b="1" i="0">
                <a:solidFill>
                  <a:srgbClr val="5A2A10"/>
                </a:solidFill>
                <a:latin typeface="微软雅黑" panose="020B0503020204020204" charset="-122"/>
                <a:ea typeface="微软雅黑" panose="020B0503020204020204" charset="-122"/>
                <a:cs typeface="微软雅黑" panose="020B0503020204020204" charset="-122"/>
              </a:rPr>
              <a:t>词汇/短语部分</a:t>
            </a:r>
            <a:endParaRPr sz="1575"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rPr>
              <a:t>描写人物</a:t>
            </a:r>
            <a:endParaRPr sz="2700" b="1" i="0">
              <a:solidFill>
                <a:srgbClr val="000000"/>
              </a:solidFill>
              <a:highlight>
                <a:srgbClr val="FFF49C"/>
              </a:highlight>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390650"/>
          </a:xfrm>
          <a:prstGeom prst="roundRect">
            <a:avLst>
              <a:gd name="adj" fmla="val 9589"/>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2382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外貌：fair白皙的，pale苍白的， tanned晒黑的，rosy红润的，well-built身体强壮的，overweight肥胖的，middle-sized中等身材的，attractive有吸引力的，charming迷人的</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857500"/>
            <a:ext cx="10439400" cy="1390650"/>
          </a:xfrm>
          <a:prstGeom prst="roundRect">
            <a:avLst>
              <a:gd name="adj" fmla="val 9589"/>
            </a:avLst>
          </a:prstGeom>
          <a:solidFill>
            <a:srgbClr val="FFFAF5"/>
          </a:solidFill>
          <a:ln w="9525">
            <a:solidFill>
              <a:srgbClr val="FFBF86"/>
            </a:solidFill>
            <a:prstDash val="solid"/>
          </a:ln>
        </p:spPr>
      </p:sp>
      <p:sp>
        <p:nvSpPr>
          <p:cNvPr id="7" name="矩形 6"/>
          <p:cNvSpPr>
            <a:spLocks noGrp="1"/>
          </p:cNvSpPr>
          <p:nvPr/>
        </p:nvSpPr>
        <p:spPr>
          <a:xfrm>
            <a:off x="1123950" y="2933700"/>
            <a:ext cx="9944100" cy="12382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品格：warm-hearted, patient, considerate, strong-willed, mean, generous, brave, determined, lively, optimistic, inquiring, narrow-minded, easy-going, arrogant, sense of duty/responsibility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343400"/>
            <a:ext cx="10439400" cy="714375"/>
          </a:xfrm>
          <a:prstGeom prst="roundRect">
            <a:avLst>
              <a:gd name="adj" fmla="val 18667"/>
            </a:avLst>
          </a:prstGeom>
          <a:solidFill>
            <a:srgbClr val="FFFAF5"/>
          </a:solidFill>
          <a:ln w="9525">
            <a:solidFill>
              <a:srgbClr val="FFBF86"/>
            </a:solidFill>
            <a:prstDash val="solid"/>
          </a:ln>
        </p:spPr>
      </p:sp>
      <p:sp>
        <p:nvSpPr>
          <p:cNvPr id="9" name="矩形 8"/>
          <p:cNvSpPr>
            <a:spLocks noGrp="1"/>
          </p:cNvSpPr>
          <p:nvPr/>
        </p:nvSpPr>
        <p:spPr>
          <a:xfrm>
            <a:off x="1123950" y="4419600"/>
            <a:ext cx="9944100" cy="5619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FF0000"/>
                </a:solidFill>
                <a:latin typeface="微软雅黑" panose="020B0503020204020204" charset="-122"/>
                <a:ea typeface="微软雅黑" panose="020B0503020204020204" charset="-122"/>
                <a:cs typeface="微软雅黑" panose="020B0503020204020204" charset="-122"/>
              </a:rPr>
              <a:t>情绪：</a:t>
            </a:r>
            <a:r>
              <a:rPr sz="2100" b="0" i="0">
                <a:solidFill>
                  <a:srgbClr val="000000"/>
                </a:solidFill>
                <a:latin typeface="微软雅黑" panose="020B0503020204020204" charset="-122"/>
                <a:ea typeface="微软雅黑" panose="020B0503020204020204" charset="-122"/>
                <a:cs typeface="微软雅黑" panose="020B0503020204020204" charset="-122"/>
              </a:rPr>
              <a:t>glad, cheerful, overjoyed, merry, thrilled极为激动、兴奋,</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5153025"/>
            <a:ext cx="10439400" cy="1038225"/>
          </a:xfrm>
          <a:prstGeom prst="roundRect">
            <a:avLst>
              <a:gd name="adj" fmla="val 12844"/>
            </a:avLst>
          </a:prstGeom>
          <a:solidFill>
            <a:srgbClr val="FFFAF5"/>
          </a:solidFill>
          <a:ln w="9525">
            <a:solidFill>
              <a:srgbClr val="FFBF86"/>
            </a:solidFill>
            <a:prstDash val="solid"/>
          </a:ln>
        </p:spPr>
      </p:sp>
      <p:sp>
        <p:nvSpPr>
          <p:cNvPr id="11" name="矩形 10"/>
          <p:cNvSpPr>
            <a:spLocks noGrp="1"/>
          </p:cNvSpPr>
          <p:nvPr/>
        </p:nvSpPr>
        <p:spPr>
          <a:xfrm>
            <a:off x="1123950" y="5229225"/>
            <a:ext cx="9944100" cy="88582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incredible/unbelievable,afraid,scared,frightened,angry,annoyed,terrible, sad, heart-broken, miserable, frustrated</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描写环境</a:t>
            </a:r>
            <a:r>
              <a:rPr sz="2700" b="1" i="0">
                <a:solidFill>
                  <a:srgbClr val="5A2A10"/>
                </a:solidFill>
                <a:latin typeface="微软雅黑" panose="020B0503020204020204" charset="-122"/>
                <a:ea typeface="微软雅黑" panose="020B0503020204020204" charset="-122"/>
                <a:cs typeface="微软雅黑" panose="020B0503020204020204" charset="-122"/>
              </a:rPr>
              <a:t>  (1/6)</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1376045"/>
            <a:ext cx="10439400" cy="2195830"/>
          </a:xfrm>
          <a:prstGeom prst="roundRect">
            <a:avLst>
              <a:gd name="adj" fmla="val 9589"/>
            </a:avLst>
          </a:prstGeom>
          <a:solidFill>
            <a:srgbClr val="FFFAF5"/>
          </a:solidFill>
          <a:ln w="9525">
            <a:solidFill>
              <a:srgbClr val="FFBF86"/>
            </a:solidFill>
            <a:prstDash val="solid"/>
          </a:ln>
        </p:spPr>
      </p:sp>
      <p:sp>
        <p:nvSpPr>
          <p:cNvPr id="7" name="矩形 6"/>
          <p:cNvSpPr>
            <a:spLocks noGrp="1"/>
          </p:cNvSpPr>
          <p:nvPr/>
        </p:nvSpPr>
        <p:spPr>
          <a:xfrm>
            <a:off x="1123950" y="2113915"/>
            <a:ext cx="9944100" cy="12382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山：hill, mountain, peak, cave, valley→与形容词搭配：gentle平缓的，rocky多岩石的，rolling起伏的，steep陡峭的，bare光秃秃的，grassy多草的，towering高耸的，snowy积雪覆盖的，forested草木丛生的，wooded树木茂盛的</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667125"/>
            <a:ext cx="10439400" cy="1390650"/>
          </a:xfrm>
          <a:prstGeom prst="roundRect">
            <a:avLst>
              <a:gd name="adj" fmla="val 9589"/>
            </a:avLst>
          </a:prstGeom>
          <a:solidFill>
            <a:srgbClr val="FFFAF5"/>
          </a:solidFill>
          <a:ln w="9525">
            <a:solidFill>
              <a:srgbClr val="FFBF86"/>
            </a:solidFill>
            <a:prstDash val="solid"/>
          </a:ln>
        </p:spPr>
      </p:sp>
      <p:sp>
        <p:nvSpPr>
          <p:cNvPr id="9" name="矩形 8"/>
          <p:cNvSpPr>
            <a:spLocks noGrp="1"/>
          </p:cNvSpPr>
          <p:nvPr/>
        </p:nvSpPr>
        <p:spPr>
          <a:xfrm>
            <a:off x="1123950" y="3743325"/>
            <a:ext cx="9944100" cy="12382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水：stream小溪，river，lake，shallows浅滩，sea→与形容词搭配：deep，clear，blue，rough，calm/smooth平静的，winding蜿蜒曲折的，fast-flowing水流湍急的，slow-moving流动缓慢的</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5153025"/>
            <a:ext cx="10439400" cy="1038225"/>
          </a:xfrm>
          <a:prstGeom prst="roundRect">
            <a:avLst>
              <a:gd name="adj" fmla="val 12844"/>
            </a:avLst>
          </a:prstGeom>
          <a:solidFill>
            <a:srgbClr val="FFFAF5"/>
          </a:solidFill>
          <a:ln w="9525">
            <a:solidFill>
              <a:srgbClr val="FFBF86"/>
            </a:solidFill>
            <a:prstDash val="solid"/>
          </a:ln>
        </p:spPr>
      </p:sp>
      <p:sp>
        <p:nvSpPr>
          <p:cNvPr id="11" name="矩形 10"/>
          <p:cNvSpPr>
            <a:spLocks noGrp="1"/>
          </p:cNvSpPr>
          <p:nvPr/>
        </p:nvSpPr>
        <p:spPr>
          <a:xfrm>
            <a:off x="1123950" y="5229225"/>
            <a:ext cx="9944100" cy="88582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风：wind，typhoon，hurricane飓风，breeze微风，tornado龙卷风→与形容词搭配：strong，terrible，slight，cold，icy，bitter，biting刺骨的</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1123950" y="1591310"/>
            <a:ext cx="9944100" cy="5619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单词：</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描写环境</a:t>
            </a:r>
            <a:r>
              <a:rPr sz="2700" b="1" i="0">
                <a:solidFill>
                  <a:srgbClr val="5A2A10"/>
                </a:solidFill>
                <a:latin typeface="微软雅黑" panose="020B0503020204020204" charset="-122"/>
                <a:ea typeface="微软雅黑" panose="020B0503020204020204" charset="-122"/>
                <a:cs typeface="微软雅黑" panose="020B0503020204020204" charset="-122"/>
              </a:rPr>
              <a:t>  (2/6)</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723900"/>
          </a:xfrm>
          <a:prstGeom prst="roundRect">
            <a:avLst>
              <a:gd name="adj" fmla="val 1842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雨：rain，shower，storm，flood，drizzle细雨</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190750"/>
            <a:ext cx="10439400" cy="723900"/>
          </a:xfrm>
          <a:prstGeom prst="roundRect">
            <a:avLst>
              <a:gd name="adj" fmla="val 18421"/>
            </a:avLst>
          </a:prstGeom>
          <a:solidFill>
            <a:srgbClr val="FFFAF5"/>
          </a:solidFill>
          <a:ln w="9525">
            <a:solidFill>
              <a:srgbClr val="FFBF86"/>
            </a:solidFill>
            <a:prstDash val="solid"/>
          </a:ln>
        </p:spPr>
      </p:sp>
      <p:sp>
        <p:nvSpPr>
          <p:cNvPr id="7" name="矩形 6"/>
          <p:cNvSpPr>
            <a:spLocks noGrp="1"/>
          </p:cNvSpPr>
          <p:nvPr/>
        </p:nvSpPr>
        <p:spPr>
          <a:xfrm>
            <a:off x="1123950" y="22669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雪：snow，snowstorm，blizzard暴风雪，snowflake雪花</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009900"/>
            <a:ext cx="10439400" cy="723900"/>
          </a:xfrm>
          <a:prstGeom prst="roundRect">
            <a:avLst>
              <a:gd name="adj" fmla="val 18421"/>
            </a:avLst>
          </a:prstGeom>
          <a:solidFill>
            <a:srgbClr val="FFFAF5"/>
          </a:solidFill>
          <a:ln w="9525">
            <a:solidFill>
              <a:srgbClr val="FFBF86"/>
            </a:solidFill>
            <a:prstDash val="solid"/>
          </a:ln>
        </p:spPr>
      </p:sp>
      <p:sp>
        <p:nvSpPr>
          <p:cNvPr id="9" name="矩形 8"/>
          <p:cNvSpPr>
            <a:spLocks noGrp="1"/>
          </p:cNvSpPr>
          <p:nvPr/>
        </p:nvSpPr>
        <p:spPr>
          <a:xfrm>
            <a:off x="1123950" y="30861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树：tree，forest，woods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829050"/>
            <a:ext cx="10439400" cy="723900"/>
          </a:xfrm>
          <a:prstGeom prst="roundRect">
            <a:avLst>
              <a:gd name="adj" fmla="val 18421"/>
            </a:avLst>
          </a:prstGeom>
          <a:solidFill>
            <a:srgbClr val="FFFAF5"/>
          </a:solidFill>
          <a:ln w="9525">
            <a:solidFill>
              <a:srgbClr val="FFBF86"/>
            </a:solidFill>
            <a:prstDash val="solid"/>
          </a:ln>
        </p:spPr>
      </p:sp>
      <p:sp>
        <p:nvSpPr>
          <p:cNvPr id="11" name="矩形 10"/>
          <p:cNvSpPr>
            <a:spLocks noGrp="1"/>
          </p:cNvSpPr>
          <p:nvPr/>
        </p:nvSpPr>
        <p:spPr>
          <a:xfrm>
            <a:off x="1123950" y="39052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短语：listen to the water rolling down the river听着河水潺潺而下</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648200"/>
            <a:ext cx="10439400" cy="723900"/>
          </a:xfrm>
          <a:prstGeom prst="roundRect">
            <a:avLst>
              <a:gd name="adj" fmla="val 18421"/>
            </a:avLst>
          </a:prstGeom>
          <a:solidFill>
            <a:srgbClr val="FFFAF5"/>
          </a:solidFill>
          <a:ln w="9525">
            <a:solidFill>
              <a:srgbClr val="FFBF86"/>
            </a:solidFill>
            <a:prstDash val="solid"/>
          </a:ln>
        </p:spPr>
      </p:sp>
      <p:sp>
        <p:nvSpPr>
          <p:cNvPr id="13" name="矩形 12"/>
          <p:cNvSpPr>
            <a:spLocks noGrp="1"/>
          </p:cNvSpPr>
          <p:nvPr/>
        </p:nvSpPr>
        <p:spPr>
          <a:xfrm>
            <a:off x="1123950" y="47244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winding/running/gurgling stream蜿蜒的/奔流的/潺潺的小溪</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467350"/>
            <a:ext cx="10439400" cy="723900"/>
          </a:xfrm>
          <a:prstGeom prst="roundRect">
            <a:avLst>
              <a:gd name="adj" fmla="val 18421"/>
            </a:avLst>
          </a:prstGeom>
          <a:solidFill>
            <a:srgbClr val="FFFAF5"/>
          </a:solidFill>
          <a:ln w="9525">
            <a:solidFill>
              <a:srgbClr val="FFBF86"/>
            </a:solidFill>
            <a:prstDash val="solid"/>
          </a:ln>
        </p:spPr>
      </p:sp>
      <p:sp>
        <p:nvSpPr>
          <p:cNvPr id="15" name="矩形 14"/>
          <p:cNvSpPr>
            <a:spLocks noGrp="1"/>
          </p:cNvSpPr>
          <p:nvPr/>
        </p:nvSpPr>
        <p:spPr>
          <a:xfrm>
            <a:off x="1123950" y="55435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low and rolling hills山势低缓，连绵起伏</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描写环境</a:t>
            </a:r>
            <a:r>
              <a:rPr sz="2700" b="1" i="0">
                <a:solidFill>
                  <a:srgbClr val="5A2A10"/>
                </a:solidFill>
                <a:latin typeface="微软雅黑" panose="020B0503020204020204" charset="-122"/>
                <a:ea typeface="微软雅黑" panose="020B0503020204020204" charset="-122"/>
                <a:cs typeface="微软雅黑" panose="020B0503020204020204" charset="-122"/>
              </a:rPr>
              <a:t>  (3/6)</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723900"/>
          </a:xfrm>
          <a:prstGeom prst="roundRect">
            <a:avLst>
              <a:gd name="adj" fmla="val 1842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steep mountains陡峭的山</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190750"/>
            <a:ext cx="10439400" cy="723900"/>
          </a:xfrm>
          <a:prstGeom prst="roundRect">
            <a:avLst>
              <a:gd name="adj" fmla="val 18421"/>
            </a:avLst>
          </a:prstGeom>
          <a:solidFill>
            <a:srgbClr val="FFFAF5"/>
          </a:solidFill>
          <a:ln w="9525">
            <a:solidFill>
              <a:srgbClr val="FFBF86"/>
            </a:solidFill>
            <a:prstDash val="solid"/>
          </a:ln>
        </p:spPr>
      </p:sp>
      <p:sp>
        <p:nvSpPr>
          <p:cNvPr id="7" name="矩形 6"/>
          <p:cNvSpPr>
            <a:spLocks noGrp="1"/>
          </p:cNvSpPr>
          <p:nvPr/>
        </p:nvSpPr>
        <p:spPr>
          <a:xfrm>
            <a:off x="1123950" y="22669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snow-covered peaks积雪覆盖的山峰</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009900"/>
            <a:ext cx="10439400" cy="723900"/>
          </a:xfrm>
          <a:prstGeom prst="roundRect">
            <a:avLst>
              <a:gd name="adj" fmla="val 18421"/>
            </a:avLst>
          </a:prstGeom>
          <a:solidFill>
            <a:srgbClr val="FFFAF5"/>
          </a:solidFill>
          <a:ln w="9525">
            <a:solidFill>
              <a:srgbClr val="FFBF86"/>
            </a:solidFill>
            <a:prstDash val="solid"/>
          </a:ln>
        </p:spPr>
      </p:sp>
      <p:sp>
        <p:nvSpPr>
          <p:cNvPr id="9" name="矩形 8"/>
          <p:cNvSpPr>
            <a:spLocks noGrp="1"/>
          </p:cNvSpPr>
          <p:nvPr/>
        </p:nvSpPr>
        <p:spPr>
          <a:xfrm>
            <a:off x="1123950" y="30861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deep valley深谷</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829050"/>
            <a:ext cx="10439400" cy="723900"/>
          </a:xfrm>
          <a:prstGeom prst="roundRect">
            <a:avLst>
              <a:gd name="adj" fmla="val 18421"/>
            </a:avLst>
          </a:prstGeom>
          <a:solidFill>
            <a:srgbClr val="FFFAF5"/>
          </a:solidFill>
          <a:ln w="9525">
            <a:solidFill>
              <a:srgbClr val="FFBF86"/>
            </a:solidFill>
            <a:prstDash val="solid"/>
          </a:ln>
        </p:spPr>
      </p:sp>
      <p:sp>
        <p:nvSpPr>
          <p:cNvPr id="11" name="矩形 10"/>
          <p:cNvSpPr>
            <a:spLocks noGrp="1"/>
          </p:cNvSpPr>
          <p:nvPr/>
        </p:nvSpPr>
        <p:spPr>
          <a:xfrm>
            <a:off x="1123950" y="39052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gentle breeze温柔的微风</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648200"/>
            <a:ext cx="10439400" cy="723900"/>
          </a:xfrm>
          <a:prstGeom prst="roundRect">
            <a:avLst>
              <a:gd name="adj" fmla="val 18421"/>
            </a:avLst>
          </a:prstGeom>
          <a:solidFill>
            <a:srgbClr val="FFFAF5"/>
          </a:solidFill>
          <a:ln w="9525">
            <a:solidFill>
              <a:srgbClr val="FFBF86"/>
            </a:solidFill>
            <a:prstDash val="solid"/>
          </a:ln>
        </p:spPr>
      </p:sp>
      <p:sp>
        <p:nvSpPr>
          <p:cNvPr id="13" name="矩形 12"/>
          <p:cNvSpPr>
            <a:spLocks noGrp="1"/>
          </p:cNvSpPr>
          <p:nvPr/>
        </p:nvSpPr>
        <p:spPr>
          <a:xfrm>
            <a:off x="1123950" y="47244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heavy/light rain 大、小雨</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467350"/>
            <a:ext cx="10439400" cy="723900"/>
          </a:xfrm>
          <a:prstGeom prst="roundRect">
            <a:avLst>
              <a:gd name="adj" fmla="val 18421"/>
            </a:avLst>
          </a:prstGeom>
          <a:solidFill>
            <a:srgbClr val="FFFAF5"/>
          </a:solidFill>
          <a:ln w="9525">
            <a:solidFill>
              <a:srgbClr val="FFBF86"/>
            </a:solidFill>
            <a:prstDash val="solid"/>
          </a:ln>
        </p:spPr>
      </p:sp>
      <p:sp>
        <p:nvSpPr>
          <p:cNvPr id="15" name="矩形 14"/>
          <p:cNvSpPr>
            <a:spLocks noGrp="1"/>
          </p:cNvSpPr>
          <p:nvPr/>
        </p:nvSpPr>
        <p:spPr>
          <a:xfrm>
            <a:off x="1123950" y="55435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howling wind 嚎叫的风</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描写环境</a:t>
            </a:r>
            <a:r>
              <a:rPr sz="2700" b="1" i="0">
                <a:solidFill>
                  <a:srgbClr val="5A2A10"/>
                </a:solidFill>
                <a:latin typeface="微软雅黑" panose="020B0503020204020204" charset="-122"/>
                <a:ea typeface="微软雅黑" panose="020B0503020204020204" charset="-122"/>
                <a:cs typeface="微软雅黑" panose="020B0503020204020204" charset="-122"/>
              </a:rPr>
              <a:t>  (4/6)</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723900"/>
          </a:xfrm>
          <a:prstGeom prst="roundRect">
            <a:avLst>
              <a:gd name="adj" fmla="val 1842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be destroyed in a typhoon 被台风摧毁</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190750"/>
            <a:ext cx="10439400" cy="723900"/>
          </a:xfrm>
          <a:prstGeom prst="roundRect">
            <a:avLst>
              <a:gd name="adj" fmla="val 18421"/>
            </a:avLst>
          </a:prstGeom>
          <a:solidFill>
            <a:srgbClr val="FFFAF5"/>
          </a:solidFill>
          <a:ln w="9525">
            <a:solidFill>
              <a:srgbClr val="FFBF86"/>
            </a:solidFill>
            <a:prstDash val="solid"/>
          </a:ln>
        </p:spPr>
      </p:sp>
      <p:sp>
        <p:nvSpPr>
          <p:cNvPr id="7" name="矩形 6"/>
          <p:cNvSpPr>
            <a:spLocks noGrp="1"/>
          </p:cNvSpPr>
          <p:nvPr/>
        </p:nvSpPr>
        <p:spPr>
          <a:xfrm>
            <a:off x="1123950" y="22669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get caught in the rain 遇上雨</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009900"/>
            <a:ext cx="10439400" cy="723900"/>
          </a:xfrm>
          <a:prstGeom prst="roundRect">
            <a:avLst>
              <a:gd name="adj" fmla="val 18421"/>
            </a:avLst>
          </a:prstGeom>
          <a:solidFill>
            <a:srgbClr val="FFFAF5"/>
          </a:solidFill>
          <a:ln w="9525">
            <a:solidFill>
              <a:srgbClr val="FFBF86"/>
            </a:solidFill>
            <a:prstDash val="solid"/>
          </a:ln>
        </p:spPr>
      </p:sp>
      <p:sp>
        <p:nvSpPr>
          <p:cNvPr id="9" name="矩形 8"/>
          <p:cNvSpPr>
            <a:spLocks noGrp="1"/>
          </p:cNvSpPr>
          <p:nvPr/>
        </p:nvSpPr>
        <p:spPr>
          <a:xfrm>
            <a:off x="1123950" y="30861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pour with the rain下着倾盆大雨</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829050"/>
            <a:ext cx="10439400" cy="723900"/>
          </a:xfrm>
          <a:prstGeom prst="roundRect">
            <a:avLst>
              <a:gd name="adj" fmla="val 18421"/>
            </a:avLst>
          </a:prstGeom>
          <a:solidFill>
            <a:srgbClr val="FFFAF5"/>
          </a:solidFill>
          <a:ln w="9525">
            <a:solidFill>
              <a:srgbClr val="FFBF86"/>
            </a:solidFill>
            <a:prstDash val="solid"/>
          </a:ln>
        </p:spPr>
      </p:sp>
      <p:sp>
        <p:nvSpPr>
          <p:cNvPr id="11" name="矩形 10"/>
          <p:cNvSpPr>
            <a:spLocks noGrp="1"/>
          </p:cNvSpPr>
          <p:nvPr/>
        </p:nvSpPr>
        <p:spPr>
          <a:xfrm>
            <a:off x="1123950" y="39052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in the dim light在昏暗的灯光下</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648200"/>
            <a:ext cx="10439400" cy="723900"/>
          </a:xfrm>
          <a:prstGeom prst="roundRect">
            <a:avLst>
              <a:gd name="adj" fmla="val 18421"/>
            </a:avLst>
          </a:prstGeom>
          <a:solidFill>
            <a:srgbClr val="FFFAF5"/>
          </a:solidFill>
          <a:ln w="9525">
            <a:solidFill>
              <a:srgbClr val="FFBF86"/>
            </a:solidFill>
            <a:prstDash val="solid"/>
          </a:ln>
        </p:spPr>
      </p:sp>
      <p:sp>
        <p:nvSpPr>
          <p:cNvPr id="13" name="矩形 12"/>
          <p:cNvSpPr>
            <a:spLocks noGrp="1"/>
          </p:cNvSpPr>
          <p:nvPr/>
        </p:nvSpPr>
        <p:spPr>
          <a:xfrm>
            <a:off x="1123950" y="47244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burning sunshine灼热的阳光</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467350"/>
            <a:ext cx="10439400" cy="723900"/>
          </a:xfrm>
          <a:prstGeom prst="roundRect">
            <a:avLst>
              <a:gd name="adj" fmla="val 18421"/>
            </a:avLst>
          </a:prstGeom>
          <a:solidFill>
            <a:srgbClr val="FFFAF5"/>
          </a:solidFill>
          <a:ln w="9525">
            <a:solidFill>
              <a:srgbClr val="FFBF86"/>
            </a:solidFill>
            <a:prstDash val="solid"/>
          </a:ln>
        </p:spPr>
      </p:sp>
      <p:sp>
        <p:nvSpPr>
          <p:cNvPr id="15" name="矩形 14"/>
          <p:cNvSpPr>
            <a:spLocks noGrp="1"/>
          </p:cNvSpPr>
          <p:nvPr/>
        </p:nvSpPr>
        <p:spPr>
          <a:xfrm>
            <a:off x="1123950" y="55435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bathe in the sun沐浴在阳光下</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描写环境</a:t>
            </a:r>
            <a:r>
              <a:rPr sz="2700" b="1" i="0">
                <a:solidFill>
                  <a:srgbClr val="5A2A10"/>
                </a:solidFill>
                <a:latin typeface="微软雅黑" panose="020B0503020204020204" charset="-122"/>
                <a:ea typeface="微软雅黑" panose="020B0503020204020204" charset="-122"/>
                <a:cs typeface="微软雅黑" panose="020B0503020204020204" charset="-122"/>
              </a:rPr>
              <a:t>  (5/6)</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723900"/>
          </a:xfrm>
          <a:prstGeom prst="roundRect">
            <a:avLst>
              <a:gd name="adj" fmla="val 1842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with the sun rising/setting日升、日落</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190750"/>
            <a:ext cx="10439400" cy="723900"/>
          </a:xfrm>
          <a:prstGeom prst="roundRect">
            <a:avLst>
              <a:gd name="adj" fmla="val 18421"/>
            </a:avLst>
          </a:prstGeom>
          <a:solidFill>
            <a:srgbClr val="FFFAF5"/>
          </a:solidFill>
          <a:ln w="9525">
            <a:solidFill>
              <a:srgbClr val="FFBF86"/>
            </a:solidFill>
            <a:prstDash val="solid"/>
          </a:ln>
        </p:spPr>
      </p:sp>
      <p:sp>
        <p:nvSpPr>
          <p:cNvPr id="7" name="矩形 6"/>
          <p:cNvSpPr>
            <a:spLocks noGrp="1"/>
          </p:cNvSpPr>
          <p:nvPr/>
        </p:nvSpPr>
        <p:spPr>
          <a:xfrm>
            <a:off x="1123950" y="22669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misty clouds雾霭</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009900"/>
            <a:ext cx="10439400" cy="723900"/>
          </a:xfrm>
          <a:prstGeom prst="roundRect">
            <a:avLst>
              <a:gd name="adj" fmla="val 18421"/>
            </a:avLst>
          </a:prstGeom>
          <a:solidFill>
            <a:srgbClr val="FFFAF5"/>
          </a:solidFill>
          <a:ln w="9525">
            <a:solidFill>
              <a:srgbClr val="FFBF86"/>
            </a:solidFill>
            <a:prstDash val="solid"/>
          </a:ln>
        </p:spPr>
      </p:sp>
      <p:sp>
        <p:nvSpPr>
          <p:cNvPr id="9" name="矩形 8"/>
          <p:cNvSpPr>
            <a:spLocks noGrp="1"/>
          </p:cNvSpPr>
          <p:nvPr/>
        </p:nvSpPr>
        <p:spPr>
          <a:xfrm>
            <a:off x="1123950" y="30861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thundering clouds 带着雷电的云</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829050"/>
            <a:ext cx="10439400" cy="723900"/>
          </a:xfrm>
          <a:prstGeom prst="roundRect">
            <a:avLst>
              <a:gd name="adj" fmla="val 18421"/>
            </a:avLst>
          </a:prstGeom>
          <a:solidFill>
            <a:srgbClr val="FFFAF5"/>
          </a:solidFill>
          <a:ln w="9525">
            <a:solidFill>
              <a:srgbClr val="FFBF86"/>
            </a:solidFill>
            <a:prstDash val="solid"/>
          </a:ln>
        </p:spPr>
      </p:sp>
      <p:sp>
        <p:nvSpPr>
          <p:cNvPr id="11" name="矩形 10"/>
          <p:cNvSpPr>
            <a:spLocks noGrp="1"/>
          </p:cNvSpPr>
          <p:nvPr/>
        </p:nvSpPr>
        <p:spPr>
          <a:xfrm>
            <a:off x="1123950" y="39052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deep blue sky湛蓝的天空</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648200"/>
            <a:ext cx="10439400" cy="723900"/>
          </a:xfrm>
          <a:prstGeom prst="roundRect">
            <a:avLst>
              <a:gd name="adj" fmla="val 18421"/>
            </a:avLst>
          </a:prstGeom>
          <a:solidFill>
            <a:srgbClr val="FFFAF5"/>
          </a:solidFill>
          <a:ln w="9525">
            <a:solidFill>
              <a:srgbClr val="FFBF86"/>
            </a:solidFill>
            <a:prstDash val="solid"/>
          </a:ln>
        </p:spPr>
      </p:sp>
      <p:sp>
        <p:nvSpPr>
          <p:cNvPr id="13" name="矩形 12"/>
          <p:cNvSpPr>
            <a:spLocks noGrp="1"/>
          </p:cNvSpPr>
          <p:nvPr/>
        </p:nvSpPr>
        <p:spPr>
          <a:xfrm>
            <a:off x="1123950" y="47244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deep cloudless sky万里无云的天空</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467350"/>
            <a:ext cx="10439400" cy="723900"/>
          </a:xfrm>
          <a:prstGeom prst="roundRect">
            <a:avLst>
              <a:gd name="adj" fmla="val 18421"/>
            </a:avLst>
          </a:prstGeom>
          <a:solidFill>
            <a:srgbClr val="FFFAF5"/>
          </a:solidFill>
          <a:ln w="9525">
            <a:solidFill>
              <a:srgbClr val="FFBF86"/>
            </a:solidFill>
            <a:prstDash val="solid"/>
          </a:ln>
        </p:spPr>
      </p:sp>
      <p:sp>
        <p:nvSpPr>
          <p:cNvPr id="15" name="矩形 14"/>
          <p:cNvSpPr>
            <a:spLocks noGrp="1"/>
          </p:cNvSpPr>
          <p:nvPr/>
        </p:nvSpPr>
        <p:spPr>
          <a:xfrm>
            <a:off x="1123950" y="55435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songs of the birds鸟儿的歌声</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描写环境</a:t>
            </a:r>
            <a:r>
              <a:rPr sz="2700" b="1" i="0">
                <a:solidFill>
                  <a:srgbClr val="5A2A10"/>
                </a:solidFill>
                <a:latin typeface="微软雅黑" panose="020B0503020204020204" charset="-122"/>
                <a:ea typeface="微软雅黑" panose="020B0503020204020204" charset="-122"/>
                <a:cs typeface="微软雅黑" panose="020B0503020204020204" charset="-122"/>
              </a:rPr>
              <a:t>  (6/6)</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876300"/>
          </a:xfrm>
          <a:prstGeom prst="roundRect">
            <a:avLst>
              <a:gd name="adj" fmla="val 15217"/>
            </a:avLst>
          </a:prstGeom>
          <a:solidFill>
            <a:srgbClr val="FFFAF5"/>
          </a:solidFill>
          <a:ln w="9525">
            <a:solidFill>
              <a:srgbClr val="FFBF86"/>
            </a:solidFill>
            <a:prstDash val="solid"/>
          </a:ln>
        </p:spPr>
      </p:sp>
      <p:sp>
        <p:nvSpPr>
          <p:cNvPr id="5" name="矩形 4"/>
          <p:cNvSpPr>
            <a:spLocks noGrp="1"/>
          </p:cNvSpPr>
          <p:nvPr/>
        </p:nvSpPr>
        <p:spPr>
          <a:xfrm>
            <a:off x="1123950" y="144780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fragrant flowers芬芳的花朵</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514350" y="400050"/>
            <a:ext cx="2476500" cy="838200"/>
          </a:xfrm>
          <a:prstGeom prst="rect">
            <a:avLst/>
          </a:prstGeom>
          <a:solidFill>
            <a:srgbClr val="FFFFFF"/>
          </a:solidFill>
          <a:ln w="0">
            <a:noFill/>
            <a:prstDash val="solid"/>
          </a:ln>
        </p:spPr>
      </p:sp>
      <p:sp>
        <p:nvSpPr>
          <p:cNvPr id="3" name="圆角矩形 2"/>
          <p:cNvSpPr>
            <a:spLocks noGrp="1"/>
          </p:cNvSpPr>
          <p:nvPr/>
        </p:nvSpPr>
        <p:spPr>
          <a:xfrm>
            <a:off x="1466850" y="2190750"/>
            <a:ext cx="9258300" cy="2000250"/>
          </a:xfrm>
          <a:prstGeom prst="roundRect">
            <a:avLst>
              <a:gd name="adj" fmla="val 9524"/>
            </a:avLst>
          </a:prstGeom>
          <a:solidFill>
            <a:srgbClr val="FFF8F0"/>
          </a:solidFill>
          <a:ln w="15240">
            <a:solidFill>
              <a:srgbClr val="FF8B2D"/>
            </a:solidFill>
            <a:prstDash val="solid"/>
          </a:ln>
        </p:spPr>
      </p:sp>
      <p:sp>
        <p:nvSpPr>
          <p:cNvPr id="4" name="矩形 3"/>
          <p:cNvSpPr>
            <a:spLocks noGrp="1"/>
          </p:cNvSpPr>
          <p:nvPr/>
        </p:nvSpPr>
        <p:spPr>
          <a:xfrm>
            <a:off x="2000250" y="2686050"/>
            <a:ext cx="8191500" cy="914400"/>
          </a:xfrm>
          <a:prstGeom prst="rect">
            <a:avLst/>
          </a:prstGeom>
          <a:noFill/>
          <a:ln w="0">
            <a:noFill/>
            <a:prstDash val="solid"/>
          </a:ln>
        </p:spPr>
        <p:txBody>
          <a:bodyPr wrap="square" lIns="76200" tIns="0" rIns="76200" bIns="0" anchor="ctr"/>
          <a:lstStyle/>
          <a:p>
            <a:pPr algn="ctr">
              <a:lnSpc>
                <a:spcPct val="100000"/>
              </a:lnSpc>
              <a:buNone/>
              <a:defRPr sz="3150">
                <a:latin typeface="微软雅黑" panose="020B0503020204020204" charset="-122"/>
                <a:ea typeface="微软雅黑" panose="020B0503020204020204" charset="-122"/>
                <a:cs typeface="微软雅黑" panose="020B0503020204020204" charset="-122"/>
              </a:defRPr>
            </a:pPr>
            <a:r>
              <a:rPr sz="3150" b="1" i="0">
                <a:solidFill>
                  <a:srgbClr val="000000"/>
                </a:solidFill>
                <a:latin typeface="微软雅黑" panose="020B0503020204020204" charset="-122"/>
                <a:ea typeface="微软雅黑" panose="020B0503020204020204" charset="-122"/>
                <a:cs typeface="微软雅黑" panose="020B0503020204020204" charset="-122"/>
              </a:rPr>
              <a:t>连接词 linking words</a:t>
            </a:r>
            <a:endParaRPr sz="315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4533900" y="3714750"/>
            <a:ext cx="3124200" cy="361950"/>
          </a:xfrm>
          <a:prstGeom prst="rect">
            <a:avLst/>
          </a:prstGeom>
          <a:noFill/>
          <a:ln w="0">
            <a:noFill/>
            <a:prstDash val="solid"/>
          </a:ln>
        </p:spPr>
        <p:txBody>
          <a:bodyPr wrap="square" lIns="0" tIns="0" rIns="0" bIns="0" anchor="ctr"/>
          <a:lstStyle/>
          <a:p>
            <a:pPr algn="ctr">
              <a:lnSpc>
                <a:spcPct val="106000"/>
              </a:lnSpc>
              <a:buNone/>
              <a:defRPr sz="1575">
                <a:latin typeface="微软雅黑" panose="020B0503020204020204" charset="-122"/>
                <a:ea typeface="微软雅黑" panose="020B0503020204020204" charset="-122"/>
                <a:cs typeface="微软雅黑" panose="020B0503020204020204" charset="-122"/>
              </a:defRPr>
            </a:pPr>
            <a:r>
              <a:rPr sz="1575" b="1" i="0">
                <a:solidFill>
                  <a:srgbClr val="5A2A10"/>
                </a:solidFill>
                <a:latin typeface="微软雅黑" panose="020B0503020204020204" charset="-122"/>
                <a:ea typeface="微软雅黑" panose="020B0503020204020204" charset="-122"/>
                <a:cs typeface="微软雅黑" panose="020B0503020204020204" charset="-122"/>
              </a:rPr>
              <a:t>词汇/短语部分</a:t>
            </a:r>
            <a:endParaRPr sz="1575"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表示时间：</a:t>
            </a:r>
            <a:r>
              <a:rPr sz="2700" b="1" i="0">
                <a:solidFill>
                  <a:srgbClr val="5A2A10"/>
                </a:solidFill>
                <a:latin typeface="微软雅黑" panose="020B0503020204020204" charset="-122"/>
                <a:ea typeface="微软雅黑" panose="020B0503020204020204" charset="-122"/>
                <a:cs typeface="微软雅黑" panose="020B0503020204020204" charset="-122"/>
              </a:rPr>
              <a:t>  (1/2)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866900"/>
          </a:xfrm>
          <a:prstGeom prst="roundRect">
            <a:avLst>
              <a:gd name="adj" fmla="val 7143"/>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714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u="sng">
                <a:solidFill>
                  <a:srgbClr val="000000"/>
                </a:solidFill>
                <a:latin typeface="微软雅黑" panose="020B0503020204020204" charset="-122"/>
                <a:ea typeface="微软雅黑" panose="020B0503020204020204" charset="-122"/>
                <a:cs typeface="微软雅黑" panose="020B0503020204020204" charset="-122"/>
              </a:rPr>
              <a:t>短语：</a:t>
            </a:r>
            <a:r>
              <a:rPr sz="2100" b="0" i="0">
                <a:solidFill>
                  <a:srgbClr val="000000"/>
                </a:solidFill>
                <a:latin typeface="微软雅黑" panose="020B0503020204020204" charset="-122"/>
                <a:ea typeface="微软雅黑" panose="020B0503020204020204" charset="-122"/>
                <a:cs typeface="微软雅黑" panose="020B0503020204020204" charset="-122"/>
              </a:rPr>
              <a:t>several days ago, the other day不久前某一天，at first, at the beginning, then, ...minutes later, later on/after that后来，sice then/from then on从那时起,in the days that followed在接下来的日子里，immediately/at once/ in no time立即，finally/eventually/at last/in the end最后</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333750"/>
            <a:ext cx="10439400" cy="876300"/>
          </a:xfrm>
          <a:prstGeom prst="roundRect">
            <a:avLst>
              <a:gd name="adj" fmla="val 15217"/>
            </a:avLst>
          </a:prstGeom>
          <a:solidFill>
            <a:srgbClr val="FFFAF5"/>
          </a:solidFill>
          <a:ln w="9525">
            <a:solidFill>
              <a:srgbClr val="FFBF86"/>
            </a:solidFill>
            <a:prstDash val="solid"/>
          </a:ln>
        </p:spPr>
      </p:sp>
      <p:sp>
        <p:nvSpPr>
          <p:cNvPr id="7" name="矩形 6"/>
          <p:cNvSpPr>
            <a:spLocks noGrp="1"/>
          </p:cNvSpPr>
          <p:nvPr/>
        </p:nvSpPr>
        <p:spPr>
          <a:xfrm>
            <a:off x="1123950" y="340995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u="sng">
                <a:solidFill>
                  <a:srgbClr val="000000"/>
                </a:solidFill>
                <a:latin typeface="微软雅黑" panose="020B0503020204020204" charset="-122"/>
                <a:ea typeface="微软雅黑" panose="020B0503020204020204" charset="-122"/>
                <a:cs typeface="微软雅黑" panose="020B0503020204020204" charset="-122"/>
              </a:rPr>
              <a:t>句式：</a:t>
            </a:r>
            <a:r>
              <a:rPr sz="2100" b="0" i="0">
                <a:solidFill>
                  <a:srgbClr val="000000"/>
                </a:solidFill>
                <a:latin typeface="微软雅黑" panose="020B0503020204020204" charset="-122"/>
                <a:ea typeface="微软雅黑" panose="020B0503020204020204" charset="-122"/>
                <a:cs typeface="微软雅黑" panose="020B0503020204020204" charset="-122"/>
              </a:rPr>
              <a:t>(1)was/ were doing sth. when...正在做某事时，突然...</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305300"/>
            <a:ext cx="10439400" cy="876300"/>
          </a:xfrm>
          <a:prstGeom prst="roundRect">
            <a:avLst>
              <a:gd name="adj" fmla="val 15217"/>
            </a:avLst>
          </a:prstGeom>
          <a:solidFill>
            <a:srgbClr val="FFFAF5"/>
          </a:solidFill>
          <a:ln w="9525">
            <a:solidFill>
              <a:srgbClr val="FFBF86"/>
            </a:solidFill>
            <a:prstDash val="solid"/>
          </a:ln>
        </p:spPr>
      </p:sp>
      <p:sp>
        <p:nvSpPr>
          <p:cNvPr id="9" name="矩形 8"/>
          <p:cNvSpPr>
            <a:spLocks noGrp="1"/>
          </p:cNvSpPr>
          <p:nvPr/>
        </p:nvSpPr>
        <p:spPr>
          <a:xfrm>
            <a:off x="1123950" y="438150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(2)was/ were about to do sth. when...正要做某事时，突然...</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5276850"/>
            <a:ext cx="10439400" cy="876300"/>
          </a:xfrm>
          <a:prstGeom prst="roundRect">
            <a:avLst>
              <a:gd name="adj" fmla="val 15217"/>
            </a:avLst>
          </a:prstGeom>
          <a:solidFill>
            <a:srgbClr val="FFFAF5"/>
          </a:solidFill>
          <a:ln w="9525">
            <a:solidFill>
              <a:srgbClr val="FFBF86"/>
            </a:solidFill>
            <a:prstDash val="solid"/>
          </a:ln>
        </p:spPr>
      </p:sp>
      <p:sp>
        <p:nvSpPr>
          <p:cNvPr id="11" name="矩形 10"/>
          <p:cNvSpPr>
            <a:spLocks noGrp="1"/>
          </p:cNvSpPr>
          <p:nvPr/>
        </p:nvSpPr>
        <p:spPr>
          <a:xfrm>
            <a:off x="1123950" y="535305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(3)was/were on the point of doing sth. when...正要做某事时，突然...</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图片 1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表示时间：</a:t>
            </a:r>
            <a:r>
              <a:rPr sz="2700" b="1" i="0">
                <a:solidFill>
                  <a:srgbClr val="5A2A10"/>
                </a:solidFill>
                <a:latin typeface="微软雅黑" panose="020B0503020204020204" charset="-122"/>
                <a:ea typeface="微软雅黑" panose="020B0503020204020204" charset="-122"/>
                <a:cs typeface="微软雅黑" panose="020B0503020204020204" charset="-122"/>
              </a:rPr>
              <a:t>  (2/2)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723900"/>
          </a:xfrm>
          <a:prstGeom prst="roundRect">
            <a:avLst>
              <a:gd name="adj" fmla="val 1842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(4)There was a time when...曾有一段时间...</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190750"/>
            <a:ext cx="10439400" cy="723900"/>
          </a:xfrm>
          <a:prstGeom prst="roundRect">
            <a:avLst>
              <a:gd name="adj" fmla="val 18421"/>
            </a:avLst>
          </a:prstGeom>
          <a:solidFill>
            <a:srgbClr val="FFFAF5"/>
          </a:solidFill>
          <a:ln w="9525">
            <a:solidFill>
              <a:srgbClr val="FFBF86"/>
            </a:solidFill>
            <a:prstDash val="solid"/>
          </a:ln>
        </p:spPr>
      </p:sp>
      <p:sp>
        <p:nvSpPr>
          <p:cNvPr id="7" name="矩形 6"/>
          <p:cNvSpPr>
            <a:spLocks noGrp="1"/>
          </p:cNvSpPr>
          <p:nvPr/>
        </p:nvSpPr>
        <p:spPr>
          <a:xfrm>
            <a:off x="1123950" y="22669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(5)It was the first time that sb. had done sth. 这是某人第一次做某事</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009900"/>
            <a:ext cx="10439400" cy="723900"/>
          </a:xfrm>
          <a:prstGeom prst="roundRect">
            <a:avLst>
              <a:gd name="adj" fmla="val 18421"/>
            </a:avLst>
          </a:prstGeom>
          <a:solidFill>
            <a:srgbClr val="FFFAF5"/>
          </a:solidFill>
          <a:ln w="9525">
            <a:solidFill>
              <a:srgbClr val="FFBF86"/>
            </a:solidFill>
            <a:prstDash val="solid"/>
          </a:ln>
        </p:spPr>
      </p:sp>
      <p:sp>
        <p:nvSpPr>
          <p:cNvPr id="9" name="矩形 8"/>
          <p:cNvSpPr>
            <a:spLocks noGrp="1"/>
          </p:cNvSpPr>
          <p:nvPr/>
        </p:nvSpPr>
        <p:spPr>
          <a:xfrm>
            <a:off x="1123950" y="30861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(6)as soon as/ the moment/ the minute/ the instant...一...就...</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3829050"/>
            <a:ext cx="10439400" cy="723900"/>
          </a:xfrm>
          <a:prstGeom prst="roundRect">
            <a:avLst>
              <a:gd name="adj" fmla="val 18421"/>
            </a:avLst>
          </a:prstGeom>
          <a:solidFill>
            <a:srgbClr val="FFFAF5"/>
          </a:solidFill>
          <a:ln w="9525">
            <a:solidFill>
              <a:srgbClr val="FFBF86"/>
            </a:solidFill>
            <a:prstDash val="solid"/>
          </a:ln>
        </p:spPr>
      </p:sp>
      <p:sp>
        <p:nvSpPr>
          <p:cNvPr id="11" name="矩形 10"/>
          <p:cNvSpPr>
            <a:spLocks noGrp="1"/>
          </p:cNvSpPr>
          <p:nvPr/>
        </p:nvSpPr>
        <p:spPr>
          <a:xfrm>
            <a:off x="1123950" y="39052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(7)no sooner... than.../ hardly... when...一...就...</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2" name="圆角矩形 11"/>
          <p:cNvSpPr>
            <a:spLocks noGrp="1"/>
          </p:cNvSpPr>
          <p:nvPr/>
        </p:nvSpPr>
        <p:spPr>
          <a:xfrm>
            <a:off x="876300" y="4648200"/>
            <a:ext cx="10439400" cy="723900"/>
          </a:xfrm>
          <a:prstGeom prst="roundRect">
            <a:avLst>
              <a:gd name="adj" fmla="val 18421"/>
            </a:avLst>
          </a:prstGeom>
          <a:solidFill>
            <a:srgbClr val="FFFAF5"/>
          </a:solidFill>
          <a:ln w="9525">
            <a:solidFill>
              <a:srgbClr val="FFBF86"/>
            </a:solidFill>
            <a:prstDash val="solid"/>
          </a:ln>
        </p:spPr>
      </p:sp>
      <p:sp>
        <p:nvSpPr>
          <p:cNvPr id="13" name="矩形 12"/>
          <p:cNvSpPr>
            <a:spLocks noGrp="1"/>
          </p:cNvSpPr>
          <p:nvPr/>
        </p:nvSpPr>
        <p:spPr>
          <a:xfrm>
            <a:off x="1123950" y="472440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(8)It was not long before...没过多久就...</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4" name="圆角矩形 13"/>
          <p:cNvSpPr>
            <a:spLocks noGrp="1"/>
          </p:cNvSpPr>
          <p:nvPr/>
        </p:nvSpPr>
        <p:spPr>
          <a:xfrm>
            <a:off x="876300" y="5467350"/>
            <a:ext cx="10439400" cy="723900"/>
          </a:xfrm>
          <a:prstGeom prst="roundRect">
            <a:avLst>
              <a:gd name="adj" fmla="val 18421"/>
            </a:avLst>
          </a:prstGeom>
          <a:solidFill>
            <a:srgbClr val="FFFAF5"/>
          </a:solidFill>
          <a:ln w="9525">
            <a:solidFill>
              <a:srgbClr val="FFBF86"/>
            </a:solidFill>
            <a:prstDash val="solid"/>
          </a:ln>
        </p:spPr>
      </p:sp>
      <p:sp>
        <p:nvSpPr>
          <p:cNvPr id="15" name="矩形 14"/>
          <p:cNvSpPr>
            <a:spLocks noGrp="1"/>
          </p:cNvSpPr>
          <p:nvPr/>
        </p:nvSpPr>
        <p:spPr>
          <a:xfrm>
            <a:off x="1123950" y="5543550"/>
            <a:ext cx="9944100" cy="571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(9)It didn’t take long before... 没过多久就... </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连接词 linking words</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676400"/>
          </a:xfrm>
          <a:prstGeom prst="roundRect">
            <a:avLst>
              <a:gd name="adj" fmla="val 7955"/>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5240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1" i="0">
                <a:solidFill>
                  <a:srgbClr val="000000"/>
                </a:solidFill>
                <a:latin typeface="微软雅黑" panose="020B0503020204020204" charset="-122"/>
                <a:ea typeface="微软雅黑" panose="020B0503020204020204" charset="-122"/>
                <a:cs typeface="微软雅黑" panose="020B0503020204020204" charset="-122"/>
              </a:rPr>
              <a:t>表示让步</a:t>
            </a:r>
            <a:endParaRPr sz="2100" b="1"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短语：im spite of,regardless of（不顾，不管）,despite（尽管，即使）</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even if/though, though, although</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表示转折、结果</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866900"/>
          </a:xfrm>
          <a:prstGeom prst="roundRect">
            <a:avLst>
              <a:gd name="adj" fmla="val 7143"/>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7145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luckily/fortunately（幸运的是），unluckily/unfortunately（不幸的是），end up doing sth （以做某事结束),surprisingly/to one's astonishment/surprise (令某人惊讶的是），happily/to one’s delight （令某人高兴的是），regrettabaly/It is regrettable that.（令人遗憾的是…），It tured out that…（结果表明/原来...)</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514350" y="400050"/>
            <a:ext cx="2476500" cy="838200"/>
          </a:xfrm>
          <a:prstGeom prst="rect">
            <a:avLst/>
          </a:prstGeom>
          <a:solidFill>
            <a:srgbClr val="FFFFFF"/>
          </a:solidFill>
          <a:ln w="0">
            <a:noFill/>
            <a:prstDash val="solid"/>
          </a:ln>
        </p:spPr>
      </p:sp>
      <p:sp>
        <p:nvSpPr>
          <p:cNvPr id="3" name="圆角矩形 2"/>
          <p:cNvSpPr>
            <a:spLocks noGrp="1"/>
          </p:cNvSpPr>
          <p:nvPr/>
        </p:nvSpPr>
        <p:spPr>
          <a:xfrm>
            <a:off x="1466850" y="2190750"/>
            <a:ext cx="9258300" cy="2000250"/>
          </a:xfrm>
          <a:prstGeom prst="roundRect">
            <a:avLst>
              <a:gd name="adj" fmla="val 9524"/>
            </a:avLst>
          </a:prstGeom>
          <a:solidFill>
            <a:srgbClr val="FFF8F0"/>
          </a:solidFill>
          <a:ln w="15240">
            <a:solidFill>
              <a:srgbClr val="FF8B2D"/>
            </a:solidFill>
            <a:prstDash val="solid"/>
          </a:ln>
        </p:spPr>
      </p:sp>
      <p:sp>
        <p:nvSpPr>
          <p:cNvPr id="4" name="矩形 3"/>
          <p:cNvSpPr>
            <a:spLocks noGrp="1"/>
          </p:cNvSpPr>
          <p:nvPr/>
        </p:nvSpPr>
        <p:spPr>
          <a:xfrm>
            <a:off x="2000250" y="2686050"/>
            <a:ext cx="8191500" cy="914400"/>
          </a:xfrm>
          <a:prstGeom prst="rect">
            <a:avLst/>
          </a:prstGeom>
          <a:noFill/>
          <a:ln w="0">
            <a:noFill/>
            <a:prstDash val="solid"/>
          </a:ln>
        </p:spPr>
        <p:txBody>
          <a:bodyPr wrap="square" lIns="76200" tIns="0" rIns="76200" bIns="0" anchor="ctr"/>
          <a:lstStyle/>
          <a:p>
            <a:pPr algn="ctr">
              <a:lnSpc>
                <a:spcPct val="100000"/>
              </a:lnSpc>
              <a:buNone/>
              <a:defRPr sz="3150">
                <a:latin typeface="微软雅黑" panose="020B0503020204020204" charset="-122"/>
                <a:ea typeface="微软雅黑" panose="020B0503020204020204" charset="-122"/>
                <a:cs typeface="微软雅黑" panose="020B0503020204020204" charset="-122"/>
              </a:defRPr>
            </a:pPr>
            <a:r>
              <a:rPr sz="3150" b="1" i="0">
                <a:solidFill>
                  <a:srgbClr val="000000"/>
                </a:solidFill>
                <a:latin typeface="微软雅黑" panose="020B0503020204020204" charset="-122"/>
                <a:ea typeface="微软雅黑" panose="020B0503020204020204" charset="-122"/>
                <a:cs typeface="微软雅黑" panose="020B0503020204020204" charset="-122"/>
              </a:rPr>
              <a:t>句式部分</a:t>
            </a:r>
            <a:endParaRPr sz="3150" b="1"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514350" y="400050"/>
            <a:ext cx="2476500" cy="838200"/>
          </a:xfrm>
          <a:prstGeom prst="rect">
            <a:avLst/>
          </a:prstGeom>
          <a:solidFill>
            <a:srgbClr val="FFFFFF"/>
          </a:solidFill>
          <a:ln w="0">
            <a:noFill/>
            <a:prstDash val="solid"/>
          </a:ln>
        </p:spPr>
      </p:sp>
      <p:sp>
        <p:nvSpPr>
          <p:cNvPr id="3" name="圆角矩形 2"/>
          <p:cNvSpPr>
            <a:spLocks noGrp="1"/>
          </p:cNvSpPr>
          <p:nvPr/>
        </p:nvSpPr>
        <p:spPr>
          <a:xfrm>
            <a:off x="1466850" y="2190750"/>
            <a:ext cx="9258300" cy="2000250"/>
          </a:xfrm>
          <a:prstGeom prst="roundRect">
            <a:avLst>
              <a:gd name="adj" fmla="val 9524"/>
            </a:avLst>
          </a:prstGeom>
          <a:solidFill>
            <a:srgbClr val="FFF8F0"/>
          </a:solidFill>
          <a:ln w="15240">
            <a:solidFill>
              <a:srgbClr val="FF8B2D"/>
            </a:solidFill>
            <a:prstDash val="solid"/>
          </a:ln>
        </p:spPr>
      </p:sp>
      <p:sp>
        <p:nvSpPr>
          <p:cNvPr id="4" name="矩形 3"/>
          <p:cNvSpPr>
            <a:spLocks noGrp="1"/>
          </p:cNvSpPr>
          <p:nvPr/>
        </p:nvSpPr>
        <p:spPr>
          <a:xfrm>
            <a:off x="2000250" y="2686050"/>
            <a:ext cx="8191500" cy="914400"/>
          </a:xfrm>
          <a:prstGeom prst="rect">
            <a:avLst/>
          </a:prstGeom>
          <a:noFill/>
          <a:ln w="0">
            <a:noFill/>
            <a:prstDash val="solid"/>
          </a:ln>
        </p:spPr>
        <p:txBody>
          <a:bodyPr wrap="square" lIns="76200" tIns="0" rIns="76200" bIns="0" anchor="ctr"/>
          <a:lstStyle/>
          <a:p>
            <a:pPr algn="ctr">
              <a:lnSpc>
                <a:spcPct val="100000"/>
              </a:lnSpc>
              <a:buNone/>
              <a:defRPr sz="3150">
                <a:latin typeface="微软雅黑" panose="020B0503020204020204" charset="-122"/>
                <a:ea typeface="微软雅黑" panose="020B0503020204020204" charset="-122"/>
                <a:cs typeface="微软雅黑" panose="020B0503020204020204" charset="-122"/>
              </a:defRPr>
            </a:pPr>
            <a:r>
              <a:rPr sz="3150" b="1" i="0">
                <a:solidFill>
                  <a:srgbClr val="000000"/>
                </a:solidFill>
                <a:latin typeface="微软雅黑" panose="020B0503020204020204" charset="-122"/>
                <a:ea typeface="微软雅黑" panose="020B0503020204020204" charset="-122"/>
                <a:cs typeface="微软雅黑" panose="020B0503020204020204" charset="-122"/>
              </a:rPr>
              <a:t>编织“动作面”（动作+情绪/心理、语言、神态等各种描写）</a:t>
            </a:r>
            <a:endParaRPr sz="315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4533900" y="3714750"/>
            <a:ext cx="3124200" cy="361950"/>
          </a:xfrm>
          <a:prstGeom prst="rect">
            <a:avLst/>
          </a:prstGeom>
          <a:noFill/>
          <a:ln w="0">
            <a:noFill/>
            <a:prstDash val="solid"/>
          </a:ln>
        </p:spPr>
        <p:txBody>
          <a:bodyPr wrap="square" lIns="0" tIns="0" rIns="0" bIns="0" anchor="ctr"/>
          <a:lstStyle/>
          <a:p>
            <a:pPr algn="ctr">
              <a:lnSpc>
                <a:spcPct val="106000"/>
              </a:lnSpc>
              <a:buNone/>
              <a:defRPr sz="1575">
                <a:latin typeface="微软雅黑" panose="020B0503020204020204" charset="-122"/>
                <a:ea typeface="微软雅黑" panose="020B0503020204020204" charset="-122"/>
                <a:cs typeface="微软雅黑" panose="020B0503020204020204" charset="-122"/>
              </a:defRPr>
            </a:pPr>
            <a:r>
              <a:rPr sz="1575" b="1" i="0">
                <a:solidFill>
                  <a:srgbClr val="5A2A10"/>
                </a:solidFill>
                <a:latin typeface="微软雅黑" panose="020B0503020204020204" charset="-122"/>
                <a:ea typeface="微软雅黑" panose="020B0503020204020204" charset="-122"/>
                <a:cs typeface="微软雅黑" panose="020B0503020204020204" charset="-122"/>
              </a:rPr>
              <a:t>句式部分</a:t>
            </a:r>
            <a:endParaRPr sz="1575"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开心/喜悦</a:t>
            </a:r>
            <a:r>
              <a:rPr sz="2700" b="1" i="0">
                <a:solidFill>
                  <a:srgbClr val="5A2A10"/>
                </a:solidFill>
                <a:latin typeface="微软雅黑" panose="020B0503020204020204" charset="-122"/>
                <a:ea typeface="微软雅黑" panose="020B0503020204020204" charset="-122"/>
                <a:cs typeface="微软雅黑" panose="020B0503020204020204" charset="-122"/>
              </a:rPr>
              <a:t>  (1/3)</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628775"/>
          </a:xfrm>
          <a:prstGeom prst="roundRect">
            <a:avLst>
              <a:gd name="adj" fmla="val 8187"/>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4763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（1）Overwhelmed by wild joy, I rose to my feet and punched my fist in the air, shouting out loudly, “I made it!”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被喜悦所淹没，我跳起来在空气中挥舞着我的拳头，大声喊着，“我做到了！”</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095625"/>
            <a:ext cx="10439400" cy="1276350"/>
          </a:xfrm>
          <a:prstGeom prst="roundRect">
            <a:avLst>
              <a:gd name="adj" fmla="val 10448"/>
            </a:avLst>
          </a:prstGeom>
          <a:solidFill>
            <a:srgbClr val="FFFAF5"/>
          </a:solidFill>
          <a:ln w="9525">
            <a:solidFill>
              <a:srgbClr val="FFBF86"/>
            </a:solidFill>
            <a:prstDash val="solid"/>
          </a:ln>
        </p:spPr>
      </p:sp>
      <p:sp>
        <p:nvSpPr>
          <p:cNvPr id="7" name="矩形 6"/>
          <p:cNvSpPr>
            <a:spLocks noGrp="1"/>
          </p:cNvSpPr>
          <p:nvPr/>
        </p:nvSpPr>
        <p:spPr>
          <a:xfrm>
            <a:off x="1123950" y="3171825"/>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（2）Hearing the inspiring news, he/ she leaped into the air with joy.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听到这个鼓舞人心的消息，他/她高兴地跳了起来。</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开心/喜悦</a:t>
            </a:r>
            <a:r>
              <a:rPr sz="2700" b="1" i="0">
                <a:solidFill>
                  <a:srgbClr val="5A2A10"/>
                </a:solidFill>
                <a:latin typeface="微软雅黑" panose="020B0503020204020204" charset="-122"/>
                <a:ea typeface="微软雅黑" panose="020B0503020204020204" charset="-122"/>
                <a:cs typeface="微软雅黑" panose="020B0503020204020204" charset="-122"/>
              </a:rPr>
              <a:t>  (2/3)</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2333625"/>
          </a:xfrm>
          <a:prstGeom prst="roundRect">
            <a:avLst>
              <a:gd name="adj" fmla="val 5714"/>
            </a:avLst>
          </a:prstGeom>
          <a:solidFill>
            <a:srgbClr val="FFFAF5"/>
          </a:solidFill>
          <a:ln w="9525">
            <a:solidFill>
              <a:srgbClr val="FFBF86"/>
            </a:solidFill>
            <a:prstDash val="solid"/>
          </a:ln>
        </p:spPr>
      </p:sp>
      <p:sp>
        <p:nvSpPr>
          <p:cNvPr id="5" name="矩形 4"/>
          <p:cNvSpPr>
            <a:spLocks noGrp="1"/>
          </p:cNvSpPr>
          <p:nvPr/>
        </p:nvSpPr>
        <p:spPr>
          <a:xfrm>
            <a:off x="1123950" y="1447800"/>
            <a:ext cx="9944100" cy="218122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xxx feels happy and you can see the glint of excitement in her/his eyes.或者写成 he or she couldn’ t conceal her/his joy.或者 sb grinned from ear to ear.</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xxx 感到很高兴，并且你可以看到他/她眼中兴奋的光芒。/xxx 感到很高兴，她/他 不能掩饰他/她的喜悦。/笑得合不拢嘴。</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800475"/>
            <a:ext cx="10439400" cy="1628775"/>
          </a:xfrm>
          <a:prstGeom prst="roundRect">
            <a:avLst>
              <a:gd name="adj" fmla="val 8187"/>
            </a:avLst>
          </a:prstGeom>
          <a:solidFill>
            <a:srgbClr val="FFFAF5"/>
          </a:solidFill>
          <a:ln w="9525">
            <a:solidFill>
              <a:srgbClr val="FFBF86"/>
            </a:solidFill>
            <a:prstDash val="solid"/>
          </a:ln>
        </p:spPr>
      </p:sp>
      <p:sp>
        <p:nvSpPr>
          <p:cNvPr id="7" name="矩形 6"/>
          <p:cNvSpPr>
            <a:spLocks noGrp="1"/>
          </p:cNvSpPr>
          <p:nvPr/>
        </p:nvSpPr>
        <p:spPr>
          <a:xfrm>
            <a:off x="1123950" y="3876675"/>
            <a:ext cx="9944100" cy="14763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（4）sb’s heart is filled with pleasure and happiness, his/her face blooming like a flower./...beamed with satusfaction.</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某人的心中充满了开心和幸福，脸绽放的像花一样。/满意地笑了。</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开心/喜悦</a:t>
            </a:r>
            <a:r>
              <a:rPr sz="2700" b="1" i="0">
                <a:solidFill>
                  <a:srgbClr val="5A2A10"/>
                </a:solidFill>
                <a:latin typeface="微软雅黑" panose="020B0503020204020204" charset="-122"/>
                <a:ea typeface="微软雅黑" panose="020B0503020204020204" charset="-122"/>
                <a:cs typeface="微软雅黑" panose="020B0503020204020204" charset="-122"/>
              </a:rPr>
              <a:t>  (3/3)</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76350"/>
          </a:xfrm>
          <a:prstGeom prst="roundRect">
            <a:avLst>
              <a:gd name="adj" fmla="val 10448"/>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（5）“。。。。。”（语言）said sb excitedly with tears sparkling in her/his eyes.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某人高兴地说道，在他的眼中有泪光闪烁。</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743200"/>
            <a:ext cx="10439400" cy="1276350"/>
          </a:xfrm>
          <a:prstGeom prst="roundRect">
            <a:avLst>
              <a:gd name="adj" fmla="val 10448"/>
            </a:avLst>
          </a:prstGeom>
          <a:solidFill>
            <a:srgbClr val="FFFAF5"/>
          </a:solidFill>
          <a:ln w="9525">
            <a:solidFill>
              <a:srgbClr val="FFBF86"/>
            </a:solidFill>
            <a:prstDash val="solid"/>
          </a:ln>
        </p:spPr>
      </p:sp>
      <p:sp>
        <p:nvSpPr>
          <p:cNvPr id="7" name="矩形 6"/>
          <p:cNvSpPr>
            <a:spLocks noGrp="1"/>
          </p:cNvSpPr>
          <p:nvPr/>
        </p:nvSpPr>
        <p:spPr>
          <a:xfrm>
            <a:off x="1123950" y="2819400"/>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（6）sb became happy now and a gentle smile spread over her/his face.</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某人变得开心了并且整张脸洋溢着温和的微笑。</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114800"/>
            <a:ext cx="10439400" cy="1200150"/>
          </a:xfrm>
          <a:prstGeom prst="roundRect">
            <a:avLst>
              <a:gd name="adj" fmla="val 11111"/>
            </a:avLst>
          </a:prstGeom>
          <a:solidFill>
            <a:srgbClr val="FFFAF5"/>
          </a:solidFill>
          <a:ln w="9525">
            <a:solidFill>
              <a:srgbClr val="FFBF86"/>
            </a:solidFill>
            <a:prstDash val="solid"/>
          </a:ln>
        </p:spPr>
      </p:sp>
      <p:sp>
        <p:nvSpPr>
          <p:cNvPr id="9" name="矩形 8"/>
          <p:cNvSpPr>
            <a:spLocks noGrp="1"/>
          </p:cNvSpPr>
          <p:nvPr/>
        </p:nvSpPr>
        <p:spPr>
          <a:xfrm>
            <a:off x="1123950" y="41910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A surge of excitement bubbling up inside me, I looked up into my dad’s dark eyes, which were shining with delight.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生气/愤怒</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628775"/>
          </a:xfrm>
          <a:prstGeom prst="roundRect">
            <a:avLst>
              <a:gd name="adj" fmla="val 8187"/>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4763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（1）sb made / makes his/her blood boil when he/she heard this news.(或者其他，可自己替换）</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当他/她听到这个消息时，他/她火冒三丈。</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095625"/>
            <a:ext cx="10439400" cy="1628775"/>
          </a:xfrm>
          <a:prstGeom prst="roundRect">
            <a:avLst>
              <a:gd name="adj" fmla="val 8187"/>
            </a:avLst>
          </a:prstGeom>
          <a:solidFill>
            <a:srgbClr val="FFFAF5"/>
          </a:solidFill>
          <a:ln w="9525">
            <a:solidFill>
              <a:srgbClr val="FFBF86"/>
            </a:solidFill>
            <a:prstDash val="solid"/>
          </a:ln>
        </p:spPr>
      </p:sp>
      <p:sp>
        <p:nvSpPr>
          <p:cNvPr id="7" name="矩形 6"/>
          <p:cNvSpPr>
            <a:spLocks noGrp="1"/>
          </p:cNvSpPr>
          <p:nvPr/>
        </p:nvSpPr>
        <p:spPr>
          <a:xfrm>
            <a:off x="1123950" y="3171825"/>
            <a:ext cx="9944100" cy="14763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（2）sb felt so angry that she stormed out of the room, slamming the door violently.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某人是如此生气以至于他冲出房间，砰地关上了门。</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819650"/>
            <a:ext cx="10439400" cy="1605280"/>
          </a:xfrm>
          <a:prstGeom prst="roundRect">
            <a:avLst>
              <a:gd name="adj" fmla="val 15217"/>
            </a:avLst>
          </a:prstGeom>
          <a:solidFill>
            <a:srgbClr val="FFFAF5"/>
          </a:solidFill>
          <a:ln w="9525">
            <a:solidFill>
              <a:srgbClr val="FFBF86"/>
            </a:solidFill>
            <a:prstDash val="solid"/>
          </a:ln>
        </p:spPr>
      </p:sp>
      <p:sp>
        <p:nvSpPr>
          <p:cNvPr id="9" name="矩形 8"/>
          <p:cNvSpPr>
            <a:spLocks noGrp="1"/>
          </p:cNvSpPr>
          <p:nvPr/>
        </p:nvSpPr>
        <p:spPr>
          <a:xfrm>
            <a:off x="1123950" y="489585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（3）sb shivered withe anger, rubbing her/ his hands violently.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1343660" y="5518150"/>
            <a:ext cx="6096000" cy="440055"/>
          </a:xfrm>
          <a:prstGeom prst="rect">
            <a:avLst/>
          </a:prstGeom>
          <a:noFill/>
        </p:spPr>
        <p:txBody>
          <a:bodyPr wrap="square" rtlCol="0" anchor="t">
            <a:spAutoFit/>
          </a:bodyPr>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1">
                <a:solidFill>
                  <a:srgbClr val="000000"/>
                </a:solidFill>
                <a:latin typeface="微软雅黑" panose="020B0503020204020204" charset="-122"/>
                <a:ea typeface="微软雅黑" panose="020B0503020204020204" charset="-122"/>
                <a:cs typeface="微软雅黑" panose="020B0503020204020204" charset="-122"/>
                <a:sym typeface="+mn-ea"/>
              </a:rPr>
              <a:t>某人生气地发抖，猛烈地搓着自己的手。</a:t>
            </a:r>
            <a:endParaRPr lang="zh-CN" altLang="en-US" sz="2100" b="1">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325">
                <a:latin typeface="微软雅黑" panose="020B0503020204020204" charset="-122"/>
                <a:ea typeface="微软雅黑" panose="020B0503020204020204" charset="-122"/>
                <a:cs typeface="微软雅黑" panose="020B0503020204020204" charset="-122"/>
              </a:defRPr>
            </a:pPr>
            <a:r>
              <a:rPr sz="2325" b="1" i="0">
                <a:solidFill>
                  <a:srgbClr val="000000"/>
                </a:solidFill>
                <a:latin typeface="微软雅黑" panose="020B0503020204020204" charset="-122"/>
                <a:ea typeface="微软雅黑" panose="020B0503020204020204" charset="-122"/>
                <a:cs typeface="微软雅黑" panose="020B0503020204020204" charset="-122"/>
              </a:rPr>
              <a:t>编织“动作面”（动作+情绪/心理、语言、神态等各种描写）</a:t>
            </a:r>
            <a:endParaRPr sz="232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76350"/>
          </a:xfrm>
          <a:prstGeom prst="roundRect">
            <a:avLst>
              <a:gd name="adj" fmla="val 10448"/>
            </a:avLst>
          </a:prstGeom>
          <a:solidFill>
            <a:srgbClr val="FFFAF5"/>
          </a:solidFill>
          <a:ln w="9525">
            <a:solidFill>
              <a:srgbClr val="FFBF86"/>
            </a:solidFill>
            <a:prstDash val="solid"/>
          </a:ln>
        </p:spPr>
      </p:sp>
      <p:sp>
        <p:nvSpPr>
          <p:cNvPr id="5" name="矩形 4"/>
          <p:cNvSpPr>
            <a:spLocks noGrp="1"/>
          </p:cNvSpPr>
          <p:nvPr/>
        </p:nvSpPr>
        <p:spPr>
          <a:xfrm>
            <a:off x="1123950" y="1447800"/>
            <a:ext cx="9944100" cy="6096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（4）He didn't shout, and he just glared at me silently.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743200"/>
            <a:ext cx="10439400" cy="1593850"/>
          </a:xfrm>
          <a:prstGeom prst="roundRect">
            <a:avLst>
              <a:gd name="adj" fmla="val 6335"/>
            </a:avLst>
          </a:prstGeom>
          <a:solidFill>
            <a:srgbClr val="FFFAF5"/>
          </a:solidFill>
          <a:ln w="9525">
            <a:solidFill>
              <a:srgbClr val="FFBF86"/>
            </a:solidFill>
            <a:prstDash val="solid"/>
          </a:ln>
        </p:spPr>
      </p:sp>
      <p:sp>
        <p:nvSpPr>
          <p:cNvPr id="7" name="矩形 6"/>
          <p:cNvSpPr>
            <a:spLocks noGrp="1"/>
          </p:cNvSpPr>
          <p:nvPr/>
        </p:nvSpPr>
        <p:spPr>
          <a:xfrm>
            <a:off x="1123950" y="2830830"/>
            <a:ext cx="9944100" cy="143891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（5）erupt like a volcano像火山一样爆发</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（6）in anger/be in a burst of anger在愤怒中</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453255"/>
            <a:ext cx="10439400" cy="1791335"/>
          </a:xfrm>
          <a:prstGeom prst="roundRect">
            <a:avLst>
              <a:gd name="adj" fmla="val 14894"/>
            </a:avLst>
          </a:prstGeom>
          <a:solidFill>
            <a:srgbClr val="FFFAF5"/>
          </a:solidFill>
          <a:ln w="9525">
            <a:solidFill>
              <a:srgbClr val="FFBF86"/>
            </a:solidFill>
            <a:prstDash val="solid"/>
          </a:ln>
        </p:spPr>
      </p:sp>
      <p:sp>
        <p:nvSpPr>
          <p:cNvPr id="9" name="矩形 8"/>
          <p:cNvSpPr>
            <a:spLocks noGrp="1"/>
          </p:cNvSpPr>
          <p:nvPr/>
        </p:nvSpPr>
        <p:spPr>
          <a:xfrm>
            <a:off x="1123950" y="4589145"/>
            <a:ext cx="9944100" cy="13906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（7）“。。。。。。”I blurted out these words bottled in my heart, face crimson.</a:t>
            </a:r>
            <a:endParaRPr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1" i="0">
                <a:solidFill>
                  <a:srgbClr val="000000"/>
                </a:solidFill>
                <a:latin typeface="微软雅黑" panose="020B0503020204020204" charset="-122"/>
                <a:ea typeface="微软雅黑" panose="020B0503020204020204" charset="-122"/>
                <a:cs typeface="微软雅黑" panose="020B0503020204020204" charset="-122"/>
              </a:rPr>
              <a:t>我脱口而出这些装在心里的话，脸绯红。</a:t>
            </a:r>
            <a:endParaRPr sz="21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 name="矩形 10"/>
          <p:cNvSpPr>
            <a:spLocks noGrp="1"/>
          </p:cNvSpPr>
          <p:nvPr/>
        </p:nvSpPr>
        <p:spPr>
          <a:xfrm>
            <a:off x="1322705" y="1933575"/>
            <a:ext cx="7324090" cy="609600"/>
          </a:xfrm>
          <a:prstGeom prst="rect">
            <a:avLst/>
          </a:prstGeom>
          <a:noFill/>
          <a:ln w="0">
            <a:noFill/>
            <a:prstDash val="solid"/>
          </a:ln>
        </p:spPr>
        <p:txBody>
          <a:bodyPr wrap="square" lIns="76200" tIns="0" rIns="76200" bIns="0" anchor="ctr"/>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b="1">
                <a:solidFill>
                  <a:srgbClr val="000000"/>
                </a:solidFill>
                <a:sym typeface="+mn-ea"/>
              </a:rPr>
              <a:t>他没有大喊大叫，只是默默地怒视着我。</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悲伤</a:t>
            </a:r>
            <a:r>
              <a:rPr sz="2700" b="1" i="0">
                <a:solidFill>
                  <a:srgbClr val="5A2A10"/>
                </a:solidFill>
                <a:latin typeface="微软雅黑" panose="020B0503020204020204" charset="-122"/>
                <a:ea typeface="微软雅黑" panose="020B0503020204020204" charset="-122"/>
                <a:cs typeface="微软雅黑" panose="020B0503020204020204" charset="-122"/>
              </a:rPr>
              <a:t>  (1/3)</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76350"/>
          </a:xfrm>
          <a:prstGeom prst="roundRect">
            <a:avLst>
              <a:gd name="adj" fmla="val 10448"/>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（1）Her/His hands were shaking. She/He was on the verge of tears.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她/他的手颤抖着，她/他在掉下眼泪的边缘。（快要哭了）</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743200"/>
            <a:ext cx="10439400" cy="1628775"/>
          </a:xfrm>
          <a:prstGeom prst="roundRect">
            <a:avLst>
              <a:gd name="adj" fmla="val 8187"/>
            </a:avLst>
          </a:prstGeom>
          <a:solidFill>
            <a:srgbClr val="FFFAF5"/>
          </a:solidFill>
          <a:ln w="9525">
            <a:solidFill>
              <a:srgbClr val="FFBF86"/>
            </a:solidFill>
            <a:prstDash val="solid"/>
          </a:ln>
        </p:spPr>
      </p:sp>
      <p:sp>
        <p:nvSpPr>
          <p:cNvPr id="7" name="矩形 6"/>
          <p:cNvSpPr>
            <a:spLocks noGrp="1"/>
          </p:cNvSpPr>
          <p:nvPr/>
        </p:nvSpPr>
        <p:spPr>
          <a:xfrm>
            <a:off x="1123950" y="2819400"/>
            <a:ext cx="9944100" cy="14763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（2）The last word went like a bullet to his/her heart, a ripple of sadness welled up inside him/her.</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最后一句话像一颗子弹一样击中了他的心，他的内心涌起一阵阵悲伤。</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467225"/>
            <a:ext cx="10439400" cy="1276350"/>
          </a:xfrm>
          <a:prstGeom prst="roundRect">
            <a:avLst>
              <a:gd name="adj" fmla="val 10448"/>
            </a:avLst>
          </a:prstGeom>
          <a:solidFill>
            <a:srgbClr val="FFFAF5"/>
          </a:solidFill>
          <a:ln w="9525">
            <a:solidFill>
              <a:srgbClr val="FFBF86"/>
            </a:solidFill>
            <a:prstDash val="solid"/>
          </a:ln>
        </p:spPr>
      </p:sp>
      <p:sp>
        <p:nvSpPr>
          <p:cNvPr id="9" name="矩形 8"/>
          <p:cNvSpPr>
            <a:spLocks noGrp="1"/>
          </p:cNvSpPr>
          <p:nvPr/>
        </p:nvSpPr>
        <p:spPr>
          <a:xfrm>
            <a:off x="1123950" y="4543425"/>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（3）In spite of his disappointment, he managed a weak smile.</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尽管失望，他还是勉强露出一丝淡淡的微笑。</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悲伤</a:t>
            </a:r>
            <a:r>
              <a:rPr sz="2700" b="1" i="0">
                <a:solidFill>
                  <a:srgbClr val="5A2A10"/>
                </a:solidFill>
                <a:latin typeface="微软雅黑" panose="020B0503020204020204" charset="-122"/>
                <a:ea typeface="微软雅黑" panose="020B0503020204020204" charset="-122"/>
                <a:cs typeface="微软雅黑" panose="020B0503020204020204" charset="-122"/>
              </a:rPr>
              <a:t>  (2/3)</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543050"/>
          </a:xfrm>
          <a:prstGeom prst="roundRect">
            <a:avLst>
              <a:gd name="adj" fmla="val 8642"/>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3906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（4）Upon hearing the bad news, her heart ached, tears streaming down her cheeks.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一听到这个消息，他心很痛，眼泪如溪水般顺着脸颊流下。</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009900"/>
            <a:ext cx="10439400" cy="1543050"/>
          </a:xfrm>
          <a:prstGeom prst="roundRect">
            <a:avLst>
              <a:gd name="adj" fmla="val 8642"/>
            </a:avLst>
          </a:prstGeom>
          <a:solidFill>
            <a:srgbClr val="FFFAF5"/>
          </a:solidFill>
          <a:ln w="9525">
            <a:solidFill>
              <a:srgbClr val="FFBF86"/>
            </a:solidFill>
            <a:prstDash val="solid"/>
          </a:ln>
        </p:spPr>
      </p:sp>
      <p:sp>
        <p:nvSpPr>
          <p:cNvPr id="7" name="矩形 6"/>
          <p:cNvSpPr>
            <a:spLocks noGrp="1"/>
          </p:cNvSpPr>
          <p:nvPr/>
        </p:nvSpPr>
        <p:spPr>
          <a:xfrm>
            <a:off x="1123950" y="3086100"/>
            <a:ext cx="9944100" cy="13906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（5）As the result of an accident, sb was suddenly thrown into a world of darkness and sank into hopelessness.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因为这件事，某人被投入黑暗之中,陷入绝望。</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648200"/>
            <a:ext cx="10439400" cy="1543050"/>
          </a:xfrm>
          <a:prstGeom prst="roundRect">
            <a:avLst>
              <a:gd name="adj" fmla="val 8642"/>
            </a:avLst>
          </a:prstGeom>
          <a:solidFill>
            <a:srgbClr val="FFFAF5"/>
          </a:solidFill>
          <a:ln w="9525">
            <a:solidFill>
              <a:srgbClr val="FFBF86"/>
            </a:solidFill>
            <a:prstDash val="solid"/>
          </a:ln>
        </p:spPr>
      </p:sp>
      <p:sp>
        <p:nvSpPr>
          <p:cNvPr id="9" name="矩形 8"/>
          <p:cNvSpPr>
            <a:spLocks noGrp="1"/>
          </p:cNvSpPr>
          <p:nvPr/>
        </p:nvSpPr>
        <p:spPr>
          <a:xfrm>
            <a:off x="1123950" y="4724400"/>
            <a:ext cx="9944100" cy="13906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Upon hearing the bad news, her heart ached, tears streaming down her cheeks.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一听到这个消息，她很心痛，眼泪如溪水般顺着面颊流下。</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悲伤</a:t>
            </a:r>
            <a:r>
              <a:rPr sz="2700" b="1" i="0">
                <a:solidFill>
                  <a:srgbClr val="5A2A10"/>
                </a:solidFill>
                <a:latin typeface="微软雅黑" panose="020B0503020204020204" charset="-122"/>
                <a:ea typeface="微软雅黑" panose="020B0503020204020204" charset="-122"/>
                <a:cs typeface="微软雅黑" panose="020B0503020204020204" charset="-122"/>
              </a:rPr>
              <a:t>  (3/3)</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788795"/>
          </a:xfrm>
          <a:prstGeom prst="roundRect">
            <a:avLst>
              <a:gd name="adj" fmla="val 15217"/>
            </a:avLst>
          </a:prstGeom>
          <a:solidFill>
            <a:srgbClr val="FFFAF5"/>
          </a:solidFill>
          <a:ln w="9525">
            <a:solidFill>
              <a:srgbClr val="FFBF86"/>
            </a:solidFill>
            <a:prstDash val="solid"/>
          </a:ln>
        </p:spPr>
      </p:sp>
      <p:sp>
        <p:nvSpPr>
          <p:cNvPr id="5" name="矩形 4"/>
          <p:cNvSpPr>
            <a:spLocks noGrp="1"/>
          </p:cNvSpPr>
          <p:nvPr/>
        </p:nvSpPr>
        <p:spPr>
          <a:xfrm>
            <a:off x="1123950" y="1806575"/>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He lay on the bed safe and sound, tears welling up in his eyes.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endParaRPr b="1">
              <a:solidFill>
                <a:srgbClr val="000000"/>
              </a:solidFill>
              <a:sym typeface="+mn-ea"/>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b="1">
                <a:solidFill>
                  <a:srgbClr val="000000"/>
                </a:solidFill>
                <a:sym typeface="+mn-ea"/>
              </a:rPr>
              <a:t>他安然地躺在床上，泪如泉涌。</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7" name="矩形 6"/>
          <p:cNvSpPr>
            <a:spLocks noGrp="1"/>
          </p:cNvSpPr>
          <p:nvPr/>
        </p:nvSpPr>
        <p:spPr>
          <a:xfrm>
            <a:off x="1179195" y="1989455"/>
            <a:ext cx="9944100" cy="723900"/>
          </a:xfrm>
          <a:prstGeom prst="rect">
            <a:avLst/>
          </a:prstGeom>
          <a:noFill/>
          <a:ln w="0">
            <a:noFill/>
            <a:prstDash val="solid"/>
          </a:ln>
        </p:spPr>
        <p:txBody>
          <a:bodyPr wrap="square" lIns="76200" tIns="0" rIns="76200" bIns="0" anchor="ctr"/>
          <a:p>
            <a:pPr algn="l">
              <a:lnSpc>
                <a:spcPct val="108000"/>
              </a:lnSpc>
              <a:buNone/>
              <a:defRPr sz="2100">
                <a:latin typeface="微软雅黑" panose="020B0503020204020204" charset="-122"/>
                <a:ea typeface="微软雅黑" panose="020B0503020204020204" charset="-122"/>
                <a:cs typeface="微软雅黑" panose="020B0503020204020204" charset="-122"/>
              </a:defRPr>
            </a:pPr>
            <a:endParaRPr lang="en-US" altLang="zh-CN"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害怕/恐惧/紧张/震惊</a:t>
            </a:r>
            <a:r>
              <a:rPr sz="2700" b="1" i="0">
                <a:solidFill>
                  <a:srgbClr val="5A2A10"/>
                </a:solidFill>
                <a:latin typeface="微软雅黑" panose="020B0503020204020204" charset="-122"/>
                <a:ea typeface="微软雅黑" panose="020B0503020204020204" charset="-122"/>
                <a:cs typeface="微软雅黑" panose="020B0503020204020204" charset="-122"/>
              </a:rPr>
              <a:t>  (1/2)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943100"/>
          </a:xfrm>
          <a:prstGeom prst="roundRect">
            <a:avLst>
              <a:gd name="adj" fmla="val 6863"/>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7907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（1）sb’s heart pounding fiercely and one’s palm sweating, an inner voice told sb. that....（必背）</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某人的心脏疯狂跳动，手掌出汗，内心有一个声音告诉自己要......</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u="sng">
                <a:solidFill>
                  <a:srgbClr val="000000"/>
                </a:solidFill>
                <a:latin typeface="微软雅黑" panose="020B0503020204020204" charset="-122"/>
                <a:ea typeface="微软雅黑" panose="020B0503020204020204" charset="-122"/>
                <a:cs typeface="微软雅黑" panose="020B0503020204020204" charset="-122"/>
              </a:rPr>
              <a:t>注意：这句话不光可以用来描写“害怕、恐惧”， 还可以用来描写震惊、紧张、迷茫。</a:t>
            </a:r>
            <a:endParaRPr sz="2100" b="0" i="0" u="sng">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409950"/>
            <a:ext cx="10439400" cy="1514475"/>
          </a:xfrm>
          <a:prstGeom prst="roundRect">
            <a:avLst>
              <a:gd name="adj" fmla="val 8805"/>
            </a:avLst>
          </a:prstGeom>
          <a:solidFill>
            <a:srgbClr val="FFFAF5"/>
          </a:solidFill>
          <a:ln w="9525">
            <a:solidFill>
              <a:srgbClr val="FFBF86"/>
            </a:solidFill>
            <a:prstDash val="solid"/>
          </a:ln>
        </p:spPr>
      </p:sp>
      <p:sp>
        <p:nvSpPr>
          <p:cNvPr id="7" name="矩形 6"/>
          <p:cNvSpPr>
            <a:spLocks noGrp="1"/>
          </p:cNvSpPr>
          <p:nvPr/>
        </p:nvSpPr>
        <p:spPr>
          <a:xfrm>
            <a:off x="1123950" y="3486150"/>
            <a:ext cx="9944100" cy="1362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（2）At the sight of the fierce wolf, sb felt so scared that her/his throat tightened and knees felt weak.</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看到这只凶猛的狼，她吓得喉咙发紧，膝盖发软。</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5019675"/>
            <a:ext cx="10439400" cy="1162050"/>
          </a:xfrm>
          <a:prstGeom prst="roundRect">
            <a:avLst>
              <a:gd name="adj" fmla="val 11475"/>
            </a:avLst>
          </a:prstGeom>
          <a:solidFill>
            <a:srgbClr val="FFFAF5"/>
          </a:solidFill>
          <a:ln w="9525">
            <a:solidFill>
              <a:srgbClr val="FFBF86"/>
            </a:solidFill>
            <a:prstDash val="solid"/>
          </a:ln>
        </p:spPr>
      </p:sp>
      <p:sp>
        <p:nvSpPr>
          <p:cNvPr id="9" name="矩形 8"/>
          <p:cNvSpPr>
            <a:spLocks noGrp="1"/>
          </p:cNvSpPr>
          <p:nvPr/>
        </p:nvSpPr>
        <p:spPr>
          <a:xfrm>
            <a:off x="1123950" y="5095875"/>
            <a:ext cx="9944100" cy="10096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（3）He seemed to be struck by a bolt of thunder, mind blank.</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他仿佛被雷击中一样，大脑瞬间一片空白。</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害怕/恐惧/紧张/震惊</a:t>
            </a:r>
            <a:r>
              <a:rPr sz="2700" b="1" i="0">
                <a:solidFill>
                  <a:srgbClr val="5A2A10"/>
                </a:solidFill>
                <a:latin typeface="微软雅黑" panose="020B0503020204020204" charset="-122"/>
                <a:ea typeface="微软雅黑" panose="020B0503020204020204" charset="-122"/>
                <a:cs typeface="微软雅黑" panose="020B0503020204020204" charset="-122"/>
              </a:rPr>
              <a:t>  (2/2)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876300"/>
          </a:xfrm>
          <a:prstGeom prst="roundRect">
            <a:avLst>
              <a:gd name="adj" fmla="val 15217"/>
            </a:avLst>
          </a:prstGeom>
          <a:solidFill>
            <a:srgbClr val="FFFAF5"/>
          </a:solidFill>
          <a:ln w="9525">
            <a:solidFill>
              <a:srgbClr val="FFBF86"/>
            </a:solidFill>
            <a:prstDash val="solid"/>
          </a:ln>
        </p:spPr>
      </p:sp>
      <p:sp>
        <p:nvSpPr>
          <p:cNvPr id="5" name="矩形 4"/>
          <p:cNvSpPr>
            <a:spLocks noGrp="1"/>
          </p:cNvSpPr>
          <p:nvPr/>
        </p:nvSpPr>
        <p:spPr>
          <a:xfrm>
            <a:off x="1123950" y="144780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（4）He stood there tongue-tied with his face turning pale.</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b="1">
                <a:solidFill>
                  <a:srgbClr val="000000"/>
                </a:solidFill>
                <a:sym typeface="+mn-ea"/>
              </a:rPr>
              <a:t>他站在那说不出话，脸色苍白。</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325">
                <a:latin typeface="微软雅黑" panose="020B0503020204020204" charset="-122"/>
                <a:ea typeface="微软雅黑" panose="020B0503020204020204" charset="-122"/>
                <a:cs typeface="微软雅黑" panose="020B0503020204020204" charset="-122"/>
              </a:defRPr>
            </a:pPr>
            <a:r>
              <a:rPr sz="2325" b="1" i="0">
                <a:solidFill>
                  <a:srgbClr val="000000"/>
                </a:solidFill>
                <a:latin typeface="微软雅黑" panose="020B0503020204020204" charset="-122"/>
                <a:ea typeface="微软雅黑" panose="020B0503020204020204" charset="-122"/>
                <a:cs typeface="微软雅黑" panose="020B0503020204020204" charset="-122"/>
              </a:rPr>
              <a:t>编织“动作面”（动作+情绪/心理、语言、神态等各种描写）</a:t>
            </a:r>
            <a:endParaRPr sz="2325"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76350"/>
          </a:xfrm>
          <a:prstGeom prst="roundRect">
            <a:avLst>
              <a:gd name="adj" fmla="val 10448"/>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（5）He felt  so nervous that he could feel his face burning.</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b="1">
                <a:solidFill>
                  <a:srgbClr val="000000"/>
                </a:solidFill>
                <a:sym typeface="+mn-ea"/>
              </a:rPr>
              <a:t>他感到如此紧张脸发烫。</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743200"/>
            <a:ext cx="10439400" cy="1663700"/>
          </a:xfrm>
          <a:prstGeom prst="roundRect">
            <a:avLst>
              <a:gd name="adj" fmla="val 7955"/>
            </a:avLst>
          </a:prstGeom>
          <a:solidFill>
            <a:srgbClr val="FFFAF5"/>
          </a:solidFill>
          <a:ln w="9525">
            <a:solidFill>
              <a:srgbClr val="FFBF86"/>
            </a:solidFill>
            <a:prstDash val="solid"/>
          </a:ln>
        </p:spPr>
      </p:sp>
      <p:sp>
        <p:nvSpPr>
          <p:cNvPr id="7" name="矩形 6"/>
          <p:cNvSpPr>
            <a:spLocks noGrp="1"/>
          </p:cNvSpPr>
          <p:nvPr/>
        </p:nvSpPr>
        <p:spPr>
          <a:xfrm>
            <a:off x="1123950" y="2819400"/>
            <a:ext cx="9944100" cy="151193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6</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sb had butterflies in xxx’s stomach紧张不安</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7</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So nervous as he that he kept pacing back and forth in the room.</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b="1">
                <a:solidFill>
                  <a:srgbClr val="000000"/>
                </a:solidFill>
                <a:sym typeface="+mn-ea"/>
              </a:rPr>
              <a:t>他是如此紧张以至于在房间里来回踱步。</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514850"/>
            <a:ext cx="10439400" cy="1205230"/>
          </a:xfrm>
          <a:prstGeom prst="roundRect">
            <a:avLst>
              <a:gd name="adj" fmla="val 7955"/>
            </a:avLst>
          </a:prstGeom>
          <a:solidFill>
            <a:srgbClr val="FFFAF5"/>
          </a:solidFill>
          <a:ln w="9525">
            <a:solidFill>
              <a:srgbClr val="FFBF86"/>
            </a:solidFill>
            <a:prstDash val="solid"/>
          </a:ln>
        </p:spPr>
      </p:sp>
      <p:sp>
        <p:nvSpPr>
          <p:cNvPr id="9" name="矩形 8"/>
          <p:cNvSpPr>
            <a:spLocks noGrp="1"/>
          </p:cNvSpPr>
          <p:nvPr/>
        </p:nvSpPr>
        <p:spPr>
          <a:xfrm>
            <a:off x="1123950" y="4591050"/>
            <a:ext cx="9944100" cy="97853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8</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I stood before xxx, head drooping and heart thudding.</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9</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I was stunned into slience./ with a wave of disbelief</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感动</a:t>
            </a:r>
            <a:r>
              <a:rPr sz="2700" b="1" i="0">
                <a:solidFill>
                  <a:srgbClr val="5A2A10"/>
                </a:solidFill>
                <a:latin typeface="微软雅黑" panose="020B0503020204020204" charset="-122"/>
                <a:ea typeface="微软雅黑" panose="020B0503020204020204" charset="-122"/>
                <a:cs typeface="微软雅黑" panose="020B0503020204020204" charset="-122"/>
              </a:rPr>
              <a:t>  (1/2)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552575"/>
          </a:xfrm>
          <a:prstGeom prst="roundRect">
            <a:avLst>
              <a:gd name="adj" fmla="val 8589"/>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4001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短语：move sb deeply, be moved to tears, touch sb’s heart, be touched/moved by...,a wave of warmth, be touched beyond words被感动地说不出话来，melt sb’s heart, feel extremely/deeply touched/moved</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019425"/>
            <a:ext cx="10439400" cy="876300"/>
          </a:xfrm>
          <a:prstGeom prst="roundRect">
            <a:avLst>
              <a:gd name="adj" fmla="val 15217"/>
            </a:avLst>
          </a:prstGeom>
          <a:solidFill>
            <a:srgbClr val="FFFAF5"/>
          </a:solidFill>
          <a:ln w="9525">
            <a:solidFill>
              <a:srgbClr val="FFBF86"/>
            </a:solidFill>
            <a:prstDash val="solid"/>
          </a:ln>
        </p:spPr>
      </p:sp>
      <p:sp>
        <p:nvSpPr>
          <p:cNvPr id="7" name="矩形 6"/>
          <p:cNvSpPr>
            <a:spLocks noGrp="1"/>
          </p:cNvSpPr>
          <p:nvPr/>
        </p:nvSpPr>
        <p:spPr>
          <a:xfrm>
            <a:off x="1123950" y="3095625"/>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句式：（1）What moved sb most was that....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990975"/>
            <a:ext cx="10439400" cy="876300"/>
          </a:xfrm>
          <a:prstGeom prst="roundRect">
            <a:avLst>
              <a:gd name="adj" fmla="val 15217"/>
            </a:avLst>
          </a:prstGeom>
          <a:solidFill>
            <a:srgbClr val="FFFAF5"/>
          </a:solidFill>
          <a:ln w="9525">
            <a:solidFill>
              <a:srgbClr val="FFBF86"/>
            </a:solidFill>
            <a:prstDash val="solid"/>
          </a:ln>
        </p:spPr>
      </p:sp>
      <p:sp>
        <p:nvSpPr>
          <p:cNvPr id="9" name="矩形 8"/>
          <p:cNvSpPr>
            <a:spLocks noGrp="1"/>
          </p:cNvSpPr>
          <p:nvPr/>
        </p:nvSpPr>
        <p:spPr>
          <a:xfrm>
            <a:off x="1123950" y="4067175"/>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2</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xxx was overwhelmingly moved, saying that...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4962525"/>
            <a:ext cx="10439400" cy="876300"/>
          </a:xfrm>
          <a:prstGeom prst="roundRect">
            <a:avLst>
              <a:gd name="adj" fmla="val 15217"/>
            </a:avLst>
          </a:prstGeom>
          <a:solidFill>
            <a:srgbClr val="FFFAF5"/>
          </a:solidFill>
          <a:ln w="9525">
            <a:solidFill>
              <a:srgbClr val="FFBF86"/>
            </a:solidFill>
            <a:prstDash val="solid"/>
          </a:ln>
        </p:spPr>
      </p:sp>
      <p:sp>
        <p:nvSpPr>
          <p:cNvPr id="11" name="矩形 10"/>
          <p:cNvSpPr>
            <a:spLocks noGrp="1"/>
          </p:cNvSpPr>
          <p:nvPr/>
        </p:nvSpPr>
        <p:spPr>
          <a:xfrm>
            <a:off x="1123950" y="5038725"/>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3</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xxx’s eyes glittering with tears of happiness.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感动</a:t>
            </a:r>
            <a:r>
              <a:rPr sz="2700" b="1" i="0">
                <a:solidFill>
                  <a:srgbClr val="5A2A10"/>
                </a:solidFill>
                <a:latin typeface="微软雅黑" panose="020B0503020204020204" charset="-122"/>
                <a:ea typeface="微软雅黑" panose="020B0503020204020204" charset="-122"/>
                <a:cs typeface="微软雅黑" panose="020B0503020204020204" charset="-122"/>
              </a:rPr>
              <a:t>  (2/2)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00150"/>
          </a:xfrm>
          <a:prstGeom prst="roundRect">
            <a:avLst>
              <a:gd name="adj" fmla="val 1111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4</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“This is the best gift I have ever received!” said the mother excitedly with tears sparkling in her eyes.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67000"/>
            <a:ext cx="10439400" cy="1200150"/>
          </a:xfrm>
          <a:prstGeom prst="roundRect">
            <a:avLst>
              <a:gd name="adj" fmla="val 11111"/>
            </a:avLst>
          </a:prstGeom>
          <a:solidFill>
            <a:srgbClr val="FFFAF5"/>
          </a:solidFill>
          <a:ln w="9525">
            <a:solidFill>
              <a:srgbClr val="FFBF86"/>
            </a:solidFill>
            <a:prstDash val="solid"/>
          </a:ln>
        </p:spPr>
      </p:sp>
      <p:sp>
        <p:nvSpPr>
          <p:cNvPr id="7" name="矩形 6"/>
          <p:cNvSpPr>
            <a:spLocks noGrp="1"/>
          </p:cNvSpPr>
          <p:nvPr/>
        </p:nvSpPr>
        <p:spPr>
          <a:xfrm>
            <a:off x="1123950" y="27432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5</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Speechless and tearful, I gathered him in my arms and hugged him tightly (无语且泪眼朦胧，我把他拥入怀里，紧紧地抱住了他）</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962400"/>
            <a:ext cx="10439400" cy="1200150"/>
          </a:xfrm>
          <a:prstGeom prst="roundRect">
            <a:avLst>
              <a:gd name="adj" fmla="val 11111"/>
            </a:avLst>
          </a:prstGeom>
          <a:solidFill>
            <a:srgbClr val="FFFAF5"/>
          </a:solidFill>
          <a:ln w="9525">
            <a:solidFill>
              <a:srgbClr val="FFBF86"/>
            </a:solidFill>
            <a:prstDash val="solid"/>
          </a:ln>
        </p:spPr>
      </p:sp>
      <p:sp>
        <p:nvSpPr>
          <p:cNvPr id="9" name="矩形 8"/>
          <p:cNvSpPr>
            <a:spLocks noGrp="1"/>
          </p:cNvSpPr>
          <p:nvPr/>
        </p:nvSpPr>
        <p:spPr>
          <a:xfrm>
            <a:off x="1123950" y="40386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a:solidFill>
                  <a:srgbClr val="000000"/>
                </a:solidFill>
                <a:sym typeface="+mn-ea"/>
              </a:rPr>
              <a:t>（</a:t>
            </a:r>
            <a:r>
              <a:rPr lang="en-US">
                <a:solidFill>
                  <a:srgbClr val="000000"/>
                </a:solidFill>
                <a:sym typeface="+mn-ea"/>
              </a:rPr>
              <a:t>6</a:t>
            </a:r>
            <a:r>
              <a:rPr>
                <a:solidFill>
                  <a:srgbClr val="000000"/>
                </a:solidFill>
                <a:sym typeface="+mn-ea"/>
              </a:rPr>
              <a:t>）</a:t>
            </a:r>
            <a:r>
              <a:rPr sz="2100" b="0" i="0">
                <a:solidFill>
                  <a:srgbClr val="000000"/>
                </a:solidFill>
                <a:latin typeface="微软雅黑" panose="020B0503020204020204" charset="-122"/>
                <a:ea typeface="微软雅黑" panose="020B0503020204020204" charset="-122"/>
                <a:cs typeface="微软雅黑" panose="020B0503020204020204" charset="-122"/>
              </a:rPr>
              <a:t>His mom swept him into her arms with her eyes wet as if to squeeze the breath out of him.(他的妈妈紧紧地把他抱在怀里，眼睛湿润着，似乎快要让他不能呼吸）</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犹豫</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628775"/>
          </a:xfrm>
          <a:prstGeom prst="roundRect">
            <a:avLst>
              <a:gd name="adj" fmla="val 8187"/>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4763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When he beckoned me over the table, I edged closer reluctantly, expecting what would be in store for me.</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当他示意我过来桌子这边时，我不情愿地慢慢靠近，期待着等待我的是什么。</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3095625"/>
            <a:ext cx="10439400" cy="876300"/>
          </a:xfrm>
          <a:prstGeom prst="roundRect">
            <a:avLst>
              <a:gd name="adj" fmla="val 15217"/>
            </a:avLst>
          </a:prstGeom>
          <a:solidFill>
            <a:srgbClr val="FFFAF5"/>
          </a:solidFill>
          <a:ln w="9525">
            <a:solidFill>
              <a:srgbClr val="FFBF86"/>
            </a:solidFill>
            <a:prstDash val="solid"/>
          </a:ln>
        </p:spPr>
      </p:sp>
      <p:sp>
        <p:nvSpPr>
          <p:cNvPr id="7" name="矩形 6"/>
          <p:cNvSpPr>
            <a:spLocks noGrp="1"/>
          </p:cNvSpPr>
          <p:nvPr/>
        </p:nvSpPr>
        <p:spPr>
          <a:xfrm>
            <a:off x="1123950" y="3171825"/>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xxx hesitantly walked over to her.</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羞愧/尴尬</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00150"/>
          </a:xfrm>
          <a:prstGeom prst="roundRect">
            <a:avLst>
              <a:gd name="adj" fmla="val 1111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 was speechless at this, feeling ashamed of my selfishness and guilty at my misunderstanding.</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67000"/>
            <a:ext cx="10439400" cy="876300"/>
          </a:xfrm>
          <a:prstGeom prst="roundRect">
            <a:avLst>
              <a:gd name="adj" fmla="val 15217"/>
            </a:avLst>
          </a:prstGeom>
          <a:solidFill>
            <a:srgbClr val="FFFAF5"/>
          </a:solidFill>
          <a:ln w="9525">
            <a:solidFill>
              <a:srgbClr val="FFBF86"/>
            </a:solidFill>
            <a:prstDash val="solid"/>
          </a:ln>
        </p:spPr>
      </p:sp>
      <p:sp>
        <p:nvSpPr>
          <p:cNvPr id="7" name="矩形 6"/>
          <p:cNvSpPr>
            <a:spLocks noGrp="1"/>
          </p:cNvSpPr>
          <p:nvPr/>
        </p:nvSpPr>
        <p:spPr>
          <a:xfrm>
            <a:off x="1123950" y="274320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She felt so ashamed that she could feel her face burning.</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638550"/>
            <a:ext cx="10439400" cy="876300"/>
          </a:xfrm>
          <a:prstGeom prst="roundRect">
            <a:avLst>
              <a:gd name="adj" fmla="val 15217"/>
            </a:avLst>
          </a:prstGeom>
          <a:solidFill>
            <a:srgbClr val="FFFAF5"/>
          </a:solidFill>
          <a:ln w="9525">
            <a:solidFill>
              <a:srgbClr val="FFBF86"/>
            </a:solidFill>
            <a:prstDash val="solid"/>
          </a:ln>
        </p:spPr>
      </p:sp>
      <p:sp>
        <p:nvSpPr>
          <p:cNvPr id="9" name="矩形 8"/>
          <p:cNvSpPr>
            <a:spLocks noGrp="1"/>
          </p:cNvSpPr>
          <p:nvPr/>
        </p:nvSpPr>
        <p:spPr>
          <a:xfrm>
            <a:off x="1123950" y="371475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So ashamed was she that she could feeel the blood rush to her faces.</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表示顿悟的句子</a:t>
            </a:r>
            <a:endParaRPr sz="270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00150"/>
          </a:xfrm>
          <a:prstGeom prst="roundRect">
            <a:avLst>
              <a:gd name="adj" fmla="val 1111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Suddenly a brilliant idea flashed into his mind. His</a:t>
            </a:r>
            <a:r>
              <a:rPr sz="2100" b="0" i="0" u="sng">
                <a:solidFill>
                  <a:srgbClr val="000000"/>
                </a:solidFill>
                <a:latin typeface="微软雅黑" panose="020B0503020204020204" charset="-122"/>
                <a:ea typeface="微软雅黑" panose="020B0503020204020204" charset="-122"/>
                <a:cs typeface="微软雅黑" panose="020B0503020204020204" charset="-122"/>
              </a:rPr>
              <a:t> mind began to race,</a:t>
            </a:r>
            <a:r>
              <a:rPr sz="2100" b="0" i="0">
                <a:solidFill>
                  <a:srgbClr val="000000"/>
                </a:solidFill>
                <a:latin typeface="微软雅黑" panose="020B0503020204020204" charset="-122"/>
                <a:ea typeface="微软雅黑" panose="020B0503020204020204" charset="-122"/>
                <a:cs typeface="微软雅黑" panose="020B0503020204020204" charset="-122"/>
              </a:rPr>
              <a:t> trying to think of a way out. (某人突然想起/某人的头脑开始快速转动）</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67000"/>
            <a:ext cx="10439400" cy="876300"/>
          </a:xfrm>
          <a:prstGeom prst="roundRect">
            <a:avLst>
              <a:gd name="adj" fmla="val 15217"/>
            </a:avLst>
          </a:prstGeom>
          <a:solidFill>
            <a:srgbClr val="FFFAF5"/>
          </a:solidFill>
          <a:ln w="9525">
            <a:solidFill>
              <a:srgbClr val="FFBF86"/>
            </a:solidFill>
            <a:prstDash val="solid"/>
          </a:ln>
        </p:spPr>
      </p:sp>
      <p:sp>
        <p:nvSpPr>
          <p:cNvPr id="7" name="矩形 6"/>
          <p:cNvSpPr>
            <a:spLocks noGrp="1"/>
          </p:cNvSpPr>
          <p:nvPr/>
        </p:nvSpPr>
        <p:spPr>
          <a:xfrm>
            <a:off x="1123950" y="274320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It suddenly occurred to sb. that...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638550"/>
            <a:ext cx="10439400" cy="876300"/>
          </a:xfrm>
          <a:prstGeom prst="roundRect">
            <a:avLst>
              <a:gd name="adj" fmla="val 15217"/>
            </a:avLst>
          </a:prstGeom>
          <a:solidFill>
            <a:srgbClr val="FFFAF5"/>
          </a:solidFill>
          <a:ln w="9525">
            <a:solidFill>
              <a:srgbClr val="FFBF86"/>
            </a:solidFill>
            <a:prstDash val="solid"/>
          </a:ln>
        </p:spPr>
      </p:sp>
      <p:sp>
        <p:nvSpPr>
          <p:cNvPr id="9" name="矩形 8"/>
          <p:cNvSpPr>
            <a:spLocks noGrp="1"/>
          </p:cNvSpPr>
          <p:nvPr/>
        </p:nvSpPr>
        <p:spPr>
          <a:xfrm>
            <a:off x="1123950" y="371475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It hit sb that...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4610100"/>
            <a:ext cx="10439400" cy="876300"/>
          </a:xfrm>
          <a:prstGeom prst="roundRect">
            <a:avLst>
              <a:gd name="adj" fmla="val 15217"/>
            </a:avLst>
          </a:prstGeom>
          <a:solidFill>
            <a:srgbClr val="FFFAF5"/>
          </a:solidFill>
          <a:ln w="9525">
            <a:solidFill>
              <a:srgbClr val="FFBF86"/>
            </a:solidFill>
            <a:prstDash val="solid"/>
          </a:ln>
        </p:spPr>
      </p:sp>
      <p:sp>
        <p:nvSpPr>
          <p:cNvPr id="11" name="矩形 10"/>
          <p:cNvSpPr>
            <a:spLocks noGrp="1"/>
          </p:cNvSpPr>
          <p:nvPr/>
        </p:nvSpPr>
        <p:spPr>
          <a:xfrm>
            <a:off x="1123950" y="4686300"/>
            <a:ext cx="9944100" cy="723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It dawned on sb that...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 name="图片 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环境描写</a:t>
            </a:r>
            <a:r>
              <a:rPr sz="2700" b="1" i="0">
                <a:solidFill>
                  <a:srgbClr val="5A2A10"/>
                </a:solidFill>
                <a:latin typeface="微软雅黑" panose="020B0503020204020204" charset="-122"/>
                <a:ea typeface="微软雅黑" panose="020B0503020204020204" charset="-122"/>
                <a:cs typeface="微软雅黑" panose="020B0503020204020204" charset="-122"/>
              </a:rPr>
              <a:t>  (1/2)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200150"/>
          </a:xfrm>
          <a:prstGeom prst="roundRect">
            <a:avLst>
              <a:gd name="adj" fmla="val 11111"/>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0477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gentle breeze transformed into a strong wind, and thick grey clouds filled the sky.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67000"/>
            <a:ext cx="10439400" cy="1257300"/>
          </a:xfrm>
          <a:prstGeom prst="roundRect">
            <a:avLst>
              <a:gd name="adj" fmla="val 10606"/>
            </a:avLst>
          </a:prstGeom>
          <a:solidFill>
            <a:srgbClr val="FFFAF5"/>
          </a:solidFill>
          <a:ln w="9525">
            <a:solidFill>
              <a:srgbClr val="FFBF86"/>
            </a:solidFill>
            <a:prstDash val="solid"/>
          </a:ln>
        </p:spPr>
      </p:sp>
      <p:sp>
        <p:nvSpPr>
          <p:cNvPr id="7" name="矩形 6"/>
          <p:cNvSpPr>
            <a:spLocks noGrp="1"/>
          </p:cNvSpPr>
          <p:nvPr/>
        </p:nvSpPr>
        <p:spPr>
          <a:xfrm>
            <a:off x="1123950" y="2743200"/>
            <a:ext cx="9944100" cy="11049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moon/sun/stars was shining brightly in the sky.(月亮在天上闪亮地照耀着）</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019550"/>
            <a:ext cx="10439400" cy="1276350"/>
          </a:xfrm>
          <a:prstGeom prst="roundRect">
            <a:avLst>
              <a:gd name="adj" fmla="val 10448"/>
            </a:avLst>
          </a:prstGeom>
          <a:solidFill>
            <a:srgbClr val="FFFAF5"/>
          </a:solidFill>
          <a:ln w="9525">
            <a:solidFill>
              <a:srgbClr val="FFBF86"/>
            </a:solidFill>
            <a:prstDash val="solid"/>
          </a:ln>
        </p:spPr>
      </p:sp>
      <p:sp>
        <p:nvSpPr>
          <p:cNvPr id="9" name="矩形 8"/>
          <p:cNvSpPr>
            <a:spLocks noGrp="1"/>
          </p:cNvSpPr>
          <p:nvPr/>
        </p:nvSpPr>
        <p:spPr>
          <a:xfrm>
            <a:off x="1123950" y="4095750"/>
            <a:ext cx="9944100" cy="11239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clear blue sky was dotted with fluttering larks. </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天气晴朗，碧空里星星点点的云雀在翩翩起舞。</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环境描写</a:t>
            </a:r>
            <a:r>
              <a:rPr sz="2700" b="1" i="0">
                <a:solidFill>
                  <a:srgbClr val="5A2A10"/>
                </a:solidFill>
                <a:latin typeface="微软雅黑" panose="020B0503020204020204" charset="-122"/>
                <a:ea typeface="微软雅黑" panose="020B0503020204020204" charset="-122"/>
                <a:cs typeface="微软雅黑" panose="020B0503020204020204" charset="-122"/>
              </a:rPr>
              <a:t>  (2/2)</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390650"/>
          </a:xfrm>
          <a:prstGeom prst="roundRect">
            <a:avLst>
              <a:gd name="adj" fmla="val 9589"/>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2382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 The sky is overcast, darkened with gloomy clouds，(乌云密布、黑云压顶) and the whole world seemed to be enveloped in a huge gray quilt. 整个世界仿佛都被一块巨大的灰色棉被笼罩。</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857500"/>
            <a:ext cx="10439400" cy="714375"/>
          </a:xfrm>
          <a:prstGeom prst="roundRect">
            <a:avLst>
              <a:gd name="adj" fmla="val 18667"/>
            </a:avLst>
          </a:prstGeom>
          <a:solidFill>
            <a:srgbClr val="FFFAF5"/>
          </a:solidFill>
          <a:ln w="9525">
            <a:solidFill>
              <a:srgbClr val="FFBF86"/>
            </a:solidFill>
            <a:prstDash val="solid"/>
          </a:ln>
        </p:spPr>
      </p:sp>
      <p:sp>
        <p:nvSpPr>
          <p:cNvPr id="7" name="矩形 6"/>
          <p:cNvSpPr>
            <a:spLocks noGrp="1"/>
          </p:cNvSpPr>
          <p:nvPr/>
        </p:nvSpPr>
        <p:spPr>
          <a:xfrm>
            <a:off x="1123950" y="2933700"/>
            <a:ext cx="9944100" cy="5619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Slience fell upon us for a moment.</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667125"/>
            <a:ext cx="10439400" cy="1038225"/>
          </a:xfrm>
          <a:prstGeom prst="roundRect">
            <a:avLst>
              <a:gd name="adj" fmla="val 12844"/>
            </a:avLst>
          </a:prstGeom>
          <a:solidFill>
            <a:srgbClr val="FFFAF5"/>
          </a:solidFill>
          <a:ln w="9525">
            <a:solidFill>
              <a:srgbClr val="FFBF86"/>
            </a:solidFill>
            <a:prstDash val="solid"/>
          </a:ln>
        </p:spPr>
      </p:sp>
      <p:sp>
        <p:nvSpPr>
          <p:cNvPr id="9" name="矩形 8"/>
          <p:cNvSpPr>
            <a:spLocks noGrp="1"/>
          </p:cNvSpPr>
          <p:nvPr/>
        </p:nvSpPr>
        <p:spPr>
          <a:xfrm>
            <a:off x="1123950" y="3743325"/>
            <a:ext cx="9944100" cy="88582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Immediately/suddenly, an absolute darkness/silence/ ruled the forest and a wave of +情绪+ swept over sb.(突然间，一阵绝对的黑暗/沉默 控制了森林）</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4800600"/>
            <a:ext cx="10439400" cy="1390650"/>
          </a:xfrm>
          <a:prstGeom prst="roundRect">
            <a:avLst>
              <a:gd name="adj" fmla="val 9589"/>
            </a:avLst>
          </a:prstGeom>
          <a:solidFill>
            <a:srgbClr val="FFFAF5"/>
          </a:solidFill>
          <a:ln w="9525">
            <a:solidFill>
              <a:srgbClr val="FFBF86"/>
            </a:solidFill>
            <a:prstDash val="solid"/>
          </a:ln>
        </p:spPr>
      </p:sp>
      <p:sp>
        <p:nvSpPr>
          <p:cNvPr id="11" name="矩形 10"/>
          <p:cNvSpPr>
            <a:spLocks noGrp="1"/>
          </p:cNvSpPr>
          <p:nvPr/>
        </p:nvSpPr>
        <p:spPr>
          <a:xfrm>
            <a:off x="1123950" y="4876800"/>
            <a:ext cx="9944100" cy="12382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 It seemed the city was bathed in brilliant sunshine/pouring rain and even the tree were smiling/crying.  似乎整个城市都沐浴在灿烂阳光下，连树木都在微笑。</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514350" y="400050"/>
            <a:ext cx="2476500" cy="838200"/>
          </a:xfrm>
          <a:prstGeom prst="rect">
            <a:avLst/>
          </a:prstGeom>
          <a:solidFill>
            <a:srgbClr val="FFFFFF"/>
          </a:solidFill>
          <a:ln w="0">
            <a:noFill/>
            <a:prstDash val="solid"/>
          </a:ln>
        </p:spPr>
      </p:sp>
      <p:sp>
        <p:nvSpPr>
          <p:cNvPr id="3" name="圆角矩形 2"/>
          <p:cNvSpPr>
            <a:spLocks noGrp="1"/>
          </p:cNvSpPr>
          <p:nvPr/>
        </p:nvSpPr>
        <p:spPr>
          <a:xfrm>
            <a:off x="1466850" y="2190750"/>
            <a:ext cx="9258300" cy="2000250"/>
          </a:xfrm>
          <a:prstGeom prst="roundRect">
            <a:avLst>
              <a:gd name="adj" fmla="val 9524"/>
            </a:avLst>
          </a:prstGeom>
          <a:solidFill>
            <a:srgbClr val="FFF8F0"/>
          </a:solidFill>
          <a:ln w="15240">
            <a:solidFill>
              <a:srgbClr val="FF8B2D"/>
            </a:solidFill>
            <a:prstDash val="solid"/>
          </a:ln>
        </p:spPr>
      </p:sp>
      <p:sp>
        <p:nvSpPr>
          <p:cNvPr id="4" name="矩形 3"/>
          <p:cNvSpPr>
            <a:spLocks noGrp="1"/>
          </p:cNvSpPr>
          <p:nvPr/>
        </p:nvSpPr>
        <p:spPr>
          <a:xfrm>
            <a:off x="2000250" y="2686050"/>
            <a:ext cx="8191500" cy="914400"/>
          </a:xfrm>
          <a:prstGeom prst="rect">
            <a:avLst/>
          </a:prstGeom>
          <a:noFill/>
          <a:ln w="0">
            <a:noFill/>
            <a:prstDash val="solid"/>
          </a:ln>
        </p:spPr>
        <p:txBody>
          <a:bodyPr wrap="square" lIns="76200" tIns="0" rIns="76200" bIns="0" anchor="ctr"/>
          <a:lstStyle/>
          <a:p>
            <a:pPr algn="ctr">
              <a:lnSpc>
                <a:spcPct val="100000"/>
              </a:lnSpc>
              <a:buNone/>
              <a:defRPr sz="3150">
                <a:latin typeface="微软雅黑" panose="020B0503020204020204" charset="-122"/>
                <a:ea typeface="微软雅黑" panose="020B0503020204020204" charset="-122"/>
                <a:cs typeface="微软雅黑" panose="020B0503020204020204" charset="-122"/>
              </a:defRPr>
            </a:pPr>
            <a:r>
              <a:rPr sz="3150" b="1" i="0">
                <a:solidFill>
                  <a:srgbClr val="000000"/>
                </a:solidFill>
                <a:latin typeface="微软雅黑" panose="020B0503020204020204" charset="-122"/>
                <a:ea typeface="微软雅黑" panose="020B0503020204020204" charset="-122"/>
                <a:cs typeface="微软雅黑" panose="020B0503020204020204" charset="-122"/>
              </a:rPr>
              <a:t>主题升华句（主要写在最后）</a:t>
            </a:r>
            <a:endParaRPr sz="3150" b="1"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5" name="矩形 4"/>
          <p:cNvSpPr>
            <a:spLocks noGrp="1"/>
          </p:cNvSpPr>
          <p:nvPr/>
        </p:nvSpPr>
        <p:spPr>
          <a:xfrm>
            <a:off x="4533900" y="3714750"/>
            <a:ext cx="3124200" cy="361950"/>
          </a:xfrm>
          <a:prstGeom prst="rect">
            <a:avLst/>
          </a:prstGeom>
          <a:noFill/>
          <a:ln w="0">
            <a:noFill/>
            <a:prstDash val="solid"/>
          </a:ln>
        </p:spPr>
        <p:txBody>
          <a:bodyPr wrap="square" lIns="0" tIns="0" rIns="0" bIns="0" anchor="ctr"/>
          <a:lstStyle/>
          <a:p>
            <a:pPr algn="ctr">
              <a:lnSpc>
                <a:spcPct val="106000"/>
              </a:lnSpc>
              <a:buNone/>
              <a:defRPr sz="1575">
                <a:latin typeface="微软雅黑" panose="020B0503020204020204" charset="-122"/>
                <a:ea typeface="微软雅黑" panose="020B0503020204020204" charset="-122"/>
                <a:cs typeface="微软雅黑" panose="020B0503020204020204" charset="-122"/>
              </a:defRPr>
            </a:pPr>
            <a:r>
              <a:rPr sz="1575" b="1" i="0">
                <a:solidFill>
                  <a:srgbClr val="5A2A10"/>
                </a:solidFill>
                <a:latin typeface="微软雅黑" panose="020B0503020204020204" charset="-122"/>
                <a:ea typeface="微软雅黑" panose="020B0503020204020204" charset="-122"/>
                <a:cs typeface="微软雅黑" panose="020B0503020204020204" charset="-122"/>
              </a:rPr>
              <a:t>句式部分</a:t>
            </a:r>
            <a:endParaRPr sz="1575" b="1" i="0">
              <a:solidFill>
                <a:srgbClr val="5A2A1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主题升华句（主要写在最后）</a:t>
            </a:r>
            <a:r>
              <a:rPr sz="2700" b="1" i="0">
                <a:solidFill>
                  <a:srgbClr val="5A2A10"/>
                </a:solidFill>
                <a:latin typeface="微软雅黑" panose="020B0503020204020204" charset="-122"/>
                <a:ea typeface="微软雅黑" panose="020B0503020204020204" charset="-122"/>
                <a:cs typeface="微软雅黑" panose="020B0503020204020204" charset="-122"/>
              </a:rPr>
              <a:t>  (1/4)</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133475"/>
          </a:xfrm>
          <a:prstGeom prst="roundRect">
            <a:avLst>
              <a:gd name="adj" fmla="val 11765"/>
            </a:avLst>
          </a:prstGeom>
          <a:solidFill>
            <a:srgbClr val="FFFAF5"/>
          </a:solidFill>
          <a:ln w="9525">
            <a:solidFill>
              <a:srgbClr val="FFBF86"/>
            </a:solidFill>
            <a:prstDash val="solid"/>
          </a:ln>
        </p:spPr>
      </p:sp>
      <p:sp>
        <p:nvSpPr>
          <p:cNvPr id="5" name="矩形 4"/>
          <p:cNvSpPr>
            <a:spLocks noGrp="1"/>
          </p:cNvSpPr>
          <p:nvPr/>
        </p:nvSpPr>
        <p:spPr>
          <a:xfrm>
            <a:off x="1123950" y="1447800"/>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Every challenge we face is an opportunity to grow and redefine ourselves.（成长类）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00325"/>
            <a:ext cx="10439400" cy="1133475"/>
          </a:xfrm>
          <a:prstGeom prst="roundRect">
            <a:avLst>
              <a:gd name="adj" fmla="val 11765"/>
            </a:avLst>
          </a:prstGeom>
          <a:solidFill>
            <a:srgbClr val="FFFAF5"/>
          </a:solidFill>
          <a:ln w="9525">
            <a:solidFill>
              <a:srgbClr val="FFBF86"/>
            </a:solidFill>
            <a:prstDash val="solid"/>
          </a:ln>
        </p:spPr>
      </p:sp>
      <p:sp>
        <p:nvSpPr>
          <p:cNvPr id="7" name="矩形 6"/>
          <p:cNvSpPr>
            <a:spLocks noGrp="1"/>
          </p:cNvSpPr>
          <p:nvPr/>
        </p:nvSpPr>
        <p:spPr>
          <a:xfrm>
            <a:off x="1123950" y="2676525"/>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Every time I faced challenges, a thought of giving up flashed into my mind,but the support of my family give me the strength to keep going.（成长类）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829050"/>
            <a:ext cx="10439400" cy="1133475"/>
          </a:xfrm>
          <a:prstGeom prst="roundRect">
            <a:avLst>
              <a:gd name="adj" fmla="val 11765"/>
            </a:avLst>
          </a:prstGeom>
          <a:solidFill>
            <a:srgbClr val="FFFAF5"/>
          </a:solidFill>
          <a:ln w="9525">
            <a:solidFill>
              <a:srgbClr val="FFBF86"/>
            </a:solidFill>
            <a:prstDash val="solid"/>
          </a:ln>
        </p:spPr>
      </p:sp>
      <p:sp>
        <p:nvSpPr>
          <p:cNvPr id="9" name="矩形 8"/>
          <p:cNvSpPr>
            <a:spLocks noGrp="1"/>
          </p:cNvSpPr>
          <p:nvPr/>
        </p:nvSpPr>
        <p:spPr>
          <a:xfrm>
            <a:off x="1123950" y="3905250"/>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His presentation wasn’t an assignment, but a testament to his ability to overcome obstacles.（成长类）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5057775"/>
            <a:ext cx="10439400" cy="1133475"/>
          </a:xfrm>
          <a:prstGeom prst="roundRect">
            <a:avLst>
              <a:gd name="adj" fmla="val 11765"/>
            </a:avLst>
          </a:prstGeom>
          <a:solidFill>
            <a:srgbClr val="FFFAF5"/>
          </a:solidFill>
          <a:ln w="9525">
            <a:solidFill>
              <a:srgbClr val="FFBF86"/>
            </a:solidFill>
            <a:prstDash val="solid"/>
          </a:ln>
        </p:spPr>
      </p:sp>
      <p:sp>
        <p:nvSpPr>
          <p:cNvPr id="11" name="矩形 10"/>
          <p:cNvSpPr>
            <a:spLocks noGrp="1"/>
          </p:cNvSpPr>
          <p:nvPr/>
        </p:nvSpPr>
        <p:spPr>
          <a:xfrm>
            <a:off x="1123950" y="5133975"/>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At that time, xxx really knew home was a place where members should understand each other and enjoy love.（亲情类）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主题升华句（主要写在最后）</a:t>
            </a:r>
            <a:r>
              <a:rPr sz="2700" b="1" i="0">
                <a:solidFill>
                  <a:srgbClr val="5A2A10"/>
                </a:solidFill>
                <a:latin typeface="微软雅黑" panose="020B0503020204020204" charset="-122"/>
                <a:ea typeface="微软雅黑" panose="020B0503020204020204" charset="-122"/>
                <a:cs typeface="微软雅黑" panose="020B0503020204020204" charset="-122"/>
              </a:rPr>
              <a:t>  (2/4)</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133475"/>
          </a:xfrm>
          <a:prstGeom prst="roundRect">
            <a:avLst>
              <a:gd name="adj" fmla="val 11765"/>
            </a:avLst>
          </a:prstGeom>
          <a:solidFill>
            <a:srgbClr val="FFFAF5"/>
          </a:solidFill>
          <a:ln w="9525">
            <a:solidFill>
              <a:srgbClr val="FFBF86"/>
            </a:solidFill>
            <a:prstDash val="solid"/>
          </a:ln>
        </p:spPr>
      </p:sp>
      <p:sp>
        <p:nvSpPr>
          <p:cNvPr id="5" name="矩形 4"/>
          <p:cNvSpPr>
            <a:spLocks noGrp="1"/>
          </p:cNvSpPr>
          <p:nvPr/>
        </p:nvSpPr>
        <p:spPr>
          <a:xfrm>
            <a:off x="1123950" y="1447800"/>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For Brad, he realized that if he hadn’t </a:t>
            </a:r>
            <a:r>
              <a:rPr sz="2100" b="0" i="0" u="sng">
                <a:solidFill>
                  <a:srgbClr val="000000"/>
                </a:solidFill>
                <a:latin typeface="微软雅黑" panose="020B0503020204020204" charset="-122"/>
                <a:ea typeface="微软雅黑" panose="020B0503020204020204" charset="-122"/>
                <a:cs typeface="微软雅黑" panose="020B0503020204020204" charset="-122"/>
              </a:rPr>
              <a:t>reach out to（主动与某人联系）</a:t>
            </a:r>
            <a:r>
              <a:rPr sz="2100" b="0" i="0">
                <a:solidFill>
                  <a:srgbClr val="000000"/>
                </a:solidFill>
                <a:latin typeface="微软雅黑" panose="020B0503020204020204" charset="-122"/>
                <a:ea typeface="微软雅黑" panose="020B0503020204020204" charset="-122"/>
                <a:cs typeface="微软雅黑" panose="020B0503020204020204" charset="-122"/>
              </a:rPr>
              <a:t> his grandmother, it would be a lifelong regret.（亲情类）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600325"/>
            <a:ext cx="10439400" cy="1133475"/>
          </a:xfrm>
          <a:prstGeom prst="roundRect">
            <a:avLst>
              <a:gd name="adj" fmla="val 11765"/>
            </a:avLst>
          </a:prstGeom>
          <a:solidFill>
            <a:srgbClr val="FFFAF5"/>
          </a:solidFill>
          <a:ln w="9525">
            <a:solidFill>
              <a:srgbClr val="FFBF86"/>
            </a:solidFill>
            <a:prstDash val="solid"/>
          </a:ln>
        </p:spPr>
      </p:sp>
      <p:sp>
        <p:nvSpPr>
          <p:cNvPr id="7" name="矩形 6"/>
          <p:cNvSpPr>
            <a:spLocks noGrp="1"/>
          </p:cNvSpPr>
          <p:nvPr/>
        </p:nvSpPr>
        <p:spPr>
          <a:xfrm>
            <a:off x="1123950" y="2676525"/>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Quiet man as dad was, he clearly did more than he said and understand more than I thought.(亲情--父子）</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3829050"/>
            <a:ext cx="10439400" cy="1133475"/>
          </a:xfrm>
          <a:prstGeom prst="roundRect">
            <a:avLst>
              <a:gd name="adj" fmla="val 11765"/>
            </a:avLst>
          </a:prstGeom>
          <a:solidFill>
            <a:srgbClr val="FFFAF5"/>
          </a:solidFill>
          <a:ln w="9525">
            <a:solidFill>
              <a:srgbClr val="FFBF86"/>
            </a:solidFill>
            <a:prstDash val="solid"/>
          </a:ln>
        </p:spPr>
      </p:sp>
      <p:sp>
        <p:nvSpPr>
          <p:cNvPr id="9" name="矩形 8"/>
          <p:cNvSpPr>
            <a:spLocks noGrp="1"/>
          </p:cNvSpPr>
          <p:nvPr/>
        </p:nvSpPr>
        <p:spPr>
          <a:xfrm>
            <a:off x="1123950" y="3905250"/>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u="sng">
                <a:solidFill>
                  <a:srgbClr val="000000"/>
                </a:solidFill>
                <a:latin typeface="微软雅黑" panose="020B0503020204020204" charset="-122"/>
                <a:ea typeface="微软雅黑" panose="020B0503020204020204" charset="-122"/>
                <a:cs typeface="微软雅黑" panose="020B0503020204020204" charset="-122"/>
              </a:rPr>
              <a:t>At that time, I learned that</a:t>
            </a:r>
            <a:r>
              <a:rPr sz="2100" b="0" i="0">
                <a:solidFill>
                  <a:srgbClr val="000000"/>
                </a:solidFill>
                <a:latin typeface="微软雅黑" panose="020B0503020204020204" charset="-122"/>
                <a:ea typeface="微软雅黑" panose="020B0503020204020204" charset="-122"/>
                <a:cs typeface="微软雅黑" panose="020B0503020204020204" charset="-122"/>
              </a:rPr>
              <a:t> I could contribute to the household in my own way.</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5057775"/>
            <a:ext cx="10439400" cy="1133475"/>
          </a:xfrm>
          <a:prstGeom prst="roundRect">
            <a:avLst>
              <a:gd name="adj" fmla="val 11765"/>
            </a:avLst>
          </a:prstGeom>
          <a:solidFill>
            <a:srgbClr val="FFFAF5"/>
          </a:solidFill>
          <a:ln w="9525">
            <a:solidFill>
              <a:srgbClr val="FFBF86"/>
            </a:solidFill>
            <a:prstDash val="solid"/>
          </a:ln>
        </p:spPr>
      </p:sp>
      <p:sp>
        <p:nvSpPr>
          <p:cNvPr id="11" name="矩形 10"/>
          <p:cNvSpPr>
            <a:spLocks noGrp="1"/>
          </p:cNvSpPr>
          <p:nvPr/>
        </p:nvSpPr>
        <p:spPr>
          <a:xfrm>
            <a:off x="1123950" y="5133975"/>
            <a:ext cx="9944100" cy="9810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It was xxx’s kindness that made me feel the warmth of our family. I will treasure it with all my heart.（亲情，人际交往类）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 name="图片 11"/>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主题升华句（主要写在最后）</a:t>
            </a:r>
            <a:r>
              <a:rPr sz="2700" b="1" i="0">
                <a:solidFill>
                  <a:srgbClr val="5A2A10"/>
                </a:solidFill>
                <a:latin typeface="微软雅黑" panose="020B0503020204020204" charset="-122"/>
                <a:ea typeface="微软雅黑" panose="020B0503020204020204" charset="-122"/>
                <a:cs typeface="微软雅黑" panose="020B0503020204020204" charset="-122"/>
              </a:rPr>
              <a:t>  (3/4)</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1476375"/>
          </a:xfrm>
          <a:prstGeom prst="roundRect">
            <a:avLst>
              <a:gd name="adj" fmla="val 9032"/>
            </a:avLst>
          </a:prstGeom>
          <a:solidFill>
            <a:srgbClr val="FFFAF5"/>
          </a:solidFill>
          <a:ln w="9525">
            <a:solidFill>
              <a:srgbClr val="FFBF86"/>
            </a:solidFill>
            <a:prstDash val="solid"/>
          </a:ln>
        </p:spPr>
      </p:sp>
      <p:sp>
        <p:nvSpPr>
          <p:cNvPr id="5" name="矩形 4"/>
          <p:cNvSpPr>
            <a:spLocks noGrp="1"/>
          </p:cNvSpPr>
          <p:nvPr/>
        </p:nvSpPr>
        <p:spPr>
          <a:xfrm>
            <a:off x="1123950" y="1447800"/>
            <a:ext cx="9944100" cy="1323975"/>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 It was no exaggeration to utter that the unforgettable experience  was like an everlasting flower, blooming in the river of xxx’s memories.（必背！！！！适用范围广！！！）</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6" name="圆角矩形 5"/>
          <p:cNvSpPr>
            <a:spLocks noGrp="1"/>
          </p:cNvSpPr>
          <p:nvPr/>
        </p:nvSpPr>
        <p:spPr>
          <a:xfrm>
            <a:off x="876300" y="2943225"/>
            <a:ext cx="10439400" cy="1123950"/>
          </a:xfrm>
          <a:prstGeom prst="roundRect">
            <a:avLst>
              <a:gd name="adj" fmla="val 11864"/>
            </a:avLst>
          </a:prstGeom>
          <a:solidFill>
            <a:srgbClr val="FFFAF5"/>
          </a:solidFill>
          <a:ln w="9525">
            <a:solidFill>
              <a:srgbClr val="FFBF86"/>
            </a:solidFill>
            <a:prstDash val="solid"/>
          </a:ln>
        </p:spPr>
      </p:sp>
      <p:sp>
        <p:nvSpPr>
          <p:cNvPr id="7" name="矩形 6"/>
          <p:cNvSpPr>
            <a:spLocks noGrp="1"/>
          </p:cNvSpPr>
          <p:nvPr/>
        </p:nvSpPr>
        <p:spPr>
          <a:xfrm>
            <a:off x="1123950" y="3019425"/>
            <a:ext cx="9944100" cy="9715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Sometimes a small act of kindness maybe powerful enough to make a huge difference.有时候一个小小的善行可能足以带来巨大的变化。（助人类）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8" name="圆角矩形 7"/>
          <p:cNvSpPr>
            <a:spLocks noGrp="1"/>
          </p:cNvSpPr>
          <p:nvPr/>
        </p:nvSpPr>
        <p:spPr>
          <a:xfrm>
            <a:off x="876300" y="4162425"/>
            <a:ext cx="10439400" cy="1123950"/>
          </a:xfrm>
          <a:prstGeom prst="roundRect">
            <a:avLst>
              <a:gd name="adj" fmla="val 11864"/>
            </a:avLst>
          </a:prstGeom>
          <a:solidFill>
            <a:srgbClr val="FFFAF5"/>
          </a:solidFill>
          <a:ln w="9525">
            <a:solidFill>
              <a:srgbClr val="FFBF86"/>
            </a:solidFill>
            <a:prstDash val="solid"/>
          </a:ln>
        </p:spPr>
      </p:sp>
      <p:sp>
        <p:nvSpPr>
          <p:cNvPr id="9" name="矩形 8"/>
          <p:cNvSpPr>
            <a:spLocks noGrp="1"/>
          </p:cNvSpPr>
          <p:nvPr/>
        </p:nvSpPr>
        <p:spPr>
          <a:xfrm>
            <a:off x="1123950" y="4238625"/>
            <a:ext cx="9944100" cy="97155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The more you are willing to give, the more you will get.</a:t>
            </a:r>
            <a:br>
              <a:rPr sz="2100" b="0" i="0">
                <a:solidFill>
                  <a:srgbClr val="000000"/>
                </a:solidFill>
                <a:latin typeface="微软雅黑" panose="020B0503020204020204" charset="-122"/>
                <a:ea typeface="微软雅黑" panose="020B0503020204020204" charset="-122"/>
                <a:cs typeface="微软雅黑" panose="020B0503020204020204" charset="-122"/>
              </a:rPr>
            </a:br>
            <a:r>
              <a:rPr sz="2100" b="0" i="0">
                <a:solidFill>
                  <a:srgbClr val="000000"/>
                </a:solidFill>
                <a:latin typeface="微软雅黑" panose="020B0503020204020204" charset="-122"/>
                <a:ea typeface="微软雅黑" panose="020B0503020204020204" charset="-122"/>
                <a:cs typeface="微软雅黑" panose="020B0503020204020204" charset="-122"/>
              </a:rPr>
              <a:t>你愿意付出的越多，你收获的就越多。（助人类）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0" name="圆角矩形 9"/>
          <p:cNvSpPr>
            <a:spLocks noGrp="1"/>
          </p:cNvSpPr>
          <p:nvPr/>
        </p:nvSpPr>
        <p:spPr>
          <a:xfrm>
            <a:off x="876300" y="5381625"/>
            <a:ext cx="10439400" cy="800100"/>
          </a:xfrm>
          <a:prstGeom prst="roundRect">
            <a:avLst>
              <a:gd name="adj" fmla="val 16667"/>
            </a:avLst>
          </a:prstGeom>
          <a:solidFill>
            <a:srgbClr val="FFFAF5"/>
          </a:solidFill>
          <a:ln w="9525">
            <a:solidFill>
              <a:srgbClr val="FFBF86"/>
            </a:solidFill>
            <a:prstDash val="solid"/>
          </a:ln>
        </p:spPr>
      </p:sp>
      <p:sp>
        <p:nvSpPr>
          <p:cNvPr id="11" name="矩形 10"/>
          <p:cNvSpPr>
            <a:spLocks noGrp="1"/>
          </p:cNvSpPr>
          <p:nvPr/>
        </p:nvSpPr>
        <p:spPr>
          <a:xfrm>
            <a:off x="1123950" y="5457825"/>
            <a:ext cx="9944100" cy="6477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Love is the most precious gift in the world.(温情类！适用范围广！！）</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647700" y="514350"/>
            <a:ext cx="8572500" cy="723900"/>
          </a:xfrm>
          <a:prstGeom prst="rect">
            <a:avLst/>
          </a:prstGeom>
          <a:solidFill>
            <a:srgbClr val="F2F1EE"/>
          </a:solidFill>
          <a:ln w="0">
            <a:noFill/>
            <a:prstDash val="solid"/>
          </a:ln>
        </p:spPr>
      </p:sp>
      <p:sp>
        <p:nvSpPr>
          <p:cNvPr id="3" name="矩形 2"/>
          <p:cNvSpPr>
            <a:spLocks noGrp="1"/>
          </p:cNvSpPr>
          <p:nvPr/>
        </p:nvSpPr>
        <p:spPr>
          <a:xfrm>
            <a:off x="838200" y="590550"/>
            <a:ext cx="8191500" cy="552450"/>
          </a:xfrm>
          <a:prstGeom prst="rect">
            <a:avLst/>
          </a:prstGeom>
          <a:noFill/>
          <a:ln w="0">
            <a:noFill/>
            <a:prstDash val="solid"/>
          </a:ln>
        </p:spPr>
        <p:txBody>
          <a:bodyPr wrap="square" lIns="76200" tIns="0" rIns="76200" bIns="0" anchor="ctr"/>
          <a:lstStyle/>
          <a:p>
            <a:pPr algn="l">
              <a:lnSpc>
                <a:spcPct val="100000"/>
              </a:lnSpc>
              <a:buNone/>
              <a:defRPr sz="2700">
                <a:latin typeface="微软雅黑" panose="020B0503020204020204" charset="-122"/>
                <a:ea typeface="微软雅黑" panose="020B0503020204020204" charset="-122"/>
                <a:cs typeface="微软雅黑" panose="020B0503020204020204" charset="-122"/>
              </a:defRPr>
            </a:pPr>
            <a:r>
              <a:rPr sz="2700" b="1" i="0">
                <a:solidFill>
                  <a:srgbClr val="000000"/>
                </a:solidFill>
                <a:latin typeface="微软雅黑" panose="020B0503020204020204" charset="-122"/>
                <a:ea typeface="微软雅黑" panose="020B0503020204020204" charset="-122"/>
                <a:cs typeface="微软雅黑" panose="020B0503020204020204" charset="-122"/>
              </a:rPr>
              <a:t>主题升华句（主要写在最后）</a:t>
            </a:r>
            <a:r>
              <a:rPr sz="2700" b="1" i="0">
                <a:solidFill>
                  <a:srgbClr val="5A2A10"/>
                </a:solidFill>
                <a:latin typeface="微软雅黑" panose="020B0503020204020204" charset="-122"/>
                <a:ea typeface="微软雅黑" panose="020B0503020204020204" charset="-122"/>
                <a:cs typeface="微软雅黑" panose="020B0503020204020204" charset="-122"/>
              </a:rPr>
              <a:t>  (4/4)</a:t>
            </a:r>
            <a:endParaRPr sz="2700" b="1" i="0">
              <a:solidFill>
                <a:srgbClr val="5A2A10"/>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a:spLocks noGrp="1"/>
          </p:cNvSpPr>
          <p:nvPr/>
        </p:nvSpPr>
        <p:spPr>
          <a:xfrm>
            <a:off x="876300" y="1371600"/>
            <a:ext cx="10439400" cy="2286000"/>
          </a:xfrm>
          <a:prstGeom prst="roundRect">
            <a:avLst>
              <a:gd name="adj" fmla="val 5833"/>
            </a:avLst>
          </a:prstGeom>
          <a:solidFill>
            <a:srgbClr val="FFFAF5"/>
          </a:solidFill>
          <a:ln w="9525">
            <a:solidFill>
              <a:srgbClr val="FFBF86"/>
            </a:solidFill>
            <a:prstDash val="solid"/>
          </a:ln>
        </p:spPr>
      </p:sp>
      <p:sp>
        <p:nvSpPr>
          <p:cNvPr id="5" name="矩形 4"/>
          <p:cNvSpPr>
            <a:spLocks noGrp="1"/>
          </p:cNvSpPr>
          <p:nvPr/>
        </p:nvSpPr>
        <p:spPr>
          <a:xfrm>
            <a:off x="1123950" y="1447800"/>
            <a:ext cx="9944100" cy="2133600"/>
          </a:xfrm>
          <a:prstGeom prst="rect">
            <a:avLst/>
          </a:prstGeom>
          <a:noFill/>
          <a:ln w="0">
            <a:noFill/>
            <a:prstDash val="solid"/>
          </a:ln>
        </p:spPr>
        <p:txBody>
          <a:bodyPr wrap="square" lIns="76200" tIns="0" rIns="76200" bIns="0" anchor="ctr"/>
          <a:lstStyle/>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Finally, we went out of the forest that trapped us. What an unforgettable experience! It turns out that there’s always a way out of any plight as long as we stay calm.</a:t>
            </a:r>
            <a:endParaRPr sz="2100" b="0" i="0">
              <a:solidFill>
                <a:srgbClr val="000000"/>
              </a:solidFill>
              <a:latin typeface="微软雅黑" panose="020B0503020204020204" charset="-122"/>
              <a:ea typeface="微软雅黑" panose="020B0503020204020204" charset="-122"/>
              <a:cs typeface="微软雅黑" panose="020B0503020204020204" charset="-122"/>
            </a:endParaRPr>
          </a:p>
          <a:p>
            <a:pPr algn="l">
              <a:lnSpc>
                <a:spcPct val="108000"/>
              </a:lnSpc>
              <a:buNone/>
              <a:defRPr sz="2100">
                <a:latin typeface="微软雅黑" panose="020B0503020204020204" charset="-122"/>
                <a:ea typeface="微软雅黑" panose="020B0503020204020204" charset="-122"/>
                <a:cs typeface="微软雅黑" panose="020B0503020204020204" charset="-122"/>
              </a:defRPr>
            </a:pPr>
            <a:r>
              <a:rPr sz="2100" b="0" i="0">
                <a:solidFill>
                  <a:srgbClr val="000000"/>
                </a:solidFill>
                <a:latin typeface="微软雅黑" panose="020B0503020204020204" charset="-122"/>
                <a:ea typeface="微软雅黑" panose="020B0503020204020204" charset="-122"/>
                <a:cs typeface="微软雅黑" panose="020B0503020204020204" charset="-122"/>
              </a:rPr>
              <a:t>最后，我们走出了困住我们的森林。多么难忘的经历啊！事实证明，只要我们保持冷静，就总有办法摆脱困难。（脱困类）</a:t>
            </a:r>
            <a:endParaRPr sz="2100" b="0" i="0">
              <a:solidFill>
                <a:srgbClr val="0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65895</Words>
  <Application>WPS 演示</Application>
  <PresentationFormat>宽屏</PresentationFormat>
  <Paragraphs>2962</Paragraphs>
  <Slides>215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215</vt:i4>
      </vt:variant>
    </vt:vector>
  </HeadingPairs>
  <TitlesOfParts>
    <vt:vector size="223" baseType="lpstr">
      <vt:lpstr>Arial</vt:lpstr>
      <vt:lpstr>宋体</vt:lpstr>
      <vt:lpstr>Wingdings</vt:lpstr>
      <vt:lpstr>微软雅黑</vt:lpstr>
      <vt:lpstr>Arial Unicode MS</vt:lpstr>
      <vt:lpstr>Arial Black</vt:lpstr>
      <vt:lpstr>黑体</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English Courseware PPT</dc:creator>
  <cp:lastModifiedBy>English Courseware PPT</cp:lastModifiedBy>
  <cp:revision>15</cp:revision>
  <dcterms:created xsi:type="dcterms:W3CDTF">2023-07-11T07:43:00Z</dcterms:created>
  <dcterms:modified xsi:type="dcterms:W3CDTF">2026-07-13T03:59:16Z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2052-12.8.2.18913</vt:lpwstr>
  </property>
  <property fmtid="{D5CDD505-2E9C-101B-9397-08002B2CF9AE}" pid="3" name="ICV">
    <vt:lpwstr>AD194593247749F2908C65A5FF83A8EF_11</vt:lpwstr>
  </property>
</Properties>
</file>