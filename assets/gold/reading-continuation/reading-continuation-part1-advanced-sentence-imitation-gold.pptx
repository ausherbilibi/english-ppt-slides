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191250" y="3143250"/>
            <a:ext cx="4857750" cy="2183765"/>
          </a:xfrm>
          <a:prstGeom prst="rect">
            <a:avLst/>
          </a:prstGeom>
          <a:solidFill>
            <a:srgbClr val="FF8A1F"/>
          </a:solidFill>
          <a:ln w="0">
            <a:solidFill>
              <a:srgbClr val="FF8A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572250" y="3219450"/>
            <a:ext cx="4381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4000"/>
              </a:lnSpc>
              <a:buNone/>
              <a:defRPr sz="30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500">
                <a:solidFill>
                  <a:srgbClr val="FFFFFF"/>
                </a:solidFill>
              </a:rPr>
              <a:t>高考英语读后续写</a:t>
            </a:r>
            <a:endParaRPr sz="3500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591300" y="4095750"/>
            <a:ext cx="419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FFF5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00">
                <a:solidFill>
                  <a:srgbClr val="FFF5E8"/>
                </a:solidFill>
              </a:rPr>
              <a:t>高级句型仿写30句</a:t>
            </a:r>
            <a:endParaRPr sz="2900">
              <a:solidFill>
                <a:srgbClr val="FFF5E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591300" y="4619625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5B2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>
                <a:solidFill>
                  <a:srgbClr val="5B2A11"/>
                </a:solidFill>
              </a:rPr>
              <a:t>读后续写-亮点得分细节？</a:t>
            </a:r>
            <a:endParaRPr sz="1900">
              <a:solidFill>
                <a:srgbClr val="5B2A1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53530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47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>
                <a:solidFill>
                  <a:srgbClr val="000000"/>
                </a:solidFill>
              </a:rPr>
              <a:t>读后续写-亮点得分细节？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638300"/>
            <a:ext cx="10439400" cy="781050"/>
          </a:xfrm>
          <a:prstGeom prst="roundRect">
            <a:avLst>
              <a:gd name="adj" fmla="val 17073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085850" y="1809750"/>
            <a:ext cx="1123950" cy="438150"/>
          </a:xfrm>
          <a:prstGeom prst="roundRect">
            <a:avLst>
              <a:gd name="adj" fmla="val 26087"/>
            </a:avLst>
          </a:prstGeom>
          <a:solidFill>
            <a:srgbClr val="FF7A12"/>
          </a:solidFill>
          <a:ln w="9525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854200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FFFFFF"/>
                </a:solidFill>
                <a:cs typeface="微软雅黑" panose="020B0503020204020204" charset="-122"/>
              </a:rPr>
              <a:t>亮点</a:t>
            </a:r>
            <a:endParaRPr sz="2000">
              <a:solidFill>
                <a:srgbClr val="FFFFFF"/>
              </a:solidFill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552700" y="1800225"/>
            <a:ext cx="828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000000"/>
                </a:solidFill>
              </a:rPr>
              <a:t>情节简单化，动作心理复杂化。</a:t>
            </a:r>
            <a:endParaRPr sz="2000" b="0">
              <a:solidFill>
                <a:srgbClr val="000000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14600"/>
            <a:ext cx="10439400" cy="781050"/>
          </a:xfrm>
          <a:prstGeom prst="roundRect">
            <a:avLst>
              <a:gd name="adj" fmla="val 17073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1085850" y="2686050"/>
            <a:ext cx="1123950" cy="438150"/>
          </a:xfrm>
          <a:prstGeom prst="roundRect">
            <a:avLst>
              <a:gd name="adj" fmla="val 26087"/>
            </a:avLst>
          </a:prstGeom>
          <a:solidFill>
            <a:srgbClr val="FF7A12"/>
          </a:solidFill>
          <a:ln w="9525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62050" y="2730500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FFFFFF"/>
                </a:solidFill>
                <a:cs typeface="微软雅黑" panose="020B0503020204020204" charset="-122"/>
              </a:rPr>
              <a:t>描写</a:t>
            </a:r>
            <a:endParaRPr sz="2000">
              <a:solidFill>
                <a:srgbClr val="FFFFFF"/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52700" y="2676525"/>
            <a:ext cx="828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000000"/>
                </a:solidFill>
                <a:cs typeface="微软雅黑" panose="020B0503020204020204" charset="-122"/>
              </a:rPr>
              <a:t>环境，语言，心理，动作描写。</a:t>
            </a:r>
            <a:endParaRPr sz="2000" b="0">
              <a:solidFill>
                <a:srgbClr val="000000"/>
              </a:solidFill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390900"/>
            <a:ext cx="10439400" cy="781050"/>
          </a:xfrm>
          <a:prstGeom prst="roundRect">
            <a:avLst>
              <a:gd name="adj" fmla="val 17073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1085850" y="3562350"/>
            <a:ext cx="1123950" cy="438150"/>
          </a:xfrm>
          <a:prstGeom prst="roundRect">
            <a:avLst>
              <a:gd name="adj" fmla="val 26087"/>
            </a:avLst>
          </a:prstGeom>
          <a:solidFill>
            <a:srgbClr val="FF7A12"/>
          </a:solidFill>
          <a:ln w="9525">
            <a:solidFill>
              <a:srgbClr val="FF7A1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13460" y="3606800"/>
            <a:ext cx="126809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FFFFFF"/>
                </a:solidFill>
                <a:cs typeface="微软雅黑" panose="020B0503020204020204" charset="-122"/>
              </a:rPr>
              <a:t>丰富句式</a:t>
            </a:r>
            <a:endParaRPr sz="2000">
              <a:solidFill>
                <a:srgbClr val="FFFFFF"/>
              </a:solidFill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552700" y="3552825"/>
            <a:ext cx="828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000000"/>
                </a:solidFill>
              </a:rPr>
              <a:t>从句，非谓语，倒装句，独立主格，虚拟语气，强调句，感叹句。</a:t>
            </a:r>
            <a:endParaRPr sz="2000" b="0">
              <a:solidFill>
                <a:srgbClr val="000000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4267200"/>
            <a:ext cx="10439400" cy="781050"/>
          </a:xfrm>
          <a:prstGeom prst="roundRect">
            <a:avLst>
              <a:gd name="adj" fmla="val 17073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085850" y="4438650"/>
            <a:ext cx="1123950" cy="438150"/>
          </a:xfrm>
          <a:prstGeom prst="roundRect">
            <a:avLst>
              <a:gd name="adj" fmla="val 26087"/>
            </a:avLst>
          </a:prstGeom>
          <a:solidFill>
            <a:srgbClr val="FF7A12"/>
          </a:solidFill>
          <a:ln w="9525">
            <a:solidFill>
              <a:srgbClr val="FF7A1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483100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FFFFFF"/>
                </a:solidFill>
                <a:cs typeface="微软雅黑" panose="020B0503020204020204" charset="-122"/>
              </a:rPr>
              <a:t>手法</a:t>
            </a:r>
            <a:endParaRPr sz="2000">
              <a:solidFill>
                <a:srgbClr val="FFFFFF"/>
              </a:solidFill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552700" y="4429125"/>
            <a:ext cx="828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000000"/>
                </a:solidFill>
                <a:cs typeface="微软雅黑" panose="020B0503020204020204" charset="-122"/>
              </a:rPr>
              <a:t>比喻，夸张，拟人。</a:t>
            </a:r>
            <a:endParaRPr sz="2000" b="0">
              <a:solidFill>
                <a:srgbClr val="000000"/>
              </a:solidFill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76300" y="5143500"/>
            <a:ext cx="10439400" cy="781050"/>
          </a:xfrm>
          <a:prstGeom prst="roundRect">
            <a:avLst>
              <a:gd name="adj" fmla="val 17073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1085850" y="5314950"/>
            <a:ext cx="1123950" cy="438150"/>
          </a:xfrm>
          <a:prstGeom prst="roundRect">
            <a:avLst>
              <a:gd name="adj" fmla="val 26087"/>
            </a:avLst>
          </a:prstGeom>
          <a:solidFill>
            <a:srgbClr val="FF7A12"/>
          </a:solidFill>
          <a:ln w="9525">
            <a:solidFill>
              <a:srgbClr val="FF7A1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62050" y="5359400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FFFFFF"/>
                </a:solidFill>
                <a:cs typeface="微软雅黑" panose="020B0503020204020204" charset="-122"/>
              </a:rPr>
              <a:t>三部分</a:t>
            </a:r>
            <a:endParaRPr sz="2000">
              <a:solidFill>
                <a:srgbClr val="FFFFFF"/>
              </a:solidFill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552700" y="5305425"/>
            <a:ext cx="828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000000"/>
                </a:solidFill>
              </a:rPr>
              <a:t>心理描写句型；动作描写句型；语言描写、环境描写+其他句型。</a:t>
            </a:r>
            <a:endParaRPr sz="2000" b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53530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47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00">
                <a:solidFill>
                  <a:srgbClr val="004E9A"/>
                </a:solidFill>
              </a:rPr>
              <a:t>心理描写</a:t>
            </a:r>
            <a:r>
              <a:rPr sz="2600">
                <a:solidFill>
                  <a:srgbClr val="000000"/>
                </a:solidFill>
              </a:rPr>
              <a:t>句型（一）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6300" y="1651000"/>
            <a:ext cx="10439400" cy="136271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92200" y="181610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700" y="185420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0" y="177800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心理描写-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情绪名词负面1n. gave way to 情绪名词正向2n.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从….情绪1转变正…..情绪2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76300" y="3128010"/>
            <a:ext cx="10439400" cy="136334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092200" y="329311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55700" y="333121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句型2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63800" y="325501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心理描写-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情绪n1 mingled with 情绪n2，sb. did sth.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情绪1混合着情绪2,某人做了某事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76300" y="4605655"/>
            <a:ext cx="10439400" cy="136271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092200" y="4770755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55700" y="4808855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句型3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463800" y="5083810"/>
            <a:ext cx="84963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心理描写+动作描写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-情绪1 and 情绪2, 主语的一个动作….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53530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47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00">
                <a:solidFill>
                  <a:srgbClr val="004E9A"/>
                </a:solidFill>
              </a:rPr>
              <a:t>心理描写</a:t>
            </a:r>
            <a:r>
              <a:rPr sz="2600">
                <a:solidFill>
                  <a:srgbClr val="000000"/>
                </a:solidFill>
              </a:rPr>
              <a:t>句型（二）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6300" y="1651000"/>
            <a:ext cx="10439400" cy="210185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92200" y="181610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700" y="185420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句型4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0" y="1778000"/>
            <a:ext cx="8496300" cy="923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心理描写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sense (wave/flush/ripple) of +情绪名词 flooded (swept over/overwhelmed )sb.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一阵…的情绪席卷某人。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76300" y="3867150"/>
            <a:ext cx="10439400" cy="210185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092200" y="403225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55700" y="407035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句型5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63800" y="399415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心理描写+动作描写-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情绪adj was sb. that +陈述句….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某人是如此….以至于做了什么动作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53530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47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00">
                <a:solidFill>
                  <a:srgbClr val="004E9A"/>
                </a:solidFill>
              </a:rPr>
              <a:t>心理描写</a:t>
            </a:r>
            <a:r>
              <a:rPr sz="2600">
                <a:solidFill>
                  <a:srgbClr val="000000"/>
                </a:solidFill>
              </a:rPr>
              <a:t>句型（三）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6300" y="1651000"/>
            <a:ext cx="10439400" cy="210185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92200" y="181610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700" y="185420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句型6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0" y="1778000"/>
            <a:ext cx="8496300" cy="923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心理描写-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one’s +情绪名词，sb. did sth.…./Much/greatly to one’s +情绪名词，主句…/To one’s great +情绪名词，主句…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令某人…..的是，某人做了什么事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76300" y="3867150"/>
            <a:ext cx="10439400" cy="210185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092200" y="403225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55700" y="407035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句型7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63800" y="399415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心理描写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-With复合结构/（growing +情绪n.）,sb. did sth.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带着….的情绪，某人做了…..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53530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47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00">
                <a:solidFill>
                  <a:srgbClr val="004E9A"/>
                </a:solidFill>
              </a:rPr>
              <a:t>动作描写</a:t>
            </a:r>
            <a:r>
              <a:rPr sz="2600">
                <a:solidFill>
                  <a:srgbClr val="000000"/>
                </a:solidFill>
              </a:rPr>
              <a:t>句型（一）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6300" y="1651000"/>
            <a:ext cx="10439400" cy="99377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92200" y="181610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700" y="185420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0" y="177800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动作面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--Doing…,主句/ 主句,doing…..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某人做着某事，同时也做着某事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76300" y="2759075"/>
            <a:ext cx="10439400" cy="99377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092200" y="2924175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55700" y="2962275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句型2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63800" y="2886075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动作链：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Having done…..，主句….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做了某事后，某人又做接着做了某事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76300" y="3867150"/>
            <a:ext cx="10439400" cy="99377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092200" y="403225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55700" y="407035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句型3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463800" y="399415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动作面：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某人 did A，B and C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某人做了A，B 和C 三个动作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76300" y="4975225"/>
            <a:ext cx="10439400" cy="99377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092200" y="5140325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55700" y="5178425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句型4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463800" y="5102225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动作描写-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Luckily/Fortunately，it didn’t take long before sb. did…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幸运的是，某人不久后就做了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53530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47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00">
                <a:solidFill>
                  <a:srgbClr val="004E9A"/>
                </a:solidFill>
              </a:rPr>
              <a:t>动作描写</a:t>
            </a:r>
            <a:r>
              <a:rPr sz="2600">
                <a:solidFill>
                  <a:srgbClr val="000000"/>
                </a:solidFill>
              </a:rPr>
              <a:t>句型（二）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6300" y="1651000"/>
            <a:ext cx="10439400" cy="136271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92200" y="181610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700" y="185420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句型c5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0" y="1778000"/>
            <a:ext cx="84963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动作描写-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Inspired by what sb. said, 某人 made up one’s mind  to to./be determined to do/took actions  to do 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受到某人说的话的鼓励，某人下定决心做某事、决定做某事、采取行动做某事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76300" y="3128010"/>
            <a:ext cx="10439400" cy="136334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092200" y="329311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55700" y="333121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句型6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63800" y="325501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动作描写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-At the sight of…，sb. did sth.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一看到…的时候,某人做了某事。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76300" y="4605655"/>
            <a:ext cx="10439400" cy="136271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092200" y="4770755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55700" y="4808855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句型7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463800" y="4732655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动作描写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 only 情/助+主语+动词…but also…陈述句 倒装句型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某人不仅…而且….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53530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47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00">
                <a:solidFill>
                  <a:srgbClr val="004E9A"/>
                </a:solidFill>
              </a:rPr>
              <a:t>语言</a:t>
            </a:r>
            <a:r>
              <a:rPr sz="2600">
                <a:solidFill>
                  <a:srgbClr val="000000"/>
                </a:solidFill>
              </a:rPr>
              <a:t>/</a:t>
            </a:r>
            <a:r>
              <a:rPr sz="2600">
                <a:solidFill>
                  <a:srgbClr val="004E9A"/>
                </a:solidFill>
              </a:rPr>
              <a:t>环境</a:t>
            </a:r>
            <a:r>
              <a:rPr sz="2600">
                <a:solidFill>
                  <a:srgbClr val="000000"/>
                </a:solidFill>
              </a:rPr>
              <a:t>/其他句型（一）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6300" y="1651000"/>
            <a:ext cx="10439400" cy="210185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92200" y="181610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700" y="185420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0" y="177800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语言描写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Sb. said …..in a/an adj voice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某人说了…以一种什么的声音说。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76300" y="3867150"/>
            <a:ext cx="10439400" cy="210185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092200" y="403225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55700" y="407035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句型2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63800" y="399415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语言描写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“……”Sb. said in  a/an adj way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某人说了…以一种什么的声音说。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53530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47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00">
                <a:solidFill>
                  <a:srgbClr val="004E9A"/>
                </a:solidFill>
              </a:rPr>
              <a:t>语言</a:t>
            </a:r>
            <a:r>
              <a:rPr sz="2600">
                <a:solidFill>
                  <a:srgbClr val="000000"/>
                </a:solidFill>
              </a:rPr>
              <a:t>/</a:t>
            </a:r>
            <a:r>
              <a:rPr sz="2600">
                <a:solidFill>
                  <a:srgbClr val="004E9A"/>
                </a:solidFill>
              </a:rPr>
              <a:t>环境</a:t>
            </a:r>
            <a:r>
              <a:rPr sz="2600">
                <a:solidFill>
                  <a:srgbClr val="000000"/>
                </a:solidFill>
              </a:rPr>
              <a:t>/其他句型（二）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6300" y="1651000"/>
            <a:ext cx="10439400" cy="210185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92200" y="181610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700" y="185420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句型3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0" y="1778000"/>
            <a:ext cx="8496300" cy="923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环境描写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-Immediately/suddenly, an absolute /a complete + n ruled the +地点n and a wave of 情绪n, washed/swept over sb.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突然，一种绝对。。。控制了某个地方并且一阵…的情绪席卷某人。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76300" y="3867150"/>
            <a:ext cx="10439400" cy="210185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092200" y="403225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55700" y="407035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句型4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63800" y="399415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occurred to sb that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某人突然想起….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53530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47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00">
                <a:solidFill>
                  <a:srgbClr val="004E9A"/>
                </a:solidFill>
              </a:rPr>
              <a:t>语言</a:t>
            </a:r>
            <a:r>
              <a:rPr sz="2600">
                <a:solidFill>
                  <a:srgbClr val="000000"/>
                </a:solidFill>
              </a:rPr>
              <a:t>/</a:t>
            </a:r>
            <a:r>
              <a:rPr sz="2600">
                <a:solidFill>
                  <a:srgbClr val="004E9A"/>
                </a:solidFill>
              </a:rPr>
              <a:t>环境</a:t>
            </a:r>
            <a:r>
              <a:rPr sz="2600">
                <a:solidFill>
                  <a:srgbClr val="000000"/>
                </a:solidFill>
              </a:rPr>
              <a:t>/其他句型（三）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6300" y="1651000"/>
            <a:ext cx="10439400" cy="99377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92200" y="181610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700" y="185420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句型6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0" y="177800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Without a second thought, sb. did sth.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毫不犹豫地,某人做了什么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76300" y="2759075"/>
            <a:ext cx="10439400" cy="99377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092200" y="2924175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55700" y="2962275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句型7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63800" y="2886075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as/though 引导倒装句，形容词/副词 as /though 主语+谓语，主句…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尽管某人….，Ta还是做了…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76300" y="3867150"/>
            <a:ext cx="10439400" cy="99377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092200" y="403225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55700" y="407035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句型8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463800" y="399415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Only in this way, can you ……只有以这种方式，你才能….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Only when, can you …..只有当….你才能….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76300" y="4975225"/>
            <a:ext cx="10439400" cy="99377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092200" y="5140325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55700" y="5178425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句型9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463800" y="5102225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心理描写+动作描写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adj was sb +that he/she…倒装句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某人是如此…以至于做了什么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53530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47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00">
                <a:solidFill>
                  <a:srgbClr val="004E9A"/>
                </a:solidFill>
              </a:rPr>
              <a:t>语言</a:t>
            </a:r>
            <a:r>
              <a:rPr sz="2600">
                <a:solidFill>
                  <a:srgbClr val="000000"/>
                </a:solidFill>
              </a:rPr>
              <a:t>/</a:t>
            </a:r>
            <a:r>
              <a:rPr sz="2600">
                <a:solidFill>
                  <a:srgbClr val="004E9A"/>
                </a:solidFill>
              </a:rPr>
              <a:t>环境</a:t>
            </a:r>
            <a:r>
              <a:rPr sz="2600">
                <a:solidFill>
                  <a:srgbClr val="000000"/>
                </a:solidFill>
              </a:rPr>
              <a:t>/其他句型（四）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6300" y="1651000"/>
            <a:ext cx="10439400" cy="136271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92200" y="181610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700" y="185420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句型10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0" y="177800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表示感谢某人：Without sb/sth, I wouldn’t do…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没有谁，我将不能…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76300" y="3128010"/>
            <a:ext cx="10439400" cy="136334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092200" y="329311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55700" y="333121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句型11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63800" y="3255010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强调句仿写：It is/was+被强调部分+that/who +剩余部分。/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is/was not until …that …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正是…..，某人才….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76300" y="4605655"/>
            <a:ext cx="10439400" cy="136271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092200" y="4770755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55700" y="4808855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句型12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463800" y="4732655"/>
            <a:ext cx="84963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….. had become a bridge, connecting A with B 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…已经成为一座桥梁，连接了A和B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53530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47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00">
                <a:solidFill>
                  <a:srgbClr val="004E9A"/>
                </a:solidFill>
              </a:rPr>
              <a:t>语言</a:t>
            </a:r>
            <a:r>
              <a:rPr sz="2600">
                <a:solidFill>
                  <a:srgbClr val="000000"/>
                </a:solidFill>
              </a:rPr>
              <a:t>/</a:t>
            </a:r>
            <a:r>
              <a:rPr sz="2600">
                <a:solidFill>
                  <a:srgbClr val="004E9A"/>
                </a:solidFill>
              </a:rPr>
              <a:t>环境</a:t>
            </a:r>
            <a:r>
              <a:rPr sz="2600">
                <a:solidFill>
                  <a:srgbClr val="000000"/>
                </a:solidFill>
              </a:rPr>
              <a:t>/其他句型（五）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6300" y="1651000"/>
            <a:ext cx="10439400" cy="4318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92200" y="181610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700" y="185420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句型13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0" y="1778000"/>
            <a:ext cx="84963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主语从句+表语从句第一句：(What interested/attracted/appealed/impressed/inspired me most)  is   (that….)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最使我感兴趣的是/最吸引我的是/最让我印象深刻的是/最鼓舞我的是…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53530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47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00">
                <a:solidFill>
                  <a:srgbClr val="004E9A"/>
                </a:solidFill>
              </a:rPr>
              <a:t>语言</a:t>
            </a:r>
            <a:r>
              <a:rPr sz="2600">
                <a:solidFill>
                  <a:srgbClr val="000000"/>
                </a:solidFill>
              </a:rPr>
              <a:t>/</a:t>
            </a:r>
            <a:r>
              <a:rPr sz="2600">
                <a:solidFill>
                  <a:srgbClr val="004E9A"/>
                </a:solidFill>
              </a:rPr>
              <a:t>环境</a:t>
            </a:r>
            <a:r>
              <a:rPr sz="2600">
                <a:solidFill>
                  <a:srgbClr val="000000"/>
                </a:solidFill>
              </a:rPr>
              <a:t>/其他句型（六）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6300" y="1651000"/>
            <a:ext cx="10439400" cy="210185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92200" y="181610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700" y="185420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句型14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0" y="1778000"/>
            <a:ext cx="8496300" cy="923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动作+心理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Seeing/Hearing sth. sb. felt a great sense of 情绪+welling up in one’s heart and surging through sb.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听到、看到…某人感到一阵…的感觉涌上心头并且涌遍全身。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76300" y="3867150"/>
            <a:ext cx="10439400" cy="210185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092200" y="4032250"/>
            <a:ext cx="1117600" cy="406400"/>
          </a:xfrm>
          <a:prstGeom prst="roundRect">
            <a:avLst/>
          </a:prstGeom>
          <a:solidFill>
            <a:srgbClr val="FF8A1F"/>
          </a:solidFill>
          <a:ln w="0">
            <a:solidFill>
              <a:srgbClr val="FF8A1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55700" y="4070350"/>
            <a:ext cx="990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句型15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63800" y="3994150"/>
            <a:ext cx="8496300" cy="923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动作+心理，one’s heart pounding fiercely and one’s plam sweating ,an inner voice told sb. that….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某人的心脏狂跳，手掌出汗，内心有一个声音告诉自己要…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2287</Words>
  <Application>WPS 演示</Application>
  <PresentationFormat>宽屏</PresentationFormat>
  <Paragraphs>189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English Courseware PPT</dc:creator>
  <cp:lastModifiedBy>English Courseware PPT</cp:lastModifiedBy>
  <cp:revision>10</cp:revision>
  <dcterms:created xsi:type="dcterms:W3CDTF">2023-07-11T07:43:00Z</dcterms:created>
  <dcterms:modified xsi:type="dcterms:W3CDTF">2026-07-13T03:41:40Z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2052-12.8.2.18913</vt:lpwstr>
  </property>
  <property fmtid="{D5CDD505-2E9C-101B-9397-08002B2CF9AE}" pid="3" name="ICV">
    <vt:lpwstr>AD194593247749F2908C65A5FF83A8EF_11</vt:lpwstr>
  </property>
</Properties>
</file>