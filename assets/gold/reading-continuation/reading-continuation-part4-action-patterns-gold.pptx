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读后续写---高级句型仿写---动作描写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动作描写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5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第二部分句型仿写训练：句型1-7</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1.听到这个坏消息，我们抑制不住自己的情绪，悲伤的泪水从脸上掉下来。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1"/>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Hearing the bad news, we couldn't hold back our emotions, and sad tears rolled down our faces.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847850"/>
          </a:xfrm>
          <a:prstGeom prst="roundRect">
            <a:avLst>
              <a:gd name="adj" fmla="val 7216"/>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2.看着电视里播放的春节联欢晚会，我的家人正在教我包饺子，那不仅是有趣的而且是传统的。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2"/>
          <p:cNvSpPr>
            <a:spLocks noGrp="1"/>
          </p:cNvSpPr>
          <p:nvPr/>
        </p:nvSpPr>
        <p:spPr>
          <a:xfrm>
            <a:off x="1200150" y="48482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Watching the Spring Festival Gala on TV, my family was teaching me how to make dumplings, which was not only interesting but also traditional.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3.了解到你对中国文化感兴趣，我正写信向你介绍中国的剪纸。</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3"/>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Learning that you're interested in Chinese culture, I'm writing to introduce Chinese paper - cutting to you.</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847850"/>
          </a:xfrm>
          <a:prstGeom prst="roundRect">
            <a:avLst>
              <a:gd name="adj" fmla="val 7216"/>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4.听到Simona的话，她被鼓励着继续爬山。最终，她成功地登顶了。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4"/>
          <p:cNvSpPr>
            <a:spLocks noGrp="1"/>
          </p:cNvSpPr>
          <p:nvPr/>
        </p:nvSpPr>
        <p:spPr>
          <a:xfrm>
            <a:off x="1200150" y="48482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Hearing Simona's words, she was encouraged to keep climbing the mountain. Eventually, she successfully reached the summit.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847850"/>
          </a:xfrm>
          <a:prstGeom prst="roundRect">
            <a:avLst>
              <a:gd name="adj" fmla="val 7216"/>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5.看着这些可爱的，圆圆的饺子，我的内心充满了幸福和温暖，那不仅是有趣的而且是有意义的。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5"/>
          <p:cNvSpPr>
            <a:spLocks noGrp="1"/>
          </p:cNvSpPr>
          <p:nvPr/>
        </p:nvSpPr>
        <p:spPr>
          <a:xfrm>
            <a:off x="1200150" y="319087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Looking at these lovely, round dumplings, my heart was filled with happiness and warmth, which was not only interesting but also meaningful.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9580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482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6.沿着河边散步时，她突然听到一声响亮的呼救声。</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6"/>
          <p:cNvSpPr>
            <a:spLocks noGrp="1"/>
          </p:cNvSpPr>
          <p:nvPr/>
        </p:nvSpPr>
        <p:spPr>
          <a:xfrm>
            <a:off x="1200150" y="51339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Walking along the river, she suddenly heard a loud cry for help.</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7.老人坐在长椅上，看着孩子们在公园里开心地玩耍。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7"/>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old man sat on the bench, watching children play happily in the park.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8.听着美妙的音乐，他们忍不住跟着节奏跳起舞来。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8"/>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Listening to the beautiful music, they couldn't help dancing to the rhythm.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9.我们站在山顶，欣赏着整座城市令人惊叹的景色。</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9"/>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We stood at the top of the mountain, enjoying the breathtaking view of the whole city.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10.快速在键盘上敲击着，他在截止日期前完成了报告</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0"/>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Typing quickly on the keyboard, he finished the report before the deadline.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收到妈妈的来信，她兴奋地跳起来。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1"/>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received a letter from her mother, she jumped up with excitement.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被告知他被选择参加决赛的之后，她兴奋地把这个消息告诉了他的家人。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2"/>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been informed that he was chosen to participate in the final, she excitedly told the news to his family.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从大学毕业后，Simona就回到了她的家乡，一个美丽且宁静的村庄。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3"/>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graduated from university, Simona returned to her hometown, a beautiful and peaceful village.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4.做好充分的准备后，他站在窗边，等待着孩子们的到来。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4"/>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made full preparations, he stood by the window, waiting for the children to come.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847850"/>
          </a:xfrm>
          <a:prstGeom prst="roundRect">
            <a:avLst>
              <a:gd name="adj" fmla="val 7216"/>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5.做好充分的准备后，我和我的家人就准备包饺子了，那不仅是有趣的而且是传统的。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5"/>
          <p:cNvSpPr>
            <a:spLocks noGrp="1"/>
          </p:cNvSpPr>
          <p:nvPr/>
        </p:nvSpPr>
        <p:spPr>
          <a:xfrm>
            <a:off x="1200150" y="48482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made full preparations, my family and I were ready to make dumplings, which was not only fun but also traditional.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6.冲过终点线后，这个运动员跑向了他的母亲，眼泪流过他的脸颊。</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6"/>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crossed the finish line, the athlete ran towards his mother, with tears streaming down his cheeks.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 为自己的错误道歉后，他希望能得到老师的原谅。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7"/>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apologized for his mistake, he hoped to be forgiven by his teacher.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 之前看过这部电影后，她决定今晚看一部别的。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8"/>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seen the movie before, she decided to watch a different one tonight.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9.</a:t>
            </a:r>
            <a:r>
              <a:rPr sz="2025" b="0" i="0">
                <a:solidFill>
                  <a:srgbClr val="000000"/>
                </a:solidFill>
                <a:latin typeface="微软雅黑" panose="020B0503020204020204" charset="-122"/>
                <a:ea typeface="微软雅黑" panose="020B0503020204020204" charset="-122"/>
                <a:cs typeface="微软雅黑" panose="020B0503020204020204" charset="-122"/>
              </a:rPr>
              <a:t> 攒够了足够的钱后，他们计划在城里买一套新房子。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9"/>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saved enough money, they planned to buy a new house in the city.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10.</a:t>
            </a:r>
            <a:r>
              <a:rPr sz="2025" b="0" i="0">
                <a:solidFill>
                  <a:srgbClr val="000000"/>
                </a:solidFill>
                <a:latin typeface="微软雅黑" panose="020B0503020204020204" charset="-122"/>
                <a:ea typeface="微软雅黑" panose="020B0503020204020204" charset="-122"/>
                <a:cs typeface="微软雅黑" panose="020B0503020204020204" charset="-122"/>
              </a:rPr>
              <a:t>从失败中吸取教训后，他尝试用新方法来解决这个问题。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0"/>
          <p:cNvSpPr>
            <a:spLocks noGrp="1"/>
          </p:cNvSpPr>
          <p:nvPr/>
        </p:nvSpPr>
        <p:spPr>
          <a:xfrm>
            <a:off x="1200150" y="48482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learned from his failure, he tried a new method to solve the problem.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她深吸了一口气，拿着她的书和水杯，缓缓地走进了教室。</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1"/>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took a deep breath, picked up her book and cup, and slowly walked into the classroom.</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她抬起她的头，举起她的手，然后正确地回答了老师的问题。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2"/>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raised her head, lifted her hand, and then answered the teacher's question correctly.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Simona站了起来，抱住父母，微笑着，尽量不让情绪失控。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23"/>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Simona stood up, hugged her parents, smiled, and tried not to let her emotions get out of control.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133600"/>
          </a:xfrm>
          <a:prstGeom prst="roundRect">
            <a:avLst>
              <a:gd name="adj" fmla="val 6250"/>
            </a:avLst>
          </a:prstGeom>
          <a:solidFill>
            <a:srgbClr val="FFFAF5"/>
          </a:solidFill>
          <a:ln w="9525">
            <a:solidFill>
              <a:srgbClr val="FFBF86"/>
            </a:solidFill>
            <a:prstDash val="solid"/>
          </a:ln>
        </p:spPr>
      </p:sp>
      <p:sp>
        <p:nvSpPr>
          <p:cNvPr id="9" name="矩形 8"/>
          <p:cNvSpPr>
            <a:spLocks noGrp="1"/>
          </p:cNvSpPr>
          <p:nvPr/>
        </p:nvSpPr>
        <p:spPr>
          <a:xfrm>
            <a:off x="1200150" y="29051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这个农民冲进他的农场，看着这些兔子和乱七八糟的萝卜，用一个生气的声音喊道，“你们在干什么？赶紧从我的田里滚出来！”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4"/>
          <p:cNvSpPr>
            <a:spLocks noGrp="1"/>
          </p:cNvSpPr>
          <p:nvPr/>
        </p:nvSpPr>
        <p:spPr>
          <a:xfrm>
            <a:off x="1200150" y="34766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farmer rushed into his farm, looked at the rabbits and the messy radishes, and shouted in an angry voice, "What are you doing? Get out of my field right now!"</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200275"/>
          </a:xfrm>
          <a:prstGeom prst="roundRect">
            <a:avLst>
              <a:gd name="adj" fmla="val 6061"/>
            </a:avLst>
          </a:prstGeom>
          <a:solidFill>
            <a:srgbClr val="FFFAF5"/>
          </a:solidFill>
          <a:ln w="9525">
            <a:solidFill>
              <a:srgbClr val="FFBF86"/>
            </a:solidFill>
            <a:prstDash val="solid"/>
          </a:ln>
        </p:spPr>
      </p:sp>
      <p:sp>
        <p:nvSpPr>
          <p:cNvPr id="9" name="矩形 8"/>
          <p:cNvSpPr>
            <a:spLocks noGrp="1"/>
          </p:cNvSpPr>
          <p:nvPr/>
        </p:nvSpPr>
        <p:spPr>
          <a:xfrm>
            <a:off x="1200150" y="2795588"/>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她走向我，递给我一瓶水，告诉我不要放弃，然后我才能看见最美的风景，这极大地鼓励了我并让我感到内心充满了幸福和温暖。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5"/>
          <p:cNvSpPr>
            <a:spLocks noGrp="1"/>
          </p:cNvSpPr>
          <p:nvPr/>
        </p:nvSpPr>
        <p:spPr>
          <a:xfrm>
            <a:off x="1200150" y="3367088"/>
            <a:ext cx="9791700" cy="11620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walked up to me, handed me a bottle of water, and told me not to give up so that I could see the most beautiful scenery. This greatly encouraged me and made my heart filled with happiness and warmth .</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848225"/>
            <a:ext cx="10439400" cy="1343025"/>
          </a:xfrm>
          <a:prstGeom prst="roundRect">
            <a:avLst>
              <a:gd name="adj" fmla="val 9929"/>
            </a:avLst>
          </a:prstGeom>
          <a:solidFill>
            <a:srgbClr val="FFFAF5"/>
          </a:solidFill>
          <a:ln w="9525">
            <a:solidFill>
              <a:srgbClr val="FFBF86"/>
            </a:solidFill>
            <a:prstDash val="solid"/>
          </a:ln>
        </p:spPr>
      </p:sp>
      <p:sp>
        <p:nvSpPr>
          <p:cNvPr id="12" name="矩形 11"/>
          <p:cNvSpPr>
            <a:spLocks noGrp="1"/>
          </p:cNvSpPr>
          <p:nvPr/>
        </p:nvSpPr>
        <p:spPr>
          <a:xfrm>
            <a:off x="1200150" y="5091113"/>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她抬起的头，把声音提高然后大声喊：“不要瞧不起任何人！不要以貌取人！”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6"/>
          <p:cNvSpPr>
            <a:spLocks noGrp="1"/>
          </p:cNvSpPr>
          <p:nvPr/>
        </p:nvSpPr>
        <p:spPr>
          <a:xfrm>
            <a:off x="1200150" y="5376863"/>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raised her head, raised her voice, and shouted, "Don't look down on anyone! Don't judge a book by its cover!"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705100"/>
          </a:xfrm>
          <a:prstGeom prst="roundRect">
            <a:avLst>
              <a:gd name="adj" fmla="val 4930"/>
            </a:avLst>
          </a:prstGeom>
          <a:solidFill>
            <a:srgbClr val="FFFAF5"/>
          </a:solidFill>
          <a:ln w="9525">
            <a:solidFill>
              <a:srgbClr val="FFBF86"/>
            </a:solidFill>
            <a:prstDash val="solid"/>
          </a:ln>
        </p:spPr>
      </p:sp>
      <p:sp>
        <p:nvSpPr>
          <p:cNvPr id="9" name="矩形 8"/>
          <p:cNvSpPr>
            <a:spLocks noGrp="1"/>
          </p:cNvSpPr>
          <p:nvPr/>
        </p:nvSpPr>
        <p:spPr>
          <a:xfrm>
            <a:off x="1200150" y="29051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我的好朋友Simona走向我，递给我一瓶水，告诉我“再坚持一下，你就会到达山顶。”我被她的话深深地感动了。每次我想起这次经历，我的内心都充满了温暖和力量。</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7"/>
          <p:cNvSpPr>
            <a:spLocks noGrp="1"/>
          </p:cNvSpPr>
          <p:nvPr/>
        </p:nvSpPr>
        <p:spPr>
          <a:xfrm>
            <a:off x="1200150" y="3476625"/>
            <a:ext cx="9791700" cy="1447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My good friend Simona walked up to me, handed me a bottle of water, and told me, "Hold on a little longer, and you'll reach the top of the mountain." I was deeply touched by her words. Every time I think of this experience, my heart is filled with warmth and strength.</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133600"/>
          </a:xfrm>
          <a:prstGeom prst="roundRect">
            <a:avLst>
              <a:gd name="adj" fmla="val 6250"/>
            </a:avLst>
          </a:prstGeom>
          <a:solidFill>
            <a:srgbClr val="FFFAF5"/>
          </a:solidFill>
          <a:ln w="9525">
            <a:solidFill>
              <a:srgbClr val="FFBF86"/>
            </a:solidFill>
            <a:prstDash val="solid"/>
          </a:ln>
        </p:spPr>
      </p:sp>
      <p:sp>
        <p:nvSpPr>
          <p:cNvPr id="9" name="矩形 8"/>
          <p:cNvSpPr>
            <a:spLocks noGrp="1"/>
          </p:cNvSpPr>
          <p:nvPr/>
        </p:nvSpPr>
        <p:spPr>
          <a:xfrm>
            <a:off x="1200150" y="29051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我的同桌Simona微笑着看着我，递给我一个笔记本，然后说“给你，希望对你有帮助。”在她的帮助下，我以一个新的方法算出了这个数学题。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8"/>
          <p:cNvSpPr>
            <a:spLocks noGrp="1"/>
          </p:cNvSpPr>
          <p:nvPr/>
        </p:nvSpPr>
        <p:spPr>
          <a:xfrm>
            <a:off x="1200150" y="34766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My desk mate Simona looked at me with a smile, handed me a notebook, and then said, "Here you are. Hope it helps." With her help, I worked out the math problem in a new method.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146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幸运的是，不久后这个教授和同学们都被秋雨的介绍所打动。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9"/>
          <p:cNvSpPr>
            <a:spLocks noGrp="1"/>
          </p:cNvSpPr>
          <p:nvPr/>
        </p:nvSpPr>
        <p:spPr>
          <a:xfrm>
            <a:off x="1200150" y="30003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both the professor and the students were moved by Qiuyu's introduction.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528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幸运的是，迷路的孩子不久后就被路人发现了。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0"/>
          <p:cNvSpPr>
            <a:spLocks noGrp="1"/>
          </p:cNvSpPr>
          <p:nvPr/>
        </p:nvSpPr>
        <p:spPr>
          <a:xfrm>
            <a:off x="1200150" y="42386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lost child was found by a passer-by.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91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幸运的是，他不久后就想起来把文件放在了哪里。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1"/>
          <p:cNvSpPr>
            <a:spLocks noGrp="1"/>
          </p:cNvSpPr>
          <p:nvPr/>
        </p:nvSpPr>
        <p:spPr>
          <a:xfrm>
            <a:off x="1200150" y="5476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he remembered where he had put the document.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146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幸运的是，这株枯萎的植物不久后就重新抽出了嫩芽。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2"/>
          <p:cNvSpPr>
            <a:spLocks noGrp="1"/>
          </p:cNvSpPr>
          <p:nvPr/>
        </p:nvSpPr>
        <p:spPr>
          <a:xfrm>
            <a:off x="1200150" y="30003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withered plant sprouted new buds again.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528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幸运的是，故障的电梯不久后就被维修人员修好了。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3"/>
          <p:cNvSpPr>
            <a:spLocks noGrp="1"/>
          </p:cNvSpPr>
          <p:nvPr/>
        </p:nvSpPr>
        <p:spPr>
          <a:xfrm>
            <a:off x="1200150" y="42386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the broken elevator was fixed by the maintenance workers.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91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幸运的是，她不久后就收到了心仪公司的面试通知。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4"/>
          <p:cNvSpPr>
            <a:spLocks noGrp="1"/>
          </p:cNvSpPr>
          <p:nvPr/>
        </p:nvSpPr>
        <p:spPr>
          <a:xfrm>
            <a:off x="1200150" y="5476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she received an interview notice from her desired company.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146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幸运的是，这场突如其来的冰雹不久后就停了。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5"/>
          <p:cNvSpPr>
            <a:spLocks noGrp="1"/>
          </p:cNvSpPr>
          <p:nvPr/>
        </p:nvSpPr>
        <p:spPr>
          <a:xfrm>
            <a:off x="1200150" y="30003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the sudden hailstorm stopped.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528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幸运的是，受伤的小狗不久后就被好心的兽医救助了。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6"/>
          <p:cNvSpPr>
            <a:spLocks noGrp="1"/>
          </p:cNvSpPr>
          <p:nvPr/>
        </p:nvSpPr>
        <p:spPr>
          <a:xfrm>
            <a:off x="1200150" y="42386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injured puppy was rescued by a kind veterinarian.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91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幸运的是，他不久后就克服了语言障碍，能流利交流了。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7"/>
          <p:cNvSpPr>
            <a:spLocks noGrp="1"/>
          </p:cNvSpPr>
          <p:nvPr/>
        </p:nvSpPr>
        <p:spPr>
          <a:xfrm>
            <a:off x="1200150" y="5476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he overcame the language barrier and could communicate fluently.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241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幸运的是，被困在电梯里的乘客不久后就被安全解救出来了。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8"/>
          <p:cNvSpPr>
            <a:spLocks noGrp="1"/>
          </p:cNvSpPr>
          <p:nvPr/>
        </p:nvSpPr>
        <p:spPr>
          <a:xfrm>
            <a:off x="1200150" y="32099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passengers trapped in the elevator were safely rescued.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 受她的话启发，学生们决定更加努力以实现自己的梦想。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9"/>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the students decided to work harder to achieve their dreams.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2.受她的话启发，他下定决心就误会向朋友道歉。</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0"/>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he made up his mind to apologize to his friend for the misunderstanding.</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3.受她的话启发，我们成立了一个志愿者小组，帮助社区里的老人。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1"/>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we started a volunteer group to help the elderly in our community.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4.受她的话启发，莉莉开始每天练习绘画以提高自己的技能。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2"/>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Lily began to practice painting every day to improve her skills.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5.受她的话启发，团队改变了策略，最终赢得了比赛。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3"/>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the team changed their strategy and finally won the competition.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6.受她的话启发，汤姆决定多读书以拓宽自己的视野。</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4"/>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Tom decided to read more books to broaden his horizons.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7.受她的话启发，全班组织了一场慈善义卖，为有需要的儿童筹款。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5"/>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the class organized a charity sale to raise money for children in need.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8.受她的话启发，安娜克服了羞怯，加入了学校的辩论社。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6"/>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Anna overcame her shyness and joined the school debate club.</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476375"/>
          </a:xfrm>
          <a:prstGeom prst="roundRect">
            <a:avLst>
              <a:gd name="adj" fmla="val 9032"/>
            </a:avLst>
          </a:prstGeom>
          <a:solidFill>
            <a:srgbClr val="FFFAF5"/>
          </a:solidFill>
          <a:ln w="9525">
            <a:solidFill>
              <a:srgbClr val="FFBF86"/>
            </a:solidFill>
            <a:prstDash val="solid"/>
          </a:ln>
        </p:spPr>
      </p:sp>
      <p:sp>
        <p:nvSpPr>
          <p:cNvPr id="9" name="矩形 8"/>
          <p:cNvSpPr>
            <a:spLocks noGrp="1"/>
          </p:cNvSpPr>
          <p:nvPr/>
        </p:nvSpPr>
        <p:spPr>
          <a:xfrm>
            <a:off x="1200150" y="3167063"/>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9.受她的话启发，他们计划了一次乡村之旅，体验田园生活。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7"/>
          <p:cNvSpPr>
            <a:spLocks noGrp="1"/>
          </p:cNvSpPr>
          <p:nvPr/>
        </p:nvSpPr>
        <p:spPr>
          <a:xfrm>
            <a:off x="1200150" y="3452813"/>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they planned a trip to the countryside to experience rural life.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29125"/>
            <a:ext cx="10439400" cy="1762125"/>
          </a:xfrm>
          <a:prstGeom prst="roundRect">
            <a:avLst>
              <a:gd name="adj" fmla="val 7568"/>
            </a:avLst>
          </a:prstGeom>
          <a:solidFill>
            <a:srgbClr val="FFFAF5"/>
          </a:solidFill>
          <a:ln w="9525">
            <a:solidFill>
              <a:srgbClr val="FFBF86"/>
            </a:solidFill>
            <a:prstDash val="solid"/>
          </a:ln>
        </p:spPr>
      </p:sp>
      <p:sp>
        <p:nvSpPr>
          <p:cNvPr id="12" name="矩形 11"/>
          <p:cNvSpPr>
            <a:spLocks noGrp="1"/>
          </p:cNvSpPr>
          <p:nvPr/>
        </p:nvSpPr>
        <p:spPr>
          <a:xfrm>
            <a:off x="1200150" y="4738688"/>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10.受她的话启发，这个22岁的年轻人下定决定认真梳理自己的能力并找到一份适合自己的工作。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8"/>
          <p:cNvSpPr>
            <a:spLocks noGrp="1"/>
          </p:cNvSpPr>
          <p:nvPr/>
        </p:nvSpPr>
        <p:spPr>
          <a:xfrm>
            <a:off x="1200150" y="5024438"/>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the 22-year-old young man made up his mind to sort out his abilities carefully and find a job suitable for himself.</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At the sight of the ferocious wolf ,I froze with terror, too scared to move an inch.看到这匹凶猛的狼，我害怕得冻住了，太害怕，一动不动。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1" name="矩形 10"/>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一看到失散多年的哥哥，她立刻哭了起来，跑过去紧紧抱住了他。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ans_049"/>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her long-lost brother, she burst into tears and ran to hug him tightly.</a:t>
            </a:r>
            <a:r>
              <a:rPr sz="2025" b="0" i="0" u="sng">
                <a:solidFill>
                  <a:srgbClr val="EE0000"/>
                </a:solidFill>
                <a:latin typeface="微软雅黑" panose="020B0503020204020204" charset="-122"/>
                <a:ea typeface="微软雅黑" panose="020B0503020204020204" charset="-122"/>
                <a:cs typeface="微软雅黑" panose="020B0503020204020204" charset="-122"/>
              </a:rPr>
              <a:t>   </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4" name="矩形 13"/>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狗一看见主人打开前门，就高兴地摇起了尾巴。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ans_050"/>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dog wagged its tail happily at the sight of its owner opening the front door.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2" grpId="1"/>
      <p:bldP spid="15"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3.看到海上美丽的日落，我们都停下来拍了照。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1"/>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beautiful sunset over the ocean, we all stopped to take photos.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4.一看到那条蛇在小路上蜿蜒爬行，他突然感到一阵恐惧。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2"/>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He felt a sudden rush of fear at the sight of the snake slithering across the path.</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5.孩子们一看到冰淇淋车朝公园开来，就欢呼起来。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3"/>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children cheered at the sight of the ice cream truck approaching the park.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6.看到那张旧照片，她童年的回忆如潮水般涌了回来。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4"/>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old photograph, memories of her childhood came flooding back.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7.看到自家猫咪试图钻进一个小盒子里的样子，她忍不住笑了起来。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5"/>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She couldn’t help but laugh at the sight of her cat trying to fit into a tiny box.</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8．看到暴风雨后受损的房屋，村民们都悲伤地叹了口气。</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6"/>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damaged house after the storm, the villagers sighed with sadness.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9.学生们一看到老师走进喧闹的教室，就安静了下来。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7"/>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students grew quiet at the sight of their teacher entering the noisy classroom.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10.看到国旗冉冉升起，所有人都站直身体敬礼。</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8"/>
          <p:cNvSpPr>
            <a:spLocks noGrp="1"/>
          </p:cNvSpPr>
          <p:nvPr/>
        </p:nvSpPr>
        <p:spPr>
          <a:xfrm>
            <a:off x="1200150" y="48482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national flag being raised, everyone stood straight and saluted.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她不仅英语说得流利，而且还擅长法语。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9"/>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does she speak English fluently, but also she is good at French.</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他不仅按时完成了自己的任务，还帮同事完成了他们的任务。</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0"/>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did he finish his task on time, but also he helped his colleagues with theirs.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这台机器不仅能节能，还能减少噪音。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1"/>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can this machine save energy, but also it can reduce noise.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她不仅读过这本书，还写了一篇书评。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2"/>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has she read the book, but also she has written a review of it.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他们不仅喜欢踢足球，还对篮球感兴趣。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3"/>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do they enjoy playing football, but also they are interested in basketball.</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这家公司不仅增加了利润，还改善了工作条件。</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4"/>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did the company increase its profits, but also it improved its working conditions.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他不仅是一位有天赋的音乐家，还是一位技艺精湛的画家。</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5"/>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is he a talented musician, but also he is a skilled painter.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不仅参观了博物馆，还游览了老城区。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6"/>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have we visited the museum, but also we have explored the old town.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这项新政策不仅有益于个人，还能促进社会发展。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7"/>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does this new policy benefit individuals, but also it promotes social development.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她不仅为自己的错误道歉，还采取了措施去纠正。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8"/>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did she apologize for her mistake, but also she took measures to correct it.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11330</Words>
  <Application>WPS 演示</Application>
  <PresentationFormat>Converted Presentation</PresentationFormat>
  <Paragraphs>484</Paragraphs>
  <Slides>32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32</vt:i4>
      </vt:variant>
    </vt:vector>
  </HeadingPairs>
  <TitlesOfParts>
    <vt:vector size="37" baseType="lpstr">
      <vt:lpstr>Arial</vt:lpstr>
      <vt:lpstr>宋体</vt:lpstr>
      <vt:lpstr>Wingdings</vt:lpstr>
      <vt:lpstr>微软雅黑</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English Courseware PPT</dc:creator>
  <cp:lastModifiedBy>English Courseware PPT</cp:lastModifiedBy>
  <cp:revision>2</cp:revision>
  <dcterms:created xsi:type="dcterms:W3CDTF">2026-07-12T19:37:00Z</dcterms:created>
  <dcterms:modified xsi:type="dcterms:W3CDTF">2026-07-12T19:37:37Z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4BBEEB5310E346B3BAE82E4C09324061_12</vt:lpwstr>
  </property>
  <property fmtid="{D5CDD505-2E9C-101B-9397-08002B2CF9AE}" pid="3" name="KSOProductBuildVer">
    <vt:lpwstr>2052-12.8.2.18913</vt:lpwstr>
  </property>
</Properties>
</file>