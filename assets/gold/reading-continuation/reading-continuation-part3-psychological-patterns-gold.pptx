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圆角矩形 1"/>
          <p:cNvSpPr>
            <a:spLocks noGrp="1"/>
          </p:cNvSpPr>
          <p:nvPr/>
        </p:nvSpPr>
        <p:spPr>
          <a:xfrm>
            <a:off x="6172200" y="2686050"/>
            <a:ext cx="4876800" cy="400050"/>
          </a:xfrm>
          <a:prstGeom prst="roundRect">
            <a:avLst>
              <a:gd name="adj" fmla="val 19048"/>
            </a:avLst>
          </a:prstGeom>
          <a:solidFill>
            <a:srgbClr val="FFF2E7"/>
          </a:solidFill>
          <a:ln w="9525">
            <a:solidFill>
              <a:srgbClr val="FFB36E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343650" y="2752725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buNone/>
              <a:defRPr sz="17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 i="0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读后续写---高级句型仿写---心理描写</a:t>
            </a:r>
            <a:endParaRPr sz="1725" b="1" i="0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172200" y="3105150"/>
            <a:ext cx="4876800" cy="2057400"/>
          </a:xfrm>
          <a:prstGeom prst="rect">
            <a:avLst/>
          </a:prstGeom>
          <a:solidFill>
            <a:srgbClr val="FF7A18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619875" y="3333750"/>
            <a:ext cx="40957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108000"/>
              </a:lnSpc>
              <a:buNone/>
              <a:defRPr sz="29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92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读后续写
高级句型仿写
心理描写</a:t>
            </a:r>
            <a:endParaRPr sz="292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667500" y="4714875"/>
            <a:ext cx="371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l">
              <a:lnSpc>
                <a:spcPct val="105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5A2A1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第一部分仿写训练：句型1-7</a:t>
            </a:r>
            <a:endParaRPr sz="1875" b="1" i="0">
              <a:solidFill>
                <a:srgbClr val="5A2A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第一部分仿写训练：句型1（1/6）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1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句型1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情绪名词负面n. gave way to 情绪名词正向n. 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从….情绪转变正…..情</a:t>
            </a:r>
            <a:r>
              <a:rPr sz="2025" b="0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绪</a:t>
            </a:r>
            <a:endParaRPr sz="2025" b="0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 the sight of the touching sense, my  previous panic gave way to respect.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01"/>
          <p:cNvSpPr>
            <a:spLocks noGrp="1"/>
          </p:cNvSpPr>
          <p:nvPr/>
        </p:nvSpPr>
        <p:spPr>
          <a:xfrm>
            <a:off x="1200150" y="356235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看到这感人的一幕，我先前的恐慌变成了尊重。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听到这个好消息后，她眼中的焦虑被兴奋取代。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02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 u="sng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After hearing the good news, </a:t>
            </a:r>
            <a:r>
              <a:rPr sz="2025" b="1" i="0" u="sng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anxiety</a:t>
            </a:r>
            <a:r>
              <a:rPr sz="2025" b="0" i="0" u="sng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gave way to </a:t>
            </a:r>
            <a:r>
              <a:rPr sz="2025" b="1" i="0" u="sng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excitement</a:t>
            </a:r>
            <a:r>
              <a:rPr sz="2025" b="0" i="0" u="sng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 her eyes.</a:t>
            </a:r>
            <a:endParaRPr sz="2025" b="0" i="0" u="sng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第一部分仿写训练：句型1（2/6）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1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句型1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情绪名词负面n. gave way to 情绪名词正向n. 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从….情绪转变正…..情</a:t>
            </a:r>
            <a:r>
              <a:rPr sz="2025" b="0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绪</a:t>
            </a:r>
            <a:endParaRPr sz="2025" b="0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当球队踢进制胜球时，球迷们的失望化作了喜悦。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03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 u="sng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 the team scored the winning goal, </a:t>
            </a:r>
            <a:r>
              <a:rPr sz="2025" b="1" i="0" u="sng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disappointment</a:t>
            </a:r>
            <a:r>
              <a:rPr sz="2025" b="0" i="0" u="sng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gave way to </a:t>
            </a:r>
            <a:r>
              <a:rPr sz="2025" b="1" i="0" u="sng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joy</a:t>
            </a:r>
            <a:r>
              <a:rPr sz="2025" b="0" i="0" u="sng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among the fans.</a:t>
            </a:r>
            <a:endParaRPr sz="2025" b="0" i="0" u="sng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在朋友们的鼓励下，孤独渐渐被快乐取代。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04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 his friends' encouragement,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loneliness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gradually gave way to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happiness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第一部分仿写训练：句型1（3/6）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1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句型1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情绪名词负面n. gave way to 情绪名词正向n. 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从….情绪转变正…..情</a:t>
            </a:r>
            <a:r>
              <a:rPr sz="2025" b="0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绪</a:t>
            </a:r>
            <a:endParaRPr sz="2025" b="0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解出这道难题后，挫败感被满足感取代。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05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After solving the difficult problem,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frustration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gave way to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satisfaction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看到父母在等她时，恐惧化作了宽慰。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06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 she saw her parents waiting for her,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fear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gave way to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relief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第一部分仿写训练：句型1（4/6）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1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句型1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情绪名词负面n. gave way to 情绪名词正向n. 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从….情绪转变正…..情</a:t>
            </a:r>
            <a:r>
              <a:rPr sz="2025" b="0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绪</a:t>
            </a:r>
            <a:endParaRPr sz="2025" b="0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漫长的等待终于结束，不耐烦被愉悦取代。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07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long wait finally ended, and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impatience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gave way to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pleasure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他真诚的道歉让她的愤怒化作了原谅。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08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His sincere apology made her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anger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give way to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forgiveness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第一部分仿写训练：句型1（5/6）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1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句型1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情绪名词负面n. gave way to 情绪名词正向n. 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从….情绪转变正…..情</a:t>
            </a:r>
            <a:r>
              <a:rPr sz="2025" b="0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绪</a:t>
            </a:r>
            <a:endParaRPr sz="2025" b="0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太阳升起时，夜晚的悲伤被新一天的希望取代。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09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 the sun rose, the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sadness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of the night gave way to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hope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 a new day.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赢得比赛后，他心中的紧张被自豪取代。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10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After winning the competition,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nervousness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gave way to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pride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 his heart.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第一部分仿写训练：句型1（6/6）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1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句型1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情绪名词负面n. gave way to 情绪名词正向n. 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从….情绪转变正…..情</a:t>
            </a:r>
            <a:r>
              <a:rPr sz="2025" b="0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绪</a:t>
            </a:r>
            <a:endParaRPr sz="2025" b="0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老师讲的有趣故事让枯燥化作了笑声。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11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funny story told by the teacher made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boredom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give way to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laughter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第一部分仿写训练：句型2（1/5）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2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句型2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….mingled with …..(…是表示心理的名词)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秋雨听到她被叫起来介绍他的名字的由来，紧张和兴奋交织在一起。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12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ervousness mingled with excitement when Qiuyu was called to introduce the origin of her name.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2.在他眼中，为女儿成就感到的自豪与对逝去岁月的淡淡伤感交织在一起。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13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 his eyes,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pride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 his daughter’s achievement mingled with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gentle sadness 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the years that had passed</a:t>
            </a: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第一部分仿写训练：句型2（2/5）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2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句型2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….mingled with …..(…是表示心理的名词)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3.节日里人群的喜悦中，夹杂着对往昔庆典的怀念。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14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crowd’s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joy 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 the festival mingled with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nostalgia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as they remembered past celebrations.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4.他完成任务后的释然，与连日不休工作带来的疲惫交织在一起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15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His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relief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at finishing the task mingled with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exhaustion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after working for days without rest.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第一部分仿写训练：句型2（3/5）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2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句型2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….mingled with …..(…是表示心理的名词)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5.寂静房间里的孤独，与她想到即将到来的重逢时的希望交织在一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16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Loneliness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 the quiet room mingled with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hope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as she thought of the upcoming reunion.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6.孩子对新玩具的好奇，与被要求解释时的羞怯交织在一起。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17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child’s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curiosity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about the new toy mingled with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shyness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when asked to explain it.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第一部分仿写训练：句型2（4/5）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2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句型2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….mingled with …..(…是表示心理的名词)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7.他对不公待遇的愤怒，与意识到自己无能为力时的顺从交织在一起。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18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Anger 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 the unfair treatment mingled with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resignation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as he realized there was little he could do.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8.她对旅行的兴奋与对飞行的恐惧交织，让她整夜辗转难眠。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19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Her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excitement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 the trip mingled with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fear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of flying, making her toss and turn all night.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第一部分仿写训练：句型2（5/5）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2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句型2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….mingled with …..(…是表示心理的名词)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9.老人对平淡生活的满足，与对错过机会的遗憾交织在一起。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20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old man’s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contentment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with his simple life mingled with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regret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 the chances he’d missed.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10.团队对计划的信心，与对变幻莫测天气的不确定感交织在一起。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21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team's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confidence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 the plan is mingled with the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uncertainty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about the unpredictable weather</a:t>
            </a: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第一部分仿写训练：句型3（1/5）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3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句型3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情绪1 and 情绪2, 主语的一个动作….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628775"/>
          </a:xfrm>
          <a:prstGeom prst="roundRect">
            <a:avLst>
              <a:gd name="adj" fmla="val 818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19413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既焦虑又满怀希望，她咬着嘴唇，盯着即将送来成绩单的门。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22"/>
          <p:cNvSpPr>
            <a:spLocks noGrp="1"/>
          </p:cNvSpPr>
          <p:nvPr/>
        </p:nvSpPr>
        <p:spPr>
          <a:xfrm>
            <a:off x="1200150" y="3224213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Anxious and hopeful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she bit her lip, staring at the door where her exam results would soon arrive.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276725"/>
            <a:ext cx="10439400" cy="1914525"/>
          </a:xfrm>
          <a:prstGeom prst="roundRect">
            <a:avLst>
              <a:gd name="adj" fmla="val 696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638675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既困惑又好奇，男孩探身向前，努力想弄明白那个旧盒子里传出的奇怪声音。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23"/>
          <p:cNvSpPr>
            <a:spLocks noGrp="1"/>
          </p:cNvSpPr>
          <p:nvPr/>
        </p:nvSpPr>
        <p:spPr>
          <a:xfrm>
            <a:off x="1200150" y="4943475"/>
            <a:ext cx="97917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Confused and curious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the boy leaned forward, trying to understand the strange noise coming from the old box.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第一部分仿写训练：句型3（2/5）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3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句型3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情绪1 and 情绪2, 主语的一个动作….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71650"/>
          </a:xfrm>
          <a:prstGeom prst="roundRect">
            <a:avLst>
              <a:gd name="adj" fmla="val 752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843213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既害怕又勇敢，小女孩紧紧拉着弟弟的手，带他穿过漆黑的走廊。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24"/>
          <p:cNvSpPr>
            <a:spLocks noGrp="1"/>
          </p:cNvSpPr>
          <p:nvPr/>
        </p:nvSpPr>
        <p:spPr>
          <a:xfrm>
            <a:off x="1200150" y="3148013"/>
            <a:ext cx="97917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Frightened but brave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the little girl held her brother’s hand tightly, leading him through the dark corridor.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419600"/>
            <a:ext cx="10439400" cy="1771650"/>
          </a:xfrm>
          <a:prstGeom prst="roundRect">
            <a:avLst>
              <a:gd name="adj" fmla="val 752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710113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既失望又坚定，他把拒信揉成一团，又重新展开，想看看有没有隐藏的线索。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25"/>
          <p:cNvSpPr>
            <a:spLocks noGrp="1"/>
          </p:cNvSpPr>
          <p:nvPr/>
        </p:nvSpPr>
        <p:spPr>
          <a:xfrm>
            <a:off x="1200150" y="5014913"/>
            <a:ext cx="97917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Disappointed yet determined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he crumpled the rejection letter, then unfolded it again to check for any hidden clues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第一部分仿写训练：句型3（3/5）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3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句型3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情绪1 and 情绪2, 主语的一个动作….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既兴奋又紧张，汤姆反复整理领带，等着走上演讲台。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26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Excited and nervous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Tom adjusted his tie repeatedly, waiting to walk onto the stage for his speech.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既难过又宽慰，母亲抱着失而复得的狗，泪水混着笑容，感受着它温暖的皮毛。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27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Sad but relieved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the mother hugged her lost dog, tears mixing with smiles as she felt its warm fur.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第一部分仿写训练：句型3（4/5）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3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句型3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情绪1 and 情绪2, 主语的一个动作….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71650"/>
          </a:xfrm>
          <a:prstGeom prst="roundRect">
            <a:avLst>
              <a:gd name="adj" fmla="val 752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843213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既生气又愧疚，莉莉猛地关上门，却立刻僵住了，意识到自己不该对最好的朋友大喊大叫。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28"/>
          <p:cNvSpPr>
            <a:spLocks noGrp="1"/>
          </p:cNvSpPr>
          <p:nvPr/>
        </p:nvSpPr>
        <p:spPr>
          <a:xfrm>
            <a:off x="1200150" y="3148013"/>
            <a:ext cx="97917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Angry yet guilty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Lily slammed the door, but immediately froze, realizing she had shouted at her best friend unfairly.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419600"/>
            <a:ext cx="10439400" cy="1771650"/>
          </a:xfrm>
          <a:prstGeom prst="roundRect">
            <a:avLst>
              <a:gd name="adj" fmla="val 752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710113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既孤独又满怀希望，老人坐在长椅上，看着孩子们玩耍，手里紧握着家人的照片。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29"/>
          <p:cNvSpPr>
            <a:spLocks noGrp="1"/>
          </p:cNvSpPr>
          <p:nvPr/>
        </p:nvSpPr>
        <p:spPr>
          <a:xfrm>
            <a:off x="1200150" y="5014913"/>
            <a:ext cx="97917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Lonely and hopeful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the old man sat on the bench, watching children play while holding a photo of his family.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第一部分仿写训练：句型3（5/5）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3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句型3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情绪1 and 情绪2, 主语的一个动作….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628775"/>
          </a:xfrm>
          <a:prstGeom prst="roundRect">
            <a:avLst>
              <a:gd name="adj" fmla="val 818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19413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既疲惫又自豪，运动员们互相击掌，跑完艰难的马拉松后，他们的双腿阵阵酸痛。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30"/>
          <p:cNvSpPr>
            <a:spLocks noGrp="1"/>
          </p:cNvSpPr>
          <p:nvPr/>
        </p:nvSpPr>
        <p:spPr>
          <a:xfrm>
            <a:off x="1200150" y="3224213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Tired but proud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the athletes high-fived each other, their legs aching after finishing the tough marathon.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276725"/>
            <a:ext cx="10439400" cy="1914525"/>
          </a:xfrm>
          <a:prstGeom prst="roundRect">
            <a:avLst>
              <a:gd name="adj" fmla="val 696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638675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既尴尬又感激，玛丽微微鞠躬，感谢帮她捡起散落书本的陌生人。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31"/>
          <p:cNvSpPr>
            <a:spLocks noGrp="1"/>
          </p:cNvSpPr>
          <p:nvPr/>
        </p:nvSpPr>
        <p:spPr>
          <a:xfrm>
            <a:off x="1200150" y="4943475"/>
            <a:ext cx="97917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Embarrassed and grateful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Mary bowed slightly, thanking the stranger who had helped her pick up the scattered books.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第一部分仿写训练：句型4（1/5）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4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句型4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sense (wave/flush/ripple) of +情绪名词 flooded (swept over/overwhelmed )sb</a:t>
            </a:r>
            <a:r>
              <a:rPr sz="2025" b="0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.一阵…的情绪席卷某人。</a:t>
            </a:r>
            <a:endParaRPr sz="2025" b="0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看到自己的名字出现在比赛获奖名单上时，一阵兴奋席卷了她。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32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wave of excitement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flooded her when she saw her name on the competition winner list.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乌云密布时，一阵恐惧席卷了在山中迷路的徒步者们。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33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 the dark clouds gathered, a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sense of fear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swept over the hikers lost in the mountain.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第一部分仿写训练：句型4（2/5）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4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句型4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sense (wave/flush/ripple) of +情绪名词 flooded (swept over/overwhelmed )sb</a:t>
            </a:r>
            <a:r>
              <a:rPr sz="2025" b="0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.一阵…的情绪席卷某人。</a:t>
            </a:r>
            <a:endParaRPr sz="2025" b="0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当他真诚道歉时，一阵愧疚感因之前怀疑他而席卷了她。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34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 he apologized sincerely, a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ripple of guilt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overwhelmed her for doubting him earlier.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在他犯了愚蠢的错误后，所有目光都投向他，一阵尴尬席卷了这个男孩。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35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flush of embarrassment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flooded the boy as all eyes turned to him after his silly mistake.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第一部分仿写训练：句型4（3/5）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4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句型4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sense (wave/flush/ripple) of +情绪名词 flooded (swept over/overwhelmed )sb</a:t>
            </a:r>
            <a:r>
              <a:rPr sz="2025" b="0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.一阵…的情绪席卷某人。</a:t>
            </a:r>
            <a:endParaRPr sz="2025" b="0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听着老人讲述他失散家人的故事，一阵悲伤席卷了整个房间。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36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Listening to the old man’s story of his lost family, a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sense of sorrow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swept over the whole room.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门开的那一刻，父母出现了，一阵喜悦席卷了这个孤独的女孩。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37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moment the door opened and her parents appeared, a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wave of joy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overwhelmed the lonely girl.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第一部分仿写训练：句型4（4/5）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4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句型4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sense (wave/flush/ripple) of +情绪名词 flooded (swept over/overwhelmed )sb</a:t>
            </a:r>
            <a:r>
              <a:rPr sz="2025" b="0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.一阵…的情绪席卷某人。</a:t>
            </a:r>
            <a:endParaRPr sz="2025" b="0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在偏远的村庄里，当他发现手机上有微弱信号时，一阵希望席卷了他。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38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ripple of hope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flooded him when he found a faint signal on his phone in the remote village.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当老师宣布考试推迟时，一阵宽慰席卷了紧张的学生们。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39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 the teacher announced the delay of the exam, a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sense of relief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swept over the nervous students.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第一部分仿写训练：句型4（5/5）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4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句型4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sense (wave/flush/ripple) of +情绪名词 flooded (swept over/overwhelmed )sb</a:t>
            </a:r>
            <a:r>
              <a:rPr sz="2025" b="0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.一阵…的情绪席卷某人。</a:t>
            </a:r>
            <a:endParaRPr sz="2025" b="0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看到他珍爱的花瓶碎了，一阵愤怒席卷了他的祖父。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40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Seeing the broken vase he had cherished, a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flush of anger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overwhelmed his grandfather.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经过数月的艰苦训练，当他的团队第一个冲过终点线时，一阵自豪席卷了教练。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41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sense of pride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flooded the coach as his team crossed the finish line first after months of hard training.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第一部分仿写训练：句型5（1/5）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5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句型5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情绪adj was sb. that +陈述句….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她太兴奋了，以至于手舞足蹈地挥舞着录取通知书。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42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excited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was she that she jumped up and down, waving the acceptance letter in her hand.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他太害怕了，以至于用手捂住脸，止不住地发抖。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43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frightened was he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that he buried his face in his hands and couldn’t stop trembling.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第一部分仿写训练：句型5（2/5）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5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句型5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情绪adj was sb. that +陈述句….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小女孩太伤心了，以至于蜷缩在沙发上，泪水浸湿了枕头。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44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sad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was the little girl  that she curled up on the sofa, tears soaking the pillow.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汤姆太紧张了，以至于站起来演讲时声音都在发抖。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45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nervous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was  Tom that his voice shook when he stood up to give the speech.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第一部分仿写训练：句型5（3/5）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5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句型5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情绪adj was sb. that +陈述句….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他们太高兴了，以至于紧紧相拥，忘记了周围的大雨。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46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delighted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were They that they hugged each other tightly, forgetting the heavy rain around them.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她太尴尬了，以至于脸颊涨得通红，低头盯着自己的鞋子。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47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embarrassed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was she that her cheeks turned bright red and she looked down at her 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shoes.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第一部分仿写训练：句型5（4/5）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5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句型5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情绪adj was sb. that +陈述句….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老人太感激了，以至于紧紧握住陌生人的手，不停地说 “谢谢”。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48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grateful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was the old man that he held the stranger’s hand and kept saying “thank you”.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他太生气了，以至于摔门而去，一句话也没说。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49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angry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was he that he slammed the door and walked away without saying a word.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第一部分仿写训练：句型5（5/5）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5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句型5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情绪adj was sb. that +陈述句….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莉莉太好奇了，以至于踮起脚尖走到窗边，想看看外面发生了什么。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50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curious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was Lily that she tiptoed to the window to see what was happening outside.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长途徒步后，学生们太累了，以至于一躺在草地上就睡着了。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51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tired were the students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that they fell asleep as soon as they lay down on the grass after the long hike.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第一部分仿写训练：句型6（1/5）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6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句型6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one’s +情绪名词，主句…. 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Much/greatly to one’s +情绪名词，主句…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one’s great +情绪名词，主句…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令某人…..的是，主句</a:t>
            </a:r>
            <a:endParaRPr sz="187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914525"/>
          </a:xfrm>
          <a:prstGeom prst="roundRect">
            <a:avLst>
              <a:gd name="adj" fmla="val 696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1465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1.令秋雨欣慰的是，在她介绍完她的名字后，他的老师和同学们都变现出好奇和尊重的表情。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52"/>
          <p:cNvSpPr>
            <a:spLocks noGrp="1"/>
          </p:cNvSpPr>
          <p:nvPr/>
        </p:nvSpPr>
        <p:spPr>
          <a:xfrm>
            <a:off x="1200150" y="3219450"/>
            <a:ext cx="97917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Qiuyu's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relie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f,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her teacher and classmates all showed the expressions of curiosity and respect, after she introduced her name.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562475"/>
            <a:ext cx="10439400" cy="1628775"/>
          </a:xfrm>
          <a:prstGeom prst="roundRect">
            <a:avLst>
              <a:gd name="adj" fmla="val 818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929188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2.令她大为宽慰的是，邻居发现那只走失的小狗正在公园入口附近徘徊。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53"/>
          <p:cNvSpPr>
            <a:spLocks noGrp="1"/>
          </p:cNvSpPr>
          <p:nvPr/>
        </p:nvSpPr>
        <p:spPr>
          <a:xfrm>
            <a:off x="1200150" y="5233988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Much to her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relief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the lost puppy was spotted by a neighbor wandering near the park entrance.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第一部分仿写训练：句型6（2/5）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6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句型6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one’s +情绪名词，主句…. 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Much/greatly to one’s +情绪名词，主句…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one’s great +情绪名词，主句…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令某人…..的是，主句</a:t>
            </a:r>
            <a:endParaRPr sz="187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3.令他们极为高兴的是，就在他们准备取消户外毕业典礼时，雨停了。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54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their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great joy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the rain stopped just as they were about to cancel the outdoor graduation ceremony.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4.令我失望的是，那家书店把我等了好几个月的小说卖光了。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55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my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disappointment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the bookstore had sold out of the novel I’d been waiting months to read.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第一部分仿写训练：句型6（3/5）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6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句型6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one’s +情绪名词，主句…. 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Much/greatly to one’s +情绪名词，主句…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one’s great +情绪名词，主句…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令某人…..的是，主句</a:t>
            </a:r>
            <a:endParaRPr sz="187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5.令他极为尴尬的是，在走上台领奖时，他被自己的脚绊倒了。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56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Much to his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embarrassment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he tripped over his own feet while walking up to receive the award.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6.令她极度伤心的是，小女孩意识到她最爱的泰迪熊被落在酒店了。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57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her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great sadness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the little girl realized her favorite teddy bear had been left at the hotel.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第一部分仿写训练：句型6（4/5）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6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句型6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one’s +情绪名词，主句…. 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Much/greatly to one’s +情绪名词，主句…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one’s great +情绪名词，主句…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令某人…..的是，主句</a:t>
            </a:r>
            <a:endParaRPr sz="187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7.令我们惊叹的是，那个害羞的男孩站起来发表了一番演讲，感动了在场的所有人。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58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our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amazement,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the shy boy stood up and delivered a speech that moved everyone in the room.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8.令我深感遗憾的是，在我最好的朋友搬到另一个国家前，我没能跟她说再见。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59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Much to my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regret,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 didn’t say goodbye to my best friend before she moved to another country.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第一部分仿写训练：句型6（5/5）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6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句型6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one’s +情绪名词，主句…. 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Much/greatly to one’s +情绪名词，主句…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one’s great +情绪名词，主句…</a:t>
            </a:r>
            <a:r>
              <a:rPr sz="187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令某人…..的是，主句</a:t>
            </a:r>
            <a:endParaRPr sz="187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9. 令他怒不可遏的是，他发现有人在一夜之间毁坏了他精心栽种的花园。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60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his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great anger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he found that someone had damaged his carefully planted garden overnight.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10.</a:t>
            </a: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令他们松了一口气的是，就在村民们感到非常绝望的时候，救援队及时地赶到了。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61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 their </a:t>
            </a: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relief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the rescue team arrived just as the villagers felt extremely hopeless.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第一部分仿写训练：句型7（1/5）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7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句型7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With复合结构/（growing +情绪n.）,sb. did sth.带着….的情绪，某人做了…..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914525"/>
          </a:xfrm>
          <a:prstGeom prst="roundRect">
            <a:avLst>
              <a:gd name="adj" fmla="val 6965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1465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随着成</a:t>
            </a: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</a:t>
            </a: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感和自信心越来越强，秋雨甚至给教授和同学们介绍了中国取名字的文化和习俗。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62"/>
          <p:cNvSpPr>
            <a:spLocks noGrp="1"/>
          </p:cNvSpPr>
          <p:nvPr/>
        </p:nvSpPr>
        <p:spPr>
          <a:xfrm>
            <a:off x="1200150" y="3219450"/>
            <a:ext cx="97917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 growing sense of achievement and confidence, 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Qiuyu even introduced the culture and customs of Chinese name-giving to the professor and her classmates.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562475"/>
            <a:ext cx="10439400" cy="1628775"/>
          </a:xfrm>
          <a:prstGeom prst="roundRect">
            <a:avLst>
              <a:gd name="adj" fmla="val 8187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ans_063"/>
          <p:cNvSpPr>
            <a:spLocks noGrp="1"/>
          </p:cNvSpPr>
          <p:nvPr/>
        </p:nvSpPr>
        <p:spPr>
          <a:xfrm>
            <a:off x="1200150" y="4929188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随着担忧不断加剧，鲍勃在公园里四处张望，努力寻找他的小妹妹。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64"/>
          <p:cNvSpPr>
            <a:spLocks noGrp="1"/>
          </p:cNvSpPr>
          <p:nvPr/>
        </p:nvSpPr>
        <p:spPr>
          <a:xfrm>
            <a:off x="1200150" y="5233988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 growing worry, 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Bob looked around the park, trying to find his little sister.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第一部分仿写训练：句型7（2/5）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7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句型7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With复合结构/（growing +情绪n.）,sb. did sth.带着….的情绪，某人做了…..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随着兴趣愈发浓厚，琳达听着那位老人讲述他童年的故事。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65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 growing interest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Linda listened to the old man tell stories about his childhood.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随着疲惫感越来越强，汤姆躺在床上，很快就沉沉睡去。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66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 growing tiredness,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Tom lay down on the bed and soon fell fast asleep.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第一部分仿写训练：句型7（3/5）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7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句型7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With复合结构/（growing +情绪n.）,sb. did sth.带着….的情绪，某人做了…..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随着惊讶感不断加深，安娜打开盒子，发现里面有一条漂亮的项链。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67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 growing surprise,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Anna opened the box and found a beautiful necklace inside.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随着耐心越来越足，爸爸在院子里教儿子骑自行车。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68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 growing patience,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Dad taught his son how to ride a bike in the yard.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第一部分仿写训练：句型7（4/5）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7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句型7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With复合结构/（growing +情绪n.）,sb. did sth.带着….的情绪，某人做了…..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随着悲伤情绪渐浓，玛丽在火车站和她最好的朋友道别。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69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 growing sadness,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Mary said goodbye to her best friend at the train station.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随着兴奋感不断升温，杰克打开生日礼物，看到了一个新篮球。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70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 growing excitement,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Jack opened his birthday present and saw a new basketball.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47700" y="514350"/>
            <a:ext cx="6858000" cy="723900"/>
          </a:xfrm>
          <a:prstGeom prst="rect">
            <a:avLst/>
          </a:prstGeom>
          <a:solidFill>
            <a:srgbClr val="F2F1EE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838200" y="590550"/>
            <a:ext cx="647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0000"/>
              </a:lnSpc>
              <a:buNone/>
              <a:defRPr sz="27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第一部分仿写训练：句型7（5/5）</a:t>
            </a:r>
            <a:endParaRPr sz="2775" b="1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ormula-card-7"/>
          <p:cNvSpPr>
            <a:spLocks noGrp="1"/>
          </p:cNvSpPr>
          <p:nvPr/>
        </p:nvSpPr>
        <p:spPr>
          <a:xfrm>
            <a:off x="876300" y="1371600"/>
            <a:ext cx="10439400" cy="990600"/>
          </a:xfrm>
          <a:prstGeom prst="roundRect">
            <a:avLst>
              <a:gd name="adj" fmla="val 17308"/>
            </a:avLst>
          </a:prstGeom>
          <a:solidFill>
            <a:srgbClr val="FFF8F0"/>
          </a:solidFill>
          <a:ln w="13335">
            <a:solidFill>
              <a:srgbClr val="FF8B2D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1104900" y="1619250"/>
            <a:ext cx="990600" cy="495300"/>
          </a:xfrm>
          <a:prstGeom prst="roundRect">
            <a:avLst>
              <a:gd name="adj" fmla="val 23077"/>
            </a:avLst>
          </a:prstGeom>
          <a:solidFill>
            <a:srgbClr val="FF7A18"/>
          </a:solidFill>
          <a:ln w="0">
            <a:solidFill>
              <a:srgbClr val="FF7A18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1714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buNone/>
              <a:defRPr sz="187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句型7</a:t>
            </a:r>
            <a:endParaRPr sz="1875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05050" y="1466850"/>
            <a:ext cx="8648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19050" rIns="76200" bIns="19050" anchor="ctr"/>
          <a:lstStyle/>
          <a:p>
            <a:pPr algn="l">
              <a:lnSpc>
                <a:spcPct val="108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 u="sng">
                <a:solidFill>
                  <a:srgbClr val="004E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With复合结构/（growing +情绪n.）,sb. did sth.带着….的情绪，某人做了…..</a:t>
            </a:r>
            <a:endParaRPr sz="2025" b="1" i="0" u="sng">
              <a:solidFill>
                <a:srgbClr val="004E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25527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200150" y="29718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随着内心越来越平静，休在课堂上开始演讲前深吸了一口气。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ans_071"/>
          <p:cNvSpPr>
            <a:spLocks noGrp="1"/>
          </p:cNvSpPr>
          <p:nvPr/>
        </p:nvSpPr>
        <p:spPr>
          <a:xfrm>
            <a:off x="1200150" y="32766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 growing calm,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Sue took a deep breath before starting her speech in class.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76300" y="4381500"/>
            <a:ext cx="10439400" cy="1733550"/>
          </a:xfrm>
          <a:prstGeom prst="roundRect">
            <a:avLst>
              <a:gd name="adj" fmla="val 7692"/>
            </a:avLst>
          </a:prstGeom>
          <a:solidFill>
            <a:srgbClr val="FFFAF5"/>
          </a:solidFill>
          <a:ln w="9525">
            <a:solidFill>
              <a:srgbClr val="FFBF86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200150" y="4800600"/>
            <a:ext cx="9791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 i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随着好奇心越来越重，本走进小花园，想看看那奇怪的声音是什么。</a:t>
            </a:r>
            <a:endParaRPr sz="2025" b="0" i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ans_072"/>
          <p:cNvSpPr>
            <a:spLocks noGrp="1"/>
          </p:cNvSpPr>
          <p:nvPr/>
        </p:nvSpPr>
        <p:spPr>
          <a:xfrm>
            <a:off x="1200150" y="5105400"/>
            <a:ext cx="9791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76200" tIns="0" rIns="76200" bIns="0" anchor="ctr"/>
          <a:lstStyle/>
          <a:p>
            <a:pPr algn="l">
              <a:lnSpc>
                <a:spcPct val="103000"/>
              </a:lnSpc>
              <a:buNone/>
              <a:defRPr sz="2025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With growing curiosity, </a:t>
            </a:r>
            <a:r>
              <a:rPr sz="2025" b="0" i="0">
                <a:solidFill>
                  <a:srgbClr val="EE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 walked into the small garden to see what the strange noise was.</a:t>
            </a:r>
            <a:endParaRPr sz="2025" b="0" i="0">
              <a:solidFill>
                <a:srgbClr val="EE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3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11026</Words>
  <Application>WPS 演示</Application>
  <PresentationFormat>Converted Presentation</PresentationFormat>
  <Paragraphs>512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2" baseType="lpstr">
      <vt:lpstr>Arial</vt:lpstr>
      <vt:lpstr>宋体</vt:lpstr>
      <vt:lpstr>Wingdings</vt:lpstr>
      <vt:lpstr>微软雅黑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English Courseware PPT</dc:creator>
  <cp:lastModifiedBy>English Courseware PPT</cp:lastModifiedBy>
  <cp:revision>1</cp:revision>
  <dcterms:created xsi:type="dcterms:W3CDTF">2026-07-12T19:20:06Z</dcterms:created>
  <dcterms:modified xsi:type="dcterms:W3CDTF">2026-07-12T19:20:06Z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D7C76013A3B049C4AADBCB70D998F108_12</vt:lpwstr>
  </property>
  <property fmtid="{D5CDD505-2E9C-101B-9397-08002B2CF9AE}" pid="3" name="KSOProductBuildVer">
    <vt:lpwstr>2052-12.8.2.18913</vt:lpwstr>
  </property>
</Properties>
</file>