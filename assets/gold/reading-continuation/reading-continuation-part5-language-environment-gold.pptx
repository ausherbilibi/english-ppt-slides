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读后续写---高级句型仿写---第三部分仿写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第三部分仿写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5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第三部分仿写：句型1-15</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她用开心的声音说，“我在考试中得了第一名。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1"/>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said in a happy voice, "I got the first place in the exam."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Peter以一个伤心的声音说，“我从自行车上摔下来并且伤到了我的右腿。”</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2"/>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Peter said in a sad voice, "I fell off my bike and hurt my right leg."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这个农民以一个生气的声音说，“赶紧从我的田里滚出来。”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3"/>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farmer said in an angry voice, "Get out of my field right now!"</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38250"/>
          </a:xfrm>
          <a:prstGeom prst="roundRect">
            <a:avLst>
              <a:gd name="adj" fmla="val 10769"/>
            </a:avLst>
          </a:prstGeom>
          <a:solidFill>
            <a:srgbClr val="FFFAF5"/>
          </a:solidFill>
          <a:ln w="9525">
            <a:solidFill>
              <a:srgbClr val="FFBF86"/>
            </a:solidFill>
            <a:prstDash val="solid"/>
          </a:ln>
        </p:spPr>
      </p:sp>
      <p:sp>
        <p:nvSpPr>
          <p:cNvPr id="9" name="矩形 8"/>
          <p:cNvSpPr>
            <a:spLocks noGrp="1"/>
          </p:cNvSpPr>
          <p:nvPr/>
        </p:nvSpPr>
        <p:spPr>
          <a:xfrm>
            <a:off x="1200150" y="2747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同学们以一个开心的声音说，“我们在足球比赛中得到了第一名。”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4"/>
          <p:cNvSpPr>
            <a:spLocks noGrp="1"/>
          </p:cNvSpPr>
          <p:nvPr/>
        </p:nvSpPr>
        <p:spPr>
          <a:xfrm>
            <a:off x="1200150" y="30432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classmates said in a happy voice, "We got the first place in the football match."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905250"/>
            <a:ext cx="10439400" cy="942975"/>
          </a:xfrm>
          <a:prstGeom prst="roundRect">
            <a:avLst>
              <a:gd name="adj" fmla="val 14141"/>
            </a:avLst>
          </a:prstGeom>
          <a:solidFill>
            <a:srgbClr val="FFFAF5"/>
          </a:solidFill>
          <a:ln w="9525">
            <a:solidFill>
              <a:srgbClr val="FFBF86"/>
            </a:solidFill>
            <a:prstDash val="solid"/>
          </a:ln>
        </p:spPr>
      </p:sp>
      <p:sp>
        <p:nvSpPr>
          <p:cNvPr id="12" name="矩形 11"/>
          <p:cNvSpPr>
            <a:spLocks noGrp="1"/>
          </p:cNvSpPr>
          <p:nvPr/>
        </p:nvSpPr>
        <p:spPr>
          <a:xfrm>
            <a:off x="1200150" y="40814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Simona的儿子用一个低沉的对Simona说,”我的手表被我弄丢了。”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5"/>
          <p:cNvSpPr>
            <a:spLocks noGrp="1"/>
          </p:cNvSpPr>
          <p:nvPr/>
        </p:nvSpPr>
        <p:spPr>
          <a:xfrm>
            <a:off x="1200150" y="43767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Simona's son said to Simona in a low voice, "I lost my watch."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943475"/>
            <a:ext cx="10439400" cy="1238250"/>
          </a:xfrm>
          <a:prstGeom prst="roundRect">
            <a:avLst>
              <a:gd name="adj" fmla="val 10769"/>
            </a:avLst>
          </a:prstGeom>
          <a:solidFill>
            <a:srgbClr val="FFFAF5"/>
          </a:solidFill>
          <a:ln w="9525">
            <a:solidFill>
              <a:srgbClr val="FFBF86"/>
            </a:solidFill>
            <a:prstDash val="solid"/>
          </a:ln>
        </p:spPr>
      </p:sp>
      <p:sp>
        <p:nvSpPr>
          <p:cNvPr id="15" name="矩形 14"/>
          <p:cNvSpPr>
            <a:spLocks noGrp="1"/>
          </p:cNvSpPr>
          <p:nvPr/>
        </p:nvSpPr>
        <p:spPr>
          <a:xfrm>
            <a:off x="1200150" y="51196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这个男孩以一个低沉的声音说，“是我把你的水杯不小心摔到地上去了。”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6"/>
          <p:cNvSpPr>
            <a:spLocks noGrp="1"/>
          </p:cNvSpPr>
          <p:nvPr/>
        </p:nvSpPr>
        <p:spPr>
          <a:xfrm>
            <a:off x="1200150" y="54149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boy said in a low voice, "I accidentally dropped your water cup on the ground."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38250"/>
          </a:xfrm>
          <a:prstGeom prst="roundRect">
            <a:avLst>
              <a:gd name="adj" fmla="val 10769"/>
            </a:avLst>
          </a:prstGeom>
          <a:solidFill>
            <a:srgbClr val="FFFAF5"/>
          </a:solidFill>
          <a:ln w="9525">
            <a:solidFill>
              <a:srgbClr val="FFBF86"/>
            </a:solidFill>
            <a:prstDash val="solid"/>
          </a:ln>
        </p:spPr>
      </p:sp>
      <p:sp>
        <p:nvSpPr>
          <p:cNvPr id="9" name="矩形 8"/>
          <p:cNvSpPr>
            <a:spLocks noGrp="1"/>
          </p:cNvSpPr>
          <p:nvPr/>
        </p:nvSpPr>
        <p:spPr>
          <a:xfrm>
            <a:off x="1200150" y="2747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这个司机以一个温柔的声音说，“孩子，醒醒，你坐过站了，赶紧起来了！”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7"/>
          <p:cNvSpPr>
            <a:spLocks noGrp="1"/>
          </p:cNvSpPr>
          <p:nvPr/>
        </p:nvSpPr>
        <p:spPr>
          <a:xfrm>
            <a:off x="1200150" y="30432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driver said in a gentle voice, "Wake up, kid. You've missed your stop. Get up quickly!"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905250"/>
            <a:ext cx="10439400" cy="1238250"/>
          </a:xfrm>
          <a:prstGeom prst="roundRect">
            <a:avLst>
              <a:gd name="adj" fmla="val 10769"/>
            </a:avLst>
          </a:prstGeom>
          <a:solidFill>
            <a:srgbClr val="FFFAF5"/>
          </a:solidFill>
          <a:ln w="9525">
            <a:solidFill>
              <a:srgbClr val="FFBF86"/>
            </a:solidFill>
            <a:prstDash val="solid"/>
          </a:ln>
        </p:spPr>
      </p:sp>
      <p:sp>
        <p:nvSpPr>
          <p:cNvPr id="12" name="矩形 11"/>
          <p:cNvSpPr>
            <a:spLocks noGrp="1"/>
          </p:cNvSpPr>
          <p:nvPr/>
        </p:nvSpPr>
        <p:spPr>
          <a:xfrm>
            <a:off x="1200150" y="40814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这个老师以一个有耐心的声音说，“不要放弃学习，你才能实现自己的梦想。”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8"/>
          <p:cNvSpPr>
            <a:spLocks noGrp="1"/>
          </p:cNvSpPr>
          <p:nvPr/>
        </p:nvSpPr>
        <p:spPr>
          <a:xfrm>
            <a:off x="1200150" y="43767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teacher said in a patient voice, "Don't give up studying, and you can realize your dream."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238750"/>
            <a:ext cx="10439400" cy="942975"/>
          </a:xfrm>
          <a:prstGeom prst="roundRect">
            <a:avLst>
              <a:gd name="adj" fmla="val 14141"/>
            </a:avLst>
          </a:prstGeom>
          <a:solidFill>
            <a:srgbClr val="FFFAF5"/>
          </a:solidFill>
          <a:ln w="9525">
            <a:solidFill>
              <a:srgbClr val="FFBF86"/>
            </a:solidFill>
            <a:prstDash val="solid"/>
          </a:ln>
        </p:spPr>
      </p:sp>
      <p:sp>
        <p:nvSpPr>
          <p:cNvPr id="15" name="矩形 14"/>
          <p:cNvSpPr>
            <a:spLocks noGrp="1"/>
          </p:cNvSpPr>
          <p:nvPr/>
        </p:nvSpPr>
        <p:spPr>
          <a:xfrm>
            <a:off x="1200150" y="5414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我的好朋友Simona以一个高的声音说，“这题我会。”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9"/>
          <p:cNvSpPr>
            <a:spLocks noGrp="1"/>
          </p:cNvSpPr>
          <p:nvPr/>
        </p:nvSpPr>
        <p:spPr>
          <a:xfrm>
            <a:off x="1200150" y="57102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good friend Simona said in a loud voice, "I can do this question."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她以一个不耐烦的声音说，“不要在这里吵，这个Baby正在睡觉呢。”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0"/>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said in an impatient voice, "Don't make noise here. The baby is sleeping."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“我一定会努力做到的。” 他坚定地说。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1"/>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 will definitely try my best to do it,” he said in a determined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“这到底是怎么回事啊？” 她困惑地说。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2"/>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on earth is going on here?” she said in a confused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“谢谢你给予我的帮助。” 他感激地说。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3"/>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“Thank you for your help,” he said in a grateful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“对不起，我不是故意的。” 她愧疚地说。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4"/>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“I'm sorry, I didn't mean it,” she said in a guilty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“太棒了，我们成功了！” 他们兴奋地说。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5"/>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“Great, we made it!” they said in an excited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“请你小声一点，不要打扰别人。” 老师严肃地说。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6"/>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“Please keep your voice down and don't disturb others,” the teacher said in a serious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“这件事交给我，你放心吧。” 他自信地说。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7"/>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“Leave this to me, you can rest assured,” he said in a confident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“这里的风景真是太美了。” 她惊叹地说。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8"/>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scenery here is really beautiful,” she said in an amazed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“我真的不知道该怎么办了。” 他无助地说。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9"/>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 really don't know what to do,” he said in a helpless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“明天我们一起去公园吧。” 她友好地说。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0"/>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“Let's go to the park together tomorrow,” she said in a friendly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瞬间，一片新鲜感笼罩了教室，一阵好奇席卷了学生们。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1"/>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an absolute freshness ruled the classroom and a wave of curiosity swept over the students.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突然，彻底的混乱占据了街道，一阵恐慌席卷了行人。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2"/>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Suddenly, a complete chaos ruled the street and a wave of panic washed over the pedestrians.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立刻，全然的黑暗笼罩了房间，一阵恐惧席卷了孩子们。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3"/>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an absolute darkness ruled the room and a wave of fear swept over the children.</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猛地，全场陷入一片寂静，一阵激动席卷了观众。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4"/>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Suddenly, a complete silence ruled the stadium and a wave of excitement washed over the audience.</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瞬间，纯粹的喜悦充斥了派对，一阵幸福席卷了所有宾客。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5"/>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 complete joy ruled the party and a wave of happiness swept over all the guests.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她到公交站时才想起自己忘了锁门。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her that she had forgotten to lock the door when she arrived at the bus stop.  </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我突然想到，这个难题我们可以向老师求助。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me that we could turn to the teacher for help with this difficult problem.</a:t>
            </a:r>
            <a:r>
              <a:rPr sz="2025" b="0" i="0" u="sng">
                <a:solidFill>
                  <a:srgbClr val="000000"/>
                </a:solidFill>
                <a:latin typeface="微软雅黑" panose="020B0503020204020204" charset="-122"/>
                <a:ea typeface="微软雅黑" panose="020B0503020204020204" charset="-122"/>
                <a:cs typeface="微软雅黑" panose="020B0503020204020204" charset="-122"/>
              </a:rPr>
              <a:t>  </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他突然觉得自己以前在哪儿见过这个陌生人，但记不太清了。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2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him that he had seen this stranger somewhere before, but he couldn’t remember clearly.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经理突然想到，他们应该开个会来讨论这个新计划。</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9"/>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manager that they should hold a meeting to discuss the new plan.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莉萨突然意识到，她差不多有一周没回朋友的邮件了。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0"/>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Lisa that she hadn’t replied to her friend’s email for almost a week.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这个男孩想到，他可以用零花钱给妈妈买一份生日礼物。</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1"/>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boy that he could use his pocket money to buy a birthday present for his mother.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学生们想到，他们应该比平时更早开始为考试做准备。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2"/>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students that they should start preparing for the exam earlier than usual.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他们突然想到，他们可以利用DeepSeek来找到一些做这个项目的思路。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3"/>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them that they could use DeepSeek to find some ideas for the project.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教练意识到，下半场他们需要改变策略。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4"/>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coach that they needed to change their strategy in the second half.</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玛丽想到，放学后她把笔记本落在教室里了。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5"/>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Mary that she had left her notebook in the classroom after school.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第三部分仿写训练：句型6（1/4）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她毫不犹豫地冲进着火的房子，去救被困的孩子。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she rushed into the burning house to save the trapped child.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听到朋友遇到紧急情况，他不假思索地把积蓄借了出去。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lent his savings to his friend without a second thought when he heard about the emergency.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救生员毫不犹豫地跳进汹涌的大海，营救溺水的游泳者。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 lifeguard jumped into the rough sea to rescue the drowning swimmer.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第三部分仿写训练：句型6（2/4）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尽管已经很忙，她还是不假思索地答应帮忙组织活动。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9"/>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agreed to help organize the event without a second thought, even though she was already busy.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他毫不犹豫地辞掉了稳定的工作，去追求成为艺术家的梦想。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0"/>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he quit his stable job to pursue his dream of becoming an artist.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天开始下雨时，这位善良的陌生人不假思索地把伞递给了老太太。</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1"/>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kind stranger offered his umbrella to the old lady without a second thought when it started raining.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第三部分仿写训练：句型6（3/4）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天开始下雨时，这位善良的陌生人不假思索地把伞递给了老太太。</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2"/>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they volunteered to clean up the park after the storm hit the town.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意识到自己伤害了妹妹的感情，她立刻不假思索地道歉了。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3"/>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apologized to her sister without a second thought when she realized she’d hurt her feelings.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那个学生毫不犹豫地站起来，为受到不公批评的同学辩护。</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4"/>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 student stood up to defend his classmate from unfair criticism.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第三部分仿写训练：句型6（4/4）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他不假思索地把大部分奖金捐给了慈善机构，希望能帮助有需要的人。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5"/>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donated most of his prize money to charity without a second thought, hoping to help those in need.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第三部分仿写训练：句型7（1/4）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1.尽管她很聪明，却仍是班上学习最努力的。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6"/>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Clever as she is, she still studies hardest in our class.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2.尽管很晚了，学生们仍在继续讨论这个问题。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7"/>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Late though it was, the students continued discussing the problem.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3.尽管家境贫寒，这家人从未放弃孩子的教育。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8"/>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Poor as they are, the family never gives up their child’s education.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第三部分仿写训练：句型7（2/4）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4.尽管他努力了，还是没通过驾照考试。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9"/>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Hard as he tried, he failed to pass the driving test.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5.尽管他是个孩子，却懂得如何尊重他人。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0"/>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Child as he is, he knows how to respect others.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6.尽管他们很累，还是坚持跑到了比赛终点。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1"/>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Tired though they were, they kept running till the end of the race.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第三部分仿写训练：句型7（3/4）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 尽管这个问题看似简单，却没几个学生能答对。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2"/>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Simple as the question seems, few students can answer it correctly.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 尽管我很喜欢这本小说，但觉得它的结局很令人失望。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3"/>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Much as I like this novel, I think its ending is disappointing.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 尽管她努力回想，还是记不起钥匙放在哪儿了。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4"/>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Try as she might, she couldn’t remember where she put her keys.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第三部分仿写训练：句型7（4/4）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10.尽管这位老师很年轻，却赢得了学生们的尊重。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5"/>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Young though the teacher is, she has won the students’ respect.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第三部分仿写训练：句型8（1/4）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句型8</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333500"/>
          </a:xfrm>
          <a:prstGeom prst="roundRect">
            <a:avLst>
              <a:gd name="adj" fmla="val 10000"/>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秋雨意识到只有以这种方式，她才能让教授和同学们理解她的名字的由来。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6"/>
          <p:cNvSpPr>
            <a:spLocks noGrp="1"/>
          </p:cNvSpPr>
          <p:nvPr/>
        </p:nvSpPr>
        <p:spPr>
          <a:xfrm>
            <a:off x="1200150" y="3090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Qiuyu realized that only in this way could she make the professor and the students understand the origin of her name.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000500"/>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只有当你冷静下来，你才能清晰地思考。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7"/>
          <p:cNvSpPr>
            <a:spLocks noGrp="1"/>
          </p:cNvSpPr>
          <p:nvPr/>
        </p:nvSpPr>
        <p:spPr>
          <a:xfrm>
            <a:off x="1200150" y="45196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calm down, can you think clearly.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133975"/>
            <a:ext cx="10439400" cy="1038225"/>
          </a:xfrm>
          <a:prstGeom prst="roundRect">
            <a:avLst>
              <a:gd name="adj" fmla="val 12844"/>
            </a:avLst>
          </a:prstGeom>
          <a:solidFill>
            <a:srgbClr val="FFFAF5"/>
          </a:solidFill>
          <a:ln w="9525">
            <a:solidFill>
              <a:srgbClr val="FFBF86"/>
            </a:solidFill>
            <a:prstDash val="solid"/>
          </a:ln>
        </p:spPr>
      </p:sp>
      <p:sp>
        <p:nvSpPr>
          <p:cNvPr id="15" name="矩形 14"/>
          <p:cNvSpPr>
            <a:spLocks noGrp="1"/>
          </p:cNvSpPr>
          <p:nvPr/>
        </p:nvSpPr>
        <p:spPr>
          <a:xfrm>
            <a:off x="1200150" y="53578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只有以这种方式，你才能赢得他人的信任。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8"/>
          <p:cNvSpPr>
            <a:spLocks noGrp="1"/>
          </p:cNvSpPr>
          <p:nvPr/>
        </p:nvSpPr>
        <p:spPr>
          <a:xfrm>
            <a:off x="1200150" y="56530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gain others' trust.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第三部分仿写训练：句型8（2/4）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句型8</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只有当你努力奋斗，你才能实现自己的目标。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9"/>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work hard, can you achieve your goals.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只有以这种方式，你才能快速提高英语口语。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0"/>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improve your spoken English quickly.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只有当雨停了，我们才能出去散步。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1"/>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the rain stops, can we go out for a walk.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第三部分仿写训练：句型8（3/4）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句型8</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只有以这种方式，你才能避免再次犯同样的错误。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2"/>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avoid making the same mistake again.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只有当你理解了这个理论，你才能把它应用到实践中。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3"/>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understand the theory, can you apply it to practice.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只有以这种方式，你才能与他人保持良好的关系。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4"/>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maintain a good relationship with others.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第三部分仿写训练：句型8（4/4）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句型8</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只有当你勇敢面对困难，你才能变得更强大。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5"/>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face difficulties bravely, can you grow stronger.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第三部分仿写训练：句型9（1/3）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句型9</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秋雨是如此紧张以至于她不敢第一时间站起来回答教授的问题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nervous was Qiuyu that she didn't dare to stand up and answer the professor's question immediately.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Simona是如此的紧张和忐忑，以至于她上台后不知道说什么。</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So nervous and uneasy was Simona that she didn't know what to say after getting on stage.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这个戴着眼镜的男孩是如此害羞和紧张，以至于他不敢在人们面前说话。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shy and nervous was the boy with glasses that he dared not speak in front of people.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第三部分仿写训练：句型9（2/3）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句型9</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Simona是如此惊讶，以至于她不敢相信自己的眼睛。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9"/>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surprised was Simona that she couldn't believe her eyes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他是如此的焦虑和担忧，以至于她整晚都无法入眠。</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0"/>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anxious and worried was he that he couldn't fall asleep all night.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这次经历是如此有意义，以至于她经常在空闲时间想起。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1"/>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meaningful was this experience that she often thought of it in her free time.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第三部分仿写训练：句型9（3/3）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句型9</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他是如此紧张，以至于他不敢抬头回答老师的问题。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2"/>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nervous was he that he didn't dare to look up and answer the teacher's question.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这个节日是如此的吸引人（attractive），以至于有大量的游客来参观。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3"/>
          <p:cNvSpPr>
            <a:spLocks noGrp="1"/>
          </p:cNvSpPr>
          <p:nvPr/>
        </p:nvSpPr>
        <p:spPr>
          <a:xfrm>
            <a:off x="1200150" y="47910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attractive is this festival that a large number of tourists come to visit.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第三部分仿写训练：句型10（1/4）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句型10</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没有父母的支持，我不会取得这么多成就。</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4"/>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my parents' support, I wouldn't have achieved so much.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没有你的帮助，我无法解决这个问题。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5"/>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your help, I wouldn't be able to solve this problem.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没有音乐，我不会如此享受生活。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6"/>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music, I wouldn't enjoy my life so much.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第三部分仿写训练：句型10（2/4）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句型10</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没有充足的睡眠，我工作时无法集中精力。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7"/>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enough sleep, I wouldn't be focused at work.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没有他的鼓励，我不会尝试这项具有挑战性的任务。</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8"/>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his encouragement, I wouldn't have tried this challenging task.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没有互联网，我无法与海外的朋友保持联系。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9"/>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Internet, I wouldn't be able to keep in touch with friends overseas.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第三部分仿写训练：句型10（3/4）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句型10</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没有这本书，我不会获得这么多知识。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0"/>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this book, I wouldn't have gained so much knowledge.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没有老师的指导，我不会通过考试。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1"/>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teacher's guidance, I wouldn't have passed the exam.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没有这个机会，我不会发展自己的技能。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2"/>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opportunity, I wouldn't have developed my skills.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第三部分仿写训练：句型10（4/4）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句型10</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没有你的建议，我不会做出正确的决定。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3"/>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your advice, I wouldn't have made the right decision.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847725"/>
          </a:xfrm>
          <a:prstGeom prst="roundRect">
            <a:avLst>
              <a:gd name="adj" fmla="val 15730"/>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正是这次经历让我明白了时间的重要性。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4"/>
          <p:cNvSpPr>
            <a:spLocks noGrp="1"/>
          </p:cNvSpPr>
          <p:nvPr/>
        </p:nvSpPr>
        <p:spPr>
          <a:xfrm>
            <a:off x="1200150" y="29956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time.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514725"/>
            <a:ext cx="10439400" cy="847725"/>
          </a:xfrm>
          <a:prstGeom prst="roundRect">
            <a:avLst>
              <a:gd name="adj" fmla="val 15730"/>
            </a:avLst>
          </a:prstGeom>
          <a:solidFill>
            <a:srgbClr val="FFFAF5"/>
          </a:solidFill>
          <a:ln w="9525">
            <a:solidFill>
              <a:srgbClr val="FFBF86"/>
            </a:solidFill>
            <a:prstDash val="solid"/>
          </a:ln>
        </p:spPr>
      </p:sp>
      <p:sp>
        <p:nvSpPr>
          <p:cNvPr id="12" name="矩形 11"/>
          <p:cNvSpPr>
            <a:spLocks noGrp="1"/>
          </p:cNvSpPr>
          <p:nvPr/>
        </p:nvSpPr>
        <p:spPr>
          <a:xfrm>
            <a:off x="1200150" y="36433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这是在那一刻，我意识到我们应该保持诚实。</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5"/>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at that moment that I realized we should remain honest.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457700"/>
            <a:ext cx="10439400" cy="1733550"/>
          </a:xfrm>
          <a:prstGeom prst="roundRect">
            <a:avLst>
              <a:gd name="adj" fmla="val 7692"/>
            </a:avLst>
          </a:prstGeom>
          <a:solidFill>
            <a:srgbClr val="FFFAF5"/>
          </a:solidFill>
          <a:ln w="9525">
            <a:solidFill>
              <a:srgbClr val="FFBF86"/>
            </a:solidFill>
            <a:prstDash val="solid"/>
          </a:ln>
        </p:spPr>
      </p:sp>
      <p:sp>
        <p:nvSpPr>
          <p:cNvPr id="15" name="矩形 14"/>
          <p:cNvSpPr>
            <a:spLocks noGrp="1"/>
          </p:cNvSpPr>
          <p:nvPr/>
        </p:nvSpPr>
        <p:spPr>
          <a:xfrm>
            <a:off x="1200150" y="458628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正是这次难忘的经历教会我，不要以貌取人，每个人都有自己的优点。正如那句谚语所说，”三个臭皮匠顶个诸葛亮。”</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6"/>
          <p:cNvSpPr>
            <a:spLocks noGrp="1"/>
          </p:cNvSpPr>
          <p:nvPr/>
        </p:nvSpPr>
        <p:spPr>
          <a:xfrm>
            <a:off x="1200150" y="5176838"/>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unforgettable experience that taught me not to judge a person by appearance, for everyone has their own strengths. As the saying goes, "Two heads are better than one."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正是你的鼓励和帮助，让我勇敢迎接挑战克服困难。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7"/>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your encouragement and help that enabled me to bravely meet challenges and overcome difficulties.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是我的妈妈一直教导我们要对困难保持乐观的态度。</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8"/>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my mother who has always taught us to maintain an optimistic attitude towards difficulties.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正是那次难忘的旅途让我意识到了友谊的重要性。正如那句谚语所说，“患难见真情。”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9"/>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that unforgettable journey that made me realize the importance of friendship. As the saying goes, "A friend in need is a friend indeed."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直到司机叫醒我，我才意识到我的公共汽车已经到达终点站了。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0"/>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not until the driver woke me up that I realized my bus had reached the terminal station.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809750"/>
          </a:xfrm>
          <a:prstGeom prst="roundRect">
            <a:avLst>
              <a:gd name="adj" fmla="val 7368"/>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是你的帮助和鼓励让我最终登上山顶看到了最美的风景，感受到了“人生是旷野”的感觉。</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1"/>
          <p:cNvSpPr>
            <a:spLocks noGrp="1"/>
          </p:cNvSpPr>
          <p:nvPr/>
        </p:nvSpPr>
        <p:spPr>
          <a:xfrm>
            <a:off x="1200150" y="479107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your help and encouragement that enabled me to finally reach the top of the mountain, see the most beautiful scenery, and feel the sense of "life is a wilderness".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正是通过相互倾听和相互理解，孩子和父母之间的问题才能被解决。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2"/>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through mutual listening and understanding that the problems between children and parents can be solved.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正是通过给予孩子足有的时间和耐心，他们才能更好地表达他们自己的观点。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3"/>
          <p:cNvSpPr>
            <a:spLocks noGrp="1"/>
          </p:cNvSpPr>
          <p:nvPr/>
        </p:nvSpPr>
        <p:spPr>
          <a:xfrm>
            <a:off x="1200150" y="47910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by giving children sufficient time and patience that they can better express their own opinions.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1.这座古老的石桥早已成为一座桥梁，连接着河两岸的村庄与小镇。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4"/>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old stone bridge had become a bridge, connecting the villages and towns on both sides of the river</a:t>
            </a:r>
            <a:r>
              <a:rPr sz="2025" b="0" i="0">
                <a:solidFill>
                  <a:srgbClr val="000000"/>
                </a:solidFill>
                <a:latin typeface="微软雅黑" panose="020B0503020204020204" charset="-122"/>
                <a:ea typeface="微软雅黑" panose="020B0503020204020204" charset="-122"/>
                <a:cs typeface="微软雅黑" panose="020B0503020204020204" charset="-122"/>
              </a:rPr>
              <a:t>.</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2.多年的书信往来已成为一座桥梁，连接着相隔千里的母女与彼此的思念。</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5"/>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Years of letter exchanges had become a bridge, connecting the mother and daughter thousands of miles apart with their mutual longing.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3.这门共同的语言已成为一座桥梁，连接着不同国家的学者与学术思想的碰撞。</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96"/>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This common language had become a bridge, connecting scholars from different countries with the collision of academic ideas.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4.传统手工艺市集已成为一座桥梁，连接着老手艺人的技艺与年轻一代的兴趣。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7"/>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traditional handicraft market had become a bridge, connecting the skills of old craftsmen with the interests of the younger generation.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5.那首经典的老歌已成为一座桥梁，连接着逝去的时光与人们心中的温暖回忆。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8"/>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That classic old song had become a bridge, connecting the gone days with the warm memories in people's hearts.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6.线上公益平台已成为一座桥梁，连接着需要帮助的群体与愿意奉献爱心的人们。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99"/>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online public welfare platform had become a bridge, connecting groups in need with people willing to offer their love.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7.这场文化交流活动已成为一座桥梁，连接着东方的传统美学与西方的现代艺术。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0"/>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This cultural exchange activity had become a bridge, connecting Oriental traditional aesthetics with Western modern art.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8.父亲的故事已成为一座桥梁，连接着他坎坷的过往与孩子们对生活的理解。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1"/>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Father's stories had become a bridge, connecting his rough past with the children's understanding of life.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9.科技创新已成为一座桥梁，连接着人类的奇思妙想与现实世界的无限可能。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102"/>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Technological innovation had become a bridge, connecting human's wonderful ideas with the infinite possibilities of the real world.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10.社区图书馆已成为一座桥梁，连接着居民们的闲暇时光与广阔的知识海洋。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3"/>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community library had become a bridge, connecting the residents' leisure time with the vast ocean of knowledge.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619250"/>
          </a:xfrm>
          <a:prstGeom prst="roundRect">
            <a:avLst>
              <a:gd name="adj" fmla="val 8235"/>
            </a:avLst>
          </a:prstGeom>
          <a:solidFill>
            <a:srgbClr val="FFFAF5"/>
          </a:solidFill>
          <a:ln w="9525">
            <a:solidFill>
              <a:srgbClr val="FFBF86"/>
            </a:solidFill>
            <a:prstDash val="solid"/>
          </a:ln>
        </p:spPr>
      </p:sp>
      <p:sp>
        <p:nvSpPr>
          <p:cNvPr id="9" name="矩形 8"/>
          <p:cNvSpPr>
            <a:spLocks noGrp="1"/>
          </p:cNvSpPr>
          <p:nvPr/>
        </p:nvSpPr>
        <p:spPr>
          <a:xfrm>
            <a:off x="1200150" y="30670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最吸引我的是那天我们亲手制作了油纸伞，这帮助我们更好地理解中国传统手工艺的制作过程。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4"/>
          <p:cNvSpPr>
            <a:spLocks noGrp="1"/>
          </p:cNvSpPr>
          <p:nvPr/>
        </p:nvSpPr>
        <p:spPr>
          <a:xfrm>
            <a:off x="1200150" y="33623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attracted me most was that we made oil - paper umbrellas by hand that day，which helped us better understand the process of traditional Chinese handicrafts.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62475"/>
            <a:ext cx="10439400" cy="1619250"/>
          </a:xfrm>
          <a:prstGeom prst="roundRect">
            <a:avLst>
              <a:gd name="adj" fmla="val 8235"/>
            </a:avLst>
          </a:prstGeom>
          <a:solidFill>
            <a:srgbClr val="FFFAF5"/>
          </a:solidFill>
          <a:ln w="9525">
            <a:solidFill>
              <a:srgbClr val="FFBF86"/>
            </a:solidFill>
            <a:prstDash val="solid"/>
          </a:ln>
        </p:spPr>
      </p:sp>
      <p:sp>
        <p:nvSpPr>
          <p:cNvPr id="12" name="矩形 11"/>
          <p:cNvSpPr>
            <a:spLocks noGrp="1"/>
          </p:cNvSpPr>
          <p:nvPr/>
        </p:nvSpPr>
        <p:spPr>
          <a:xfrm>
            <a:off x="1200150" y="47815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2.最令我印象深刻的是我们体验了油纸伞的制作过程，这帮助我更深地理解中国传统文化。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5"/>
          <p:cNvSpPr>
            <a:spLocks noGrp="1"/>
          </p:cNvSpPr>
          <p:nvPr/>
        </p:nvSpPr>
        <p:spPr>
          <a:xfrm>
            <a:off x="1200150" y="50768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most was that we experienced the process of making oil - paper umbrellas, which helped me have a deeper understanding of Chinese traditional culture.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323975"/>
          </a:xfrm>
          <a:prstGeom prst="roundRect">
            <a:avLst>
              <a:gd name="adj" fmla="val 10072"/>
            </a:avLst>
          </a:prstGeom>
          <a:solidFill>
            <a:srgbClr val="FFFAF5"/>
          </a:solidFill>
          <a:ln w="9525">
            <a:solidFill>
              <a:srgbClr val="FFBF86"/>
            </a:solidFill>
            <a:prstDash val="solid"/>
          </a:ln>
        </p:spPr>
      </p:sp>
      <p:sp>
        <p:nvSpPr>
          <p:cNvPr id="9" name="矩形 8"/>
          <p:cNvSpPr>
            <a:spLocks noGrp="1"/>
          </p:cNvSpPr>
          <p:nvPr/>
        </p:nvSpPr>
        <p:spPr>
          <a:xfrm>
            <a:off x="1200150" y="30670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3.让我印象最深刻的是我们请观看了打铁花的表演，那是一种非物质文化遗产。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6"/>
          <p:cNvSpPr>
            <a:spLocks noGrp="1"/>
          </p:cNvSpPr>
          <p:nvPr/>
        </p:nvSpPr>
        <p:spPr>
          <a:xfrm>
            <a:off x="1200150" y="336232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the most was that we watched the performance of molten iron fireworks, which is an intangible cultural heritage. </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67200"/>
            <a:ext cx="10439400" cy="1914525"/>
          </a:xfrm>
          <a:prstGeom prst="roundRect">
            <a:avLst>
              <a:gd name="adj" fmla="val 6965"/>
            </a:avLst>
          </a:prstGeom>
          <a:solidFill>
            <a:srgbClr val="FFFAF5"/>
          </a:solidFill>
          <a:ln w="9525">
            <a:solidFill>
              <a:srgbClr val="FFBF86"/>
            </a:solidFill>
            <a:prstDash val="solid"/>
          </a:ln>
        </p:spPr>
      </p:sp>
      <p:sp>
        <p:nvSpPr>
          <p:cNvPr id="12" name="矩形 11"/>
          <p:cNvSpPr>
            <a:spLocks noGrp="1"/>
          </p:cNvSpPr>
          <p:nvPr/>
        </p:nvSpPr>
        <p:spPr>
          <a:xfrm>
            <a:off x="1200150" y="44862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4.最令我印象深刻的是通过辛勤工作后，我脸上的汗水，这不仅让我明白了农民的不易，而且也提醒我今后要节约粮食。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7"/>
          <p:cNvSpPr>
            <a:spLocks noGrp="1"/>
          </p:cNvSpPr>
          <p:nvPr/>
        </p:nvSpPr>
        <p:spPr>
          <a:xfrm>
            <a:off x="1200150" y="50768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impressed me most was the sweat on my face after hard work, which not only made me understand the hardships of farmers, but also reminded me to save food in the future.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 最让我印象深刻的是，志愿者们不知疲倦地帮助那些受灾的人。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8"/>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impressed me most is that the volunteers worked tirelessly to help those affected by the disaster.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最激励我的是，这位年轻的科学家尽管实验屡次失败，却从未放弃。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9"/>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inspired me most is that the young scientist never gave up despite repeated failures in his experiments.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7.最让我感兴趣的是，这部小说将奇幻元素与现实社会问题结合在了一起。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0"/>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interested me most is that the novel combines fantasy elements with realistic social issues.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8.最吸引我的是，这个山村一年四季都有令人惊叹的景色。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1"/>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attracted me most is that the mountain village offers breathtaking views all year round.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9.最让我印象深刻的是，这位老人 30 多年来一直捐款资助贫困学生。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2"/>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impressed me most is that the old man has been donating money to support poor students for over 30 years.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10.最激励我的是，这位残疾运动员通过多年的刻苦训练赢得了冠军。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3"/>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inspired me most is that the disabled athlete won the championship through years of hard training.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第三部分仿写训练：句型14（1/3）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771650"/>
          </a:xfrm>
          <a:prstGeom prst="roundRect">
            <a:avLst>
              <a:gd name="adj" fmla="val 7527"/>
            </a:avLst>
          </a:prstGeom>
          <a:solidFill>
            <a:srgbClr val="FFFAF5"/>
          </a:solidFill>
          <a:ln w="9525">
            <a:solidFill>
              <a:srgbClr val="FFBF86"/>
            </a:solidFill>
            <a:prstDash val="solid"/>
          </a:ln>
        </p:spPr>
      </p:sp>
      <p:sp>
        <p:nvSpPr>
          <p:cNvPr id="9" name="矩形 8"/>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看到教授和同学们脸上的表情，秋雨心中涌起一阵强烈的自豪之情，席卷全身。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4"/>
          <p:cNvSpPr>
            <a:spLocks noGrp="1"/>
          </p:cNvSpPr>
          <p:nvPr/>
        </p:nvSpPr>
        <p:spPr>
          <a:xfrm>
            <a:off x="1200150" y="34385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Seeing the expressions on the professor's and classmates' faces, Qiuyu felt a great sense of pride welling up in her heart and surging through her.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714875"/>
            <a:ext cx="10439400" cy="1476375"/>
          </a:xfrm>
          <a:prstGeom prst="roundRect">
            <a:avLst>
              <a:gd name="adj" fmla="val 9032"/>
            </a:avLst>
          </a:prstGeom>
          <a:solidFill>
            <a:srgbClr val="FFFAF5"/>
          </a:solidFill>
          <a:ln w="9525">
            <a:solidFill>
              <a:srgbClr val="FFBF86"/>
            </a:solidFill>
            <a:prstDash val="solid"/>
          </a:ln>
        </p:spPr>
      </p:sp>
      <p:sp>
        <p:nvSpPr>
          <p:cNvPr id="12" name="矩形 11"/>
          <p:cNvSpPr>
            <a:spLocks noGrp="1"/>
          </p:cNvSpPr>
          <p:nvPr/>
        </p:nvSpPr>
        <p:spPr>
          <a:xfrm>
            <a:off x="1200150" y="50101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2.看到那张旧照片，她心中涌起一阵强烈的怀旧之情，席卷全身。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5"/>
          <p:cNvSpPr>
            <a:spLocks noGrp="1"/>
          </p:cNvSpPr>
          <p:nvPr/>
        </p:nvSpPr>
        <p:spPr>
          <a:xfrm>
            <a:off x="1200150" y="530542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Seeing the old photo, she felt a great sense of nostalgia welling up in her heart and surging through 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第三部分仿写训练：句型14（2/3）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3.在颁奖典礼上听到国歌响起，他心中涌起一阵强烈的自豪感，席卷全身。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6"/>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Hearing the national anthem played at the award ceremony, he felt a great sense of pride welling up in his heart and surging through him.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4.看到孩子们开心的笑容，志愿者心中涌起一阵强烈的温暖，席卷全身。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7"/>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Seeing the children's happy smiles, the volunteer felt a great sense of warmth welling up in her heart and surging through her.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第三部分仿写训练：句型14（3/3）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5.听到自己球队获胜的消息，教练心中涌起一阵强烈的激动，席卷全身。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8"/>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Hearing the news of his team's victory, the coach felt a great sense of excitement welling up in his heart and surging through him.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第三部分仿写训练：句型15（1/3）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秋雨的心跳剧烈，手心冒汗，一个内心的声音告诉她必须抓住这个宝贵的机会。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9"/>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Qiuyu’s heart pounding fiercely and her palms sweating, an inner voice told her that she must seize this precious opportunity.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他心跳剧烈，手心冒汗，一个内心的声音告诉他自己有能力克服这个困难。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0"/>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His heart pounding fiercely and his palms sweating, an inner voice told him that he was capable of overcoming this difficulty.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第三部分仿写训练：句型15（2/3）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他们心跳剧烈，手心冒汗，一个内心的声音告诉他们这场演出会非常成功。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21"/>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Their hearts pounding fiercely and their palms sweating, an inner voice told them that the performance would be a great success.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女孩心跳剧烈，手心冒汗，一个内心的声音告诉她应该勇敢地说出自己的真实想法。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2"/>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girl's heart pounding fiercely and her palms sweating, an inner voice told her that she should speak out her true thoughts bravely.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第三部分仿写训练：句型15（3/3）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球员心跳剧烈，手心冒汗，一个内心的声音告诉他自己能踢进制胜一球。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23"/>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player's heart pounding fiercely and his palms sweating, an inner voice told him that he could score the winning goal.</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我心跳剧烈，手心冒汗，一个内心的声音告诉我这个决定会改变我的人生。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4"/>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My heart pounding fiercely and my palms sweating, an inner voice told me that this decision would change my life.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19675</Words>
  <Application>WPS 演示</Application>
  <PresentationFormat>Converted Presentation</PresentationFormat>
  <Paragraphs>860</Paragraphs>
  <Slides>54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54</vt:i4>
      </vt:variant>
    </vt:vector>
  </HeadingPairs>
  <TitlesOfParts>
    <vt:vector size="59" baseType="lpstr">
      <vt:lpstr>Arial</vt:lpstr>
      <vt:lpstr>宋体</vt:lpstr>
      <vt:lpstr>Wingdings</vt:lpstr>
      <vt:lpstr>微软雅黑</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English Courseware PPT</dc:creator>
  <cp:lastModifiedBy>English Courseware PPT</cp:lastModifiedBy>
  <cp:revision>1</cp:revision>
  <dcterms:created xsi:type="dcterms:W3CDTF">2026-07-12T19:51:51Z</dcterms:created>
  <dcterms:modified xsi:type="dcterms:W3CDTF">2026-07-12T19:51:51Z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657D908BA3EB466CBDF79D1BFBA923F0_12</vt:lpwstr>
  </property>
  <property fmtid="{D5CDD505-2E9C-101B-9397-08002B2CF9AE}" pid="3" name="KSOProductBuildVer">
    <vt:lpwstr>2052-12.8.2.18913</vt:lpwstr>
  </property>
</Properties>
</file>