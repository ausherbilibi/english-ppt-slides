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6172200" y="2686050"/>
            <a:ext cx="4876800" cy="400050"/>
          </a:xfrm>
          <a:prstGeom prst="roundRect">
            <a:avLst>
              <a:gd name="adj" fmla="val 19048"/>
            </a:avLst>
          </a:prstGeom>
          <a:solidFill>
            <a:srgbClr val="FFF2E7"/>
          </a:solidFill>
          <a:ln w="9525">
            <a:solidFill>
              <a:srgbClr val="FFB36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343650" y="2752725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7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读后续写---基础版读后续写语料库</a:t>
            </a:r>
            <a:endParaRPr sz="1725" b="1" i="0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72200" y="3105150"/>
            <a:ext cx="4876800" cy="2057400"/>
          </a:xfrm>
          <a:prstGeom prst="rect">
            <a:avLst/>
          </a:prstGeom>
          <a:solidFill>
            <a:srgbClr val="FF7A1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19875" y="3333750"/>
            <a:ext cx="4095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  <a:defRPr sz="29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读后续写
基础版读后续写语料库</a:t>
            </a:r>
            <a:endParaRPr sz="29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0" y="47148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6000"/>
              </a:lnSpc>
              <a:buNone/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基础版读后续写语料库</a:t>
            </a:r>
            <a:endParaRPr sz="18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1668145"/>
            <a:ext cx="9258300" cy="313309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183765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词汇/短语部分</a:t>
            </a:r>
            <a:endParaRPr sz="4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000250" y="311658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动词以及动词短语（构造</a:t>
            </a:r>
            <a:r>
              <a:rPr sz="3150" b="1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动作链</a:t>
            </a: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使用）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</a:t>
            </a:r>
            <a:endParaRPr sz="27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单词：look, see, watch, observe, notice, spot, stare, witness, sweep, overlook, glare, glance, peer, gaze, scan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短语：look back, look down, watch over, stare at, glare at, raise xxx’s eyes, at the sight of...,catch one’s eyes 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走、跑</a:t>
            </a:r>
            <a:endParaRPr sz="27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单词：walk, run, step, pace, wander, approach, snake, march, rush, dash,  race, move, edge, stagger, stumble, stride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1905000"/>
          </a:xfrm>
          <a:prstGeom prst="roundRect">
            <a:avLst>
              <a:gd name="adj" fmla="val 7000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短语：run straight into, stride up to sb.（大步向某人走去）,rush into（冲进）,hurry off to, move towards, edge towards, head towards, dash towards, pace up and down（踱来踱去，走来走去），run as fast as xxx’s legs could carry sb.（飞快地跑）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跳（包含“脚”的一些说法）</a:t>
            </a:r>
            <a:endParaRPr sz="27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单词：jump ,leap, spring, skip（蹦蹦跳跳地走）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短语：jump/rise to xxx’s feet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struggle to sb’s feet 挣扎地站起来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stagger to sb’s feet 摇摇晃晃地站起来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drag sb’s feet 拖着脚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dance with joy手舞足蹈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动词以及动词短语（构造</a:t>
            </a:r>
            <a:r>
              <a:rPr sz="2700" b="1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动作链</a:t>
            </a: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使用）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9DF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</a:t>
            </a:r>
            <a:endParaRPr sz="21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单词：hold, catch, grab, grasp, snatch（夺去，抢走）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短语：hold onto（紧紧抓住）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2004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9DF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2766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</a:t>
            </a:r>
            <a:endParaRPr sz="21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单词：pat 短语：pat on xxx’s shoulder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5720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9DF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6482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抱</a:t>
            </a:r>
            <a:endParaRPr sz="21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单词：hug, embrace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</a:t>
            </a:r>
            <a:endParaRPr sz="27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552575"/>
          </a:xfrm>
          <a:prstGeom prst="roundRect">
            <a:avLst>
              <a:gd name="adj" fmla="val 8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400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单词：say, speak, tell, talk, shout, scream, whisper, add, insist, declare, complain, explain, announce, respond, comfort, utter, yell, roar, murmur, sigh, mutter, stammer（结结巴巴地说）,sniff（不屑、不以为然地说）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19425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095625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短语：in a low tone/voice, in a gentle/soft tone, in whispers, with absolute certainty（斩钉截铁地说）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副词</a:t>
            </a:r>
            <a:r>
              <a:rPr sz="2700" b="1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（与动词搭配使用）</a:t>
            </a:r>
            <a:endParaRPr sz="2700" b="1" i="0" u="sng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866900"/>
          </a:xfrm>
          <a:prstGeom prst="roundRect">
            <a:avLst>
              <a:gd name="adj" fmla="val 7143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gently, quietly, enthusiastically, sincerely, seriously, polietly, proudly, loudly, patiently, smoothly, steadily, encouragingly, happily, cheerfully, brightly, sadly, breathlessly, firmly, definitely, rudely,thoughtfully,tightly, calmly, deeply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2190750"/>
            <a:ext cx="9258300" cy="200025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686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形容词（描写人物+描写环境）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33900" y="371475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5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词汇/短语部分</a:t>
            </a:r>
            <a:endParaRPr sz="1575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highlight>
                  <a:srgbClr val="FFF49C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描写人物</a:t>
            </a:r>
            <a:endParaRPr sz="2700" b="1" i="0">
              <a:solidFill>
                <a:srgbClr val="000000"/>
              </a:solidFill>
              <a:highlight>
                <a:srgbClr val="FFF49C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39065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外貌：fair白皙的，pale苍白的， tanned晒黑的，rosy红润的，well-built身体强壮的，overweight肥胖的，middle-sized中等身材的，attractive有吸引力的，charming迷人的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57500"/>
            <a:ext cx="10439400" cy="139065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933700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品格：warm-hearted, patient, considerate, strong-willed, mean, generous, brave, determined, lively, optimistic, inquiring, narrow-minded, easy-going, arrogant, sense of duty/responsibility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343400"/>
            <a:ext cx="10439400" cy="714375"/>
          </a:xfrm>
          <a:prstGeom prst="roundRect">
            <a:avLst>
              <a:gd name="adj" fmla="val 1866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419600"/>
            <a:ext cx="99441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情绪：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glad, cheerful, overjoyed, merry, thrilled极为激动、兴奋,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153025"/>
            <a:ext cx="10439400" cy="1038225"/>
          </a:xfrm>
          <a:prstGeom prst="roundRect">
            <a:avLst>
              <a:gd name="adj" fmla="val 1284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229225"/>
            <a:ext cx="99441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incredible/unbelievable,afraid,scared,frightened,angry,annoyed,terrible, sad, heart-broken, miserable, frustrated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376045"/>
            <a:ext cx="10439400" cy="219583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113915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山：hill, mountain, peak, cave, valley→与形容词搭配：gentle平缓的，rocky多岩石的，rolling起伏的，steep陡峭的，bare光秃秃的，grassy多草的，towering高耸的，snowy积雪覆盖的，forested草木丛生的，wooded树木茂盛的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667125"/>
            <a:ext cx="10439400" cy="139065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743325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水：stream小溪，river，lake，shallows浅滩，sea→与形容词搭配：deep，clear，blue，rough，calm/smooth平静的，winding蜿蜒曲折的，fast-flowing水流湍急的，slow-moving流动缓慢的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153025"/>
            <a:ext cx="10439400" cy="1038225"/>
          </a:xfrm>
          <a:prstGeom prst="roundRect">
            <a:avLst>
              <a:gd name="adj" fmla="val 1284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229225"/>
            <a:ext cx="99441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风：wind，typhoon，hurricane飓风，breeze微风，tornado龙卷风→与形容词搭配：strong，terrible，slight，cold，icy，bitter，biting刺骨的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591310"/>
            <a:ext cx="99441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单词：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雨：rain，shower，storm，flood，drizzle细雨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雪：snow，snowstorm，blizzard暴风雪，snowflake雪花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树：tree，forest，woods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短语：listen to the water rolling down the river听着河水潺潺而下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winding/running/gurgling stream蜿蜒的/奔流的/潺潺的小溪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 and rolling hills山势低缓，连绵起伏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(3/6)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steep mountains陡峭的山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snow-covered peaks积雪覆盖的山峰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deep valley深谷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gentle breeze温柔的微风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heavy/light rain 大、小雨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howling wind 嚎叫的风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(4/6)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 destroyed in a typhoon 被台风摧毁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caught in the rain 遇上雨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pour with the rain下着倾盆大雨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the dim light在昏暗的灯光下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burning sunshine灼热的阳光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bathe in the sun沐浴在阳光下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(5/6)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the sun rising/setting日升、日落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misty clouds雾霭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thundering clouds 带着雷电的云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deep blue sky湛蓝的天空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deep cloudless sky万里无云的天空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songs of the birds鸟儿的歌声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描写环境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(6/6)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fragrant flowers芬芳的花朵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2190750"/>
            <a:ext cx="9258300" cy="200025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686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连接词 linking words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33900" y="371475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5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词汇/短语部分</a:t>
            </a:r>
            <a:endParaRPr sz="1575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表示时间：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866900"/>
          </a:xfrm>
          <a:prstGeom prst="roundRect">
            <a:avLst>
              <a:gd name="adj" fmla="val 7143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several days ago, the other day不久前某一天，at first, at the beginning, then, ...minutes later, later on/after that后来，sice then/from then on从那时起,in the days that followed在接下来的日子里，immediately/at once/ in no time立即，finally/eventually/at last/in the end最后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33375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40995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句式：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(1)was/ were doing sth. when...正在做某事时，突然...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3053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3815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(2)was/ were about to do sth. when...正要做某事时，突然...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27685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35305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(3)was/were on the point of doing sth. when...正要做某事时，突然...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表示时间：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(4)There was a time when...曾有一段时间...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1907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2669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(5)It was the first time that sb. had done sth. 这是某人第一次做某事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0099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(6)as soon as/ the moment/ the minute/ the instant...一...就...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8290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052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(7)no sooner... than.../ hardly... when...一...就...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64820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72440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(8)It was not long before...没过多久就...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467350"/>
            <a:ext cx="10439400" cy="723900"/>
          </a:xfrm>
          <a:prstGeom prst="roundRect">
            <a:avLst>
              <a:gd name="adj" fmla="val 1842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543550"/>
            <a:ext cx="9944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(9)It didn’t take long before... 没过多久就... 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连接词 linking words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676400"/>
          </a:xfrm>
          <a:prstGeom prst="roundRect">
            <a:avLst>
              <a:gd name="adj" fmla="val 795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表示让步</a:t>
            </a:r>
            <a:endParaRPr sz="21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短语：im spite of,regardless of（不顾，不管）,despite（尽管，即使）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 if/though, though, although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表示转折、结果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866900"/>
          </a:xfrm>
          <a:prstGeom prst="roundRect">
            <a:avLst>
              <a:gd name="adj" fmla="val 7143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luckily/fortunately（幸运的是），unluckily/unfortunately（不幸的是），end up doing sth （以做某事结束),surprisingly/to one's astonishment/surprise (令某人惊讶的是），happily/to one’s delight （令某人高兴的是），regrettabaly/It is regrettable that.（令人遗憾的是…），It tured out that…（结果表明/原来...)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2190750"/>
            <a:ext cx="9258300" cy="200025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686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句式部分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2190750"/>
            <a:ext cx="9258300" cy="200025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686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编织“动作面”（动作+情绪/心理、语言、神态等各种描写）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33900" y="371475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5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句式部分</a:t>
            </a:r>
            <a:endParaRPr sz="1575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开心/喜悦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（1）Overwhelmed by wild joy, I rose to my feet and punched my fist in the air, shouting out loudly, “I made it!”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被喜悦所淹没，我跳起来在空气中挥舞着我的拳头，大声喊着，“我做到了！”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95625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171825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（2）Hearing the inspiring news, he/ she leaped into the air with joy.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听到这个鼓舞人心的消息，他/她高兴地跳了起来。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开心/喜悦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2333625"/>
          </a:xfrm>
          <a:prstGeom prst="roundRect">
            <a:avLst>
              <a:gd name="adj" fmla="val 571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2181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feels happy and you can see the glint of excitement in her/his eyes.或者写成 he or she couldn’ t conceal her/his joy.或者 sb grinned from ear to ear.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感到很高兴，并且你可以看到他/她眼中兴奋的光芒。/xxx 感到很高兴，她/他 不能掩饰他/她的喜悦。/笑得合不拢嘴。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800475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876675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（4）sb’s heart is filled with pleasure and happiness, his/her face blooming like a flower./...beamed with satusfaction.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某人的心中充满了开心和幸福，脸绽放的像花一样。/满意地笑了。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开心/喜悦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(3/3)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（5）“。。。。。”（语言）said sb excitedly with tears sparkling in her/his eyes.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某人高兴地说道，在他的眼中有泪光闪烁。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7432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8194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（6）sb became happy now and a gentle smile spread over her/his face.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某人变得开心了并且整张脸洋溢着温和的微笑。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1148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1910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surge of excitement bubbling up inside me, I looked up into my dad’s dark eyes, which were shining with delight.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生气/愤怒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（1）sb made / makes his/her blood boil when he/she heard this news.(或者其他，可自己替换）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当他/她听到这个消息时，他/她火冒三丈。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95625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171825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（2）sb felt so angry that she stormed out of the room, slamming the door violently.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某人是如此生气以至于他冲出房间，砰地关上了门。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819650"/>
            <a:ext cx="10439400" cy="160528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89585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（3）sb shivered withe anger, rubbing her/ his hands violently.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43660" y="5518150"/>
            <a:ext cx="6096000" cy="440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某人生气地发抖，猛烈地搓着自己的手。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3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编织“动作面”（动作+情绪/心理、语言、神态等各种描写）</a:t>
            </a:r>
            <a:endParaRPr sz="232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（4）He didn't shout, and he just glared at me silently.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743200"/>
            <a:ext cx="10439400" cy="1593850"/>
          </a:xfrm>
          <a:prstGeom prst="roundRect">
            <a:avLst>
              <a:gd name="adj" fmla="val 633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830830"/>
            <a:ext cx="9944100" cy="1438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（5）erupt like a volcano像火山一样爆发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（6）in anger/be in a burst of anger在愤怒中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453255"/>
            <a:ext cx="10439400" cy="1791335"/>
          </a:xfrm>
          <a:prstGeom prst="roundRect">
            <a:avLst>
              <a:gd name="adj" fmla="val 1489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589145"/>
            <a:ext cx="99441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（7）“。。。。。。”I blurted out these words bottled in my heart, face crimson.</a:t>
            </a:r>
            <a:endParaRPr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我脱口而出这些装在心里的话，脸绯红。</a:t>
            </a:r>
            <a:endParaRPr sz="21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22705" y="1933575"/>
            <a:ext cx="732409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00000"/>
                </a:solidFill>
                <a:sym typeface="+mn-ea"/>
              </a:rPr>
              <a:t>他没有大喊大叫，只是默默地怒视着我。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悲伤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（1）Her/His hands were shaking. She/He was on the verge of tears.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她/他的手颤抖着，她/他在掉下眼泪的边缘。（快要哭了）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7432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819400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（2）The last word went like a bullet to his/her heart, a ripple of sadness welled up inside him/her.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最后一句话像一颗子弹一样击中了他的心，他的内心涌起一阵阵悲伤。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467225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543425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（3）In spite of his disappointment, he managed a weak smile.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尽管失望，他还是勉强露出一丝淡淡的微笑。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悲伤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543050"/>
          </a:xfrm>
          <a:prstGeom prst="roundRect">
            <a:avLst>
              <a:gd name="adj" fmla="val 864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（4）Upon hearing the bad news, her heart ached, tears streaming down her cheeks.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一听到这个消息，他心很痛，眼泪如溪水般顺着脸颊流下。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09900"/>
            <a:ext cx="10439400" cy="1543050"/>
          </a:xfrm>
          <a:prstGeom prst="roundRect">
            <a:avLst>
              <a:gd name="adj" fmla="val 864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086100"/>
            <a:ext cx="99441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（5）As the result of an accident, sb was suddenly thrown into a world of darkness and sank into hopelessness.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因为这件事，某人被投入黑暗之中,陷入绝望。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648200"/>
            <a:ext cx="10439400" cy="1543050"/>
          </a:xfrm>
          <a:prstGeom prst="roundRect">
            <a:avLst>
              <a:gd name="adj" fmla="val 864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724400"/>
            <a:ext cx="99441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Upon hearing the bad news, her heart ached, tears streaming down her cheeks.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一听到这个消息，她很心痛，眼泪如溪水般顺着面颊流下。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悲伤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(3/3)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788795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80657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 lay on the bed safe and sound, tears welling up in his eyes.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b="1">
              <a:solidFill>
                <a:srgbClr val="000000"/>
              </a:solidFill>
              <a:sym typeface="+mn-ea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00000"/>
                </a:solidFill>
                <a:sym typeface="+mn-ea"/>
              </a:rPr>
              <a:t>他安然地躺在床上，泪如泉涌。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79195" y="198945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害怕/恐惧/紧张/震惊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943100"/>
          </a:xfrm>
          <a:prstGeom prst="roundRect">
            <a:avLst>
              <a:gd name="adj" fmla="val 6863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（1）sb’s heart pounding fiercely and one’s palm sweating, an inner voice told sb. that....（必背）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某人的心脏疯狂跳动，手掌出汗，内心有一个声音告诉自己要......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注意：这句话不光可以用来描写“害怕、恐惧”， 还可以用来描写震惊、紧张、迷茫。</a:t>
            </a:r>
            <a:endParaRPr sz="2100" b="0" i="0" u="sng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409950"/>
            <a:ext cx="10439400" cy="1514475"/>
          </a:xfrm>
          <a:prstGeom prst="roundRect">
            <a:avLst>
              <a:gd name="adj" fmla="val 880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486150"/>
            <a:ext cx="99441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（2）At the sight of the fierce wolf, sb felt so scared that her/his throat tightened and knees felt weak.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看到这只凶猛的狼，她吓得喉咙发紧，膝盖发软。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5019675"/>
            <a:ext cx="10439400" cy="1162050"/>
          </a:xfrm>
          <a:prstGeom prst="roundRect">
            <a:avLst>
              <a:gd name="adj" fmla="val 1147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5095875"/>
            <a:ext cx="9944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（3）He seemed to be struck by a bolt of thunder, mind blank.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他仿佛被雷击中一样，大脑瞬间一片空白。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害怕/恐惧/紧张/震惊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（4）He stood there tongue-tied with his face turning pale.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00000"/>
                </a:solidFill>
                <a:sym typeface="+mn-ea"/>
              </a:rPr>
              <a:t>他站在那说不出话，脸色苍白。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3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编织“动作面”（动作+情绪/心理、语言、神态等各种描写）</a:t>
            </a:r>
            <a:endParaRPr sz="232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（5）He felt  so nervous that he could feel his face burning.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00000"/>
                </a:solidFill>
                <a:sym typeface="+mn-ea"/>
              </a:rPr>
              <a:t>他感到如此紧张脸发烫。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743200"/>
            <a:ext cx="10439400" cy="1663700"/>
          </a:xfrm>
          <a:prstGeom prst="roundRect">
            <a:avLst>
              <a:gd name="adj" fmla="val 795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819400"/>
            <a:ext cx="9944100" cy="15119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6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 had butterflies in xxx’s stomach紧张不安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7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nervous as he that he kept pacing back and forth in the room.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00000"/>
                </a:solidFill>
                <a:sym typeface="+mn-ea"/>
              </a:rPr>
              <a:t>他是如此紧张以至于在房间里来回踱步。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514850"/>
            <a:ext cx="10439400" cy="1205230"/>
          </a:xfrm>
          <a:prstGeom prst="roundRect">
            <a:avLst>
              <a:gd name="adj" fmla="val 795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591050"/>
            <a:ext cx="9944100" cy="978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8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stood before xxx, head drooping and heart thudding.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9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was stunned into slience./ with a wave of disbelief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感动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552575"/>
          </a:xfrm>
          <a:prstGeom prst="roundRect">
            <a:avLst>
              <a:gd name="adj" fmla="val 8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400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短语：move sb deeply, be moved to tears, touch sb’s heart, be touched/moved by...,a wave of warmth, be touched beyond words被感动地说不出话来，melt sb’s heart, feel extremely/deeply touched/moved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19425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09562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句式：（1）What moved sb most was that....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990975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06717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2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was overwhelmingly moved, saying that...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4962525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03872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3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xxx’s eyes glittering with tears of happiness.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感动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4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“This is the best gift I have ever received!” said the mother excitedly with tears sparkling in her eyes.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5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Speechless and tearful, I gathered him in my arms and hugged him tightly (无语且泪眼朦胧，我把他拥入怀里，紧紧地抱住了他）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9624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0386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000000"/>
                </a:solidFill>
                <a:sym typeface="+mn-ea"/>
              </a:rPr>
              <a:t>（</a:t>
            </a:r>
            <a:r>
              <a:rPr lang="en-US">
                <a:solidFill>
                  <a:srgbClr val="000000"/>
                </a:solidFill>
                <a:sym typeface="+mn-ea"/>
              </a:rPr>
              <a:t>6</a:t>
            </a:r>
            <a:r>
              <a:rPr>
                <a:solidFill>
                  <a:srgbClr val="000000"/>
                </a:solidFill>
                <a:sym typeface="+mn-ea"/>
              </a:rPr>
              <a:t>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 mom swept him into her arms with her eyes wet as if to squeeze the breath out of him.(他的妈妈紧紧地把他抱在怀里，眼睛湿润着，似乎快要让他不能呼吸）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犹豫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he beckoned me over the table, I edged closer reluctantly, expecting what would be in store for me.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当他示意我过来桌子这边时，我不情愿地慢慢靠近，期待着等待我的是什么。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3095625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171825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hesitantly walked over to her.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羞愧/尴尬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was speechless at this, feeling ashamed of my selfishness and guilty at my misunderstanding.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She felt so ashamed that she could feel her face burning.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63855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71475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ashamed was she that she could feeel the blood rush to her faces.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表示顿悟的句子</a:t>
            </a:r>
            <a:endParaRPr sz="27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Suddenly a brilliant idea flashed into his mind. His</a:t>
            </a: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mind began to race,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trying to think of a way out. (某人突然想起/某人的头脑开始快速转动）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suddenly occurred to sb. that...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63855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71475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hit sb that...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4610100"/>
            <a:ext cx="10439400" cy="876300"/>
          </a:xfrm>
          <a:prstGeom prst="roundRect">
            <a:avLst>
              <a:gd name="adj" fmla="val 1521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4686300"/>
            <a:ext cx="994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dawned on sb that...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环境描写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200150"/>
          </a:xfrm>
          <a:prstGeom prst="roundRect">
            <a:avLst>
              <a:gd name="adj" fmla="val 11111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gentle breeze transformed into a strong wind, and thick grey clouds filled the sky.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67000"/>
            <a:ext cx="10439400" cy="1257300"/>
          </a:xfrm>
          <a:prstGeom prst="roundRect">
            <a:avLst>
              <a:gd name="adj" fmla="val 10606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743200"/>
            <a:ext cx="99441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moon/sun/stars was shining brightly in the sky.(月亮在天上闪亮地照耀着）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019550"/>
            <a:ext cx="10439400" cy="1276350"/>
          </a:xfrm>
          <a:prstGeom prst="roundRect">
            <a:avLst>
              <a:gd name="adj" fmla="val 10448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095750"/>
            <a:ext cx="994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clear blue sky was dotted with fluttering larks. 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天气晴朗，碧空里星星点点的云雀在翩翩起舞。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环境描写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(2/2)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39065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The sky is overcast, darkened with gloomy clouds，(乌云密布、黑云压顶) and the whole world seemed to be enveloped in a huge gray quilt. 整个世界仿佛都被一块巨大的灰色棉被笼罩。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57500"/>
            <a:ext cx="10439400" cy="714375"/>
          </a:xfrm>
          <a:prstGeom prst="roundRect">
            <a:avLst>
              <a:gd name="adj" fmla="val 1866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933700"/>
            <a:ext cx="99441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Slience fell upon us for a moment.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667125"/>
            <a:ext cx="10439400" cy="1038225"/>
          </a:xfrm>
          <a:prstGeom prst="roundRect">
            <a:avLst>
              <a:gd name="adj" fmla="val 1284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743325"/>
            <a:ext cx="99441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Immediately/suddenly, an absolute darkness/silence/ ruled the forest and a wave of +情绪+ swept over sb.(突然间，一阵绝对的黑暗/沉默 控制了森林）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4800600"/>
            <a:ext cx="10439400" cy="1390650"/>
          </a:xfrm>
          <a:prstGeom prst="roundRect">
            <a:avLst>
              <a:gd name="adj" fmla="val 9589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4876800"/>
            <a:ext cx="9944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It seemed the city was bathed in brilliant sunshine/pouring rain and even the tree were smiling/crying.  似乎整个城市都沐浴在灿烂阳光下，连树木都在微笑。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14350" y="400050"/>
            <a:ext cx="2476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466850" y="2190750"/>
            <a:ext cx="9258300" cy="2000250"/>
          </a:xfrm>
          <a:prstGeom prst="roundRect">
            <a:avLst>
              <a:gd name="adj" fmla="val 9524"/>
            </a:avLst>
          </a:prstGeom>
          <a:solidFill>
            <a:srgbClr val="FFF8F0"/>
          </a:solidFill>
          <a:ln w="15240">
            <a:solidFill>
              <a:srgbClr val="FF8B2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00250" y="2686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ctr">
              <a:lnSpc>
                <a:spcPct val="100000"/>
              </a:lnSpc>
              <a:buNone/>
              <a:defRPr sz="31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主题升华句（主要写在最后）</a:t>
            </a:r>
            <a:endParaRPr sz="315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33900" y="371475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6000"/>
              </a:lnSpc>
              <a:buNone/>
              <a:defRPr sz="15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句式部分</a:t>
            </a:r>
            <a:endParaRPr sz="1575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主题升华句（主要写在最后）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(1/4)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Every challenge we face is an opportunity to grow and redefine ourselves.（成长类）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00325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676525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Every time I faced challenges, a thought of giving up flashed into my mind,but the support of my family give me the strength to keep going.（成长类）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829050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905250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 presentation wasn’t an assignment, but a testament to his ability to overcome obstacles.（成长类）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057775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133975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 that time, xxx really knew home was a place where members should understand each other and enjoy love.（亲情类）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主题升华句（主要写在最后）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(2/4)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Brad, he realized that if he hadn’t </a:t>
            </a: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reach out to（主动与某人联系）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his grandmother, it would be a lifelong regret.（亲情类）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600325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676525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Quiet man as dad was, he clearly did more than he said and understand more than I thought.(亲情--父子）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829050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905250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 that time, I learned that</a:t>
            </a: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could contribute to the household in my own way.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057775"/>
            <a:ext cx="10439400" cy="1133475"/>
          </a:xfrm>
          <a:prstGeom prst="roundRect">
            <a:avLst>
              <a:gd name="adj" fmla="val 117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133975"/>
            <a:ext cx="9944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was xxx’s kindness that made me feel the warmth of our family. I will treasure it with all my heart.（亲情，人际交往类）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主题升华句（主要写在最后）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(3/4)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1476375"/>
          </a:xfrm>
          <a:prstGeom prst="roundRect">
            <a:avLst>
              <a:gd name="adj" fmla="val 903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It was no exaggeration to utter that the unforgettable experience  was like an everlasting flower, blooming in the river of xxx’s memories.（必背！！！！适用范围广！！！）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943225"/>
            <a:ext cx="10439400" cy="1123950"/>
          </a:xfrm>
          <a:prstGeom prst="roundRect">
            <a:avLst>
              <a:gd name="adj" fmla="val 1186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019425"/>
            <a:ext cx="994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Sometimes a small act of kindness maybe powerful enough to make a huge difference.有时候一个小小的善行可能足以带来巨大的变化。（助人类）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4162425"/>
            <a:ext cx="10439400" cy="1123950"/>
          </a:xfrm>
          <a:prstGeom prst="roundRect">
            <a:avLst>
              <a:gd name="adj" fmla="val 11864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238625"/>
            <a:ext cx="994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more you are willing to give, the more you will get.</a:t>
            </a:r>
            <a:b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你愿意付出的越多，你收获的就越多。（助人类）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5381625"/>
            <a:ext cx="10439400" cy="800100"/>
          </a:xfrm>
          <a:prstGeom prst="roundRect">
            <a:avLst>
              <a:gd name="adj" fmla="val 1666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457825"/>
            <a:ext cx="9944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Love is the most precious gift in the world.(温情类！适用范围广！！）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85725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主题升华句（主要写在最后）</a:t>
            </a:r>
            <a:r>
              <a:rPr sz="2700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(4/4)</a:t>
            </a:r>
            <a:endParaRPr sz="2700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71600"/>
            <a:ext cx="10439400" cy="2286000"/>
          </a:xfrm>
          <a:prstGeom prst="roundRect">
            <a:avLst>
              <a:gd name="adj" fmla="val 5833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1447800"/>
            <a:ext cx="99441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Finally, we went out of the forest that trapped us. What an unforgettable experience! It turns out that there’s always a way out of any plight as long as we stay calm.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最后，我们走出了困住我们的森林。多么难忘的经历啊！事实证明，只要我们保持冷静，就总有办法摆脱困难。（脱困类）</a:t>
            </a:r>
            <a:endParaRPr sz="21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10718</Words>
  <Application>WPS 演示</Application>
  <PresentationFormat>Converted Presentation</PresentationFormat>
  <Paragraphs>395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1</cp:revision>
  <dcterms:created xsi:type="dcterms:W3CDTF">2026-07-13T03:39:51Z</dcterms:created>
  <dcterms:modified xsi:type="dcterms:W3CDTF">2026-07-13T03:39:51Z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E68363259CC0463C838F640CD8169FC5_12</vt:lpwstr>
  </property>
  <property fmtid="{D5CDD505-2E9C-101B-9397-08002B2CF9AE}" pid="3" name="KSOProductBuildVer">
    <vt:lpwstr>2052-12.8.2.18913</vt:lpwstr>
  </property>
</Properties>
</file>