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191250" y="3067050"/>
            <a:ext cx="4953000" cy="1676400"/>
          </a:xfrm>
          <a:prstGeom prst="rect">
            <a:avLst/>
          </a:prstGeom>
          <a:solidFill>
            <a:srgbClr val="FF8A1F"/>
          </a:solidFill>
          <a:ln w="0">
            <a:solidFill>
              <a:srgbClr val="FF8A1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572250" y="3181350"/>
            <a:ext cx="4381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94000"/>
              </a:lnSpc>
              <a:buNone/>
              <a:defRPr sz="3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</a:t>
            </a:r>
            <a:endParaRPr sz="30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4000"/>
              </a:lnSpc>
              <a:buNone/>
              <a:defRPr sz="3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Smart Learning</a:t>
            </a:r>
            <a:endParaRPr sz="30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591300" y="4095750"/>
            <a:ext cx="4191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400" b="1">
                <a:solidFill>
                  <a:srgbClr val="FFF5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FFF5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单元作文梳理</a:t>
            </a:r>
            <a:endParaRPr sz="2400" b="1">
              <a:solidFill>
                <a:srgbClr val="FFF5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591300" y="4476750"/>
            <a:ext cx="419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5B2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5B2A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（教学版）</a:t>
            </a:r>
            <a:endParaRPr sz="2025" b="1">
              <a:solidFill>
                <a:srgbClr val="5B2A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1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 3 Smart Learning 单元作文梳理</a:t>
            </a:r>
            <a:endParaRPr sz="21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638300"/>
            <a:ext cx="10439400" cy="2389505"/>
          </a:xfrm>
          <a:prstGeom prst="roundRect">
            <a:avLst>
              <a:gd name="adj" fmla="val 3933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038350"/>
            <a:ext cx="9620250" cy="17132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单元核心主题为“智慧学习/高效学习方法/如何成为优秀的学习者”，涵盖英语学习技巧、学科学习方法、成长型学习思维、主动学习习惯四大中考高频写作方向，同步融入单元核心语法「that/if/whether引导的宾语从句」，完全对标中考英语书面表达评分标准，兼顾教学实用性与学生应试需求。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一、审题指导（中考标准审题流程）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62100"/>
            <a:ext cx="10439400" cy="1143000"/>
          </a:xfrm>
          <a:prstGeom prst="roundRect">
            <a:avLst>
              <a:gd name="adj" fmla="val 11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1752600"/>
            <a:ext cx="1219200" cy="400050"/>
          </a:xfrm>
          <a:prstGeom prst="roundRect">
            <a:avLst>
              <a:gd name="adj" fmla="val 28571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1819275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审主题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724150" y="1733550"/>
            <a:ext cx="8172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介绍自己的高效学习方法、学习习惯的养成，分享学习经验，阐述对“智慧学习”的理解，以及学习方法给自己带来的改变与成长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819400"/>
            <a:ext cx="10439400" cy="1143000"/>
          </a:xfrm>
          <a:prstGeom prst="roundRect">
            <a:avLst>
              <a:gd name="adj" fmla="val 11667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162050" y="3009900"/>
            <a:ext cx="1219200" cy="400050"/>
          </a:xfrm>
          <a:prstGeom prst="roundRect">
            <a:avLst>
              <a:gd name="adj" fmla="val 28571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3076575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审文体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24150" y="2990850"/>
            <a:ext cx="8172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记叙文（夹叙夹议），中考书面表达最高频考查文体，也是“成长类”话题的核心考查文体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076700"/>
            <a:ext cx="10439400" cy="1143000"/>
          </a:xfrm>
          <a:prstGeom prst="roundRect">
            <a:avLst>
              <a:gd name="adj" fmla="val 11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1162050" y="4267200"/>
            <a:ext cx="1219200" cy="400050"/>
          </a:xfrm>
          <a:prstGeom prst="roundRect">
            <a:avLst>
              <a:gd name="adj" fmla="val 28571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38250" y="4333875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审人称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724150" y="4248150"/>
            <a:ext cx="81724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以第一人称为主，分享自身学习经历与方法；介绍通用学习技巧可搭配第二人称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一、审题指导（中考标准审题流程）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866900"/>
            <a:ext cx="10439400" cy="1428750"/>
          </a:xfrm>
          <a:prstGeom prst="roundRect">
            <a:avLst>
              <a:gd name="adj" fmla="val 9333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62050" y="2057400"/>
            <a:ext cx="1219200" cy="400050"/>
          </a:xfrm>
          <a:prstGeom prst="roundRect">
            <a:avLst>
              <a:gd name="adj" fmla="val 28571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38250" y="2124075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审时态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724150" y="2038350"/>
            <a:ext cx="81724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介绍学习方法、陈述客观道理用一般现在时；描述过去的学习经历、方法的养成过程用一般过去时；表达未来的学习规划用一般将来时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562350"/>
            <a:ext cx="10439400" cy="142875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1162050" y="3752850"/>
            <a:ext cx="1219200" cy="400050"/>
          </a:xfrm>
          <a:prstGeom prst="roundRect">
            <a:avLst>
              <a:gd name="adj" fmla="val 28571"/>
            </a:avLst>
          </a:prstGeom>
          <a:solidFill>
            <a:srgbClr val="FF7A12"/>
          </a:solidFill>
          <a:ln w="9525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238250" y="3819525"/>
            <a:ext cx="1066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审要点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724150" y="3733800"/>
            <a:ext cx="81724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0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a. 点明核心的学习方法/主题；b. 方法的具体内容、自己的实践经历；c. 方法带来的效果、对学习的感悟与升华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二、写作框架（中考满分三段式结构）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933450" y="2000250"/>
            <a:ext cx="3028950" cy="2381250"/>
          </a:xfrm>
          <a:prstGeom prst="roundRect">
            <a:avLst>
              <a:gd name="adj" fmla="val 56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81100" y="2495550"/>
            <a:ext cx="25336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开头段：</a:t>
            </a:r>
            <a:endParaRPr sz="2400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引入话题，点明核心学习方法</a:t>
            </a:r>
            <a:endParaRPr sz="2400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4457700" y="2000250"/>
            <a:ext cx="3028950" cy="2381250"/>
          </a:xfrm>
          <a:prstGeom prst="roundRect">
            <a:avLst>
              <a:gd name="adj" fmla="val 5600"/>
            </a:avLst>
          </a:prstGeom>
          <a:solidFill>
            <a:srgbClr val="FFF3E1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705350" y="2495550"/>
            <a:ext cx="25336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正文段：</a:t>
            </a:r>
            <a:endParaRPr sz="2400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方法阐述+实践经历+效果反馈</a:t>
            </a:r>
            <a:endParaRPr sz="2400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981950" y="2000250"/>
            <a:ext cx="3028950" cy="2381250"/>
          </a:xfrm>
          <a:prstGeom prst="roundRect">
            <a:avLst>
              <a:gd name="adj" fmla="val 56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229600" y="2495550"/>
            <a:ext cx="25336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12000"/>
              </a:lnSpc>
              <a:buNone/>
              <a:def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结尾段：</a:t>
            </a:r>
            <a:endParaRPr sz="2400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2000"/>
              </a:lnSpc>
              <a:buNone/>
              <a:def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升华主题，表达感悟与展望</a:t>
            </a:r>
            <a:endParaRPr sz="2400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开头段：引入话题，点明核心学习方法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61925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1828800"/>
            <a:ext cx="9696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对应逻辑：总起全文，直接点明对自己帮助最大的学习方法，或自己对“智慧学习”的理解，呼应标题，可融入单元核心宾语从句句型奠定全文基调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895600"/>
            <a:ext cx="10439400" cy="2907665"/>
          </a:xfrm>
          <a:prstGeom prst="roundRect">
            <a:avLst>
              <a:gd name="adj" fmla="val 5738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19200" y="3105150"/>
            <a:ext cx="9696450" cy="237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参考框架：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每个人都有适合自己的学习方法，对我来说，最高效的学习方法是______。我相信，正确的学习方法能让我们的学习事半功倍。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Everyone has their own learning methods. For me, the most efficient learning way is ______. I believe that right learning methods can help us learn better and faster.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正文段：方法阐述+实践经历+效果反馈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61925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1828800"/>
            <a:ext cx="9696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对应逻辑：分2-3个层次写清学习方法的具体内容、自己的实践过程，贴合单元课文内容，同步运用单元核心语法与句型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895600"/>
            <a:ext cx="10439400" cy="3495040"/>
          </a:xfrm>
          <a:prstGeom prst="roundRect">
            <a:avLst>
              <a:gd name="adj" fmla="val 7368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19200" y="3105150"/>
            <a:ext cx="9696450" cy="3241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参考框架：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过去的学习困境（用一般过去时，写自己之前学习中遇到的问题，如记不住单词、不会做数学题、不敢开口说英语等）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具体的学习方法与实践（用一般现在时，分点写方法的细节，结合单元课文核心学习技巧，如做思维导图、小组合作学习、从错误中学习等，融入宾语从句句型）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③ 方法带来的改变与效果（写学习上的进步、心态的变化，贴合单元“成长型思维”核心）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结尾段：升华主题，表达感悟与展望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61925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19200" y="1828800"/>
            <a:ext cx="9696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对应逻辑：总结全文，点明“智慧学习”的意义，分享自己的学习感悟，表达未来持续进步的决心，贴合中考作文“正能量成长升华”的评分要求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876300" y="2895600"/>
            <a:ext cx="10439400" cy="2783840"/>
          </a:xfrm>
          <a:prstGeom prst="roundRect">
            <a:avLst>
              <a:gd name="adj" fmla="val 5738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19200" y="3105150"/>
            <a:ext cx="9696450" cy="23736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参考框架：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学习不仅是学知识，更是学会如何学习。我会继续坚持好的学习方法，不断进步，成为一名更优秀的学习者。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buNone/>
              <a:def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Learning is not only about knowledge, but also about how to learn. I will keep on using good learning methods to make progress, and become a better learner.</a:t>
            </a:r>
            <a:endParaRPr sz="21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三、核心短语积累（单元课文核心+高频）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1257300" y="2343150"/>
            <a:ext cx="9677400" cy="1619250"/>
          </a:xfrm>
          <a:prstGeom prst="roundRect">
            <a:avLst>
              <a:gd name="adj" fmla="val 8235"/>
            </a:avLst>
          </a:prstGeom>
          <a:solidFill>
            <a:srgbClr val="FFF7EC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714500" y="2781300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77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三、核心短语积累（单元课文核心+高频）</a:t>
            </a:r>
            <a:endParaRPr sz="2775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学习方法类核心短语（单元课文核心）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take notes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记笔记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mind maps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制作思维导图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861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37528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6576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 key ideas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3657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复习核心知识点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4767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81100" y="47434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6482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set learning goals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46482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制定学习目标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学习方法类核心短语（单元课文核心）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 in groups/teams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小组合作学习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take part in class discussions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参与课堂讨论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861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37528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6576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read aloud to practise speaking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3657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大声朗读练习口语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4767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81100" y="47434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6482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flashcards to learn new words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46482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用单词卡学习生词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学习方法类核心短语（单元课文核心）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 research projects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做研究性课题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test oneself on the key points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自测核心知识点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861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37528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6576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 from mistakes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3657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从错误中学习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476750"/>
            <a:ext cx="10439400" cy="78994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81100" y="47434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648200"/>
            <a:ext cx="5467350" cy="604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 guidance and feedback from teachers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46482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获得老师的指导与反馈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880745" y="5413375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22" name="椭圆 21"/>
          <p:cNvSpPr>
            <a:spLocks noGrp="1"/>
          </p:cNvSpPr>
          <p:nvPr/>
        </p:nvSpPr>
        <p:spPr>
          <a:xfrm>
            <a:off x="1185545" y="5680075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433195" y="5584825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practise new and difficult things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900545" y="5584825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练习新的、有难度的内容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学习思维类核心短语（单元课文核心+高频）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have a growth mindset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拥有成长型思维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 an active learner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做一名主动学习者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861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37528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6576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 mistakes as chances for learning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3657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把错误看作学习的机会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4767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81100" y="47434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6482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 learning as a part of daily life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46482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把学习看作日常生活的一部分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学习思维类核心短语（单元课文核心+高频）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develop one's own learning strategies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制定自己的学习策略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believe in oneself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相信自己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861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37528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6576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never lose heart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3657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永不灰心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4767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81100" y="47434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6482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by step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46482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循序渐进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学习思维类核心短语（单元课文核心+高频）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make progress in...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在……方面取得进步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have trouble (in) doing sth.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做某事有困难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1912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586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中考衔接短语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 only... but also...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不仅……而且……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what's more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此外；而且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861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37528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6576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a result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3657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结果；因此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4767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81100" y="47434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6482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 this way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46482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通过这种方式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19125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5867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中考衔接短语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5049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7716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6764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little by little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6764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逐渐地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4955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27622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26670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practice makes perfect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26670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熟能生巧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34861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37528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36576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more..., the better...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36576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越……，就越……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876300" y="4476750"/>
            <a:ext cx="10439400" cy="819150"/>
          </a:xfrm>
          <a:prstGeom prst="roundRect">
            <a:avLst>
              <a:gd name="adj" fmla="val 16279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7" name="椭圆 16"/>
          <p:cNvSpPr>
            <a:spLocks noGrp="1"/>
          </p:cNvSpPr>
          <p:nvPr/>
        </p:nvSpPr>
        <p:spPr>
          <a:xfrm>
            <a:off x="1181100" y="47434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428750" y="4648200"/>
            <a:ext cx="5143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important to do sth.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896100" y="4648200"/>
            <a:ext cx="3714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做某事是很重要的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四、高分句型练习（单元核心句型+必考）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1257300" y="2343150"/>
            <a:ext cx="9677400" cy="1619250"/>
          </a:xfrm>
          <a:prstGeom prst="roundRect">
            <a:avLst>
              <a:gd name="adj" fmla="val 8235"/>
            </a:avLst>
          </a:prstGeom>
          <a:solidFill>
            <a:srgbClr val="FFF7EC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714500" y="2781300"/>
            <a:ext cx="8763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lnSpc>
                <a:spcPct val="105000"/>
              </a:lnSpc>
              <a:buNone/>
              <a:defRPr sz="277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四、高分句型练习（单元核心句型+必考）</a:t>
            </a:r>
            <a:endParaRPr sz="2775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开头段（引入话题，奠定基调）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800225"/>
            <a:ext cx="10439400" cy="1809750"/>
          </a:xfrm>
          <a:prstGeom prst="roundRect">
            <a:avLst>
              <a:gd name="adj" fmla="val 7368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047875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我相信，拥有好的学习方法是成为一名成功学习者的关键。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3152775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2790825"/>
            <a:ext cx="967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believe that having good learning methods is the key to becoming a successful learner.</a:t>
            </a:r>
            <a:endParaRPr sz="202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895725"/>
            <a:ext cx="10439400" cy="1809750"/>
          </a:xfrm>
          <a:prstGeom prst="roundRect">
            <a:avLst>
              <a:gd name="adj" fmla="val 7368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4143375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很多学生想知道如何才能学得更好，对我来说，答案是成为一名主动学习者。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5248275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4886325"/>
            <a:ext cx="967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Many students wonder how they can learn better, and for me, the answer is to be an active learner.</a:t>
            </a:r>
            <a:endParaRPr sz="202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开头段（引入话题，奠定基调）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038350"/>
            <a:ext cx="10439400" cy="2857500"/>
          </a:xfrm>
          <a:prstGeom prst="roundRect">
            <a:avLst>
              <a:gd name="adj" fmla="val 4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286000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当谈到学习英语时，最有帮助的方法对我来说是大声朗读和小组对话。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3865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3602990"/>
            <a:ext cx="9677400" cy="778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it comes to learning English, the most helpful way for me is to read aloud and have conversations in groups.</a:t>
            </a:r>
            <a:endParaRPr sz="187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中间段（方法+经历，核心语法落地）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800225"/>
            <a:ext cx="10439400" cy="1809750"/>
          </a:xfrm>
          <a:prstGeom prst="roundRect">
            <a:avLst>
              <a:gd name="adj" fmla="val 7368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1976120"/>
            <a:ext cx="9677400" cy="10013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我过去在记英语单词方面有困难，后来我发现用单词卡是一个非常有用的方法。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322453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2827020"/>
            <a:ext cx="967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used to have trouble remembering English words, and later I found that using flashcards is a very useful way.</a:t>
            </a:r>
            <a:endParaRPr sz="202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3895725"/>
            <a:ext cx="10439400" cy="1809750"/>
          </a:xfrm>
          <a:prstGeom prst="roundRect">
            <a:avLst>
              <a:gd name="adj" fmla="val 7368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57300" y="4143375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我们练习得越多，我们学得就越好，这是学习中永恒的真理。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257300" y="5248275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4886325"/>
            <a:ext cx="9677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1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more we practise, the better we learn, which is an eternal truth in learning.</a:t>
            </a:r>
            <a:endParaRPr sz="217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中间段（方法+经历，核心语法落地）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038350"/>
            <a:ext cx="10439400" cy="2857500"/>
          </a:xfrm>
          <a:prstGeom prst="roundRect">
            <a:avLst>
              <a:gd name="adj" fmla="val 4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286000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拥有成长型思维意味着，我们应该把错误看作学习和进步的机会，而不是害怕犯错。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3865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3674745"/>
            <a:ext cx="9677400" cy="812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Having a growth mindset means that we should see mistakes as chances to learn and improve, instead of being afraid of making mistakes.</a:t>
            </a:r>
            <a:endParaRPr sz="187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中间段（方法+经历，核心语法落地）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038350"/>
            <a:ext cx="10439400" cy="2857500"/>
          </a:xfrm>
          <a:prstGeom prst="roundRect">
            <a:avLst>
              <a:gd name="adj" fmla="val 4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286000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我发现，和同学一起学习不仅能帮助我们解决学习中的问题，还能让我们从彼此身上学到东西。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3865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3674745"/>
            <a:ext cx="9677400" cy="7219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find that studying with classmates can not only help us solve problems in study, but also make us learn from each other.</a:t>
            </a:r>
            <a:endParaRPr sz="187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87630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中间段（方法+经历，核心语法落地）</a:t>
            </a:r>
            <a:endParaRPr sz="2400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038350"/>
            <a:ext cx="10439400" cy="2857500"/>
          </a:xfrm>
          <a:prstGeom prst="roundRect">
            <a:avLst>
              <a:gd name="adj" fmla="val 4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286000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老师建议我们，应该认真做笔记，并且课后总结核心知识点。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3865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3674745"/>
            <a:ext cx="9677400" cy="749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teacher suggests that we should take notes carefully and summarize the key points after class.</a:t>
            </a:r>
            <a:endParaRPr sz="202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结尾段（升华主题，加分收尾）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038350"/>
            <a:ext cx="10439400" cy="2857500"/>
          </a:xfrm>
          <a:prstGeom prst="roundRect">
            <a:avLst>
              <a:gd name="adj" fmla="val 4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429510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学习之路或许漫长，但好的学习方法能让我们走得更稳、更远。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3865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3531235"/>
            <a:ext cx="9677400" cy="8121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road of learning may be long, but good learning methods can make us walk more steadily and further.</a:t>
            </a:r>
            <a:endParaRPr sz="202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结尾段（升华主题，加分收尾）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038350"/>
            <a:ext cx="10439400" cy="2857500"/>
          </a:xfrm>
          <a:prstGeom prst="roundRect">
            <a:avLst>
              <a:gd name="adj" fmla="val 4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286000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17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重要的从来不是我们学了多少，而是我们如何学习。我会继续探索适合自己的学习方法，在学习之路上不断前行。</a:t>
            </a:r>
            <a:endParaRPr sz="217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3865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3387725"/>
            <a:ext cx="9677400" cy="10464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 is not just about what we need to learn, but how we learn. I will keep on exploring learning methods that suit me, and keep moving forward on the road of learning.</a:t>
            </a:r>
            <a:endParaRPr sz="187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结尾段（升华主题，加分收尾）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2038350"/>
            <a:ext cx="10439400" cy="2857500"/>
          </a:xfrm>
          <a:prstGeom prst="roundRect">
            <a:avLst>
              <a:gd name="adj" fmla="val 4667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2501265"/>
            <a:ext cx="967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12000"/>
              </a:lnSpc>
              <a:buNone/>
              <a:def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这些学习方法不仅帮助我取得了进步，也让我明白了学习的真正意义。</a:t>
            </a:r>
            <a:endParaRPr sz="2400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57300" y="4438650"/>
            <a:ext cx="9677400" cy="19050"/>
          </a:xfrm>
          <a:prstGeom prst="rect">
            <a:avLst/>
          </a:prstGeom>
          <a:solidFill>
            <a:srgbClr val="F2C08E"/>
          </a:solidFill>
          <a:ln w="0">
            <a:solidFill>
              <a:srgbClr val="F2C08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257300" y="3459480"/>
            <a:ext cx="9677400" cy="7766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C82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These learning methods have not only helped me make progress, but also let me understand the true meaning of learning.</a:t>
            </a:r>
            <a:endParaRPr sz="1875" b="1">
              <a:solidFill>
                <a:srgbClr val="C82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五、主题名言警句（作文加分素材）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65735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9240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82880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Learning is a lifelong journey.</a:t>
            </a:r>
            <a:endParaRPr sz="2025" b="1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82880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学习是一场终身的旅程。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89560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316230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306705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It's never too old to learn.</a:t>
            </a:r>
            <a:endParaRPr sz="2025" b="1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30670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活到老，学到老。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876300" y="413385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13" name="椭圆 12"/>
          <p:cNvSpPr>
            <a:spLocks noGrp="1"/>
          </p:cNvSpPr>
          <p:nvPr/>
        </p:nvSpPr>
        <p:spPr>
          <a:xfrm>
            <a:off x="1181100" y="44005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428750" y="430530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good beginning is half done.</a:t>
            </a:r>
            <a:endParaRPr sz="2025" b="1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96100" y="430530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良好的开端是成功的一半。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五、主题名言警句（作文加分素材）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65735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8EF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1181100" y="192405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428750" y="182880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There is no royal road to learning.</a:t>
            </a:r>
            <a:endParaRPr sz="2025" b="1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896100" y="182880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书山有路勤为径，学海无涯苦作舟。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895600"/>
            <a:ext cx="10439400" cy="1066800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9" name="椭圆 8"/>
          <p:cNvSpPr>
            <a:spLocks noGrp="1"/>
          </p:cNvSpPr>
          <p:nvPr/>
        </p:nvSpPr>
        <p:spPr>
          <a:xfrm>
            <a:off x="1181100" y="3162300"/>
            <a:ext cx="76200" cy="76200"/>
          </a:xfrm>
          <a:prstGeom prst="ellipse">
            <a:avLst/>
          </a:prstGeom>
          <a:solidFill>
            <a:srgbClr val="FF7A12"/>
          </a:solidFill>
          <a:ln w="0">
            <a:solidFill>
              <a:srgbClr val="FF7A12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428750" y="306705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You can never learn too much.</a:t>
            </a:r>
            <a:endParaRPr sz="2025" b="1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96100" y="3067050"/>
            <a:ext cx="371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7B4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学无止境。</a:t>
            </a:r>
            <a:endParaRPr sz="2025" b="0">
              <a:solidFill>
                <a:srgbClr val="7B4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六、中考对标范文（贴合单元内容）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38200" y="1466850"/>
            <a:ext cx="10477500" cy="4808855"/>
          </a:xfrm>
          <a:prstGeom prst="roundRect">
            <a:avLst>
              <a:gd name="adj" fmla="val 2991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352550" y="17907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My Good Learning Method</a:t>
            </a:r>
            <a:endParaRPr sz="2325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2286000"/>
            <a:ext cx="9391650" cy="327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Everyone has their own way of learning, and the most useful method for me is taking notes carefully in class.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used to be afraid of English, because I couldn't remember new words and understand grammar. Then my English teacher told me that taking notes could help a lot. I started to write down key words and grammar rules in my notebook, and review them after class. Now my English has improved a lot.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 believe that good learning methods are very important. I will keep this good habit and make more progress in the future.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六、中考对标范文（贴合单元内容）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38200" y="1466850"/>
            <a:ext cx="10477500" cy="4457700"/>
          </a:xfrm>
          <a:prstGeom prst="roundRect">
            <a:avLst>
              <a:gd name="adj" fmla="val 2991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352550" y="17907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 to Be a Smart Learner</a:t>
            </a:r>
            <a:endParaRPr sz="2325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2286000"/>
            <a:ext cx="9391650" cy="327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middle school students, we all want to learn well and make progress. But how can we become a smart learner? I have some ideas from my own experience.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>
                <a:sym typeface="+mn-ea"/>
              </a:rPr>
              <a:t>      </a:t>
            </a:r>
            <a:r>
              <a:rPr>
                <a:sym typeface="+mn-ea"/>
              </a:rPr>
              <a:t>I used to have a lot of trouble with my study.  I spent a lot of time on books, but I still couldn't get good grades, and I was even afraid of making mistakes.  Later, I realized that I didn't have the right learning methods.  First, I started to have a growth mindset.</a:t>
            </a:r>
            <a:endParaRPr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7810500" cy="704850"/>
          </a:xfrm>
          <a:prstGeom prst="rect">
            <a:avLst/>
          </a:prstGeom>
          <a:solidFill>
            <a:srgbClr val="F4F2E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19150" y="628650"/>
            <a:ext cx="7486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0000"/>
              </a:lnSpc>
              <a:buNone/>
              <a:def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0F0A0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六、中考对标范文（贴合单元内容）</a:t>
            </a:r>
            <a:endParaRPr sz="2775" b="1">
              <a:solidFill>
                <a:srgbClr val="0F0A0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838200" y="1466850"/>
            <a:ext cx="10477500" cy="4791075"/>
          </a:xfrm>
          <a:prstGeom prst="roundRect">
            <a:avLst>
              <a:gd name="adj" fmla="val 2991"/>
            </a:avLst>
          </a:prstGeom>
          <a:solidFill>
            <a:srgbClr val="FFFDF8"/>
          </a:solidFill>
          <a:ln w="13335">
            <a:solidFill>
              <a:srgbClr val="FFB46C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352550" y="17907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8000"/>
              </a:lnSpc>
              <a:buNone/>
              <a:defRPr sz="232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C84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How to Be a Smart Learner</a:t>
            </a:r>
            <a:endParaRPr sz="2325" b="1">
              <a:solidFill>
                <a:srgbClr val="C84F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52550" y="2286000"/>
            <a:ext cx="9391650" cy="3276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no longer feared mistakes, but regarded them as chances to learn and improve.  Second, I began to make mind maps to review key ideas, which helped me remember knowledge better.  What's more, I often take part in group discussions with my classmates, and we can learn from each other.  I also ask my teachers for guidance when I have problems.  With these methods, my grades have improved greatly, and I become more confident in study.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2025"/>
          </a:p>
          <a:p>
            <a:pPr algn="l">
              <a:lnSpc>
                <a:spcPct val="106000"/>
              </a:lnSpc>
              <a:buNone/>
              <a:def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sz="2025" b="0">
                <a:solidFill>
                  <a:srgbClr val="2216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Learning is not only about what we learn, but also about how we learn. I believe that as long as we find the right methods and keep trying, we can all become smart learners and achieve our goals.</a:t>
            </a:r>
            <a:endParaRPr sz="2025" b="0">
              <a:solidFill>
                <a:srgbClr val="22160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6281</Words>
  <Application>WPS 演示</Application>
  <PresentationFormat>Converted Presentation</PresentationFormat>
  <Paragraphs>332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English Courseware PPT</dc:creator>
  <cp:lastModifiedBy>English Courseware PPT</cp:lastModifiedBy>
  <cp:revision>2</cp:revision>
  <dcterms:created xsi:type="dcterms:W3CDTF">2026-06-22T13:06:34Z</dcterms:created>
  <dcterms:modified xsi:type="dcterms:W3CDTF">2026-06-22T13:06:59Z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767A32CC96534FE0A564C45062C7FB88_12</vt:lpwstr>
  </property>
  <property fmtid="{D5CDD505-2E9C-101B-9397-08002B2CF9AE}" pid="3" name="KSOProductBuildVer">
    <vt:lpwstr>2052-12.8.2.18913</vt:lpwstr>
  </property>
</Properties>
</file>