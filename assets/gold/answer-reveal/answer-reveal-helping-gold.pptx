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590550" y="552450"/>
            <a:ext cx="7239000" cy="914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952500" y="68580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225" b="1">
                <a:solidFill>
                  <a:srgbClr val="000000"/>
                </a:solidFill>
              </a:defRPr>
            </a:pPr>
            <a:r>
              <a:rPr sz="3225" b="1">
                <a:solidFill>
                  <a:srgbClr val="000000"/>
                </a:solidFill>
              </a:rPr>
              <a:t>表达提供帮助 (Offering Help)</a:t>
            </a:r>
            <a:endParaRPr sz="3225" b="1">
              <a:solidFill>
                <a:srgbClr val="000000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914400" y="144780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62050" y="17145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62050" y="19145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01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152650" y="1499235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00">
                <a:solidFill>
                  <a:srgbClr val="111111"/>
                </a:solidFill>
              </a:defRPr>
            </a:pPr>
            <a:r>
              <a:rPr sz="2600">
                <a:solidFill>
                  <a:srgbClr val="111111"/>
                </a:solidFill>
              </a:rPr>
              <a:t>1. 毫不犹豫地，他/她上前帮忙。</a:t>
            </a:r>
            <a:endParaRPr sz="2600">
              <a:solidFill>
                <a:srgbClr val="111111"/>
              </a:solidFill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2152650" y="256222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9" name="ans_01"/>
          <p:cNvSpPr>
            <a:spLocks noGrp="1"/>
          </p:cNvSpPr>
          <p:nvPr/>
        </p:nvSpPr>
        <p:spPr>
          <a:xfrm>
            <a:off x="2171700" y="214312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300" b="1">
                <a:solidFill>
                  <a:srgbClr val="C7371F"/>
                </a:solidFill>
              </a:defRPr>
            </a:pPr>
            <a:r>
              <a:rPr sz="2300" b="1">
                <a:solidFill>
                  <a:srgbClr val="C7371F"/>
                </a:solidFill>
              </a:rPr>
              <a:t>Without hesitation, he/she stepped forward to help.</a:t>
            </a:r>
            <a:endParaRPr sz="2300" b="1">
              <a:solidFill>
                <a:srgbClr val="C7371F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914400" y="291465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1162050" y="318135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162050" y="338137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02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152650" y="303784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00">
                <a:solidFill>
                  <a:srgbClr val="111111"/>
                </a:solidFill>
              </a:defRPr>
            </a:pPr>
            <a:r>
              <a:rPr sz="2600">
                <a:solidFill>
                  <a:srgbClr val="111111"/>
                </a:solidFill>
              </a:rPr>
              <a:t>2. 看到困难，我主动提供帮助。</a:t>
            </a:r>
            <a:endParaRPr sz="2600">
              <a:solidFill>
                <a:srgbClr val="111111"/>
              </a:solidFill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2152650" y="402907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15" name="ans_02"/>
          <p:cNvSpPr>
            <a:spLocks noGrp="1"/>
          </p:cNvSpPr>
          <p:nvPr/>
        </p:nvSpPr>
        <p:spPr>
          <a:xfrm>
            <a:off x="2171700" y="360997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300" b="1">
                <a:solidFill>
                  <a:srgbClr val="C7371F"/>
                </a:solidFill>
              </a:defRPr>
            </a:pPr>
            <a:r>
              <a:rPr sz="2300" b="1">
                <a:solidFill>
                  <a:srgbClr val="C7371F"/>
                </a:solidFill>
              </a:rPr>
              <a:t>Seeing the difficulty, I offered my assistance.</a:t>
            </a:r>
            <a:endParaRPr sz="2300" b="1">
              <a:solidFill>
                <a:srgbClr val="C7371F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914400" y="438150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7" name="圆角矩形 16"/>
          <p:cNvSpPr>
            <a:spLocks noGrp="1"/>
          </p:cNvSpPr>
          <p:nvPr/>
        </p:nvSpPr>
        <p:spPr>
          <a:xfrm>
            <a:off x="1162050" y="46482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162050" y="48482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03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152650" y="450469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00">
                <a:solidFill>
                  <a:srgbClr val="111111"/>
                </a:solidFill>
              </a:defRPr>
            </a:pPr>
            <a:r>
              <a:rPr sz="2600">
                <a:solidFill>
                  <a:srgbClr val="111111"/>
                </a:solidFill>
              </a:rPr>
              <a:t>3. “我能帮你拿那个吗？”她亲切地问道。</a:t>
            </a:r>
            <a:endParaRPr sz="2600">
              <a:solidFill>
                <a:srgbClr val="111111"/>
              </a:solidFill>
            </a:endParaRPr>
          </a:p>
        </p:txBody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2152650" y="549592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21" name="ans_03"/>
          <p:cNvSpPr>
            <a:spLocks noGrp="1"/>
          </p:cNvSpPr>
          <p:nvPr/>
        </p:nvSpPr>
        <p:spPr>
          <a:xfrm>
            <a:off x="2171700" y="507682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300" b="1">
                <a:solidFill>
                  <a:srgbClr val="C7371F"/>
                </a:solidFill>
              </a:defRPr>
            </a:pPr>
            <a:r>
              <a:rPr sz="2300" b="1">
                <a:solidFill>
                  <a:srgbClr val="C7371F"/>
                </a:solidFill>
              </a:rPr>
              <a:t>"Can I help you with that?" she asked kindly.</a:t>
            </a:r>
            <a:endParaRPr sz="2300" b="1">
              <a:solidFill>
                <a:srgbClr val="C7371F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0725150" y="5962650"/>
            <a:ext cx="74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>
                <a:solidFill>
                  <a:srgbClr val="9A7B67"/>
                </a:solidFill>
              </a:defRPr>
            </a:pPr>
            <a:r>
              <a:rPr sz="1350">
                <a:solidFill>
                  <a:srgbClr val="9A7B67"/>
                </a:solidFill>
              </a:rPr>
              <a:t>1/20</a:t>
            </a:r>
            <a:endParaRPr sz="1350">
              <a:solidFill>
                <a:srgbClr val="9A7B67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  <p:bldP spid="2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590550" y="552450"/>
            <a:ext cx="7239000" cy="914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952500" y="68580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225" b="1">
                <a:solidFill>
                  <a:srgbClr val="000000"/>
                </a:solidFill>
              </a:defRPr>
            </a:pPr>
            <a:r>
              <a:rPr sz="3225" b="1">
                <a:solidFill>
                  <a:srgbClr val="000000"/>
                </a:solidFill>
              </a:rPr>
              <a:t>表达提供帮助 (Offering Help)</a:t>
            </a:r>
            <a:endParaRPr sz="3225" b="1">
              <a:solidFill>
                <a:srgbClr val="000000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914400" y="1657350"/>
            <a:ext cx="9772650" cy="1638300"/>
          </a:xfrm>
          <a:prstGeom prst="roundRect">
            <a:avLst>
              <a:gd name="adj" fmla="val 4651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62050" y="192405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62050" y="212407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04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152650" y="178054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00">
                <a:solidFill>
                  <a:srgbClr val="111111"/>
                </a:solidFill>
              </a:defRPr>
            </a:pPr>
            <a:r>
              <a:rPr sz="2600">
                <a:solidFill>
                  <a:srgbClr val="111111"/>
                </a:solidFill>
              </a:rPr>
              <a:t>4. 他注意到她很吃力，立刻伸出了援手。</a:t>
            </a:r>
            <a:endParaRPr sz="2600">
              <a:solidFill>
                <a:srgbClr val="111111"/>
              </a:solidFill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2152650" y="277177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9" name="ans_04"/>
          <p:cNvSpPr>
            <a:spLocks noGrp="1"/>
          </p:cNvSpPr>
          <p:nvPr/>
        </p:nvSpPr>
        <p:spPr>
          <a:xfrm>
            <a:off x="2171700" y="235267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00" b="1">
                <a:solidFill>
                  <a:srgbClr val="C7371F"/>
                </a:solidFill>
              </a:defRPr>
            </a:pPr>
            <a:r>
              <a:rPr sz="2200" b="1">
                <a:solidFill>
                  <a:srgbClr val="C7371F"/>
                </a:solidFill>
              </a:rPr>
              <a:t>He noticed her struggling and immediately offered a hand.</a:t>
            </a:r>
            <a:endParaRPr sz="2200" b="1">
              <a:solidFill>
                <a:srgbClr val="C7371F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914400" y="3619500"/>
            <a:ext cx="9772650" cy="1638300"/>
          </a:xfrm>
          <a:prstGeom prst="roundRect">
            <a:avLst>
              <a:gd name="adj" fmla="val 4651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1162050" y="38862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162050" y="40862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05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152650" y="374269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00">
                <a:solidFill>
                  <a:srgbClr val="111111"/>
                </a:solidFill>
              </a:defRPr>
            </a:pPr>
            <a:r>
              <a:rPr sz="2600">
                <a:solidFill>
                  <a:srgbClr val="111111"/>
                </a:solidFill>
              </a:rPr>
              <a:t>5. “让我帮你提那些重袋子吧，”他建议道。</a:t>
            </a:r>
            <a:endParaRPr sz="2600">
              <a:solidFill>
                <a:srgbClr val="111111"/>
              </a:solidFill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2152650" y="473392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15" name="ans_05"/>
          <p:cNvSpPr>
            <a:spLocks noGrp="1"/>
          </p:cNvSpPr>
          <p:nvPr/>
        </p:nvSpPr>
        <p:spPr>
          <a:xfrm>
            <a:off x="2171700" y="431482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00" b="1">
                <a:solidFill>
                  <a:srgbClr val="C7371F"/>
                </a:solidFill>
              </a:defRPr>
            </a:pPr>
            <a:r>
              <a:rPr sz="2200" b="1">
                <a:solidFill>
                  <a:srgbClr val="C7371F"/>
                </a:solidFill>
              </a:rPr>
              <a:t>"Let me help you carry those heavy bags," he suggested.</a:t>
            </a:r>
            <a:endParaRPr sz="2200" b="1">
              <a:solidFill>
                <a:srgbClr val="C7371F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0725150" y="5962650"/>
            <a:ext cx="74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>
                <a:solidFill>
                  <a:srgbClr val="9A7B67"/>
                </a:solidFill>
              </a:defRPr>
            </a:pPr>
            <a:r>
              <a:rPr sz="1350">
                <a:solidFill>
                  <a:srgbClr val="9A7B67"/>
                </a:solidFill>
              </a:rPr>
              <a:t>2/20</a:t>
            </a:r>
            <a:endParaRPr sz="1350">
              <a:solidFill>
                <a:srgbClr val="9A7B67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590550" y="552450"/>
            <a:ext cx="7239000" cy="914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952500" y="68580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225" b="1">
                <a:solidFill>
                  <a:srgbClr val="000000"/>
                </a:solidFill>
              </a:defRPr>
            </a:pPr>
            <a:r>
              <a:rPr sz="3225" b="1">
                <a:solidFill>
                  <a:srgbClr val="000000"/>
                </a:solidFill>
              </a:rPr>
              <a:t>表达提供帮助 (Offering Help)</a:t>
            </a:r>
            <a:endParaRPr sz="3225" b="1">
              <a:solidFill>
                <a:srgbClr val="000000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914400" y="144780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62050" y="17145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62050" y="19145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06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152650" y="157099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00">
                <a:solidFill>
                  <a:srgbClr val="111111"/>
                </a:solidFill>
              </a:defRPr>
            </a:pPr>
            <a:r>
              <a:rPr sz="2600">
                <a:solidFill>
                  <a:srgbClr val="111111"/>
                </a:solidFill>
              </a:rPr>
              <a:t>6. 出于责任感，她决定帮忙。</a:t>
            </a:r>
            <a:endParaRPr sz="2600">
              <a:solidFill>
                <a:srgbClr val="111111"/>
              </a:solidFill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2152650" y="256222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9" name="ans_06"/>
          <p:cNvSpPr>
            <a:spLocks noGrp="1"/>
          </p:cNvSpPr>
          <p:nvPr/>
        </p:nvSpPr>
        <p:spPr>
          <a:xfrm>
            <a:off x="2171700" y="214312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00" b="1">
                <a:solidFill>
                  <a:srgbClr val="C7371F"/>
                </a:solidFill>
              </a:defRPr>
            </a:pPr>
            <a:r>
              <a:rPr sz="2200" b="1">
                <a:solidFill>
                  <a:srgbClr val="C7371F"/>
                </a:solidFill>
              </a:rPr>
              <a:t>Feeling a sense of duty, she decided to help.</a:t>
            </a:r>
            <a:endParaRPr sz="2200" b="1">
              <a:solidFill>
                <a:srgbClr val="C7371F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914400" y="291465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1162050" y="318135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162050" y="338137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07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152650" y="303784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00">
                <a:solidFill>
                  <a:srgbClr val="111111"/>
                </a:solidFill>
              </a:defRPr>
            </a:pPr>
            <a:r>
              <a:rPr sz="2600">
                <a:solidFill>
                  <a:srgbClr val="111111"/>
                </a:solidFill>
              </a:rPr>
              <a:t>7. 他看到了需求，主动提出帮忙。</a:t>
            </a:r>
            <a:endParaRPr sz="2600">
              <a:solidFill>
                <a:srgbClr val="111111"/>
              </a:solidFill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2152650" y="402907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15" name="ans_07"/>
          <p:cNvSpPr>
            <a:spLocks noGrp="1"/>
          </p:cNvSpPr>
          <p:nvPr/>
        </p:nvSpPr>
        <p:spPr>
          <a:xfrm>
            <a:off x="2171700" y="360997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00" b="1">
                <a:solidFill>
                  <a:srgbClr val="C7371F"/>
                </a:solidFill>
              </a:defRPr>
            </a:pPr>
            <a:r>
              <a:rPr sz="2200" b="1">
                <a:solidFill>
                  <a:srgbClr val="C7371F"/>
                </a:solidFill>
              </a:rPr>
              <a:t>He saw the need and volunteered to help.</a:t>
            </a:r>
            <a:endParaRPr sz="2200" b="1">
              <a:solidFill>
                <a:srgbClr val="C7371F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914400" y="438150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7" name="圆角矩形 16"/>
          <p:cNvSpPr>
            <a:spLocks noGrp="1"/>
          </p:cNvSpPr>
          <p:nvPr/>
        </p:nvSpPr>
        <p:spPr>
          <a:xfrm>
            <a:off x="1162050" y="46482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162050" y="48482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08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152650" y="450469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00">
                <a:solidFill>
                  <a:srgbClr val="111111"/>
                </a:solidFill>
              </a:defRPr>
            </a:pPr>
            <a:r>
              <a:rPr sz="2600">
                <a:solidFill>
                  <a:srgbClr val="111111"/>
                </a:solidFill>
              </a:rPr>
              <a:t>8. “有什么我能为你做的吗？”他轻声询问。</a:t>
            </a:r>
            <a:endParaRPr sz="2600">
              <a:solidFill>
                <a:srgbClr val="111111"/>
              </a:solidFill>
            </a:endParaRPr>
          </a:p>
        </p:txBody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2152650" y="549592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21" name="ans_08"/>
          <p:cNvSpPr>
            <a:spLocks noGrp="1"/>
          </p:cNvSpPr>
          <p:nvPr/>
        </p:nvSpPr>
        <p:spPr>
          <a:xfrm>
            <a:off x="2171700" y="507682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00" b="1">
                <a:solidFill>
                  <a:srgbClr val="C7371F"/>
                </a:solidFill>
              </a:defRPr>
            </a:pPr>
            <a:r>
              <a:rPr sz="2200" b="1">
                <a:solidFill>
                  <a:srgbClr val="C7371F"/>
                </a:solidFill>
              </a:rPr>
              <a:t>"Is there anything I can do for you?" he inquired gently.</a:t>
            </a:r>
            <a:endParaRPr sz="2200" b="1">
              <a:solidFill>
                <a:srgbClr val="C7371F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0725150" y="5962650"/>
            <a:ext cx="74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>
                <a:solidFill>
                  <a:srgbClr val="9A7B67"/>
                </a:solidFill>
              </a:defRPr>
            </a:pPr>
            <a:r>
              <a:rPr sz="1350">
                <a:solidFill>
                  <a:srgbClr val="9A7B67"/>
                </a:solidFill>
              </a:rPr>
              <a:t>3/20</a:t>
            </a:r>
            <a:endParaRPr sz="1350">
              <a:solidFill>
                <a:srgbClr val="9A7B67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590550" y="552450"/>
            <a:ext cx="7239000" cy="914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952500" y="68580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225" b="1">
                <a:solidFill>
                  <a:srgbClr val="000000"/>
                </a:solidFill>
              </a:defRPr>
            </a:pPr>
            <a:r>
              <a:rPr sz="3225" b="1">
                <a:solidFill>
                  <a:srgbClr val="000000"/>
                </a:solidFill>
              </a:rPr>
              <a:t>表达提供帮助 (Offering Help)</a:t>
            </a:r>
            <a:endParaRPr sz="3225" b="1">
              <a:solidFill>
                <a:srgbClr val="000000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914400" y="1657350"/>
            <a:ext cx="9772650" cy="1638300"/>
          </a:xfrm>
          <a:prstGeom prst="roundRect">
            <a:avLst>
              <a:gd name="adj" fmla="val 4651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62050" y="192405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62050" y="212407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09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152650" y="178054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00">
                <a:solidFill>
                  <a:srgbClr val="111111"/>
                </a:solidFill>
              </a:defRPr>
            </a:pPr>
            <a:r>
              <a:rPr sz="2200">
                <a:solidFill>
                  <a:srgbClr val="111111"/>
                </a:solidFill>
              </a:rPr>
              <a:t>9. 注意到他们脸上的困惑，她走近去帮忙。</a:t>
            </a:r>
            <a:endParaRPr sz="2200">
              <a:solidFill>
                <a:srgbClr val="111111"/>
              </a:solidFill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2152650" y="277177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9" name="ans_09"/>
          <p:cNvSpPr>
            <a:spLocks noGrp="1"/>
          </p:cNvSpPr>
          <p:nvPr/>
        </p:nvSpPr>
        <p:spPr>
          <a:xfrm>
            <a:off x="2171700" y="235267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00" b="1">
                <a:solidFill>
                  <a:srgbClr val="C7371F"/>
                </a:solidFill>
              </a:defRPr>
            </a:pPr>
            <a:r>
              <a:rPr sz="2200" b="1">
                <a:solidFill>
                  <a:srgbClr val="C7371F"/>
                </a:solidFill>
              </a:rPr>
              <a:t>Recognizing the confusion on their faces, she approached to help.</a:t>
            </a:r>
            <a:endParaRPr sz="2200" b="1">
              <a:solidFill>
                <a:srgbClr val="C7371F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914400" y="3619500"/>
            <a:ext cx="9772650" cy="1638300"/>
          </a:xfrm>
          <a:prstGeom prst="roundRect">
            <a:avLst>
              <a:gd name="adj" fmla="val 4651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1162050" y="38862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162050" y="40862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10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152650" y="374269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00">
                <a:solidFill>
                  <a:srgbClr val="111111"/>
                </a:solidFill>
              </a:defRPr>
            </a:pPr>
            <a:r>
              <a:rPr sz="2200">
                <a:solidFill>
                  <a:srgbClr val="111111"/>
                </a:solidFill>
              </a:rPr>
              <a:t>10. “你看起来迷路了。我能帮你找到路吗？”她主动提出。</a:t>
            </a:r>
            <a:endParaRPr sz="2200">
              <a:solidFill>
                <a:srgbClr val="111111"/>
              </a:solidFill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2152650" y="473392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15" name="ans_10"/>
          <p:cNvSpPr>
            <a:spLocks noGrp="1"/>
          </p:cNvSpPr>
          <p:nvPr/>
        </p:nvSpPr>
        <p:spPr>
          <a:xfrm>
            <a:off x="2171700" y="431482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00" b="1">
                <a:solidFill>
                  <a:srgbClr val="C7371F"/>
                </a:solidFill>
              </a:defRPr>
            </a:pPr>
            <a:r>
              <a:rPr sz="2200" b="1">
                <a:solidFill>
                  <a:srgbClr val="C7371F"/>
                </a:solidFill>
              </a:rPr>
              <a:t>"You look lost. Can I help you find your way?" she offered.</a:t>
            </a:r>
            <a:endParaRPr sz="2200" b="1">
              <a:solidFill>
                <a:srgbClr val="C7371F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0725150" y="5962650"/>
            <a:ext cx="74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>
                <a:solidFill>
                  <a:srgbClr val="9A7B67"/>
                </a:solidFill>
              </a:defRPr>
            </a:pPr>
            <a:r>
              <a:rPr sz="1350">
                <a:solidFill>
                  <a:srgbClr val="9A7B67"/>
                </a:solidFill>
              </a:rPr>
              <a:t>4/20</a:t>
            </a:r>
            <a:endParaRPr sz="1350">
              <a:solidFill>
                <a:srgbClr val="9A7B67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590550" y="552450"/>
            <a:ext cx="7239000" cy="914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952500" y="685800"/>
            <a:ext cx="8858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rPr sz="2800" b="1">
                <a:solidFill>
                  <a:srgbClr val="000000"/>
                </a:solidFill>
              </a:rPr>
              <a:t>描述帮助行动 (Describing the Act of Helping)</a:t>
            </a:r>
            <a:endParaRPr sz="2800" b="1">
              <a:solidFill>
                <a:srgbClr val="000000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914400" y="144780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62050" y="17145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62050" y="19145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11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152650" y="171450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00">
                <a:solidFill>
                  <a:srgbClr val="111111"/>
                </a:solidFill>
              </a:defRPr>
            </a:pPr>
            <a:r>
              <a:rPr sz="2600">
                <a:solidFill>
                  <a:srgbClr val="111111"/>
                </a:solidFill>
              </a:rPr>
              <a:t>11. 她耐心地向他解释说明。</a:t>
            </a:r>
            <a:endParaRPr sz="2600">
              <a:solidFill>
                <a:srgbClr val="111111"/>
              </a:solidFill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2152650" y="256222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9" name="ans_11"/>
          <p:cNvSpPr>
            <a:spLocks noGrp="1"/>
          </p:cNvSpPr>
          <p:nvPr/>
        </p:nvSpPr>
        <p:spPr>
          <a:xfrm>
            <a:off x="2171700" y="214312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00" b="1">
                <a:solidFill>
                  <a:srgbClr val="C7371F"/>
                </a:solidFill>
              </a:defRPr>
            </a:pPr>
            <a:r>
              <a:rPr sz="2200" b="1">
                <a:solidFill>
                  <a:srgbClr val="C7371F"/>
                </a:solidFill>
              </a:rPr>
              <a:t>She patiently explained the instructions to him.</a:t>
            </a:r>
            <a:endParaRPr sz="2200" b="1">
              <a:solidFill>
                <a:srgbClr val="C7371F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914400" y="291465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1162050" y="318135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162050" y="338137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12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152650" y="318135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00">
                <a:solidFill>
                  <a:srgbClr val="111111"/>
                </a:solidFill>
              </a:defRPr>
            </a:pPr>
            <a:r>
              <a:rPr sz="2600">
                <a:solidFill>
                  <a:srgbClr val="111111"/>
                </a:solidFill>
              </a:rPr>
              <a:t>12. 他小心地搀扶着老人穿过繁忙的街道。</a:t>
            </a:r>
            <a:endParaRPr sz="2600">
              <a:solidFill>
                <a:srgbClr val="111111"/>
              </a:solidFill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2152650" y="402907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15" name="ans_12"/>
          <p:cNvSpPr>
            <a:spLocks noGrp="1"/>
          </p:cNvSpPr>
          <p:nvPr/>
        </p:nvSpPr>
        <p:spPr>
          <a:xfrm>
            <a:off x="2171700" y="360997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00" b="1">
                <a:solidFill>
                  <a:srgbClr val="C7371F"/>
                </a:solidFill>
              </a:defRPr>
            </a:pPr>
            <a:r>
              <a:rPr sz="2200" b="1">
                <a:solidFill>
                  <a:srgbClr val="C7371F"/>
                </a:solidFill>
              </a:rPr>
              <a:t>He carefully guided the elderly man across the busy street.</a:t>
            </a:r>
            <a:endParaRPr sz="2200" b="1">
              <a:solidFill>
                <a:srgbClr val="C7371F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914400" y="438150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7" name="圆角矩形 16"/>
          <p:cNvSpPr>
            <a:spLocks noGrp="1"/>
          </p:cNvSpPr>
          <p:nvPr/>
        </p:nvSpPr>
        <p:spPr>
          <a:xfrm>
            <a:off x="1162050" y="46482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162050" y="48482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13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152650" y="464820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00">
                <a:solidFill>
                  <a:srgbClr val="111111"/>
                </a:solidFill>
              </a:defRPr>
            </a:pPr>
            <a:r>
              <a:rPr sz="2600">
                <a:solidFill>
                  <a:srgbClr val="111111"/>
                </a:solidFill>
              </a:rPr>
              <a:t>13. 他们一起把沉重的箱子抬到了架子上。</a:t>
            </a:r>
            <a:endParaRPr sz="2600">
              <a:solidFill>
                <a:srgbClr val="111111"/>
              </a:solidFill>
            </a:endParaRPr>
          </a:p>
        </p:txBody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2152650" y="549592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21" name="ans_13"/>
          <p:cNvSpPr>
            <a:spLocks noGrp="1"/>
          </p:cNvSpPr>
          <p:nvPr/>
        </p:nvSpPr>
        <p:spPr>
          <a:xfrm>
            <a:off x="2171700" y="507682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00" b="1">
                <a:solidFill>
                  <a:srgbClr val="C7371F"/>
                </a:solidFill>
              </a:defRPr>
            </a:pPr>
            <a:r>
              <a:rPr sz="2200" b="1">
                <a:solidFill>
                  <a:srgbClr val="C7371F"/>
                </a:solidFill>
              </a:rPr>
              <a:t>Together, they lifted the heavy box onto the shelf.</a:t>
            </a:r>
            <a:endParaRPr sz="2200" b="1">
              <a:solidFill>
                <a:srgbClr val="C7371F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0725150" y="5962650"/>
            <a:ext cx="74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>
                <a:solidFill>
                  <a:srgbClr val="9A7B67"/>
                </a:solidFill>
              </a:defRPr>
            </a:pPr>
            <a:r>
              <a:rPr sz="1350">
                <a:solidFill>
                  <a:srgbClr val="9A7B67"/>
                </a:solidFill>
              </a:rPr>
              <a:t>5/20</a:t>
            </a:r>
            <a:endParaRPr sz="1350">
              <a:solidFill>
                <a:srgbClr val="9A7B67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590550" y="552450"/>
            <a:ext cx="7239000" cy="914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952500" y="685800"/>
            <a:ext cx="8858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rPr sz="2800" b="1">
                <a:solidFill>
                  <a:srgbClr val="000000"/>
                </a:solidFill>
              </a:rPr>
              <a:t>描述帮助行动 (Describing the Act of Helping)</a:t>
            </a:r>
            <a:endParaRPr sz="2800" b="1">
              <a:solidFill>
                <a:srgbClr val="000000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914400" y="1657350"/>
            <a:ext cx="9772650" cy="1638300"/>
          </a:xfrm>
          <a:prstGeom prst="roundRect">
            <a:avLst>
              <a:gd name="adj" fmla="val 4651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62050" y="192405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62050" y="212407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14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152650" y="178054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700">
                <a:solidFill>
                  <a:srgbClr val="111111"/>
                </a:solidFill>
              </a:defRPr>
            </a:pPr>
            <a:r>
              <a:rPr sz="3700">
                <a:solidFill>
                  <a:srgbClr val="111111"/>
                </a:solidFill>
              </a:rPr>
              <a:t>14. 她和被雨困住的陌生人共用她的伞。</a:t>
            </a:r>
            <a:endParaRPr sz="3700">
              <a:solidFill>
                <a:srgbClr val="111111"/>
              </a:solidFill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2152650" y="277177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9" name="ans_14"/>
          <p:cNvSpPr>
            <a:spLocks noGrp="1"/>
          </p:cNvSpPr>
          <p:nvPr/>
        </p:nvSpPr>
        <p:spPr>
          <a:xfrm>
            <a:off x="2171700" y="235267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00" b="1">
                <a:solidFill>
                  <a:srgbClr val="C7371F"/>
                </a:solidFill>
              </a:defRPr>
            </a:pPr>
            <a:r>
              <a:rPr sz="2200" b="1">
                <a:solidFill>
                  <a:srgbClr val="C7371F"/>
                </a:solidFill>
              </a:rPr>
              <a:t>She shared her umbrella with the stranger caught in the rain.</a:t>
            </a:r>
            <a:endParaRPr sz="2200" b="1">
              <a:solidFill>
                <a:srgbClr val="C7371F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914400" y="3619500"/>
            <a:ext cx="9772650" cy="1638300"/>
          </a:xfrm>
          <a:prstGeom prst="roundRect">
            <a:avLst>
              <a:gd name="adj" fmla="val 4651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1162050" y="38862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162050" y="40862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15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152650" y="374269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700">
                <a:solidFill>
                  <a:srgbClr val="111111"/>
                </a:solidFill>
              </a:defRPr>
            </a:pPr>
            <a:r>
              <a:rPr sz="3700">
                <a:solidFill>
                  <a:srgbClr val="111111"/>
                </a:solidFill>
              </a:rPr>
              <a:t>15. 他把旧衣服和书捐给了慈善机构。</a:t>
            </a:r>
            <a:endParaRPr sz="3700">
              <a:solidFill>
                <a:srgbClr val="111111"/>
              </a:solidFill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2152650" y="473392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15" name="ans_15"/>
          <p:cNvSpPr>
            <a:spLocks noGrp="1"/>
          </p:cNvSpPr>
          <p:nvPr/>
        </p:nvSpPr>
        <p:spPr>
          <a:xfrm>
            <a:off x="2171700" y="431482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00" b="1">
                <a:solidFill>
                  <a:srgbClr val="C7371F"/>
                </a:solidFill>
              </a:defRPr>
            </a:pPr>
            <a:r>
              <a:rPr sz="2200" b="1">
                <a:solidFill>
                  <a:srgbClr val="C7371F"/>
                </a:solidFill>
              </a:rPr>
              <a:t>He donated his old clothes and books to the charity.</a:t>
            </a:r>
            <a:endParaRPr sz="2200" b="1">
              <a:solidFill>
                <a:srgbClr val="C7371F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0725150" y="5962650"/>
            <a:ext cx="74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>
                <a:solidFill>
                  <a:srgbClr val="9A7B67"/>
                </a:solidFill>
              </a:defRPr>
            </a:pPr>
            <a:r>
              <a:rPr sz="1350">
                <a:solidFill>
                  <a:srgbClr val="9A7B67"/>
                </a:solidFill>
              </a:rPr>
              <a:t>6/20</a:t>
            </a:r>
            <a:endParaRPr sz="1350">
              <a:solidFill>
                <a:srgbClr val="9A7B67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590550" y="552450"/>
            <a:ext cx="7239000" cy="914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952500" y="685800"/>
            <a:ext cx="8858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rPr sz="2800" b="1">
                <a:solidFill>
                  <a:srgbClr val="000000"/>
                </a:solidFill>
              </a:rPr>
              <a:t>描述帮助行动 (Describing the Act of Helping)</a:t>
            </a:r>
            <a:endParaRPr sz="2800" b="1">
              <a:solidFill>
                <a:srgbClr val="000000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914400" y="144780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62050" y="17145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62050" y="19145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16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152650" y="157099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700">
                <a:solidFill>
                  <a:srgbClr val="111111"/>
                </a:solidFill>
              </a:defRPr>
            </a:pPr>
            <a:r>
              <a:rPr sz="3700">
                <a:solidFill>
                  <a:srgbClr val="111111"/>
                </a:solidFill>
              </a:rPr>
              <a:t>16. 她花了一下午时间帮邻居打扫花园。</a:t>
            </a:r>
            <a:endParaRPr sz="3700">
              <a:solidFill>
                <a:srgbClr val="111111"/>
              </a:solidFill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2152650" y="256222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9" name="ans_16"/>
          <p:cNvSpPr>
            <a:spLocks noGrp="1"/>
          </p:cNvSpPr>
          <p:nvPr/>
        </p:nvSpPr>
        <p:spPr>
          <a:xfrm>
            <a:off x="2171700" y="214312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00" b="1">
                <a:solidFill>
                  <a:srgbClr val="C7371F"/>
                </a:solidFill>
              </a:defRPr>
            </a:pPr>
            <a:r>
              <a:rPr sz="2200" b="1">
                <a:solidFill>
                  <a:srgbClr val="C7371F"/>
                </a:solidFill>
              </a:rPr>
              <a:t>She spent her afternoon helping the neighbor clean the garden.</a:t>
            </a:r>
            <a:endParaRPr sz="2200" b="1">
              <a:solidFill>
                <a:srgbClr val="C7371F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914400" y="291465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1162050" y="318135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162050" y="338137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17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152650" y="303784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700">
                <a:solidFill>
                  <a:srgbClr val="111111"/>
                </a:solidFill>
              </a:defRPr>
            </a:pPr>
            <a:r>
              <a:rPr sz="3700">
                <a:solidFill>
                  <a:srgbClr val="111111"/>
                </a:solidFill>
              </a:rPr>
              <a:t>17. 他认真倾听她的问题并给出建议。</a:t>
            </a:r>
            <a:endParaRPr sz="3700">
              <a:solidFill>
                <a:srgbClr val="111111"/>
              </a:solidFill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2152650" y="402907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15" name="ans_17"/>
          <p:cNvSpPr>
            <a:spLocks noGrp="1"/>
          </p:cNvSpPr>
          <p:nvPr/>
        </p:nvSpPr>
        <p:spPr>
          <a:xfrm>
            <a:off x="2171700" y="360997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00" b="1">
                <a:solidFill>
                  <a:srgbClr val="C7371F"/>
                </a:solidFill>
              </a:defRPr>
            </a:pPr>
            <a:r>
              <a:rPr sz="2200" b="1">
                <a:solidFill>
                  <a:srgbClr val="C7371F"/>
                </a:solidFill>
              </a:rPr>
              <a:t>He listened attentively to her problems and offered advice.</a:t>
            </a:r>
            <a:endParaRPr sz="2200" b="1">
              <a:solidFill>
                <a:srgbClr val="C7371F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914400" y="438150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7" name="圆角矩形 16"/>
          <p:cNvSpPr>
            <a:spLocks noGrp="1"/>
          </p:cNvSpPr>
          <p:nvPr/>
        </p:nvSpPr>
        <p:spPr>
          <a:xfrm>
            <a:off x="1162050" y="46482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162050" y="48482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18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152650" y="450469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700">
                <a:solidFill>
                  <a:srgbClr val="111111"/>
                </a:solidFill>
              </a:defRPr>
            </a:pPr>
            <a:r>
              <a:rPr sz="3700">
                <a:solidFill>
                  <a:srgbClr val="111111"/>
                </a:solidFill>
              </a:rPr>
              <a:t>18. 她在公交车上给一位孕妇让座。</a:t>
            </a:r>
            <a:endParaRPr sz="3700">
              <a:solidFill>
                <a:srgbClr val="111111"/>
              </a:solidFill>
            </a:endParaRPr>
          </a:p>
        </p:txBody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2152650" y="549592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21" name="ans_18"/>
          <p:cNvSpPr>
            <a:spLocks noGrp="1"/>
          </p:cNvSpPr>
          <p:nvPr/>
        </p:nvSpPr>
        <p:spPr>
          <a:xfrm>
            <a:off x="2171700" y="507682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00" b="1">
                <a:solidFill>
                  <a:srgbClr val="C7371F"/>
                </a:solidFill>
              </a:defRPr>
            </a:pPr>
            <a:r>
              <a:rPr sz="2200" b="1">
                <a:solidFill>
                  <a:srgbClr val="C7371F"/>
                </a:solidFill>
              </a:rPr>
              <a:t>She gave her seat to the pregnant woman on the bus.</a:t>
            </a:r>
            <a:endParaRPr sz="2200" b="1">
              <a:solidFill>
                <a:srgbClr val="C7371F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0725150" y="5962650"/>
            <a:ext cx="74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>
                <a:solidFill>
                  <a:srgbClr val="9A7B67"/>
                </a:solidFill>
              </a:defRPr>
            </a:pPr>
            <a:r>
              <a:rPr sz="1350">
                <a:solidFill>
                  <a:srgbClr val="9A7B67"/>
                </a:solidFill>
              </a:rPr>
              <a:t>7/20</a:t>
            </a:r>
            <a:endParaRPr sz="1350">
              <a:solidFill>
                <a:srgbClr val="9A7B67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590550" y="552450"/>
            <a:ext cx="7239000" cy="914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952500" y="685800"/>
            <a:ext cx="8858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rPr sz="2800" b="1">
                <a:solidFill>
                  <a:srgbClr val="000000"/>
                </a:solidFill>
              </a:rPr>
              <a:t>描述帮助行动 (Describing the Act of Helping)</a:t>
            </a:r>
            <a:endParaRPr sz="2800" b="1">
              <a:solidFill>
                <a:srgbClr val="000000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914400" y="1657350"/>
            <a:ext cx="9772650" cy="1638300"/>
          </a:xfrm>
          <a:prstGeom prst="roundRect">
            <a:avLst>
              <a:gd name="adj" fmla="val 4651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62050" y="192405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62050" y="212407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19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152650" y="178054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00">
                <a:solidFill>
                  <a:srgbClr val="111111"/>
                </a:solidFill>
              </a:defRPr>
            </a:pPr>
            <a:r>
              <a:rPr sz="2200">
                <a:solidFill>
                  <a:srgbClr val="111111"/>
                </a:solidFill>
              </a:rPr>
              <a:t>19. 他用他的急救知识为受伤孩子的膝盖包扎。</a:t>
            </a:r>
            <a:endParaRPr sz="2200">
              <a:solidFill>
                <a:srgbClr val="111111"/>
              </a:solidFill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2152650" y="277177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9" name="ans_19"/>
          <p:cNvSpPr>
            <a:spLocks noGrp="1"/>
          </p:cNvSpPr>
          <p:nvPr/>
        </p:nvSpPr>
        <p:spPr>
          <a:xfrm>
            <a:off x="2171700" y="235267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50" b="1">
                <a:solidFill>
                  <a:srgbClr val="C7371F"/>
                </a:solidFill>
              </a:defRPr>
            </a:pPr>
            <a:r>
              <a:rPr sz="2050" b="1">
                <a:solidFill>
                  <a:srgbClr val="C7371F"/>
                </a:solidFill>
              </a:rPr>
              <a:t>He used his first-aid knowledge to bandage the injured child's knee.</a:t>
            </a:r>
            <a:endParaRPr sz="2050" b="1">
              <a:solidFill>
                <a:srgbClr val="C7371F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914400" y="3619500"/>
            <a:ext cx="9772650" cy="1638300"/>
          </a:xfrm>
          <a:prstGeom prst="roundRect">
            <a:avLst>
              <a:gd name="adj" fmla="val 4651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1162050" y="38862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162050" y="40862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20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152650" y="374269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00">
                <a:solidFill>
                  <a:srgbClr val="111111"/>
                </a:solidFill>
              </a:defRPr>
            </a:pPr>
            <a:r>
              <a:rPr sz="2200">
                <a:solidFill>
                  <a:srgbClr val="111111"/>
                </a:solidFill>
              </a:rPr>
              <a:t>20. 他们组织了一场募捐活动来帮助那个有困难的家庭。</a:t>
            </a:r>
            <a:endParaRPr sz="2200">
              <a:solidFill>
                <a:srgbClr val="111111"/>
              </a:solidFill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2152650" y="473392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15" name="ans_20"/>
          <p:cNvSpPr>
            <a:spLocks noGrp="1"/>
          </p:cNvSpPr>
          <p:nvPr/>
        </p:nvSpPr>
        <p:spPr>
          <a:xfrm>
            <a:off x="2171700" y="431482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50" b="1">
                <a:solidFill>
                  <a:srgbClr val="C7371F"/>
                </a:solidFill>
              </a:defRPr>
            </a:pPr>
            <a:r>
              <a:rPr sz="2050" b="1">
                <a:solidFill>
                  <a:srgbClr val="C7371F"/>
                </a:solidFill>
              </a:rPr>
              <a:t>They organized a fundraiser to help the family in need.</a:t>
            </a:r>
            <a:endParaRPr sz="2050" b="1">
              <a:solidFill>
                <a:srgbClr val="C7371F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0725150" y="5962650"/>
            <a:ext cx="74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>
                <a:solidFill>
                  <a:srgbClr val="9A7B67"/>
                </a:solidFill>
              </a:defRPr>
            </a:pPr>
            <a:r>
              <a:rPr sz="1350">
                <a:solidFill>
                  <a:srgbClr val="9A7B67"/>
                </a:solidFill>
              </a:rPr>
              <a:t>8/20</a:t>
            </a:r>
            <a:endParaRPr sz="1350">
              <a:solidFill>
                <a:srgbClr val="9A7B67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590550" y="552450"/>
            <a:ext cx="7239000" cy="914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952500" y="685800"/>
            <a:ext cx="8858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rPr sz="2800" b="1">
                <a:solidFill>
                  <a:srgbClr val="000000"/>
                </a:solidFill>
              </a:rPr>
              <a:t>描述帮助行动 (Describing the Act of Helping)</a:t>
            </a:r>
            <a:endParaRPr sz="2800" b="1">
              <a:solidFill>
                <a:srgbClr val="000000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914400" y="144780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62050" y="17145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62050" y="19145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21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152650" y="157099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00">
                <a:solidFill>
                  <a:srgbClr val="111111"/>
                </a:solidFill>
              </a:defRPr>
            </a:pPr>
            <a:r>
              <a:rPr sz="2600">
                <a:solidFill>
                  <a:srgbClr val="111111"/>
                </a:solidFill>
              </a:rPr>
              <a:t>21. 在炎热的日子里，她给了他一瓶水。</a:t>
            </a:r>
            <a:endParaRPr sz="2600">
              <a:solidFill>
                <a:srgbClr val="111111"/>
              </a:solidFill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2152650" y="256222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9" name="ans_21"/>
          <p:cNvSpPr>
            <a:spLocks noGrp="1"/>
          </p:cNvSpPr>
          <p:nvPr/>
        </p:nvSpPr>
        <p:spPr>
          <a:xfrm>
            <a:off x="2171700" y="214312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00" b="1">
                <a:solidFill>
                  <a:srgbClr val="C7371F"/>
                </a:solidFill>
              </a:defRPr>
            </a:pPr>
            <a:r>
              <a:rPr sz="2200" b="1">
                <a:solidFill>
                  <a:srgbClr val="C7371F"/>
                </a:solidFill>
              </a:rPr>
              <a:t>She offered him a bottle of water on the hot day.</a:t>
            </a:r>
            <a:endParaRPr sz="2200" b="1">
              <a:solidFill>
                <a:srgbClr val="C7371F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914400" y="291465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1162050" y="318135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162050" y="338137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22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152650" y="303784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00">
                <a:solidFill>
                  <a:srgbClr val="111111"/>
                </a:solidFill>
              </a:defRPr>
            </a:pPr>
            <a:r>
              <a:rPr sz="2600">
                <a:solidFill>
                  <a:srgbClr val="111111"/>
                </a:solidFill>
              </a:rPr>
              <a:t>22. 他帮小女孩在公园里找到了丢失的玩具。</a:t>
            </a:r>
            <a:endParaRPr sz="2600">
              <a:solidFill>
                <a:srgbClr val="111111"/>
              </a:solidFill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2152650" y="402907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15" name="ans_22"/>
          <p:cNvSpPr>
            <a:spLocks noGrp="1"/>
          </p:cNvSpPr>
          <p:nvPr/>
        </p:nvSpPr>
        <p:spPr>
          <a:xfrm>
            <a:off x="2171700" y="360997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00" b="1">
                <a:solidFill>
                  <a:srgbClr val="C7371F"/>
                </a:solidFill>
              </a:defRPr>
            </a:pPr>
            <a:r>
              <a:rPr sz="2200" b="1">
                <a:solidFill>
                  <a:srgbClr val="C7371F"/>
                </a:solidFill>
              </a:rPr>
              <a:t>He helped the little girl find her lost toy in the park.</a:t>
            </a:r>
            <a:endParaRPr sz="2200" b="1">
              <a:solidFill>
                <a:srgbClr val="C7371F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914400" y="438150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7" name="圆角矩形 16"/>
          <p:cNvSpPr>
            <a:spLocks noGrp="1"/>
          </p:cNvSpPr>
          <p:nvPr/>
        </p:nvSpPr>
        <p:spPr>
          <a:xfrm>
            <a:off x="1162050" y="46482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162050" y="48482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23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152650" y="450469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00">
                <a:solidFill>
                  <a:srgbClr val="111111"/>
                </a:solidFill>
              </a:defRPr>
            </a:pPr>
            <a:r>
              <a:rPr sz="2600">
                <a:solidFill>
                  <a:srgbClr val="111111"/>
                </a:solidFill>
              </a:rPr>
              <a:t>23. 她用一个温柔的拥抱安慰了哭泣的男孩。</a:t>
            </a:r>
            <a:endParaRPr sz="2600">
              <a:solidFill>
                <a:srgbClr val="111111"/>
              </a:solidFill>
            </a:endParaRPr>
          </a:p>
        </p:txBody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2152650" y="549592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21" name="ans_23"/>
          <p:cNvSpPr>
            <a:spLocks noGrp="1"/>
          </p:cNvSpPr>
          <p:nvPr/>
        </p:nvSpPr>
        <p:spPr>
          <a:xfrm>
            <a:off x="2171700" y="507682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00" b="1">
                <a:solidFill>
                  <a:srgbClr val="C7371F"/>
                </a:solidFill>
              </a:defRPr>
            </a:pPr>
            <a:r>
              <a:rPr sz="2200" b="1">
                <a:solidFill>
                  <a:srgbClr val="C7371F"/>
                </a:solidFill>
              </a:rPr>
              <a:t>She comforted the crying boy with a gentle hug.</a:t>
            </a:r>
            <a:endParaRPr sz="2200" b="1">
              <a:solidFill>
                <a:srgbClr val="C7371F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0725150" y="5962650"/>
            <a:ext cx="74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>
                <a:solidFill>
                  <a:srgbClr val="9A7B67"/>
                </a:solidFill>
              </a:defRPr>
            </a:pPr>
            <a:r>
              <a:rPr sz="1350">
                <a:solidFill>
                  <a:srgbClr val="9A7B67"/>
                </a:solidFill>
              </a:rPr>
              <a:t>9/20</a:t>
            </a:r>
            <a:endParaRPr sz="1350">
              <a:solidFill>
                <a:srgbClr val="9A7B67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590550" y="552450"/>
            <a:ext cx="7239000" cy="914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952500" y="685800"/>
            <a:ext cx="8858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rPr sz="2800" b="1">
                <a:solidFill>
                  <a:srgbClr val="000000"/>
                </a:solidFill>
              </a:rPr>
              <a:t>描述帮助行动 (Describing the Act of Helping)</a:t>
            </a:r>
            <a:endParaRPr sz="2800" b="1">
              <a:solidFill>
                <a:srgbClr val="000000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914400" y="1657350"/>
            <a:ext cx="9772650" cy="1638300"/>
          </a:xfrm>
          <a:prstGeom prst="roundRect">
            <a:avLst>
              <a:gd name="adj" fmla="val 4651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62050" y="192405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62050" y="212407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24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152650" y="178054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700">
                <a:solidFill>
                  <a:srgbClr val="111111"/>
                </a:solidFill>
              </a:defRPr>
            </a:pPr>
            <a:r>
              <a:rPr sz="3700">
                <a:solidFill>
                  <a:srgbClr val="111111"/>
                </a:solidFill>
              </a:rPr>
              <a:t>24. 他留下来帮助同学理解困难的作业。</a:t>
            </a:r>
            <a:endParaRPr sz="3700">
              <a:solidFill>
                <a:srgbClr val="111111"/>
              </a:solidFill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2152650" y="277177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9" name="ans_24"/>
          <p:cNvSpPr>
            <a:spLocks noGrp="1"/>
          </p:cNvSpPr>
          <p:nvPr/>
        </p:nvSpPr>
        <p:spPr>
          <a:xfrm>
            <a:off x="2171700" y="235267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50" b="1">
                <a:solidFill>
                  <a:srgbClr val="C7371F"/>
                </a:solidFill>
              </a:defRPr>
            </a:pPr>
            <a:r>
              <a:rPr sz="2050" b="1">
                <a:solidFill>
                  <a:srgbClr val="C7371F"/>
                </a:solidFill>
              </a:rPr>
              <a:t>He stayed late to help his classmate understand the difficult homework.</a:t>
            </a:r>
            <a:endParaRPr sz="2050" b="1">
              <a:solidFill>
                <a:srgbClr val="C7371F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914400" y="3619500"/>
            <a:ext cx="9772650" cy="1638300"/>
          </a:xfrm>
          <a:prstGeom prst="roundRect">
            <a:avLst>
              <a:gd name="adj" fmla="val 4651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1162050" y="38862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162050" y="40862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25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152650" y="374269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700">
                <a:solidFill>
                  <a:srgbClr val="111111"/>
                </a:solidFill>
              </a:defRPr>
            </a:pPr>
            <a:r>
              <a:rPr sz="3700">
                <a:solidFill>
                  <a:srgbClr val="111111"/>
                </a:solidFill>
              </a:rPr>
              <a:t>25. 她捡起了陌生人掉落的书。</a:t>
            </a:r>
            <a:endParaRPr sz="3700">
              <a:solidFill>
                <a:srgbClr val="111111"/>
              </a:solidFill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2152650" y="473392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15" name="ans_25"/>
          <p:cNvSpPr>
            <a:spLocks noGrp="1"/>
          </p:cNvSpPr>
          <p:nvPr/>
        </p:nvSpPr>
        <p:spPr>
          <a:xfrm>
            <a:off x="2171700" y="431482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50" b="1">
                <a:solidFill>
                  <a:srgbClr val="C7371F"/>
                </a:solidFill>
              </a:defRPr>
            </a:pPr>
            <a:r>
              <a:rPr sz="2050" b="1">
                <a:solidFill>
                  <a:srgbClr val="C7371F"/>
                </a:solidFill>
              </a:rPr>
              <a:t>She picked up the books that the stranger had dropped.</a:t>
            </a:r>
            <a:endParaRPr sz="2050" b="1">
              <a:solidFill>
                <a:srgbClr val="C7371F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0725150" y="5962650"/>
            <a:ext cx="74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>
                <a:solidFill>
                  <a:srgbClr val="9A7B67"/>
                </a:solidFill>
              </a:defRPr>
            </a:pPr>
            <a:r>
              <a:rPr sz="1350">
                <a:solidFill>
                  <a:srgbClr val="9A7B67"/>
                </a:solidFill>
              </a:rPr>
              <a:t>10/20</a:t>
            </a:r>
            <a:endParaRPr sz="1350">
              <a:solidFill>
                <a:srgbClr val="9A7B67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590550" y="552450"/>
            <a:ext cx="7239000" cy="914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952500" y="685800"/>
            <a:ext cx="8858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rPr sz="2800" b="1">
                <a:solidFill>
                  <a:srgbClr val="000000"/>
                </a:solidFill>
              </a:rPr>
              <a:t>表达接受帮助与感激 (Accepting Help &amp; Gratitude)</a:t>
            </a:r>
            <a:endParaRPr sz="2800" b="1">
              <a:solidFill>
                <a:srgbClr val="000000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914400" y="144780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62050" y="17145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62050" y="19145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26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152650" y="157099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00">
                <a:solidFill>
                  <a:srgbClr val="111111"/>
                </a:solidFill>
              </a:defRPr>
            </a:pPr>
            <a:r>
              <a:rPr sz="2200">
                <a:solidFill>
                  <a:srgbClr val="111111"/>
                </a:solidFill>
              </a:rPr>
              <a:t>26. 她感激地接受了提供的帮助。</a:t>
            </a:r>
            <a:endParaRPr sz="2200">
              <a:solidFill>
                <a:srgbClr val="111111"/>
              </a:solidFill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2152650" y="256222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9" name="ans_26"/>
          <p:cNvSpPr>
            <a:spLocks noGrp="1"/>
          </p:cNvSpPr>
          <p:nvPr/>
        </p:nvSpPr>
        <p:spPr>
          <a:xfrm>
            <a:off x="2171700" y="214312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C7371F"/>
                </a:solidFill>
              </a:defRPr>
            </a:pPr>
            <a:r>
              <a:rPr sz="2000" b="1">
                <a:solidFill>
                  <a:srgbClr val="C7371F"/>
                </a:solidFill>
              </a:rPr>
              <a:t>Gratefully, she accepted the offered help.</a:t>
            </a:r>
            <a:endParaRPr sz="2000" b="1">
              <a:solidFill>
                <a:srgbClr val="C7371F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914400" y="291465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1162050" y="318135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162050" y="338137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27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152650" y="303784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00">
                <a:solidFill>
                  <a:srgbClr val="111111"/>
                </a:solidFill>
              </a:defRPr>
            </a:pPr>
            <a:r>
              <a:rPr sz="2200">
                <a:solidFill>
                  <a:srgbClr val="111111"/>
                </a:solidFill>
              </a:rPr>
              <a:t>27. “太感谢你了！我真的很感激你的好意，”他微笑着说。</a:t>
            </a:r>
            <a:endParaRPr sz="2200">
              <a:solidFill>
                <a:srgbClr val="111111"/>
              </a:solidFill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2152650" y="402907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15" name="ans_27"/>
          <p:cNvSpPr>
            <a:spLocks noGrp="1"/>
          </p:cNvSpPr>
          <p:nvPr/>
        </p:nvSpPr>
        <p:spPr>
          <a:xfrm>
            <a:off x="2171700" y="360997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C7371F"/>
                </a:solidFill>
              </a:defRPr>
            </a:pPr>
            <a:r>
              <a:rPr sz="2000" b="1">
                <a:solidFill>
                  <a:srgbClr val="C7371F"/>
                </a:solidFill>
              </a:rPr>
              <a:t>"Thank you so much! I really appreciate your kindness," he said with a smile.</a:t>
            </a:r>
            <a:endParaRPr sz="2000" b="1">
              <a:solidFill>
                <a:srgbClr val="C7371F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914400" y="438150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7" name="圆角矩形 16"/>
          <p:cNvSpPr>
            <a:spLocks noGrp="1"/>
          </p:cNvSpPr>
          <p:nvPr/>
        </p:nvSpPr>
        <p:spPr>
          <a:xfrm>
            <a:off x="1162050" y="46482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162050" y="48482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28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152650" y="450469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00">
                <a:solidFill>
                  <a:srgbClr val="111111"/>
                </a:solidFill>
              </a:defRPr>
            </a:pPr>
            <a:r>
              <a:rPr sz="2200">
                <a:solidFill>
                  <a:srgbClr val="111111"/>
                </a:solidFill>
              </a:rPr>
              <a:t>28. 当帮助到来时，她脸上露出了宽慰的神情。</a:t>
            </a:r>
            <a:endParaRPr sz="2200">
              <a:solidFill>
                <a:srgbClr val="111111"/>
              </a:solidFill>
            </a:endParaRPr>
          </a:p>
        </p:txBody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2152650" y="549592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21" name="ans_28"/>
          <p:cNvSpPr>
            <a:spLocks noGrp="1"/>
          </p:cNvSpPr>
          <p:nvPr/>
        </p:nvSpPr>
        <p:spPr>
          <a:xfrm>
            <a:off x="2171700" y="507682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C7371F"/>
                </a:solidFill>
              </a:defRPr>
            </a:pPr>
            <a:r>
              <a:rPr sz="2000" b="1">
                <a:solidFill>
                  <a:srgbClr val="C7371F"/>
                </a:solidFill>
              </a:rPr>
              <a:t>A look of relief washed over her face as help arrived.</a:t>
            </a:r>
            <a:endParaRPr sz="2000" b="1">
              <a:solidFill>
                <a:srgbClr val="C7371F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0725150" y="5962650"/>
            <a:ext cx="74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>
                <a:solidFill>
                  <a:srgbClr val="9A7B67"/>
                </a:solidFill>
              </a:defRPr>
            </a:pPr>
            <a:r>
              <a:rPr sz="1350">
                <a:solidFill>
                  <a:srgbClr val="9A7B67"/>
                </a:solidFill>
              </a:rPr>
              <a:t>11/20</a:t>
            </a:r>
            <a:endParaRPr sz="1350">
              <a:solidFill>
                <a:srgbClr val="9A7B67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590550" y="552450"/>
            <a:ext cx="7239000" cy="914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952500" y="685800"/>
            <a:ext cx="8858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rPr sz="2800" b="1">
                <a:solidFill>
                  <a:srgbClr val="000000"/>
                </a:solidFill>
              </a:rPr>
              <a:t>表达接受帮助与感激 (Accepting Help &amp; Gratitude)</a:t>
            </a:r>
            <a:endParaRPr sz="2800" b="1">
              <a:solidFill>
                <a:srgbClr val="000000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914400" y="1657350"/>
            <a:ext cx="9772650" cy="1638300"/>
          </a:xfrm>
          <a:prstGeom prst="roundRect">
            <a:avLst>
              <a:gd name="adj" fmla="val 4651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62050" y="192405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62050" y="212407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29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152650" y="178054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00">
                <a:solidFill>
                  <a:srgbClr val="111111"/>
                </a:solidFill>
              </a:defRPr>
            </a:pPr>
            <a:r>
              <a:rPr sz="2600">
                <a:solidFill>
                  <a:srgbClr val="111111"/>
                </a:solidFill>
              </a:rPr>
              <a:t>29. 在陌生人的帮助下，任务变得容易多了。</a:t>
            </a:r>
            <a:endParaRPr sz="2600">
              <a:solidFill>
                <a:srgbClr val="111111"/>
              </a:solidFill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2152650" y="277177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9" name="ans_29"/>
          <p:cNvSpPr>
            <a:spLocks noGrp="1"/>
          </p:cNvSpPr>
          <p:nvPr/>
        </p:nvSpPr>
        <p:spPr>
          <a:xfrm>
            <a:off x="2171700" y="235267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300" b="1">
                <a:solidFill>
                  <a:srgbClr val="C7371F"/>
                </a:solidFill>
              </a:defRPr>
            </a:pPr>
            <a:r>
              <a:rPr sz="2300" b="1">
                <a:solidFill>
                  <a:srgbClr val="C7371F"/>
                </a:solidFill>
              </a:rPr>
              <a:t>With the stranger's help, the task became much easier.</a:t>
            </a:r>
            <a:endParaRPr sz="2300" b="1">
              <a:solidFill>
                <a:srgbClr val="C7371F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914400" y="3619500"/>
            <a:ext cx="9772650" cy="1638300"/>
          </a:xfrm>
          <a:prstGeom prst="roundRect">
            <a:avLst>
              <a:gd name="adj" fmla="val 4651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1162050" y="38862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162050" y="40862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30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152650" y="374269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00">
                <a:solidFill>
                  <a:srgbClr val="111111"/>
                </a:solidFill>
              </a:defRPr>
            </a:pPr>
            <a:r>
              <a:rPr sz="2600">
                <a:solidFill>
                  <a:srgbClr val="111111"/>
                </a:solidFill>
              </a:rPr>
              <a:t>30. 他们愿意帮忙，他深受感动。</a:t>
            </a:r>
            <a:endParaRPr sz="2600">
              <a:solidFill>
                <a:srgbClr val="111111"/>
              </a:solidFill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2152650" y="473392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15" name="ans_30"/>
          <p:cNvSpPr>
            <a:spLocks noGrp="1"/>
          </p:cNvSpPr>
          <p:nvPr/>
        </p:nvSpPr>
        <p:spPr>
          <a:xfrm>
            <a:off x="2171700" y="431482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300" b="1">
                <a:solidFill>
                  <a:srgbClr val="C7371F"/>
                </a:solidFill>
              </a:defRPr>
            </a:pPr>
            <a:r>
              <a:rPr sz="2300" b="1">
                <a:solidFill>
                  <a:srgbClr val="C7371F"/>
                </a:solidFill>
              </a:rPr>
              <a:t>He felt deeply touched by their willingness to help.</a:t>
            </a:r>
            <a:endParaRPr sz="2300" b="1">
              <a:solidFill>
                <a:srgbClr val="C7371F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0725150" y="5962650"/>
            <a:ext cx="74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>
                <a:solidFill>
                  <a:srgbClr val="9A7B67"/>
                </a:solidFill>
              </a:defRPr>
            </a:pPr>
            <a:r>
              <a:rPr sz="1350">
                <a:solidFill>
                  <a:srgbClr val="9A7B67"/>
                </a:solidFill>
              </a:rPr>
              <a:t>12/20</a:t>
            </a:r>
            <a:endParaRPr sz="1350">
              <a:solidFill>
                <a:srgbClr val="9A7B67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590550" y="552450"/>
            <a:ext cx="7239000" cy="914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952500" y="685800"/>
            <a:ext cx="8858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rPr sz="2800" b="1">
                <a:solidFill>
                  <a:srgbClr val="000000"/>
                </a:solidFill>
              </a:rPr>
              <a:t>表达接受帮助与感激 (Accepting Help &amp; Gratitude)</a:t>
            </a:r>
            <a:endParaRPr sz="2800" b="1">
              <a:solidFill>
                <a:srgbClr val="000000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914400" y="144780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62050" y="17145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62050" y="19145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31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152650" y="157099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00">
                <a:solidFill>
                  <a:srgbClr val="111111"/>
                </a:solidFill>
              </a:defRPr>
            </a:pPr>
            <a:r>
              <a:rPr sz="2200">
                <a:solidFill>
                  <a:srgbClr val="111111"/>
                </a:solidFill>
              </a:rPr>
              <a:t>31. “没有你我都不知道该怎么办了，”她感激地叹道。</a:t>
            </a:r>
            <a:endParaRPr sz="2200">
              <a:solidFill>
                <a:srgbClr val="111111"/>
              </a:solidFill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2152650" y="256222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9" name="ans_31"/>
          <p:cNvSpPr>
            <a:spLocks noGrp="1"/>
          </p:cNvSpPr>
          <p:nvPr/>
        </p:nvSpPr>
        <p:spPr>
          <a:xfrm>
            <a:off x="2171700" y="214312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C7371F"/>
                </a:solidFill>
              </a:defRPr>
            </a:pPr>
            <a:r>
              <a:rPr sz="2000" b="1">
                <a:solidFill>
                  <a:srgbClr val="C7371F"/>
                </a:solidFill>
              </a:rPr>
              <a:t>"I don't know what I would have done without you," she sighed thankfully.</a:t>
            </a:r>
            <a:endParaRPr sz="2000" b="1">
              <a:solidFill>
                <a:srgbClr val="C7371F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914400" y="291465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1162050" y="318135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162050" y="338137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32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152650" y="303784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00">
                <a:solidFill>
                  <a:srgbClr val="111111"/>
                </a:solidFill>
              </a:defRPr>
            </a:pPr>
            <a:r>
              <a:rPr sz="2200">
                <a:solidFill>
                  <a:srgbClr val="111111"/>
                </a:solidFill>
              </a:rPr>
              <a:t>32. 他们及时的帮助起了很大作用。</a:t>
            </a:r>
            <a:endParaRPr sz="2200">
              <a:solidFill>
                <a:srgbClr val="111111"/>
              </a:solidFill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2152650" y="402907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15" name="ans_32"/>
          <p:cNvSpPr>
            <a:spLocks noGrp="1"/>
          </p:cNvSpPr>
          <p:nvPr/>
        </p:nvSpPr>
        <p:spPr>
          <a:xfrm>
            <a:off x="2171700" y="360997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C7371F"/>
                </a:solidFill>
              </a:defRPr>
            </a:pPr>
            <a:r>
              <a:rPr sz="2000" b="1">
                <a:solidFill>
                  <a:srgbClr val="C7371F"/>
                </a:solidFill>
              </a:rPr>
              <a:t>Their timely assistance made a huge difference.</a:t>
            </a:r>
            <a:endParaRPr sz="2000" b="1">
              <a:solidFill>
                <a:srgbClr val="C7371F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914400" y="438150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7" name="圆角矩形 16"/>
          <p:cNvSpPr>
            <a:spLocks noGrp="1"/>
          </p:cNvSpPr>
          <p:nvPr/>
        </p:nvSpPr>
        <p:spPr>
          <a:xfrm>
            <a:off x="1162050" y="46482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162050" y="48482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33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152650" y="450469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00">
                <a:solidFill>
                  <a:srgbClr val="111111"/>
                </a:solidFill>
              </a:defRPr>
            </a:pPr>
            <a:r>
              <a:rPr sz="2200">
                <a:solidFill>
                  <a:srgbClr val="111111"/>
                </a:solidFill>
              </a:rPr>
              <a:t>33. 当她得到帮助时，脸上露出了温暖的微笑。</a:t>
            </a:r>
            <a:endParaRPr sz="2200">
              <a:solidFill>
                <a:srgbClr val="111111"/>
              </a:solidFill>
            </a:endParaRPr>
          </a:p>
        </p:txBody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2152650" y="549592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21" name="ans_33"/>
          <p:cNvSpPr>
            <a:spLocks noGrp="1"/>
          </p:cNvSpPr>
          <p:nvPr/>
        </p:nvSpPr>
        <p:spPr>
          <a:xfrm>
            <a:off x="2171700" y="507682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C7371F"/>
                </a:solidFill>
              </a:defRPr>
            </a:pPr>
            <a:r>
              <a:rPr sz="2000" b="1">
                <a:solidFill>
                  <a:srgbClr val="C7371F"/>
                </a:solidFill>
              </a:rPr>
              <a:t>A warm smile spread across her face as she received the help.</a:t>
            </a:r>
            <a:endParaRPr sz="2000" b="1">
              <a:solidFill>
                <a:srgbClr val="C7371F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0725150" y="5962650"/>
            <a:ext cx="74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>
                <a:solidFill>
                  <a:srgbClr val="9A7B67"/>
                </a:solidFill>
              </a:defRPr>
            </a:pPr>
            <a:r>
              <a:rPr sz="1350">
                <a:solidFill>
                  <a:srgbClr val="9A7B67"/>
                </a:solidFill>
              </a:rPr>
              <a:t>13/20</a:t>
            </a:r>
            <a:endParaRPr sz="1350">
              <a:solidFill>
                <a:srgbClr val="9A7B67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590550" y="552450"/>
            <a:ext cx="7239000" cy="914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952500" y="685800"/>
            <a:ext cx="8858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rPr sz="2800" b="1">
                <a:solidFill>
                  <a:srgbClr val="000000"/>
                </a:solidFill>
              </a:rPr>
              <a:t>表达接受帮助与感激 (Accepting Help &amp; Gratitude)</a:t>
            </a:r>
            <a:endParaRPr sz="2800" b="1">
              <a:solidFill>
                <a:srgbClr val="000000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914400" y="1657350"/>
            <a:ext cx="9772650" cy="1638300"/>
          </a:xfrm>
          <a:prstGeom prst="roundRect">
            <a:avLst>
              <a:gd name="adj" fmla="val 4651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62050" y="192405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62050" y="212407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34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152650" y="178054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00">
                <a:solidFill>
                  <a:srgbClr val="111111"/>
                </a:solidFill>
              </a:defRPr>
            </a:pPr>
            <a:r>
              <a:rPr sz="2600">
                <a:solidFill>
                  <a:srgbClr val="111111"/>
                </a:solidFill>
              </a:rPr>
              <a:t>34. 他点头致谢，害羞得说不出话。</a:t>
            </a:r>
            <a:endParaRPr sz="2600">
              <a:solidFill>
                <a:srgbClr val="111111"/>
              </a:solidFill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2152650" y="277177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9" name="ans_34"/>
          <p:cNvSpPr>
            <a:spLocks noGrp="1"/>
          </p:cNvSpPr>
          <p:nvPr/>
        </p:nvSpPr>
        <p:spPr>
          <a:xfrm>
            <a:off x="2171700" y="235267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00" b="1">
                <a:solidFill>
                  <a:srgbClr val="C7371F"/>
                </a:solidFill>
              </a:defRPr>
            </a:pPr>
            <a:r>
              <a:rPr sz="2200" b="1">
                <a:solidFill>
                  <a:srgbClr val="C7371F"/>
                </a:solidFill>
              </a:rPr>
              <a:t>He nodded his thanks, too shy to speak.</a:t>
            </a:r>
            <a:endParaRPr sz="2200" b="1">
              <a:solidFill>
                <a:srgbClr val="C7371F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914400" y="3619500"/>
            <a:ext cx="9772650" cy="1638300"/>
          </a:xfrm>
          <a:prstGeom prst="roundRect">
            <a:avLst>
              <a:gd name="adj" fmla="val 4651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1162050" y="38862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162050" y="40862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35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152650" y="374269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00">
                <a:solidFill>
                  <a:srgbClr val="111111"/>
                </a:solidFill>
              </a:defRPr>
            </a:pPr>
            <a:r>
              <a:rPr sz="2600">
                <a:solidFill>
                  <a:srgbClr val="111111"/>
                </a:solidFill>
              </a:rPr>
              <a:t>35. 知道有人愿意帮忙，负担感觉轻了一些。</a:t>
            </a:r>
            <a:endParaRPr sz="2600">
              <a:solidFill>
                <a:srgbClr val="111111"/>
              </a:solidFill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2152650" y="473392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15" name="ans_35"/>
          <p:cNvSpPr>
            <a:spLocks noGrp="1"/>
          </p:cNvSpPr>
          <p:nvPr/>
        </p:nvSpPr>
        <p:spPr>
          <a:xfrm>
            <a:off x="2171700" y="431482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00" b="1">
                <a:solidFill>
                  <a:srgbClr val="C7371F"/>
                </a:solidFill>
              </a:defRPr>
            </a:pPr>
            <a:r>
              <a:rPr sz="2200" b="1">
                <a:solidFill>
                  <a:srgbClr val="C7371F"/>
                </a:solidFill>
              </a:rPr>
              <a:t>The burden felt lighter knowing someone was there to help.</a:t>
            </a:r>
            <a:endParaRPr sz="2200" b="1">
              <a:solidFill>
                <a:srgbClr val="C7371F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0725150" y="5962650"/>
            <a:ext cx="74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>
                <a:solidFill>
                  <a:srgbClr val="9A7B67"/>
                </a:solidFill>
              </a:defRPr>
            </a:pPr>
            <a:r>
              <a:rPr sz="1350">
                <a:solidFill>
                  <a:srgbClr val="9A7B67"/>
                </a:solidFill>
              </a:rPr>
              <a:t>14/20</a:t>
            </a:r>
            <a:endParaRPr sz="1350">
              <a:solidFill>
                <a:srgbClr val="9A7B67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590550" y="552450"/>
            <a:ext cx="7239000" cy="914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952500" y="685800"/>
            <a:ext cx="8858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rPr sz="2800" b="1">
                <a:solidFill>
                  <a:srgbClr val="000000"/>
                </a:solidFill>
              </a:rPr>
              <a:t>描述帮助者的感受与动机 (Helper's Feelings &amp; Motivation)</a:t>
            </a:r>
            <a:endParaRPr sz="2800" b="1">
              <a:solidFill>
                <a:srgbClr val="000000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914400" y="144780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62050" y="17145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62050" y="19145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36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152650" y="157099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00">
                <a:solidFill>
                  <a:srgbClr val="111111"/>
                </a:solidFill>
              </a:defRPr>
            </a:pPr>
            <a:r>
              <a:rPr sz="2200">
                <a:solidFill>
                  <a:srgbClr val="111111"/>
                </a:solidFill>
              </a:rPr>
              <a:t>36. 帮助他人给了他一种使命感和满足感。</a:t>
            </a:r>
            <a:endParaRPr sz="2200">
              <a:solidFill>
                <a:srgbClr val="111111"/>
              </a:solidFill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2152650" y="256222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9" name="ans_36"/>
          <p:cNvSpPr>
            <a:spLocks noGrp="1"/>
          </p:cNvSpPr>
          <p:nvPr/>
        </p:nvSpPr>
        <p:spPr>
          <a:xfrm>
            <a:off x="2171700" y="214312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00" b="1">
                <a:solidFill>
                  <a:srgbClr val="C7371F"/>
                </a:solidFill>
              </a:defRPr>
            </a:pPr>
            <a:r>
              <a:rPr sz="2200" b="1">
                <a:solidFill>
                  <a:srgbClr val="C7371F"/>
                </a:solidFill>
              </a:rPr>
              <a:t>Helping others gave him a sense of purpose and fulfillment.</a:t>
            </a:r>
            <a:endParaRPr sz="2200" b="1">
              <a:solidFill>
                <a:srgbClr val="C7371F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914400" y="291465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1162050" y="318135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162050" y="338137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37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152650" y="303784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00">
                <a:solidFill>
                  <a:srgbClr val="111111"/>
                </a:solidFill>
              </a:defRPr>
            </a:pPr>
            <a:r>
              <a:rPr sz="2200">
                <a:solidFill>
                  <a:srgbClr val="111111"/>
                </a:solidFill>
              </a:rPr>
              <a:t>37. 她认为只要有可能，伸出援手很重要。</a:t>
            </a:r>
            <a:endParaRPr sz="2200">
              <a:solidFill>
                <a:srgbClr val="111111"/>
              </a:solidFill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2152650" y="402907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15" name="ans_37"/>
          <p:cNvSpPr>
            <a:spLocks noGrp="1"/>
          </p:cNvSpPr>
          <p:nvPr/>
        </p:nvSpPr>
        <p:spPr>
          <a:xfrm>
            <a:off x="2171700" y="360997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00" b="1">
                <a:solidFill>
                  <a:srgbClr val="C7371F"/>
                </a:solidFill>
              </a:defRPr>
            </a:pPr>
            <a:r>
              <a:rPr sz="2200" b="1">
                <a:solidFill>
                  <a:srgbClr val="C7371F"/>
                </a:solidFill>
              </a:rPr>
              <a:t>She believed it was important to lend a hand whenever possible.</a:t>
            </a:r>
            <a:endParaRPr sz="2200" b="1">
              <a:solidFill>
                <a:srgbClr val="C7371F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914400" y="438150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7" name="圆角矩形 16"/>
          <p:cNvSpPr>
            <a:spLocks noGrp="1"/>
          </p:cNvSpPr>
          <p:nvPr/>
        </p:nvSpPr>
        <p:spPr>
          <a:xfrm>
            <a:off x="1162050" y="46482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162050" y="48482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38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152650" y="450469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00">
                <a:solidFill>
                  <a:srgbClr val="111111"/>
                </a:solidFill>
              </a:defRPr>
            </a:pPr>
            <a:r>
              <a:rPr sz="2200">
                <a:solidFill>
                  <a:srgbClr val="111111"/>
                </a:solidFill>
              </a:rPr>
              <a:t>38. 看到他们脸上的笑容对他来说就是足够的回报。</a:t>
            </a:r>
            <a:endParaRPr sz="2200">
              <a:solidFill>
                <a:srgbClr val="111111"/>
              </a:solidFill>
            </a:endParaRPr>
          </a:p>
        </p:txBody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2152650" y="549592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21" name="ans_38"/>
          <p:cNvSpPr>
            <a:spLocks noGrp="1"/>
          </p:cNvSpPr>
          <p:nvPr/>
        </p:nvSpPr>
        <p:spPr>
          <a:xfrm>
            <a:off x="2171700" y="507682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00" b="1">
                <a:solidFill>
                  <a:srgbClr val="C7371F"/>
                </a:solidFill>
              </a:defRPr>
            </a:pPr>
            <a:r>
              <a:rPr sz="2200" b="1">
                <a:solidFill>
                  <a:srgbClr val="C7371F"/>
                </a:solidFill>
              </a:rPr>
              <a:t>Seeing the smile on their face was reward enough for him.</a:t>
            </a:r>
            <a:endParaRPr sz="2200" b="1">
              <a:solidFill>
                <a:srgbClr val="C7371F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0725150" y="5962650"/>
            <a:ext cx="74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>
                <a:solidFill>
                  <a:srgbClr val="9A7B67"/>
                </a:solidFill>
              </a:defRPr>
            </a:pPr>
            <a:r>
              <a:rPr sz="1350">
                <a:solidFill>
                  <a:srgbClr val="9A7B67"/>
                </a:solidFill>
              </a:rPr>
              <a:t>15/20</a:t>
            </a:r>
            <a:endParaRPr sz="1350">
              <a:solidFill>
                <a:srgbClr val="9A7B67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  <p:bldP spid="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590550" y="552450"/>
            <a:ext cx="7239000" cy="914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952500" y="685800"/>
            <a:ext cx="8858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rPr sz="2800" b="1">
                <a:solidFill>
                  <a:srgbClr val="000000"/>
                </a:solidFill>
              </a:rPr>
              <a:t>描述帮助者的感受与动机 (Helper's Feelings &amp; Motivation)</a:t>
            </a:r>
            <a:endParaRPr sz="2800" b="1">
              <a:solidFill>
                <a:srgbClr val="000000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914400" y="1657350"/>
            <a:ext cx="9772650" cy="1638300"/>
          </a:xfrm>
          <a:prstGeom prst="roundRect">
            <a:avLst>
              <a:gd name="adj" fmla="val 4651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62050" y="192405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62050" y="212407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39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152650" y="178054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00">
                <a:solidFill>
                  <a:srgbClr val="111111"/>
                </a:solidFill>
              </a:defRPr>
            </a:pPr>
            <a:r>
              <a:rPr sz="2600">
                <a:solidFill>
                  <a:srgbClr val="111111"/>
                </a:solidFill>
              </a:rPr>
              <a:t>39. 帮助别人后，他内心感到一阵暖意。</a:t>
            </a:r>
            <a:endParaRPr sz="2600">
              <a:solidFill>
                <a:srgbClr val="111111"/>
              </a:solidFill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2152650" y="277177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9" name="ans_39"/>
          <p:cNvSpPr>
            <a:spLocks noGrp="1"/>
          </p:cNvSpPr>
          <p:nvPr/>
        </p:nvSpPr>
        <p:spPr>
          <a:xfrm>
            <a:off x="2171700" y="235267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00" b="1">
                <a:solidFill>
                  <a:srgbClr val="C7371F"/>
                </a:solidFill>
              </a:defRPr>
            </a:pPr>
            <a:r>
              <a:rPr sz="2200" b="1">
                <a:solidFill>
                  <a:srgbClr val="C7371F"/>
                </a:solidFill>
              </a:rPr>
              <a:t>He felt a warm glow inside after helping someone.</a:t>
            </a:r>
            <a:endParaRPr sz="2200" b="1">
              <a:solidFill>
                <a:srgbClr val="C7371F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914400" y="3619500"/>
            <a:ext cx="9772650" cy="1638300"/>
          </a:xfrm>
          <a:prstGeom prst="roundRect">
            <a:avLst>
              <a:gd name="adj" fmla="val 4651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1162050" y="38862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162050" y="40862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40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152650" y="374269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00">
                <a:solidFill>
                  <a:srgbClr val="111111"/>
                </a:solidFill>
              </a:defRPr>
            </a:pPr>
            <a:r>
              <a:rPr sz="2600">
                <a:solidFill>
                  <a:srgbClr val="111111"/>
                </a:solidFill>
              </a:rPr>
              <a:t>40. 她只是想给别人的一天带来一点小小的改变。</a:t>
            </a:r>
            <a:endParaRPr sz="2600">
              <a:solidFill>
                <a:srgbClr val="111111"/>
              </a:solidFill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2152650" y="473392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15" name="ans_40"/>
          <p:cNvSpPr>
            <a:spLocks noGrp="1"/>
          </p:cNvSpPr>
          <p:nvPr/>
        </p:nvSpPr>
        <p:spPr>
          <a:xfrm>
            <a:off x="2171700" y="431482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00" b="1">
                <a:solidFill>
                  <a:srgbClr val="C7371F"/>
                </a:solidFill>
              </a:defRPr>
            </a:pPr>
            <a:r>
              <a:rPr sz="2200" b="1">
                <a:solidFill>
                  <a:srgbClr val="C7371F"/>
                </a:solidFill>
              </a:rPr>
              <a:t>She simply wanted to make a small difference in someone's day.</a:t>
            </a:r>
            <a:endParaRPr sz="2200" b="1">
              <a:solidFill>
                <a:srgbClr val="C7371F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0725150" y="5962650"/>
            <a:ext cx="74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>
                <a:solidFill>
                  <a:srgbClr val="9A7B67"/>
                </a:solidFill>
              </a:defRPr>
            </a:pPr>
            <a:r>
              <a:rPr sz="1350">
                <a:solidFill>
                  <a:srgbClr val="9A7B67"/>
                </a:solidFill>
              </a:rPr>
              <a:t>16/20</a:t>
            </a:r>
            <a:endParaRPr sz="1350">
              <a:solidFill>
                <a:srgbClr val="9A7B67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590550" y="552450"/>
            <a:ext cx="7239000" cy="914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952500" y="685800"/>
            <a:ext cx="8858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rPr sz="2800" b="1">
                <a:solidFill>
                  <a:srgbClr val="000000"/>
                </a:solidFill>
              </a:rPr>
              <a:t>描述帮助者的感受与动机 (Helper's Feelings &amp; Motivation)</a:t>
            </a:r>
            <a:endParaRPr sz="2800" b="1">
              <a:solidFill>
                <a:srgbClr val="000000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914400" y="144780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62050" y="17145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62050" y="19145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41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152650" y="157099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00">
                <a:solidFill>
                  <a:srgbClr val="111111"/>
                </a:solidFill>
              </a:defRPr>
            </a:pPr>
            <a:r>
              <a:rPr sz="2600">
                <a:solidFill>
                  <a:srgbClr val="111111"/>
                </a:solidFill>
              </a:rPr>
              <a:t>41. 出于同情心，他无法对他们的困境视而不见。</a:t>
            </a:r>
            <a:endParaRPr sz="2600">
              <a:solidFill>
                <a:srgbClr val="111111"/>
              </a:solidFill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2152650" y="256222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9" name="ans_41"/>
          <p:cNvSpPr>
            <a:spLocks noGrp="1"/>
          </p:cNvSpPr>
          <p:nvPr/>
        </p:nvSpPr>
        <p:spPr>
          <a:xfrm>
            <a:off x="2171700" y="214312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00" b="1">
                <a:solidFill>
                  <a:srgbClr val="C7371F"/>
                </a:solidFill>
              </a:defRPr>
            </a:pPr>
            <a:r>
              <a:rPr sz="2200" b="1">
                <a:solidFill>
                  <a:srgbClr val="C7371F"/>
                </a:solidFill>
              </a:rPr>
              <a:t>Acting out of compassion, he couldn't ignore their dilemma.</a:t>
            </a:r>
            <a:endParaRPr sz="2200" b="1">
              <a:solidFill>
                <a:srgbClr val="C7371F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914400" y="291465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1162050" y="318135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162050" y="338137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42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152650" y="303784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00">
                <a:solidFill>
                  <a:srgbClr val="111111"/>
                </a:solidFill>
              </a:defRPr>
            </a:pPr>
            <a:r>
              <a:rPr sz="2600">
                <a:solidFill>
                  <a:srgbClr val="111111"/>
                </a:solidFill>
              </a:rPr>
              <a:t>42. 为别人做些积极的事情感觉很好。</a:t>
            </a:r>
            <a:endParaRPr sz="2600">
              <a:solidFill>
                <a:srgbClr val="111111"/>
              </a:solidFill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2152650" y="402907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15" name="ans_42"/>
          <p:cNvSpPr>
            <a:spLocks noGrp="1"/>
          </p:cNvSpPr>
          <p:nvPr/>
        </p:nvSpPr>
        <p:spPr>
          <a:xfrm>
            <a:off x="2171700" y="360997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00" b="1">
                <a:solidFill>
                  <a:srgbClr val="C7371F"/>
                </a:solidFill>
              </a:defRPr>
            </a:pPr>
            <a:r>
              <a:rPr sz="2200" b="1">
                <a:solidFill>
                  <a:srgbClr val="C7371F"/>
                </a:solidFill>
              </a:rPr>
              <a:t>It felt good to do something positive for someone else.</a:t>
            </a:r>
            <a:endParaRPr sz="2200" b="1">
              <a:solidFill>
                <a:srgbClr val="C7371F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914400" y="438150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7" name="圆角矩形 16"/>
          <p:cNvSpPr>
            <a:spLocks noGrp="1"/>
          </p:cNvSpPr>
          <p:nvPr/>
        </p:nvSpPr>
        <p:spPr>
          <a:xfrm>
            <a:off x="1162050" y="46482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162050" y="48482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43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152650" y="450469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00">
                <a:solidFill>
                  <a:srgbClr val="111111"/>
                </a:solidFill>
              </a:defRPr>
            </a:pPr>
            <a:r>
              <a:rPr sz="2600">
                <a:solidFill>
                  <a:srgbClr val="111111"/>
                </a:solidFill>
              </a:rPr>
              <a:t>43. 他记起自己也曾需要帮助的时候。</a:t>
            </a:r>
            <a:endParaRPr sz="2600">
              <a:solidFill>
                <a:srgbClr val="111111"/>
              </a:solidFill>
            </a:endParaRPr>
          </a:p>
        </p:txBody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2152650" y="549592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21" name="ans_43"/>
          <p:cNvSpPr>
            <a:spLocks noGrp="1"/>
          </p:cNvSpPr>
          <p:nvPr/>
        </p:nvSpPr>
        <p:spPr>
          <a:xfrm>
            <a:off x="2171700" y="507682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00" b="1">
                <a:solidFill>
                  <a:srgbClr val="C7371F"/>
                </a:solidFill>
              </a:defRPr>
            </a:pPr>
            <a:r>
              <a:rPr sz="2200" b="1">
                <a:solidFill>
                  <a:srgbClr val="C7371F"/>
                </a:solidFill>
              </a:rPr>
              <a:t>He remembered times when he needed help himself.</a:t>
            </a:r>
            <a:endParaRPr sz="2200" b="1">
              <a:solidFill>
                <a:srgbClr val="C7371F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0725150" y="5962650"/>
            <a:ext cx="74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>
                <a:solidFill>
                  <a:srgbClr val="9A7B67"/>
                </a:solidFill>
              </a:defRPr>
            </a:pPr>
            <a:r>
              <a:rPr sz="1350">
                <a:solidFill>
                  <a:srgbClr val="9A7B67"/>
                </a:solidFill>
              </a:rPr>
              <a:t>17/20</a:t>
            </a:r>
            <a:endParaRPr sz="1350">
              <a:solidFill>
                <a:srgbClr val="9A7B67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590550" y="552450"/>
            <a:ext cx="7239000" cy="914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952500" y="685800"/>
            <a:ext cx="8858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rPr sz="2800" b="1">
                <a:solidFill>
                  <a:srgbClr val="000000"/>
                </a:solidFill>
              </a:rPr>
              <a:t>描述帮助者的感受与动机 (Helper's Feelings &amp; Motivation)</a:t>
            </a:r>
            <a:endParaRPr sz="2800" b="1">
              <a:solidFill>
                <a:srgbClr val="000000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914400" y="1657350"/>
            <a:ext cx="9772650" cy="1638300"/>
          </a:xfrm>
          <a:prstGeom prst="roundRect">
            <a:avLst>
              <a:gd name="adj" fmla="val 4651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62050" y="192405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62050" y="212407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44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152650" y="178054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00">
                <a:solidFill>
                  <a:srgbClr val="111111"/>
                </a:solidFill>
              </a:defRPr>
            </a:pPr>
            <a:r>
              <a:rPr sz="2600">
                <a:solidFill>
                  <a:srgbClr val="111111"/>
                </a:solidFill>
              </a:rPr>
              <a:t>44. 她本能地行动，没有想过要得到认可。</a:t>
            </a:r>
            <a:endParaRPr sz="2600">
              <a:solidFill>
                <a:srgbClr val="111111"/>
              </a:solidFill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2152650" y="277177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9" name="ans_44"/>
          <p:cNvSpPr>
            <a:spLocks noGrp="1"/>
          </p:cNvSpPr>
          <p:nvPr/>
        </p:nvSpPr>
        <p:spPr>
          <a:xfrm>
            <a:off x="2171700" y="235267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00" b="1">
                <a:solidFill>
                  <a:srgbClr val="C7371F"/>
                </a:solidFill>
              </a:defRPr>
            </a:pPr>
            <a:r>
              <a:rPr sz="2200" b="1">
                <a:solidFill>
                  <a:srgbClr val="C7371F"/>
                </a:solidFill>
              </a:rPr>
              <a:t>She acted instinctively, without thinking about recognition.</a:t>
            </a:r>
            <a:endParaRPr sz="2200" b="1">
              <a:solidFill>
                <a:srgbClr val="C7371F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914400" y="3619500"/>
            <a:ext cx="9772650" cy="1638300"/>
          </a:xfrm>
          <a:prstGeom prst="roundRect">
            <a:avLst>
              <a:gd name="adj" fmla="val 4651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1162050" y="38862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162050" y="40862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45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152650" y="374269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00">
                <a:solidFill>
                  <a:srgbClr val="111111"/>
                </a:solidFill>
              </a:defRPr>
            </a:pPr>
            <a:r>
              <a:rPr sz="2600">
                <a:solidFill>
                  <a:srgbClr val="111111"/>
                </a:solidFill>
              </a:rPr>
              <a:t>45. 帮助带来的快乐超过了任何不便。</a:t>
            </a:r>
            <a:endParaRPr sz="2600">
              <a:solidFill>
                <a:srgbClr val="111111"/>
              </a:solidFill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2152650" y="473392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15" name="ans_45"/>
          <p:cNvSpPr>
            <a:spLocks noGrp="1"/>
          </p:cNvSpPr>
          <p:nvPr/>
        </p:nvSpPr>
        <p:spPr>
          <a:xfrm>
            <a:off x="2171700" y="431482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00" b="1">
                <a:solidFill>
                  <a:srgbClr val="C7371F"/>
                </a:solidFill>
              </a:defRPr>
            </a:pPr>
            <a:r>
              <a:rPr sz="2200" b="1">
                <a:solidFill>
                  <a:srgbClr val="C7371F"/>
                </a:solidFill>
              </a:rPr>
              <a:t>The joy of helping outweighed any inconvenience.</a:t>
            </a:r>
            <a:endParaRPr sz="2200" b="1">
              <a:solidFill>
                <a:srgbClr val="C7371F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0725150" y="5962650"/>
            <a:ext cx="74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>
                <a:solidFill>
                  <a:srgbClr val="9A7B67"/>
                </a:solidFill>
              </a:defRPr>
            </a:pPr>
            <a:r>
              <a:rPr sz="1350">
                <a:solidFill>
                  <a:srgbClr val="9A7B67"/>
                </a:solidFill>
              </a:rPr>
              <a:t>18/20</a:t>
            </a:r>
            <a:endParaRPr sz="1350">
              <a:solidFill>
                <a:srgbClr val="9A7B67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590550" y="552450"/>
            <a:ext cx="7239000" cy="914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952500" y="68580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225" b="1">
                <a:solidFill>
                  <a:srgbClr val="000000"/>
                </a:solidFill>
              </a:defRPr>
            </a:pPr>
            <a:r>
              <a:rPr sz="3225" b="1">
                <a:solidFill>
                  <a:srgbClr val="000000"/>
                </a:solidFill>
              </a:rPr>
              <a:t>描述帮助带来的变化 (Impact of Help)</a:t>
            </a:r>
            <a:endParaRPr sz="3225" b="1">
              <a:solidFill>
                <a:srgbClr val="000000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914400" y="144780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62050" y="17145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62050" y="19145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46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152650" y="157099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00">
                <a:solidFill>
                  <a:srgbClr val="111111"/>
                </a:solidFill>
              </a:defRPr>
            </a:pPr>
            <a:r>
              <a:rPr sz="2600">
                <a:solidFill>
                  <a:srgbClr val="111111"/>
                </a:solidFill>
              </a:rPr>
              <a:t>46. 因为她的帮助，他赶上了末班车。</a:t>
            </a:r>
            <a:endParaRPr sz="2600">
              <a:solidFill>
                <a:srgbClr val="111111"/>
              </a:solidFill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2152650" y="256222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9" name="ans_46"/>
          <p:cNvSpPr>
            <a:spLocks noGrp="1"/>
          </p:cNvSpPr>
          <p:nvPr/>
        </p:nvSpPr>
        <p:spPr>
          <a:xfrm>
            <a:off x="2171700" y="214312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300" b="1">
                <a:solidFill>
                  <a:srgbClr val="C7371F"/>
                </a:solidFill>
              </a:defRPr>
            </a:pPr>
            <a:r>
              <a:rPr sz="2300" b="1">
                <a:solidFill>
                  <a:srgbClr val="C7371F"/>
                </a:solidFill>
              </a:rPr>
              <a:t>Because of her help, he managed to catch the last bus.</a:t>
            </a:r>
            <a:endParaRPr sz="2300" b="1">
              <a:solidFill>
                <a:srgbClr val="C7371F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914400" y="291465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1162050" y="318135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162050" y="338137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47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152650" y="303784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00">
                <a:solidFill>
                  <a:srgbClr val="111111"/>
                </a:solidFill>
              </a:defRPr>
            </a:pPr>
            <a:r>
              <a:rPr sz="2600">
                <a:solidFill>
                  <a:srgbClr val="111111"/>
                </a:solidFill>
              </a:rPr>
              <a:t>47. 他们小小的善举点亮了他的一整天。</a:t>
            </a:r>
            <a:endParaRPr sz="2600">
              <a:solidFill>
                <a:srgbClr val="111111"/>
              </a:solidFill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2152650" y="402907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15" name="ans_47"/>
          <p:cNvSpPr>
            <a:spLocks noGrp="1"/>
          </p:cNvSpPr>
          <p:nvPr/>
        </p:nvSpPr>
        <p:spPr>
          <a:xfrm>
            <a:off x="2171700" y="360997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300" b="1">
                <a:solidFill>
                  <a:srgbClr val="C7371F"/>
                </a:solidFill>
              </a:defRPr>
            </a:pPr>
            <a:r>
              <a:rPr sz="2300" b="1">
                <a:solidFill>
                  <a:srgbClr val="C7371F"/>
                </a:solidFill>
              </a:rPr>
              <a:t>Their small act of kindness brightened his entire day.</a:t>
            </a:r>
            <a:endParaRPr sz="2300" b="1">
              <a:solidFill>
                <a:srgbClr val="C7371F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914400" y="438150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7" name="圆角矩形 16"/>
          <p:cNvSpPr>
            <a:spLocks noGrp="1"/>
          </p:cNvSpPr>
          <p:nvPr/>
        </p:nvSpPr>
        <p:spPr>
          <a:xfrm>
            <a:off x="1162050" y="46482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162050" y="48482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48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152650" y="450469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00">
                <a:solidFill>
                  <a:srgbClr val="111111"/>
                </a:solidFill>
              </a:defRPr>
            </a:pPr>
            <a:r>
              <a:rPr sz="2600">
                <a:solidFill>
                  <a:srgbClr val="111111"/>
                </a:solidFill>
              </a:rPr>
              <a:t>48. 这次帮助让她重新相信了人性的善良。</a:t>
            </a:r>
            <a:endParaRPr sz="2600">
              <a:solidFill>
                <a:srgbClr val="111111"/>
              </a:solidFill>
            </a:endParaRPr>
          </a:p>
        </p:txBody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2152650" y="549592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21" name="ans_48"/>
          <p:cNvSpPr>
            <a:spLocks noGrp="1"/>
          </p:cNvSpPr>
          <p:nvPr/>
        </p:nvSpPr>
        <p:spPr>
          <a:xfrm>
            <a:off x="2171700" y="507682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300" b="1">
                <a:solidFill>
                  <a:srgbClr val="C7371F"/>
                </a:solidFill>
              </a:defRPr>
            </a:pPr>
            <a:r>
              <a:rPr sz="2300" b="1">
                <a:solidFill>
                  <a:srgbClr val="C7371F"/>
                </a:solidFill>
              </a:rPr>
              <a:t>The help restored her faith in the goodness of people.</a:t>
            </a:r>
            <a:endParaRPr sz="2300" b="1">
              <a:solidFill>
                <a:srgbClr val="C7371F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0725150" y="5962650"/>
            <a:ext cx="74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>
                <a:solidFill>
                  <a:srgbClr val="9A7B67"/>
                </a:solidFill>
              </a:defRPr>
            </a:pPr>
            <a:r>
              <a:rPr sz="1350">
                <a:solidFill>
                  <a:srgbClr val="9A7B67"/>
                </a:solidFill>
              </a:rPr>
              <a:t>19/20</a:t>
            </a:r>
            <a:endParaRPr sz="1350">
              <a:solidFill>
                <a:srgbClr val="9A7B67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590550" y="552450"/>
            <a:ext cx="7239000" cy="914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952500" y="68580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225" b="1">
                <a:solidFill>
                  <a:srgbClr val="000000"/>
                </a:solidFill>
              </a:defRPr>
            </a:pPr>
            <a:r>
              <a:rPr sz="3225" b="1">
                <a:solidFill>
                  <a:srgbClr val="000000"/>
                </a:solidFill>
              </a:rPr>
              <a:t>描述帮助带来的变化 (Impact of Help)</a:t>
            </a:r>
            <a:endParaRPr sz="3225" b="1">
              <a:solidFill>
                <a:srgbClr val="000000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914400" y="1657350"/>
            <a:ext cx="9772650" cy="1638300"/>
          </a:xfrm>
          <a:prstGeom prst="roundRect">
            <a:avLst>
              <a:gd name="adj" fmla="val 4651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62050" y="192405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62050" y="212407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49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152650" y="192405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00">
                <a:solidFill>
                  <a:srgbClr val="111111"/>
                </a:solidFill>
              </a:defRPr>
            </a:pPr>
            <a:r>
              <a:rPr sz="2600">
                <a:solidFill>
                  <a:srgbClr val="111111"/>
                </a:solidFill>
              </a:rPr>
              <a:t>49. 他学到了关于帮助他人重要性的宝贵一课。</a:t>
            </a:r>
            <a:endParaRPr sz="2600">
              <a:solidFill>
                <a:srgbClr val="111111"/>
              </a:solidFill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2152650" y="277177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9" name="ans_49"/>
          <p:cNvSpPr>
            <a:spLocks noGrp="1"/>
          </p:cNvSpPr>
          <p:nvPr/>
        </p:nvSpPr>
        <p:spPr>
          <a:xfrm>
            <a:off x="2171700" y="235267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50" b="1">
                <a:solidFill>
                  <a:srgbClr val="C7371F"/>
                </a:solidFill>
              </a:defRPr>
            </a:pPr>
            <a:r>
              <a:rPr sz="2050" b="1">
                <a:solidFill>
                  <a:srgbClr val="C7371F"/>
                </a:solidFill>
              </a:rPr>
              <a:t>He learned a valuable lesson about the importance of helping others.</a:t>
            </a:r>
            <a:endParaRPr sz="2050" b="1">
              <a:solidFill>
                <a:srgbClr val="C7371F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914400" y="3619500"/>
            <a:ext cx="9772650" cy="1638300"/>
          </a:xfrm>
          <a:prstGeom prst="roundRect">
            <a:avLst>
              <a:gd name="adj" fmla="val 4651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1162050" y="38862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162050" y="40862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50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152650" y="388620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00">
                <a:solidFill>
                  <a:srgbClr val="111111"/>
                </a:solidFill>
              </a:defRPr>
            </a:pPr>
            <a:r>
              <a:rPr sz="2600">
                <a:solidFill>
                  <a:srgbClr val="111111"/>
                </a:solidFill>
              </a:rPr>
              <a:t>50. 那次帮助在他们之间点燃了一段持久的友谊。</a:t>
            </a:r>
            <a:endParaRPr sz="2600">
              <a:solidFill>
                <a:srgbClr val="111111"/>
              </a:solidFill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2152650" y="473392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15" name="ans_50"/>
          <p:cNvSpPr>
            <a:spLocks noGrp="1"/>
          </p:cNvSpPr>
          <p:nvPr/>
        </p:nvSpPr>
        <p:spPr>
          <a:xfrm>
            <a:off x="2171700" y="431482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50" b="1">
                <a:solidFill>
                  <a:srgbClr val="C7371F"/>
                </a:solidFill>
              </a:defRPr>
            </a:pPr>
            <a:r>
              <a:rPr sz="2050" b="1">
                <a:solidFill>
                  <a:srgbClr val="C7371F"/>
                </a:solidFill>
              </a:rPr>
              <a:t>That moment of help sparked a lasting friendship between them.</a:t>
            </a:r>
            <a:endParaRPr sz="2050" b="1">
              <a:solidFill>
                <a:srgbClr val="C7371F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0725150" y="5962650"/>
            <a:ext cx="74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>
                <a:solidFill>
                  <a:srgbClr val="9A7B67"/>
                </a:solidFill>
              </a:defRPr>
            </a:pPr>
            <a:r>
              <a:rPr sz="1350">
                <a:solidFill>
                  <a:srgbClr val="9A7B67"/>
                </a:solidFill>
              </a:rPr>
              <a:t>20/20</a:t>
            </a:r>
            <a:endParaRPr sz="1350">
              <a:solidFill>
                <a:srgbClr val="9A7B67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3782</Words>
  <Application>WPS 演示</Application>
  <PresentationFormat>Converted Presentation</PresentationFormat>
  <Paragraphs>380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7" baseType="lpstr">
      <vt:lpstr>Arial</vt:lpstr>
      <vt:lpstr>宋体</vt:lpstr>
      <vt:lpstr>Wingdings</vt:lpstr>
      <vt:lpstr>Calibri</vt:lpstr>
      <vt:lpstr>微软雅黑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English Courseware PPT</dc:creator>
  <cp:lastModifiedBy>English Courseware PPT</cp:lastModifiedBy>
  <cp:revision>3</cp:revision>
  <dcterms:created xsi:type="dcterms:W3CDTF">2026-06-17T07:28:00Z</dcterms:created>
  <dcterms:modified xsi:type="dcterms:W3CDTF">2026-06-17T10:25:40Z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79BA85E9CDB04492B91FE264466D8E3D_12</vt:lpwstr>
  </property>
  <property fmtid="{D5CDD505-2E9C-101B-9397-08002B2CF9AE}" pid="3" name="KSOProductBuildVer">
    <vt:lpwstr>2052-12.8.2.18913</vt:lpwstr>
  </property>
</Properties>
</file>