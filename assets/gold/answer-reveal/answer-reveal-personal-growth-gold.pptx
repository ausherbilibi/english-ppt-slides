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面对挑战 (Facing Challenges)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499235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1. 他紧张但仍决定尝试。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 felt nervous but decided to try anyway.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2. 拿起麦克风时她的手在发抖。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Her hands shook as she picked up the microphone.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3. 数学题看似无解，但他没放弃。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0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The math problem looked impossible, but he didn't give up.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面对挑战 (Facing Challenges)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4. “失败了怎么办？”她心跳加速。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"What if I fail?" she thought, heart pounding.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5. 他深吸一口气走上舞台。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He took a deep breath and stepped onto the stage.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2/20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努力过程 (Effort &amp; Practice)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6. 她每天放学后练习。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practiced every day after school.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7. 他的笔记本写满了重复的练习。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0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His notebook was filled with repeated exercises.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8. 即使累了，她也坚持继续。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0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Even when tired, she pushed herself to continue.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3/20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努力过程 (Effort &amp; Practice)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09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9. 困惑时他向老师求助。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0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asked the teacher for help when confused.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10. 微小进步让她有希望地微笑。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Small improvements made her smile with hope.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4/20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挫折时刻 (Setbacks)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1450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11. 首次尝试以失望告终。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Her first attempt ended in disappointment.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18135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12. 低分让他难过。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The low test score made him feel sad.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64820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13. 看到试卷上的红叉时她哭了。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1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Tears fell when she saw the red marks on her paper.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5/20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挫折时刻 (Setbacks)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14. “我不够好，”他低语。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"I'm not good enough," he whispered to himself.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15. 失败教会他寻找新方法。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Failure taught him to look for new ways.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6/20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突破转变 (Breakthrough)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16. 突然她豁然开朗。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Suddenly, everything became clear to her.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17. 他说话时声音越来越坚定。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1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His voice grew stronger as he spoke.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18. 她终于骑自行车没摔倒！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1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finally rode the bike without falling!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7/20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突破转变 (Breakthrough)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19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19. 他第一次跑完全程。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1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For the first time, he finished the race.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20. 她脸上绽开笑容——她成功了！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A smile spread across her face — she did it!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8/20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自信建立 (Building Confidence)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21. “我能行！”她坚定地告诉自己。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"I can do this!" she told herself firmly.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22. 独自解决问题后他站得更直了。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stood taller after solving the problem alone.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23. 帮助他人让她感到有能力。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2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Helping others made her feel capable.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9/20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自信建立 (Building Confidence)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24. 父母的表扬增强了他的信心。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Praise from his parents boosted his confidence.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25. 每一次小胜利都让她更勇敢。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Each small win made her braver.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10/20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心态成长 (Changing Mindset)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26. 他明白了犯错是学习的一部分。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learned that mistakes are part of learning.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27. 她不再苛求完美。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2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stopped worrying about being perfect.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28. 耐心成了他的新优点。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2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Patience became his new strength.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11/20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心态成长 (Changing Mindset)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29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29. 她意识到努力比运气更可靠。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2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Hard work felt better than luck, she realized.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30. 勇气在曾经恐惧的地方滋长。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Courage grew where fear once lived.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12/20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帮助与支持 (Support)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31. 朋友的鼓励给了她勇气。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Her friend’s encouragement gave her courage.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32. “我相信你，”老师温暖地说。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"I believe in you," the teacher said warmly.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33. 失败后妈妈的拥抱安慰了他。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3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Mom’s hug comforted him after the loss.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13/20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帮助与支持 (Support)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34. 他成功时队友大声欢呼。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Teammates cheered loudly when he succeeded.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35. 陌生人的善意话语振奋了她。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Kind words from a stranger lifted her spirits.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14/20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成长感悟 (Lessons Learned)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36. 这次经历改变了她对自己的看法。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This experience changed how she saw herself.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37. 他发现了自己内心的力量。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3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He discovered his own inner strength.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38. 她明白尝试比胜利更重要。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3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00" b="1">
                <a:solidFill>
                  <a:srgbClr val="C7371F"/>
                </a:solidFill>
              </a:defRPr>
            </a:pPr>
            <a:r>
              <a:rPr sz="2300" b="1">
                <a:solidFill>
                  <a:srgbClr val="C7371F"/>
                </a:solidFill>
              </a:rPr>
              <a:t>Trying was more important than winning, she knew.</a:t>
            </a:r>
            <a:endParaRPr sz="23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15/20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成长感悟 (Lessons Learned)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39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39. 进步而非完美成了他的目标。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3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Progress, not perfection, became his goal.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40. 她学会了平静面对问题。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learned to face problems with a calm heart.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16/20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行动体现成长 (Actions Showing Growth)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41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41. 他主动回答难题。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1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volunteered to answer the hard question.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42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42. 她在公园安慰受惊的孩子。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2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comforted a scared child at the park.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43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43. 他主动打扫房间。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43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He cleaned his room without being asked.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17/20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</a:rPr>
              <a:t>行动体现成长 (Actions Showing Growth)</a:t>
            </a:r>
            <a:endParaRPr sz="2800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44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7805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44. 她把午餐分给挨饿的同学。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4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She shared her lunch with a hungry classmate.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45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742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00">
                <a:solidFill>
                  <a:srgbClr val="111111"/>
                </a:solidFill>
              </a:defRPr>
            </a:pPr>
            <a:r>
              <a:rPr sz="3700">
                <a:solidFill>
                  <a:srgbClr val="111111"/>
                </a:solidFill>
              </a:rPr>
              <a:t>45. 昔日的恐惧不再束缚他。</a:t>
            </a:r>
            <a:endParaRPr sz="37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5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C7371F"/>
                </a:solidFill>
              </a:defRPr>
            </a:pPr>
            <a:r>
              <a:rPr sz="2550" b="1">
                <a:solidFill>
                  <a:srgbClr val="C7371F"/>
                </a:solidFill>
              </a:rPr>
              <a:t>His old fears no longer held him back.</a:t>
            </a:r>
            <a:endParaRPr sz="255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18/20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象征性结尾 (Meaningful Endings)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4478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145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19145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46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5709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46. 阳光洒进窗户——新的开始。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5622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6"/>
          <p:cNvSpPr>
            <a:spLocks noGrp="1"/>
          </p:cNvSpPr>
          <p:nvPr/>
        </p:nvSpPr>
        <p:spPr>
          <a:xfrm>
            <a:off x="2171700" y="21431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Sunlight streamed through the window — a new beginning.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291465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1813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33813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47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03784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47. 她合上日记本，对明天充满希望。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0290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47"/>
          <p:cNvSpPr>
            <a:spLocks noGrp="1"/>
          </p:cNvSpPr>
          <p:nvPr/>
        </p:nvSpPr>
        <p:spPr>
          <a:xfrm>
            <a:off x="2171700" y="36099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She closed the journal, full of hope for tomorrow.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14400" y="4381500"/>
            <a:ext cx="9772650" cy="1295400"/>
          </a:xfrm>
          <a:prstGeom prst="roundRect">
            <a:avLst>
              <a:gd name="adj" fmla="val 5882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62050" y="4648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62050" y="4848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48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52650" y="450469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48. 她种下的小种子发芽了，如同她的勇气。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2152650" y="5495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21" name="ans_48"/>
          <p:cNvSpPr>
            <a:spLocks noGrp="1"/>
          </p:cNvSpPr>
          <p:nvPr/>
        </p:nvSpPr>
        <p:spPr>
          <a:xfrm>
            <a:off x="2171700" y="5076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The little seed she planted grew, just like her courage.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19/20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590550" y="552450"/>
            <a:ext cx="7239000" cy="914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52500" y="6858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象征性结尾 (Meaningful Endings)</a:t>
            </a:r>
            <a:endParaRPr sz="3225" b="1">
              <a:solidFill>
                <a:srgbClr val="000000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14400" y="165735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9240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62050" y="212407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49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152650" y="192405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49. 镜中的她向更强大的自己微笑。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2152650" y="277177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9" name="ans_49"/>
          <p:cNvSpPr>
            <a:spLocks noGrp="1"/>
          </p:cNvSpPr>
          <p:nvPr/>
        </p:nvSpPr>
        <p:spPr>
          <a:xfrm>
            <a:off x="2171700" y="235267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Looking in the mirror, she smiled at her stronger self.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14400" y="3619500"/>
            <a:ext cx="9772650" cy="1638300"/>
          </a:xfrm>
          <a:prstGeom prst="roundRect">
            <a:avLst>
              <a:gd name="adj" fmla="val 4651"/>
            </a:avLst>
          </a:prstGeom>
          <a:solidFill>
            <a:srgbClr val="FFF8E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62050" y="388620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1430">
            <a:solidFill>
              <a:srgbClr val="E7B57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62050" y="4086225"/>
            <a:ext cx="72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97316"/>
                </a:solidFill>
              </a:defRPr>
            </a:pPr>
            <a:r>
              <a:rPr sz="2025" b="1">
                <a:solidFill>
                  <a:srgbClr val="F97316"/>
                </a:solidFill>
              </a:rPr>
              <a:t>50</a:t>
            </a:r>
            <a:endParaRPr sz="2025" b="1">
              <a:solidFill>
                <a:srgbClr val="F9731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152650" y="3886200"/>
            <a:ext cx="8477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00">
                <a:solidFill>
                  <a:srgbClr val="111111"/>
                </a:solidFill>
              </a:defRPr>
            </a:pPr>
            <a:r>
              <a:rPr sz="2600">
                <a:solidFill>
                  <a:srgbClr val="111111"/>
                </a:solidFill>
              </a:rPr>
              <a:t>50. 夜空繁星闪烁，仿佛说：“继续努力。”</a:t>
            </a:r>
            <a:endParaRPr sz="2600">
              <a:solidFill>
                <a:srgbClr val="111111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52650" y="4733925"/>
            <a:ext cx="8477250" cy="0"/>
          </a:xfrm>
          <a:prstGeom prst="line">
            <a:avLst/>
          </a:prstGeom>
          <a:noFill/>
          <a:ln w="16193">
            <a:solidFill>
              <a:srgbClr val="8C7363"/>
            </a:solidFill>
            <a:prstDash val="solid"/>
          </a:ln>
        </p:spPr>
      </p:sp>
      <p:sp>
        <p:nvSpPr>
          <p:cNvPr id="15" name="ans_50"/>
          <p:cNvSpPr>
            <a:spLocks noGrp="1"/>
          </p:cNvSpPr>
          <p:nvPr/>
        </p:nvSpPr>
        <p:spPr>
          <a:xfrm>
            <a:off x="2171700" y="4314825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00" b="1">
                <a:solidFill>
                  <a:srgbClr val="C7371F"/>
                </a:solidFill>
              </a:defRPr>
            </a:pPr>
            <a:r>
              <a:rPr sz="2200" b="1">
                <a:solidFill>
                  <a:srgbClr val="C7371F"/>
                </a:solidFill>
              </a:rPr>
              <a:t>Stars shone bright in the dark sky, reminding her: "Keep trying."</a:t>
            </a:r>
            <a:endParaRPr sz="2200" b="1">
              <a:solidFill>
                <a:srgbClr val="C7371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725150" y="59626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>
                <a:solidFill>
                  <a:srgbClr val="9A7B67"/>
                </a:solidFill>
              </a:defRPr>
            </a:pPr>
            <a:r>
              <a:rPr sz="1350">
                <a:solidFill>
                  <a:srgbClr val="9A7B67"/>
                </a:solidFill>
              </a:rPr>
              <a:t>20/20</a:t>
            </a:r>
            <a:endParaRPr sz="1350">
              <a:solidFill>
                <a:srgbClr val="9A7B6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3782</Words>
  <Application>WPS 演示</Application>
  <PresentationFormat>Converted Presentation</PresentationFormat>
  <Paragraphs>380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English Courseware PPT</dc:creator>
  <cp:lastModifiedBy>English Courseware PPT</cp:lastModifiedBy>
  <cp:revision>3</cp:revision>
  <dcterms:created xsi:type="dcterms:W3CDTF">2026-06-17T07:28:00Z</dcterms:created>
  <dcterms:modified xsi:type="dcterms:W3CDTF">2026-06-17T10:25:40Z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79BA85E9CDB04492B91FE264466D8E3D_12</vt:lpwstr>
  </property>
  <property fmtid="{D5CDD505-2E9C-101B-9397-08002B2CF9AE}" pid="3" name="KSOProductBuildVer">
    <vt:lpwstr>2052-12.8.2.18913</vt:lpwstr>
  </property>
</Properties>
</file>