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98" r:id="rId4"/>
    <p:sldId id="299" r:id="rId5"/>
    <p:sldId id="300" r:id="rId6"/>
    <p:sldId id="301" r:id="rId7"/>
    <p:sldId id="302" r:id="rId8"/>
    <p:sldId id="303" r:id="rId9"/>
    <p:sldId id="304" r:id="rId10"/>
    <p:sldId id="305" r:id="rId11"/>
    <p:sldId id="306" r:id="rId12"/>
    <p:sldId id="307" r:id="rId13"/>
    <p:sldId id="308" r:id="rId14"/>
    <p:sldId id="309" r:id="rId15"/>
    <p:sldId id="310" r:id="rId16"/>
    <p:sldId id="311" r:id="rId17"/>
    <p:sldId id="312" r:id="rId18"/>
    <p:sldId id="313" r:id="rId19"/>
    <p:sldId id="314" r:id="rId20"/>
    <p:sldId id="315" r:id="rId21"/>
    <p:sldId id="316" r:id="rId22"/>
    <p:sldId id="317" r:id="rId23"/>
    <p:sldId id="318" r:id="rId24"/>
    <p:sldId id="319" r:id="rId25"/>
    <p:sldId id="332" r:id="rId26"/>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2" name="Picture 1" descr="unit-01-theme.png"/>
          <p:cNvPicPr>
            <a:picLocks noChangeAspect="1"/>
          </p:cNvPicPr>
          <p:nvPr/>
        </p:nvPicPr>
        <p:blipFill>
          <a:blip r:embed="rId1"/>
          <a:stretch>
            <a:fillRect/>
          </a:stretch>
        </p:blipFill>
        <p:spPr>
          <a:xfrm>
            <a:off x="821792" y="841248"/>
            <a:ext cx="4391454" cy="4937760"/>
          </a:xfrm>
          <a:prstGeom prst="rect">
            <a:avLst/>
          </a:prstGeom>
        </p:spPr>
      </p:pic>
      <p:sp>
        <p:nvSpPr>
          <p:cNvPr id="3" name="TextBox 2"/>
          <p:cNvSpPr txBox="1"/>
          <p:nvPr/>
        </p:nvSpPr>
        <p:spPr>
          <a:xfrm>
            <a:off x="5897880" y="1783080"/>
            <a:ext cx="5120640" cy="1097280"/>
          </a:xfrm>
          <a:prstGeom prst="rect">
            <a:avLst/>
          </a:prstGeom>
          <a:noFill/>
        </p:spPr>
        <p:txBody>
          <a:bodyPr wrap="square" lIns="36576" tIns="18288" rIns="36576" bIns="18288" anchor="t">
            <a:spAutoFit/>
          </a:bodyPr>
          <a:lstStyle/>
          <a:p>
            <a:pPr>
              <a:spcAft>
                <a:spcPts val="300"/>
              </a:spcAft>
            </a:pPr>
            <a:r>
              <a:rPr sz="3900" b="1">
                <a:solidFill>
                  <a:srgbClr val="0F0F0F"/>
                </a:solidFill>
                <a:latin typeface="微软雅黑" panose="020B0503020204020204" charset="-122"/>
              </a:rPr>
              <a:t>新人教版英语八年级上</a:t>
            </a:r>
            <a:endParaRPr sz="3900" b="1">
              <a:solidFill>
                <a:srgbClr val="0F0F0F"/>
              </a:solidFill>
              <a:latin typeface="微软雅黑" panose="020B0503020204020204" charset="-122"/>
            </a:endParaRPr>
          </a:p>
          <a:p>
            <a:pPr>
              <a:spcAft>
                <a:spcPts val="300"/>
              </a:spcAft>
            </a:pPr>
            <a:r>
              <a:rPr sz="3900" b="1">
                <a:solidFill>
                  <a:srgbClr val="0F0F0F"/>
                </a:solidFill>
                <a:latin typeface="微软雅黑" panose="020B0503020204020204" charset="-122"/>
              </a:rPr>
              <a:t>Unit 1-8 作文讲义</a:t>
            </a:r>
            <a:endParaRPr sz="3900" b="1">
              <a:solidFill>
                <a:srgbClr val="0F0F0F"/>
              </a:solidFill>
              <a:latin typeface="微软雅黑" panose="020B0503020204020204" charset="-122"/>
            </a:endParaRPr>
          </a:p>
        </p:txBody>
      </p:sp>
      <p:sp>
        <p:nvSpPr>
          <p:cNvPr id="4" name="TextBox 3"/>
          <p:cNvSpPr txBox="1"/>
          <p:nvPr/>
        </p:nvSpPr>
        <p:spPr>
          <a:xfrm>
            <a:off x="5943600" y="3703320"/>
            <a:ext cx="5120640" cy="329184"/>
          </a:xfrm>
          <a:prstGeom prst="rect">
            <a:avLst/>
          </a:prstGeom>
          <a:noFill/>
        </p:spPr>
        <p:txBody>
          <a:bodyPr wrap="square" lIns="36576" tIns="18288" rIns="36576" bIns="18288" anchor="t">
            <a:spAutoFit/>
          </a:bodyPr>
          <a:lstStyle/>
          <a:p>
            <a:pPr>
              <a:spcAft>
                <a:spcPts val="300"/>
              </a:spcAft>
            </a:pPr>
            <a:r>
              <a:rPr sz="1800" b="0">
                <a:solidFill>
                  <a:srgbClr val="626262"/>
                </a:solidFill>
                <a:latin typeface="微软雅黑" panose="020B0503020204020204" charset="-122"/>
              </a:rPr>
              <a:t>课堂投影新版 · 排版修复验收版</a:t>
            </a:r>
            <a:endParaRPr sz="1800" b="0">
              <a:solidFill>
                <a:srgbClr val="626262"/>
              </a:solidFill>
              <a:latin typeface="微软雅黑" panose="020B0503020204020204" charset="-122"/>
            </a:endParaRPr>
          </a:p>
        </p:txBody>
      </p:sp>
      <p:sp>
        <p:nvSpPr>
          <p:cNvPr id="5" name="TextBox 4"/>
          <p:cNvSpPr txBox="1"/>
          <p:nvPr/>
        </p:nvSpPr>
        <p:spPr>
          <a:xfrm>
            <a:off x="11292840" y="6437376"/>
            <a:ext cx="411480" cy="201168"/>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01</a:t>
            </a:r>
            <a:endParaRPr sz="1000" b="0">
              <a:solidFill>
                <a:srgbClr val="626262"/>
              </a:solidFill>
              <a:latin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2" name="Picture 1" descr="unit-02-theme.png"/>
          <p:cNvPicPr>
            <a:picLocks noChangeAspect="1"/>
          </p:cNvPicPr>
          <p:nvPr/>
        </p:nvPicPr>
        <p:blipFill>
          <a:blip r:embed="rId1"/>
          <a:stretch>
            <a:fillRect/>
          </a:stretch>
        </p:blipFill>
        <p:spPr>
          <a:xfrm>
            <a:off x="888329" y="777240"/>
            <a:ext cx="4432116" cy="4983480"/>
          </a:xfrm>
          <a:prstGeom prst="rect">
            <a:avLst/>
          </a:prstGeom>
        </p:spPr>
      </p:pic>
      <p:sp>
        <p:nvSpPr>
          <p:cNvPr id="3" name="TextBox 2"/>
          <p:cNvSpPr txBox="1"/>
          <p:nvPr/>
        </p:nvSpPr>
        <p:spPr>
          <a:xfrm>
            <a:off x="6080760" y="2148840"/>
            <a:ext cx="4389120" cy="548640"/>
          </a:xfrm>
          <a:prstGeom prst="rect">
            <a:avLst/>
          </a:prstGeom>
          <a:noFill/>
        </p:spPr>
        <p:txBody>
          <a:bodyPr wrap="square" lIns="36576" tIns="18288" rIns="36576" bIns="18288" anchor="t">
            <a:spAutoFit/>
          </a:bodyPr>
          <a:lstStyle/>
          <a:p>
            <a:pPr>
              <a:spcAft>
                <a:spcPts val="300"/>
              </a:spcAft>
            </a:pPr>
            <a:r>
              <a:rPr sz="4600" b="1">
                <a:solidFill>
                  <a:srgbClr val="0F0F0F"/>
                </a:solidFill>
                <a:latin typeface="Arial" panose="020B0604020202020204"/>
              </a:rPr>
              <a:t>Unit 2</a:t>
            </a:r>
            <a:endParaRPr sz="4600" b="1">
              <a:solidFill>
                <a:srgbClr val="0F0F0F"/>
              </a:solidFill>
              <a:latin typeface="Arial" panose="020B0604020202020204"/>
            </a:endParaRPr>
          </a:p>
        </p:txBody>
      </p:sp>
      <p:sp>
        <p:nvSpPr>
          <p:cNvPr id="4" name="TextBox 3"/>
          <p:cNvSpPr txBox="1"/>
          <p:nvPr/>
        </p:nvSpPr>
        <p:spPr>
          <a:xfrm>
            <a:off x="6108192" y="2880360"/>
            <a:ext cx="5074920" cy="640080"/>
          </a:xfrm>
          <a:prstGeom prst="rect">
            <a:avLst/>
          </a:prstGeom>
          <a:noFill/>
        </p:spPr>
        <p:txBody>
          <a:bodyPr wrap="square" lIns="36576" tIns="18288" rIns="36576" bIns="18288" anchor="t">
            <a:spAutoFit/>
          </a:bodyPr>
          <a:lstStyle/>
          <a:p>
            <a:pPr>
              <a:spcAft>
                <a:spcPts val="300"/>
              </a:spcAft>
            </a:pPr>
            <a:r>
              <a:rPr sz="3000" b="1">
                <a:solidFill>
                  <a:srgbClr val="0F0F0F"/>
                </a:solidFill>
                <a:latin typeface="Arial" panose="020B0604020202020204"/>
              </a:rPr>
              <a:t>Home Sweet Home</a:t>
            </a:r>
            <a:endParaRPr sz="3000" b="1">
              <a:solidFill>
                <a:srgbClr val="0F0F0F"/>
              </a:solidFill>
              <a:latin typeface="Arial" panose="020B0604020202020204"/>
            </a:endParaRPr>
          </a:p>
        </p:txBody>
      </p:sp>
      <p:sp>
        <p:nvSpPr>
          <p:cNvPr id="5" name="TextBox 4"/>
          <p:cNvSpPr txBox="1"/>
          <p:nvPr/>
        </p:nvSpPr>
        <p:spPr>
          <a:xfrm>
            <a:off x="6144768" y="3730752"/>
            <a:ext cx="4389120" cy="256032"/>
          </a:xfrm>
          <a:prstGeom prst="rect">
            <a:avLst/>
          </a:prstGeom>
          <a:noFill/>
        </p:spPr>
        <p:txBody>
          <a:bodyPr wrap="square" lIns="36576" tIns="18288" rIns="36576" bIns="18288" anchor="t">
            <a:spAutoFit/>
          </a:bodyPr>
          <a:lstStyle/>
          <a:p>
            <a:pPr>
              <a:spcAft>
                <a:spcPts val="300"/>
              </a:spcAft>
            </a:pPr>
            <a:r>
              <a:rPr sz="1700" b="0">
                <a:solidFill>
                  <a:srgbClr val="626262"/>
                </a:solidFill>
                <a:latin typeface="微软雅黑" panose="020B0503020204020204" charset="-122"/>
              </a:rPr>
              <a:t>作文讲义 · 课堂投影新版</a:t>
            </a:r>
            <a:endParaRPr sz="1700" b="0">
              <a:solidFill>
                <a:srgbClr val="626262"/>
              </a:solidFill>
              <a:latin typeface="微软雅黑" panose="020B0503020204020204" charset="-122"/>
            </a:endParaRPr>
          </a:p>
        </p:txBody>
      </p:sp>
      <p:sp>
        <p:nvSpPr>
          <p:cNvPr id="6" name="TextBox 5"/>
          <p:cNvSpPr txBox="1"/>
          <p:nvPr/>
        </p:nvSpPr>
        <p:spPr>
          <a:xfrm>
            <a:off x="11292840" y="6437376"/>
            <a:ext cx="411480" cy="201168"/>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43</a:t>
            </a:r>
            <a:endParaRPr sz="1000" b="0">
              <a:solidFill>
                <a:srgbClr val="626262"/>
              </a:solidFill>
              <a:latin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02920" y="219456"/>
            <a:ext cx="10241280" cy="402336"/>
          </a:xfrm>
          <a:prstGeom prst="rect">
            <a:avLst/>
          </a:prstGeom>
          <a:noFill/>
        </p:spPr>
        <p:txBody>
          <a:bodyPr wrap="square" lIns="36576" tIns="18288" rIns="36576" bIns="18288" anchor="t">
            <a:spAutoFit/>
          </a:bodyPr>
          <a:lstStyle/>
          <a:p>
            <a:pPr>
              <a:spcAft>
                <a:spcPts val="300"/>
              </a:spcAft>
            </a:pPr>
            <a:r>
              <a:rPr sz="2800" b="1">
                <a:solidFill>
                  <a:srgbClr val="0F0F0F"/>
                </a:solidFill>
                <a:latin typeface="微软雅黑" panose="020B0503020204020204" charset="-122"/>
              </a:rPr>
              <a:t>Unit 2 Home Sweet Home · 写作任务与审题</a:t>
            </a:r>
            <a:endParaRPr sz="2800" b="1">
              <a:solidFill>
                <a:srgbClr val="0F0F0F"/>
              </a:solidFill>
              <a:latin typeface="微软雅黑" panose="020B0503020204020204" charset="-122"/>
            </a:endParaRPr>
          </a:p>
        </p:txBody>
      </p:sp>
      <p:sp>
        <p:nvSpPr>
          <p:cNvPr id="3" name="TextBox 2"/>
          <p:cNvSpPr txBox="1"/>
          <p:nvPr/>
        </p:nvSpPr>
        <p:spPr>
          <a:xfrm>
            <a:off x="10012680" y="320040"/>
            <a:ext cx="1691640" cy="201168"/>
          </a:xfrm>
          <a:prstGeom prst="rect">
            <a:avLst/>
          </a:prstGeom>
          <a:noFill/>
        </p:spPr>
        <p:txBody>
          <a:bodyPr wrap="square" lIns="36576" tIns="18288" rIns="36576" bIns="18288" anchor="t">
            <a:spAutoFit/>
          </a:bodyPr>
          <a:lstStyle/>
          <a:p>
            <a:pPr algn="r">
              <a:spcAft>
                <a:spcPts val="300"/>
              </a:spcAft>
            </a:pPr>
            <a:r>
              <a:rPr sz="1100" b="0">
                <a:solidFill>
                  <a:srgbClr val="626262"/>
                </a:solidFill>
                <a:latin typeface="微软雅黑" panose="020B0503020204020204" charset="-122"/>
              </a:rPr>
              <a:t>editable</a:t>
            </a:r>
            <a:endParaRPr sz="1100" b="0">
              <a:solidFill>
                <a:srgbClr val="626262"/>
              </a:solidFill>
              <a:latin typeface="微软雅黑" panose="020B0503020204020204" charset="-122"/>
            </a:endParaRPr>
          </a:p>
        </p:txBody>
      </p:sp>
      <p:sp>
        <p:nvSpPr>
          <p:cNvPr id="4" name="Rectangle 3"/>
          <p:cNvSpPr/>
          <p:nvPr/>
        </p:nvSpPr>
        <p:spPr>
          <a:xfrm>
            <a:off x="502920" y="749808"/>
            <a:ext cx="11201400" cy="16459"/>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024128"/>
            <a:ext cx="5074920" cy="329184"/>
          </a:xfrm>
          <a:prstGeom prst="rect">
            <a:avLst/>
          </a:prstGeom>
          <a:noFill/>
        </p:spPr>
        <p:txBody>
          <a:bodyPr wrap="square" lIns="36576" tIns="18288" rIns="36576" bIns="18288" anchor="t">
            <a:spAutoFit/>
          </a:bodyPr>
          <a:lstStyle/>
          <a:p>
            <a:pPr>
              <a:spcAft>
                <a:spcPts val="300"/>
              </a:spcAft>
            </a:pPr>
            <a:r>
              <a:rPr sz="2400" b="1">
                <a:solidFill>
                  <a:srgbClr val="386FA4"/>
                </a:solidFill>
                <a:latin typeface="微软雅黑" panose="020B0503020204020204" charset="-122"/>
              </a:rPr>
              <a:t>写作任务</a:t>
            </a:r>
            <a:endParaRPr sz="2400" b="1">
              <a:solidFill>
                <a:srgbClr val="386FA4"/>
              </a:solidFill>
              <a:latin typeface="微软雅黑" panose="020B0503020204020204" charset="-122"/>
            </a:endParaRPr>
          </a:p>
        </p:txBody>
      </p:sp>
      <p:sp>
        <p:nvSpPr>
          <p:cNvPr id="6" name="TextBox 5"/>
          <p:cNvSpPr txBox="1"/>
          <p:nvPr/>
        </p:nvSpPr>
        <p:spPr>
          <a:xfrm>
            <a:off x="6446520" y="1024128"/>
            <a:ext cx="5074920" cy="329184"/>
          </a:xfrm>
          <a:prstGeom prst="rect">
            <a:avLst/>
          </a:prstGeom>
          <a:noFill/>
        </p:spPr>
        <p:txBody>
          <a:bodyPr wrap="square" lIns="36576" tIns="18288" rIns="36576" bIns="18288" anchor="t">
            <a:spAutoFit/>
          </a:bodyPr>
          <a:lstStyle/>
          <a:p>
            <a:pPr>
              <a:spcAft>
                <a:spcPts val="300"/>
              </a:spcAft>
            </a:pPr>
            <a:r>
              <a:rPr sz="2400" b="1">
                <a:solidFill>
                  <a:srgbClr val="386FA4"/>
                </a:solidFill>
                <a:latin typeface="微软雅黑" panose="020B0503020204020204" charset="-122"/>
              </a:rPr>
              <a:t>审题指导</a:t>
            </a:r>
            <a:endParaRPr sz="2400" b="1">
              <a:solidFill>
                <a:srgbClr val="386FA4"/>
              </a:solidFill>
              <a:latin typeface="微软雅黑" panose="020B0503020204020204" charset="-122"/>
            </a:endParaRPr>
          </a:p>
        </p:txBody>
      </p:sp>
      <p:sp>
        <p:nvSpPr>
          <p:cNvPr id="7" name="TextBox 6"/>
          <p:cNvSpPr txBox="1"/>
          <p:nvPr/>
        </p:nvSpPr>
        <p:spPr>
          <a:xfrm>
            <a:off x="658368" y="1481328"/>
            <a:ext cx="5193792" cy="4736592"/>
          </a:xfrm>
          <a:prstGeom prst="rect">
            <a:avLst/>
          </a:prstGeom>
          <a:noFill/>
        </p:spPr>
        <p:txBody>
          <a:bodyPr wrap="square" lIns="36576" tIns="18288" rIns="36576" bIns="18288" anchor="t">
            <a:spAutoFit/>
          </a:bodyPr>
          <a:lstStyle/>
          <a:p>
            <a:pPr>
              <a:spcAft>
                <a:spcPts val="300"/>
              </a:spcAft>
            </a:pPr>
            <a:r>
              <a:rPr sz="2100" b="0">
                <a:solidFill>
                  <a:srgbClr val="0F0F0F"/>
                </a:solidFill>
                <a:latin typeface="微软雅黑" panose="020B0503020204020204" charset="-122"/>
              </a:rPr>
              <a:t>在中国传统文化中，“家”是一个永恒的话题</a:t>
            </a:r>
            <a:endParaRPr sz="2100" b="0">
              <a:solidFill>
                <a:srgbClr val="0F0F0F"/>
              </a:solidFill>
              <a:latin typeface="微软雅黑" panose="020B0503020204020204" charset="-122"/>
            </a:endParaRPr>
          </a:p>
          <a:p>
            <a:pPr>
              <a:spcAft>
                <a:spcPts val="300"/>
              </a:spcAft>
            </a:pPr>
            <a:r>
              <a:rPr sz="2100" b="0">
                <a:solidFill>
                  <a:srgbClr val="0F0F0F"/>
                </a:solidFill>
                <a:latin typeface="微软雅黑" panose="020B0503020204020204" charset="-122"/>
              </a:rPr>
              <a:t>。家人相聚一堂,才是完整的家,温暖而有力</a:t>
            </a:r>
            <a:endParaRPr sz="2100" b="0">
              <a:solidFill>
                <a:srgbClr val="0F0F0F"/>
              </a:solidFill>
              <a:latin typeface="微软雅黑" panose="020B0503020204020204" charset="-122"/>
            </a:endParaRPr>
          </a:p>
          <a:p>
            <a:pPr>
              <a:spcAft>
                <a:spcPts val="300"/>
              </a:spcAft>
            </a:pPr>
            <a:r>
              <a:rPr sz="2100" b="0">
                <a:solidFill>
                  <a:srgbClr val="0F0F0F"/>
                </a:solidFill>
                <a:latin typeface="微软雅黑" panose="020B0503020204020204" charset="-122"/>
              </a:rPr>
              <a:t>量。</a:t>
            </a:r>
            <a:endParaRPr sz="2100" b="0">
              <a:solidFill>
                <a:srgbClr val="0F0F0F"/>
              </a:solidFill>
              <a:latin typeface="微软雅黑" panose="020B0503020204020204" charset="-122"/>
            </a:endParaRPr>
          </a:p>
          <a:p>
            <a:pPr>
              <a:spcAft>
                <a:spcPts val="300"/>
              </a:spcAft>
            </a:pPr>
            <a:r>
              <a:rPr sz="2100" b="0">
                <a:solidFill>
                  <a:srgbClr val="0F0F0F"/>
                </a:solidFill>
                <a:latin typeface="微软雅黑" panose="020B0503020204020204" charset="-122"/>
              </a:rPr>
              <a:t>请你以“Home”为题,写一篇约 110</a:t>
            </a:r>
            <a:endParaRPr sz="2100" b="0">
              <a:solidFill>
                <a:srgbClr val="0F0F0F"/>
              </a:solidFill>
              <a:latin typeface="微软雅黑" panose="020B0503020204020204" charset="-122"/>
            </a:endParaRPr>
          </a:p>
          <a:p>
            <a:pPr>
              <a:spcAft>
                <a:spcPts val="300"/>
              </a:spcAft>
            </a:pPr>
            <a:r>
              <a:rPr sz="2100" b="0">
                <a:solidFill>
                  <a:srgbClr val="0F0F0F"/>
                </a:solidFill>
                <a:latin typeface="微软雅黑" panose="020B0503020204020204" charset="-122"/>
              </a:rPr>
              <a:t>词的英语短文,让外国朋友了解中国文化中</a:t>
            </a:r>
            <a:endParaRPr sz="2100" b="0">
              <a:solidFill>
                <a:srgbClr val="0F0F0F"/>
              </a:solidFill>
              <a:latin typeface="微软雅黑" panose="020B0503020204020204" charset="-122"/>
            </a:endParaRPr>
          </a:p>
          <a:p>
            <a:pPr>
              <a:spcAft>
                <a:spcPts val="300"/>
              </a:spcAft>
            </a:pPr>
            <a:r>
              <a:rPr sz="2100" b="0">
                <a:solidFill>
                  <a:srgbClr val="0F0F0F"/>
                </a:solidFill>
                <a:latin typeface="微软雅黑" panose="020B0503020204020204" charset="-122"/>
              </a:rPr>
              <a:t>的“家”。</a:t>
            </a:r>
            <a:endParaRPr sz="2100" b="0">
              <a:solidFill>
                <a:srgbClr val="0F0F0F"/>
              </a:solidFill>
              <a:latin typeface="微软雅黑" panose="020B0503020204020204" charset="-122"/>
            </a:endParaRPr>
          </a:p>
        </p:txBody>
      </p:sp>
      <p:sp>
        <p:nvSpPr>
          <p:cNvPr id="8" name="TextBox 7"/>
          <p:cNvSpPr txBox="1"/>
          <p:nvPr/>
        </p:nvSpPr>
        <p:spPr>
          <a:xfrm>
            <a:off x="6446520" y="1481328"/>
            <a:ext cx="5193792" cy="4736592"/>
          </a:xfrm>
          <a:prstGeom prst="rect">
            <a:avLst/>
          </a:prstGeom>
          <a:noFill/>
        </p:spPr>
        <p:txBody>
          <a:bodyPr wrap="square" lIns="36576" tIns="18288" rIns="36576" bIns="18288" anchor="t">
            <a:spAutoFit/>
          </a:bodyPr>
          <a:lstStyle/>
          <a:p>
            <a:pPr>
              <a:spcAft>
                <a:spcPts val="300"/>
              </a:spcAft>
            </a:pPr>
            <a:r>
              <a:rPr sz="2100" b="0">
                <a:solidFill>
                  <a:srgbClr val="0F0F0F"/>
                </a:solidFill>
                <a:latin typeface="微软雅黑" panose="020B0503020204020204" charset="-122"/>
              </a:rPr>
              <a:t>审主题：介绍“家”文化</a:t>
            </a:r>
            <a:endParaRPr sz="2100" b="0">
              <a:solidFill>
                <a:srgbClr val="0F0F0F"/>
              </a:solidFill>
              <a:latin typeface="微软雅黑" panose="020B0503020204020204" charset="-122"/>
            </a:endParaRPr>
          </a:p>
          <a:p>
            <a:pPr>
              <a:spcAft>
                <a:spcPts val="300"/>
              </a:spcAft>
            </a:pPr>
            <a:r>
              <a:rPr sz="2100" b="0">
                <a:solidFill>
                  <a:srgbClr val="0F0F0F"/>
                </a:solidFill>
                <a:latin typeface="微软雅黑" panose="020B0503020204020204" charset="-122"/>
              </a:rPr>
              <a:t>审文体：说明文</a:t>
            </a:r>
            <a:endParaRPr sz="2100" b="0">
              <a:solidFill>
                <a:srgbClr val="0F0F0F"/>
              </a:solidFill>
              <a:latin typeface="微软雅黑" panose="020B0503020204020204" charset="-122"/>
            </a:endParaRPr>
          </a:p>
          <a:p>
            <a:pPr>
              <a:spcAft>
                <a:spcPts val="300"/>
              </a:spcAft>
            </a:pPr>
            <a:r>
              <a:rPr sz="2100" b="0">
                <a:solidFill>
                  <a:srgbClr val="0F0F0F"/>
                </a:solidFill>
                <a:latin typeface="微软雅黑" panose="020B0503020204020204" charset="-122"/>
              </a:rPr>
              <a:t>审人称：第一人称</a:t>
            </a:r>
            <a:endParaRPr sz="2100" b="0">
              <a:solidFill>
                <a:srgbClr val="0F0F0F"/>
              </a:solidFill>
              <a:latin typeface="微软雅黑" panose="020B0503020204020204" charset="-122"/>
            </a:endParaRPr>
          </a:p>
          <a:p>
            <a:pPr>
              <a:spcAft>
                <a:spcPts val="300"/>
              </a:spcAft>
            </a:pPr>
            <a:r>
              <a:rPr sz="2100" b="0">
                <a:solidFill>
                  <a:srgbClr val="0F0F0F"/>
                </a:solidFill>
                <a:latin typeface="微软雅黑" panose="020B0503020204020204" charset="-122"/>
              </a:rPr>
              <a:t>审时态：一般现在时</a:t>
            </a:r>
            <a:endParaRPr sz="2100" b="0">
              <a:solidFill>
                <a:srgbClr val="0F0F0F"/>
              </a:solidFill>
              <a:latin typeface="微软雅黑" panose="020B0503020204020204" charset="-122"/>
            </a:endParaRPr>
          </a:p>
        </p:txBody>
      </p:sp>
      <p:sp>
        <p:nvSpPr>
          <p:cNvPr id="9" name="Rectangle 8"/>
          <p:cNvSpPr/>
          <p:nvPr/>
        </p:nvSpPr>
        <p:spPr>
          <a:xfrm>
            <a:off x="6108192" y="1024128"/>
            <a:ext cx="16459" cy="5230368"/>
          </a:xfrm>
          <a:prstGeom prst="rect">
            <a:avLst/>
          </a:prstGeom>
          <a:solidFill>
            <a:srgbClr val="E1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92840" y="6437376"/>
            <a:ext cx="411480" cy="201168"/>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44</a:t>
            </a:r>
            <a:endParaRPr sz="1000" b="0">
              <a:solidFill>
                <a:srgbClr val="626262"/>
              </a:solidFill>
              <a:latin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02920" y="219456"/>
            <a:ext cx="10241280" cy="402336"/>
          </a:xfrm>
          <a:prstGeom prst="rect">
            <a:avLst/>
          </a:prstGeom>
          <a:noFill/>
        </p:spPr>
        <p:txBody>
          <a:bodyPr wrap="square" lIns="36576" tIns="18288" rIns="36576" bIns="18288" anchor="t">
            <a:spAutoFit/>
          </a:bodyPr>
          <a:lstStyle/>
          <a:p>
            <a:pPr>
              <a:spcAft>
                <a:spcPts val="300"/>
              </a:spcAft>
            </a:pPr>
            <a:r>
              <a:rPr sz="2800" b="1">
                <a:solidFill>
                  <a:srgbClr val="0F0F0F"/>
                </a:solidFill>
                <a:latin typeface="微软雅黑" panose="020B0503020204020204" charset="-122"/>
              </a:rPr>
              <a:t>Unit 2 Home Sweet Home · 写作框架</a:t>
            </a:r>
            <a:endParaRPr sz="2800" b="1">
              <a:solidFill>
                <a:srgbClr val="0F0F0F"/>
              </a:solidFill>
              <a:latin typeface="微软雅黑" panose="020B0503020204020204" charset="-122"/>
            </a:endParaRPr>
          </a:p>
        </p:txBody>
      </p:sp>
      <p:sp>
        <p:nvSpPr>
          <p:cNvPr id="3" name="TextBox 2"/>
          <p:cNvSpPr txBox="1"/>
          <p:nvPr/>
        </p:nvSpPr>
        <p:spPr>
          <a:xfrm>
            <a:off x="10012680" y="320040"/>
            <a:ext cx="1691640" cy="201168"/>
          </a:xfrm>
          <a:prstGeom prst="rect">
            <a:avLst/>
          </a:prstGeom>
          <a:noFill/>
        </p:spPr>
        <p:txBody>
          <a:bodyPr wrap="square" lIns="36576" tIns="18288" rIns="36576" bIns="18288" anchor="t">
            <a:spAutoFit/>
          </a:bodyPr>
          <a:lstStyle/>
          <a:p>
            <a:pPr algn="r">
              <a:spcAft>
                <a:spcPts val="300"/>
              </a:spcAft>
            </a:pPr>
            <a:r>
              <a:rPr sz="1100" b="0">
                <a:solidFill>
                  <a:srgbClr val="626262"/>
                </a:solidFill>
                <a:latin typeface="微软雅黑" panose="020B0503020204020204" charset="-122"/>
              </a:rPr>
              <a:t>framework crop</a:t>
            </a:r>
            <a:endParaRPr sz="1100" b="0">
              <a:solidFill>
                <a:srgbClr val="626262"/>
              </a:solidFill>
              <a:latin typeface="微软雅黑" panose="020B0503020204020204" charset="-122"/>
            </a:endParaRPr>
          </a:p>
        </p:txBody>
      </p:sp>
      <p:sp>
        <p:nvSpPr>
          <p:cNvPr id="4" name="Rectangle 3"/>
          <p:cNvSpPr/>
          <p:nvPr/>
        </p:nvSpPr>
        <p:spPr>
          <a:xfrm>
            <a:off x="502920" y="749808"/>
            <a:ext cx="11201400" cy="16459"/>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nit-02-framework-only.png"/>
          <p:cNvPicPr>
            <a:picLocks noChangeAspect="1"/>
          </p:cNvPicPr>
          <p:nvPr/>
        </p:nvPicPr>
        <p:blipFill>
          <a:blip r:embed="rId1"/>
          <a:stretch>
            <a:fillRect/>
          </a:stretch>
        </p:blipFill>
        <p:spPr>
          <a:xfrm>
            <a:off x="1228660" y="987552"/>
            <a:ext cx="9740775" cy="4590288"/>
          </a:xfrm>
          <a:prstGeom prst="rect">
            <a:avLst/>
          </a:prstGeom>
        </p:spPr>
      </p:pic>
      <p:sp>
        <p:nvSpPr>
          <p:cNvPr id="6" name="TextBox 5"/>
          <p:cNvSpPr txBox="1"/>
          <p:nvPr/>
        </p:nvSpPr>
        <p:spPr>
          <a:xfrm>
            <a:off x="11292840" y="6437376"/>
            <a:ext cx="411480" cy="201168"/>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45</a:t>
            </a:r>
            <a:endParaRPr sz="1000" b="0">
              <a:solidFill>
                <a:srgbClr val="626262"/>
              </a:solidFill>
              <a:latin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02920" y="219456"/>
            <a:ext cx="10241280" cy="402336"/>
          </a:xfrm>
          <a:prstGeom prst="rect">
            <a:avLst/>
          </a:prstGeom>
          <a:noFill/>
        </p:spPr>
        <p:txBody>
          <a:bodyPr wrap="square" lIns="36576" tIns="18288" rIns="36576" bIns="18288" anchor="t">
            <a:spAutoFit/>
          </a:bodyPr>
          <a:lstStyle/>
          <a:p>
            <a:pPr>
              <a:spcAft>
                <a:spcPts val="300"/>
              </a:spcAft>
            </a:pPr>
            <a:r>
              <a:rPr sz="2800" b="1">
                <a:solidFill>
                  <a:srgbClr val="0F0F0F"/>
                </a:solidFill>
                <a:latin typeface="微软雅黑" panose="020B0503020204020204" charset="-122"/>
              </a:rPr>
              <a:t>Unit 2 Home Sweet Home · 词汇/短语积累 1</a:t>
            </a:r>
            <a:endParaRPr sz="2800" b="1">
              <a:solidFill>
                <a:srgbClr val="0F0F0F"/>
              </a:solidFill>
              <a:latin typeface="微软雅黑" panose="020B0503020204020204" charset="-122"/>
            </a:endParaRPr>
          </a:p>
        </p:txBody>
      </p:sp>
      <p:sp>
        <p:nvSpPr>
          <p:cNvPr id="3" name="TextBox 2"/>
          <p:cNvSpPr txBox="1"/>
          <p:nvPr/>
        </p:nvSpPr>
        <p:spPr>
          <a:xfrm>
            <a:off x="10012680" y="320040"/>
            <a:ext cx="1691640" cy="201168"/>
          </a:xfrm>
          <a:prstGeom prst="rect">
            <a:avLst/>
          </a:prstGeom>
          <a:noFill/>
        </p:spPr>
        <p:txBody>
          <a:bodyPr wrap="square" lIns="36576" tIns="18288" rIns="36576" bIns="18288" anchor="t">
            <a:spAutoFit/>
          </a:bodyPr>
          <a:lstStyle/>
          <a:p>
            <a:pPr algn="r">
              <a:spcAft>
                <a:spcPts val="300"/>
              </a:spcAft>
            </a:pPr>
            <a:r>
              <a:rPr sz="1100" b="0">
                <a:solidFill>
                  <a:srgbClr val="626262"/>
                </a:solidFill>
                <a:latin typeface="微软雅黑" panose="020B0503020204020204" charset="-122"/>
              </a:rPr>
              <a:t>click reveal</a:t>
            </a:r>
            <a:endParaRPr sz="1100" b="0">
              <a:solidFill>
                <a:srgbClr val="626262"/>
              </a:solidFill>
              <a:latin typeface="微软雅黑" panose="020B0503020204020204" charset="-122"/>
            </a:endParaRPr>
          </a:p>
        </p:txBody>
      </p:sp>
      <p:sp>
        <p:nvSpPr>
          <p:cNvPr id="4" name="Rectangle 3"/>
          <p:cNvSpPr/>
          <p:nvPr/>
        </p:nvSpPr>
        <p:spPr>
          <a:xfrm>
            <a:off x="502920" y="749808"/>
            <a:ext cx="11201400" cy="16459"/>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im_001_vocab_cn_1"/>
          <p:cNvSpPr txBox="1"/>
          <p:nvPr/>
        </p:nvSpPr>
        <p:spPr>
          <a:xfrm>
            <a:off x="713232" y="1143000"/>
            <a:ext cx="2686507"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1. 浴室; 洗手间</a:t>
            </a:r>
            <a:endParaRPr sz="2300" b="0">
              <a:solidFill>
                <a:srgbClr val="0F0F0F"/>
              </a:solidFill>
              <a:latin typeface="微软雅黑" panose="020B0503020204020204" charset="-122"/>
            </a:endParaRPr>
          </a:p>
        </p:txBody>
      </p:sp>
      <p:sp>
        <p:nvSpPr>
          <p:cNvPr id="6" name="anim_002_vocab_en_1"/>
          <p:cNvSpPr txBox="1"/>
          <p:nvPr/>
        </p:nvSpPr>
        <p:spPr>
          <a:xfrm>
            <a:off x="3509467" y="1143000"/>
            <a:ext cx="2370124"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bathroom</a:t>
            </a:r>
            <a:endParaRPr sz="2300" b="0">
              <a:solidFill>
                <a:srgbClr val="CD1E1E"/>
              </a:solidFill>
              <a:latin typeface="Arial" panose="020B0604020202020204"/>
            </a:endParaRPr>
          </a:p>
        </p:txBody>
      </p:sp>
      <p:sp>
        <p:nvSpPr>
          <p:cNvPr id="7" name="anim_003_vocab_cn_2"/>
          <p:cNvSpPr txBox="1"/>
          <p:nvPr/>
        </p:nvSpPr>
        <p:spPr>
          <a:xfrm>
            <a:off x="713232" y="2366010"/>
            <a:ext cx="2686507"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2. 卧室</a:t>
            </a:r>
            <a:endParaRPr sz="2300" b="0">
              <a:solidFill>
                <a:srgbClr val="0F0F0F"/>
              </a:solidFill>
              <a:latin typeface="微软雅黑" panose="020B0503020204020204" charset="-122"/>
            </a:endParaRPr>
          </a:p>
        </p:txBody>
      </p:sp>
      <p:sp>
        <p:nvSpPr>
          <p:cNvPr id="8" name="anim_004_vocab_en_2"/>
          <p:cNvSpPr txBox="1"/>
          <p:nvPr/>
        </p:nvSpPr>
        <p:spPr>
          <a:xfrm>
            <a:off x="3509467" y="2366010"/>
            <a:ext cx="2370124"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bedroom</a:t>
            </a:r>
            <a:endParaRPr sz="2300" b="0">
              <a:solidFill>
                <a:srgbClr val="CD1E1E"/>
              </a:solidFill>
              <a:latin typeface="Arial" panose="020B0604020202020204"/>
            </a:endParaRPr>
          </a:p>
        </p:txBody>
      </p:sp>
      <p:sp>
        <p:nvSpPr>
          <p:cNvPr id="9" name="anim_005_vocab_cn_3"/>
          <p:cNvSpPr txBox="1"/>
          <p:nvPr/>
        </p:nvSpPr>
        <p:spPr>
          <a:xfrm>
            <a:off x="713232" y="3589020"/>
            <a:ext cx="2686507"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3. 阳台</a:t>
            </a:r>
            <a:endParaRPr sz="2300" b="0">
              <a:solidFill>
                <a:srgbClr val="0F0F0F"/>
              </a:solidFill>
              <a:latin typeface="微软雅黑" panose="020B0503020204020204" charset="-122"/>
            </a:endParaRPr>
          </a:p>
        </p:txBody>
      </p:sp>
      <p:sp>
        <p:nvSpPr>
          <p:cNvPr id="10" name="anim_006_vocab_en_3"/>
          <p:cNvSpPr txBox="1"/>
          <p:nvPr/>
        </p:nvSpPr>
        <p:spPr>
          <a:xfrm>
            <a:off x="3509467" y="3589020"/>
            <a:ext cx="2370124"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balcony</a:t>
            </a:r>
            <a:endParaRPr sz="2300" b="0">
              <a:solidFill>
                <a:srgbClr val="CD1E1E"/>
              </a:solidFill>
              <a:latin typeface="Arial" panose="020B0604020202020204"/>
            </a:endParaRPr>
          </a:p>
        </p:txBody>
      </p:sp>
      <p:sp>
        <p:nvSpPr>
          <p:cNvPr id="11" name="anim_007_vocab_cn_4"/>
          <p:cNvSpPr txBox="1"/>
          <p:nvPr/>
        </p:nvSpPr>
        <p:spPr>
          <a:xfrm>
            <a:off x="713232" y="4812029"/>
            <a:ext cx="2686507"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4. 社区</a:t>
            </a:r>
            <a:endParaRPr sz="2300" b="0">
              <a:solidFill>
                <a:srgbClr val="0F0F0F"/>
              </a:solidFill>
              <a:latin typeface="微软雅黑" panose="020B0503020204020204" charset="-122"/>
            </a:endParaRPr>
          </a:p>
        </p:txBody>
      </p:sp>
      <p:sp>
        <p:nvSpPr>
          <p:cNvPr id="12" name="anim_008_vocab_en_4"/>
          <p:cNvSpPr txBox="1"/>
          <p:nvPr/>
        </p:nvSpPr>
        <p:spPr>
          <a:xfrm>
            <a:off x="3509467" y="4812029"/>
            <a:ext cx="2370124"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community</a:t>
            </a:r>
            <a:endParaRPr sz="2300" b="0">
              <a:solidFill>
                <a:srgbClr val="CD1E1E"/>
              </a:solidFill>
              <a:latin typeface="Arial" panose="020B0604020202020204"/>
            </a:endParaRPr>
          </a:p>
        </p:txBody>
      </p:sp>
      <p:sp>
        <p:nvSpPr>
          <p:cNvPr id="13" name="anim_009_vocab_cn_5"/>
          <p:cNvSpPr txBox="1"/>
          <p:nvPr/>
        </p:nvSpPr>
        <p:spPr>
          <a:xfrm>
            <a:off x="6144768" y="1143000"/>
            <a:ext cx="2748320"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5. 喜悦;乐趣</a:t>
            </a:r>
            <a:endParaRPr sz="2300" b="0">
              <a:solidFill>
                <a:srgbClr val="0F0F0F"/>
              </a:solidFill>
              <a:latin typeface="微软雅黑" panose="020B0503020204020204" charset="-122"/>
            </a:endParaRPr>
          </a:p>
        </p:txBody>
      </p:sp>
      <p:sp>
        <p:nvSpPr>
          <p:cNvPr id="14" name="anim_010_vocab_en_5"/>
          <p:cNvSpPr txBox="1"/>
          <p:nvPr/>
        </p:nvSpPr>
        <p:spPr>
          <a:xfrm>
            <a:off x="9002816" y="1143000"/>
            <a:ext cx="2427183"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joy</a:t>
            </a:r>
            <a:endParaRPr sz="2300" b="0">
              <a:solidFill>
                <a:srgbClr val="CD1E1E"/>
              </a:solidFill>
              <a:latin typeface="Arial" panose="020B0604020202020204"/>
            </a:endParaRPr>
          </a:p>
        </p:txBody>
      </p:sp>
      <p:sp>
        <p:nvSpPr>
          <p:cNvPr id="15" name="anim_011_vocab_cn_6"/>
          <p:cNvSpPr txBox="1"/>
          <p:nvPr/>
        </p:nvSpPr>
        <p:spPr>
          <a:xfrm>
            <a:off x="6144768" y="2366010"/>
            <a:ext cx="2748320"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6. 房间;公寓套房</a:t>
            </a:r>
            <a:endParaRPr sz="2300" b="0">
              <a:solidFill>
                <a:srgbClr val="0F0F0F"/>
              </a:solidFill>
              <a:latin typeface="微软雅黑" panose="020B0503020204020204" charset="-122"/>
            </a:endParaRPr>
          </a:p>
        </p:txBody>
      </p:sp>
      <p:sp>
        <p:nvSpPr>
          <p:cNvPr id="16" name="anim_012_vocab_en_6"/>
          <p:cNvSpPr txBox="1"/>
          <p:nvPr/>
        </p:nvSpPr>
        <p:spPr>
          <a:xfrm>
            <a:off x="9002816" y="2366010"/>
            <a:ext cx="2427183"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apartment</a:t>
            </a:r>
            <a:endParaRPr sz="2300" b="0">
              <a:solidFill>
                <a:srgbClr val="CD1E1E"/>
              </a:solidFill>
              <a:latin typeface="Arial" panose="020B0604020202020204"/>
            </a:endParaRPr>
          </a:p>
        </p:txBody>
      </p:sp>
      <p:sp>
        <p:nvSpPr>
          <p:cNvPr id="17" name="anim_013_vocab_cn_7"/>
          <p:cNvSpPr txBox="1"/>
          <p:nvPr/>
        </p:nvSpPr>
        <p:spPr>
          <a:xfrm>
            <a:off x="6144768" y="3589020"/>
            <a:ext cx="2748320"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7. 邀请</a:t>
            </a:r>
            <a:endParaRPr sz="2300" b="0">
              <a:solidFill>
                <a:srgbClr val="0F0F0F"/>
              </a:solidFill>
              <a:latin typeface="微软雅黑" panose="020B0503020204020204" charset="-122"/>
            </a:endParaRPr>
          </a:p>
        </p:txBody>
      </p:sp>
      <p:sp>
        <p:nvSpPr>
          <p:cNvPr id="18" name="anim_014_vocab_en_7"/>
          <p:cNvSpPr txBox="1"/>
          <p:nvPr/>
        </p:nvSpPr>
        <p:spPr>
          <a:xfrm>
            <a:off x="9002816" y="3589020"/>
            <a:ext cx="2427183"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invite</a:t>
            </a:r>
            <a:endParaRPr sz="2300" b="0">
              <a:solidFill>
                <a:srgbClr val="CD1E1E"/>
              </a:solidFill>
              <a:latin typeface="Arial" panose="020B0604020202020204"/>
            </a:endParaRPr>
          </a:p>
        </p:txBody>
      </p:sp>
      <p:sp>
        <p:nvSpPr>
          <p:cNvPr id="19" name="anim_015_vocab_cn_8"/>
          <p:cNvSpPr txBox="1"/>
          <p:nvPr/>
        </p:nvSpPr>
        <p:spPr>
          <a:xfrm>
            <a:off x="6144768" y="4812029"/>
            <a:ext cx="2748320"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8. 熟悉的</a:t>
            </a:r>
            <a:endParaRPr sz="2300" b="0">
              <a:solidFill>
                <a:srgbClr val="0F0F0F"/>
              </a:solidFill>
              <a:latin typeface="微软雅黑" panose="020B0503020204020204" charset="-122"/>
            </a:endParaRPr>
          </a:p>
        </p:txBody>
      </p:sp>
      <p:sp>
        <p:nvSpPr>
          <p:cNvPr id="20" name="anim_016_vocab_en_8"/>
          <p:cNvSpPr txBox="1"/>
          <p:nvPr/>
        </p:nvSpPr>
        <p:spPr>
          <a:xfrm>
            <a:off x="9002816" y="4812029"/>
            <a:ext cx="2427183"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familiar</a:t>
            </a:r>
            <a:endParaRPr sz="2300" b="0">
              <a:solidFill>
                <a:srgbClr val="CD1E1E"/>
              </a:solidFill>
              <a:latin typeface="Arial" panose="020B0604020202020204"/>
            </a:endParaRPr>
          </a:p>
        </p:txBody>
      </p:sp>
      <p:sp>
        <p:nvSpPr>
          <p:cNvPr id="21" name="Rectangle 20"/>
          <p:cNvSpPr/>
          <p:nvPr/>
        </p:nvSpPr>
        <p:spPr>
          <a:xfrm>
            <a:off x="5943600" y="1078992"/>
            <a:ext cx="13716" cy="5029200"/>
          </a:xfrm>
          <a:prstGeom prst="rect">
            <a:avLst/>
          </a:prstGeom>
          <a:solidFill>
            <a:srgbClr val="E1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292840" y="6437376"/>
            <a:ext cx="411480" cy="201168"/>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46</a:t>
            </a:r>
            <a:endParaRPr sz="1000" b="0">
              <a:solidFill>
                <a:srgbClr val="626262"/>
              </a:solidFill>
              <a:latin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1"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1"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1"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1"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1"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1"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1"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1"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1"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1" nodeType="click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1" nodeType="click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500"/>
                                        <p:tgtEl>
                                          <p:spTgt spid="19"/>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1" nodeType="click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5" grpId="1"/>
      <p:bldP spid="6" grpId="1"/>
      <p:bldP spid="7" grpId="1"/>
      <p:bldP spid="8" grpId="1"/>
      <p:bldP spid="9" grpId="1"/>
      <p:bldP spid="10" grpId="1"/>
      <p:bldP spid="11" grpId="1"/>
      <p:bldP spid="12" grpId="1"/>
      <p:bldP spid="13" grpId="1"/>
      <p:bldP spid="14" grpId="1"/>
      <p:bldP spid="15" grpId="1"/>
      <p:bldP spid="16" grpId="1"/>
      <p:bldP spid="17" grpId="1"/>
      <p:bldP spid="18" grpId="1"/>
      <p:bldP spid="19" grpId="1"/>
      <p:bldP spid="20" grpId="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02920" y="219456"/>
            <a:ext cx="10241280" cy="402336"/>
          </a:xfrm>
          <a:prstGeom prst="rect">
            <a:avLst/>
          </a:prstGeom>
          <a:noFill/>
        </p:spPr>
        <p:txBody>
          <a:bodyPr wrap="square" lIns="36576" tIns="18288" rIns="36576" bIns="18288" anchor="t">
            <a:spAutoFit/>
          </a:bodyPr>
          <a:lstStyle/>
          <a:p>
            <a:pPr>
              <a:spcAft>
                <a:spcPts val="300"/>
              </a:spcAft>
            </a:pPr>
            <a:r>
              <a:rPr sz="2800" b="1">
                <a:solidFill>
                  <a:srgbClr val="0F0F0F"/>
                </a:solidFill>
                <a:latin typeface="微软雅黑" panose="020B0503020204020204" charset="-122"/>
              </a:rPr>
              <a:t>Unit 2 Home Sweet Home · 词汇/短语积累 2</a:t>
            </a:r>
            <a:endParaRPr sz="2800" b="1">
              <a:solidFill>
                <a:srgbClr val="0F0F0F"/>
              </a:solidFill>
              <a:latin typeface="微软雅黑" panose="020B0503020204020204" charset="-122"/>
            </a:endParaRPr>
          </a:p>
        </p:txBody>
      </p:sp>
      <p:sp>
        <p:nvSpPr>
          <p:cNvPr id="3" name="TextBox 2"/>
          <p:cNvSpPr txBox="1"/>
          <p:nvPr/>
        </p:nvSpPr>
        <p:spPr>
          <a:xfrm>
            <a:off x="10012680" y="320040"/>
            <a:ext cx="1691640" cy="201168"/>
          </a:xfrm>
          <a:prstGeom prst="rect">
            <a:avLst/>
          </a:prstGeom>
          <a:noFill/>
        </p:spPr>
        <p:txBody>
          <a:bodyPr wrap="square" lIns="36576" tIns="18288" rIns="36576" bIns="18288" anchor="t">
            <a:spAutoFit/>
          </a:bodyPr>
          <a:lstStyle/>
          <a:p>
            <a:pPr algn="r">
              <a:spcAft>
                <a:spcPts val="300"/>
              </a:spcAft>
            </a:pPr>
            <a:r>
              <a:rPr sz="1100" b="0">
                <a:solidFill>
                  <a:srgbClr val="626262"/>
                </a:solidFill>
                <a:latin typeface="微软雅黑" panose="020B0503020204020204" charset="-122"/>
              </a:rPr>
              <a:t>click reveal</a:t>
            </a:r>
            <a:endParaRPr sz="1100" b="0">
              <a:solidFill>
                <a:srgbClr val="626262"/>
              </a:solidFill>
              <a:latin typeface="微软雅黑" panose="020B0503020204020204" charset="-122"/>
            </a:endParaRPr>
          </a:p>
        </p:txBody>
      </p:sp>
      <p:sp>
        <p:nvSpPr>
          <p:cNvPr id="4" name="Rectangle 3"/>
          <p:cNvSpPr/>
          <p:nvPr/>
        </p:nvSpPr>
        <p:spPr>
          <a:xfrm>
            <a:off x="502920" y="749808"/>
            <a:ext cx="11201400" cy="16459"/>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im_001_vocab_cn_9"/>
          <p:cNvSpPr txBox="1"/>
          <p:nvPr/>
        </p:nvSpPr>
        <p:spPr>
          <a:xfrm>
            <a:off x="713232" y="1143000"/>
            <a:ext cx="2686507"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9. 宝物;财富</a:t>
            </a:r>
            <a:endParaRPr sz="2300" b="0">
              <a:solidFill>
                <a:srgbClr val="0F0F0F"/>
              </a:solidFill>
              <a:latin typeface="微软雅黑" panose="020B0503020204020204" charset="-122"/>
            </a:endParaRPr>
          </a:p>
        </p:txBody>
      </p:sp>
      <p:sp>
        <p:nvSpPr>
          <p:cNvPr id="6" name="anim_002_vocab_en_9"/>
          <p:cNvSpPr txBox="1"/>
          <p:nvPr/>
        </p:nvSpPr>
        <p:spPr>
          <a:xfrm>
            <a:off x="3509467" y="1143000"/>
            <a:ext cx="2370124"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treasure</a:t>
            </a:r>
            <a:endParaRPr sz="2300" b="0">
              <a:solidFill>
                <a:srgbClr val="CD1E1E"/>
              </a:solidFill>
              <a:latin typeface="Arial" panose="020B0604020202020204"/>
            </a:endParaRPr>
          </a:p>
        </p:txBody>
      </p:sp>
      <p:sp>
        <p:nvSpPr>
          <p:cNvPr id="7" name="anim_003_vocab_cn_10"/>
          <p:cNvSpPr txBox="1"/>
          <p:nvPr/>
        </p:nvSpPr>
        <p:spPr>
          <a:xfrm>
            <a:off x="713232" y="2366010"/>
            <a:ext cx="2686507"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10. 旅行</a:t>
            </a:r>
            <a:endParaRPr sz="2300" b="0">
              <a:solidFill>
                <a:srgbClr val="0F0F0F"/>
              </a:solidFill>
              <a:latin typeface="微软雅黑" panose="020B0503020204020204" charset="-122"/>
            </a:endParaRPr>
          </a:p>
        </p:txBody>
      </p:sp>
      <p:sp>
        <p:nvSpPr>
          <p:cNvPr id="8" name="anim_004_vocab_en_10"/>
          <p:cNvSpPr txBox="1"/>
          <p:nvPr/>
        </p:nvSpPr>
        <p:spPr>
          <a:xfrm>
            <a:off x="3509467" y="2366010"/>
            <a:ext cx="2370124"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journey</a:t>
            </a:r>
            <a:endParaRPr sz="2300" b="0">
              <a:solidFill>
                <a:srgbClr val="CD1E1E"/>
              </a:solidFill>
              <a:latin typeface="Arial" panose="020B0604020202020204"/>
            </a:endParaRPr>
          </a:p>
        </p:txBody>
      </p:sp>
      <p:sp>
        <p:nvSpPr>
          <p:cNvPr id="9" name="anim_005_vocab_cn_11"/>
          <p:cNvSpPr txBox="1"/>
          <p:nvPr/>
        </p:nvSpPr>
        <p:spPr>
          <a:xfrm>
            <a:off x="713232" y="3589020"/>
            <a:ext cx="2686507"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11. 笑话</a:t>
            </a:r>
            <a:endParaRPr sz="2300" b="0">
              <a:solidFill>
                <a:srgbClr val="0F0F0F"/>
              </a:solidFill>
              <a:latin typeface="微软雅黑" panose="020B0503020204020204" charset="-122"/>
            </a:endParaRPr>
          </a:p>
        </p:txBody>
      </p:sp>
      <p:sp>
        <p:nvSpPr>
          <p:cNvPr id="10" name="anim_006_vocab_en_11"/>
          <p:cNvSpPr txBox="1"/>
          <p:nvPr/>
        </p:nvSpPr>
        <p:spPr>
          <a:xfrm>
            <a:off x="3509467" y="3589020"/>
            <a:ext cx="2370124"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joke</a:t>
            </a:r>
            <a:endParaRPr sz="2300" b="0">
              <a:solidFill>
                <a:srgbClr val="CD1E1E"/>
              </a:solidFill>
              <a:latin typeface="Arial" panose="020B0604020202020204"/>
            </a:endParaRPr>
          </a:p>
        </p:txBody>
      </p:sp>
      <p:sp>
        <p:nvSpPr>
          <p:cNvPr id="11" name="anim_007_vocab_cn_12"/>
          <p:cNvSpPr txBox="1"/>
          <p:nvPr/>
        </p:nvSpPr>
        <p:spPr>
          <a:xfrm>
            <a:off x="713232" y="4812029"/>
            <a:ext cx="2686507"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12. 收拾东西</a:t>
            </a:r>
            <a:endParaRPr sz="2300" b="0">
              <a:solidFill>
                <a:srgbClr val="0F0F0F"/>
              </a:solidFill>
              <a:latin typeface="微软雅黑" panose="020B0503020204020204" charset="-122"/>
            </a:endParaRPr>
          </a:p>
        </p:txBody>
      </p:sp>
      <p:sp>
        <p:nvSpPr>
          <p:cNvPr id="12" name="anim_008_vocab_en_12"/>
          <p:cNvSpPr txBox="1"/>
          <p:nvPr/>
        </p:nvSpPr>
        <p:spPr>
          <a:xfrm>
            <a:off x="3509467" y="4812029"/>
            <a:ext cx="2370124"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pack up things</a:t>
            </a:r>
            <a:endParaRPr sz="2300" b="0">
              <a:solidFill>
                <a:srgbClr val="CD1E1E"/>
              </a:solidFill>
              <a:latin typeface="Arial" panose="020B0604020202020204"/>
            </a:endParaRPr>
          </a:p>
        </p:txBody>
      </p:sp>
      <p:sp>
        <p:nvSpPr>
          <p:cNvPr id="13" name="anim_009_vocab_cn_13"/>
          <p:cNvSpPr txBox="1"/>
          <p:nvPr/>
        </p:nvSpPr>
        <p:spPr>
          <a:xfrm>
            <a:off x="6144768" y="1143000"/>
            <a:ext cx="2748320"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13. 扫地</a:t>
            </a:r>
            <a:endParaRPr sz="2300" b="0">
              <a:solidFill>
                <a:srgbClr val="0F0F0F"/>
              </a:solidFill>
              <a:latin typeface="微软雅黑" panose="020B0503020204020204" charset="-122"/>
            </a:endParaRPr>
          </a:p>
        </p:txBody>
      </p:sp>
      <p:sp>
        <p:nvSpPr>
          <p:cNvPr id="14" name="anim_010_vocab_en_13"/>
          <p:cNvSpPr txBox="1"/>
          <p:nvPr/>
        </p:nvSpPr>
        <p:spPr>
          <a:xfrm>
            <a:off x="9002816" y="1143000"/>
            <a:ext cx="2427183"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sweep the floor</a:t>
            </a:r>
            <a:endParaRPr sz="2300" b="0">
              <a:solidFill>
                <a:srgbClr val="CD1E1E"/>
              </a:solidFill>
              <a:latin typeface="Arial" panose="020B0604020202020204"/>
            </a:endParaRPr>
          </a:p>
        </p:txBody>
      </p:sp>
      <p:sp>
        <p:nvSpPr>
          <p:cNvPr id="15" name="anim_011_vocab_cn_14"/>
          <p:cNvSpPr txBox="1"/>
          <p:nvPr/>
        </p:nvSpPr>
        <p:spPr>
          <a:xfrm>
            <a:off x="6144768" y="2366010"/>
            <a:ext cx="2748320"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14. 打扫浴室</a:t>
            </a:r>
            <a:endParaRPr sz="2300" b="0">
              <a:solidFill>
                <a:srgbClr val="0F0F0F"/>
              </a:solidFill>
              <a:latin typeface="微软雅黑" panose="020B0503020204020204" charset="-122"/>
            </a:endParaRPr>
          </a:p>
        </p:txBody>
      </p:sp>
      <p:sp>
        <p:nvSpPr>
          <p:cNvPr id="16" name="anim_012_vocab_en_14"/>
          <p:cNvSpPr txBox="1"/>
          <p:nvPr/>
        </p:nvSpPr>
        <p:spPr>
          <a:xfrm>
            <a:off x="9002816" y="2366010"/>
            <a:ext cx="2427183"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clean the bathroom</a:t>
            </a:r>
            <a:endParaRPr sz="2300" b="0">
              <a:solidFill>
                <a:srgbClr val="CD1E1E"/>
              </a:solidFill>
              <a:latin typeface="Arial" panose="020B0604020202020204"/>
            </a:endParaRPr>
          </a:p>
        </p:txBody>
      </p:sp>
      <p:sp>
        <p:nvSpPr>
          <p:cNvPr id="17" name="anim_013_vocab_cn_15"/>
          <p:cNvSpPr txBox="1"/>
          <p:nvPr/>
        </p:nvSpPr>
        <p:spPr>
          <a:xfrm>
            <a:off x="6144768" y="3589020"/>
            <a:ext cx="2748320"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15. 喂鱼</a:t>
            </a:r>
            <a:endParaRPr sz="2300" b="0">
              <a:solidFill>
                <a:srgbClr val="0F0F0F"/>
              </a:solidFill>
              <a:latin typeface="微软雅黑" panose="020B0503020204020204" charset="-122"/>
            </a:endParaRPr>
          </a:p>
        </p:txBody>
      </p:sp>
      <p:sp>
        <p:nvSpPr>
          <p:cNvPr id="18" name="anim_014_vocab_en_15"/>
          <p:cNvSpPr txBox="1"/>
          <p:nvPr/>
        </p:nvSpPr>
        <p:spPr>
          <a:xfrm>
            <a:off x="9002816" y="3589020"/>
            <a:ext cx="2427183"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feed the fish</a:t>
            </a:r>
            <a:endParaRPr sz="2300" b="0">
              <a:solidFill>
                <a:srgbClr val="CD1E1E"/>
              </a:solidFill>
              <a:latin typeface="Arial" panose="020B0604020202020204"/>
            </a:endParaRPr>
          </a:p>
        </p:txBody>
      </p:sp>
      <p:sp>
        <p:nvSpPr>
          <p:cNvPr id="19" name="anim_015_vocab_cn_16"/>
          <p:cNvSpPr txBox="1"/>
          <p:nvPr/>
        </p:nvSpPr>
        <p:spPr>
          <a:xfrm>
            <a:off x="6144768" y="4812029"/>
            <a:ext cx="2748320"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16. 挂照片</a:t>
            </a:r>
            <a:endParaRPr sz="2300" b="0">
              <a:solidFill>
                <a:srgbClr val="0F0F0F"/>
              </a:solidFill>
              <a:latin typeface="微软雅黑" panose="020B0503020204020204" charset="-122"/>
            </a:endParaRPr>
          </a:p>
        </p:txBody>
      </p:sp>
      <p:sp>
        <p:nvSpPr>
          <p:cNvPr id="20" name="anim_016_vocab_en_16"/>
          <p:cNvSpPr txBox="1"/>
          <p:nvPr/>
        </p:nvSpPr>
        <p:spPr>
          <a:xfrm>
            <a:off x="9002816" y="4812029"/>
            <a:ext cx="2427183"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hang up photos</a:t>
            </a:r>
            <a:endParaRPr sz="2300" b="0">
              <a:solidFill>
                <a:srgbClr val="CD1E1E"/>
              </a:solidFill>
              <a:latin typeface="Arial" panose="020B0604020202020204"/>
            </a:endParaRPr>
          </a:p>
        </p:txBody>
      </p:sp>
      <p:sp>
        <p:nvSpPr>
          <p:cNvPr id="21" name="Rectangle 20"/>
          <p:cNvSpPr/>
          <p:nvPr/>
        </p:nvSpPr>
        <p:spPr>
          <a:xfrm>
            <a:off x="5943600" y="1078992"/>
            <a:ext cx="13716" cy="5029200"/>
          </a:xfrm>
          <a:prstGeom prst="rect">
            <a:avLst/>
          </a:prstGeom>
          <a:solidFill>
            <a:srgbClr val="E1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292840" y="6437376"/>
            <a:ext cx="411480" cy="201168"/>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47</a:t>
            </a:r>
            <a:endParaRPr sz="1000" b="0">
              <a:solidFill>
                <a:srgbClr val="626262"/>
              </a:solidFill>
              <a:latin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1"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1"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1"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1"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1"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1"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1"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1"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1"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1" nodeType="click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1" nodeType="click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500"/>
                                        <p:tgtEl>
                                          <p:spTgt spid="19"/>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1" nodeType="click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5" grpId="1"/>
      <p:bldP spid="6" grpId="1"/>
      <p:bldP spid="7" grpId="1"/>
      <p:bldP spid="8" grpId="1"/>
      <p:bldP spid="9" grpId="1"/>
      <p:bldP spid="10" grpId="1"/>
      <p:bldP spid="11" grpId="1"/>
      <p:bldP spid="12" grpId="1"/>
      <p:bldP spid="13" grpId="1"/>
      <p:bldP spid="14" grpId="1"/>
      <p:bldP spid="15" grpId="1"/>
      <p:bldP spid="16" grpId="1"/>
      <p:bldP spid="17" grpId="1"/>
      <p:bldP spid="18" grpId="1"/>
      <p:bldP spid="19" grpId="1"/>
      <p:bldP spid="20" grpId="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02920" y="219456"/>
            <a:ext cx="10241280" cy="402336"/>
          </a:xfrm>
          <a:prstGeom prst="rect">
            <a:avLst/>
          </a:prstGeom>
          <a:noFill/>
        </p:spPr>
        <p:txBody>
          <a:bodyPr wrap="square" lIns="36576" tIns="18288" rIns="36576" bIns="18288" anchor="t">
            <a:spAutoFit/>
          </a:bodyPr>
          <a:lstStyle/>
          <a:p>
            <a:pPr>
              <a:spcAft>
                <a:spcPts val="300"/>
              </a:spcAft>
            </a:pPr>
            <a:r>
              <a:rPr sz="2800" b="1">
                <a:solidFill>
                  <a:srgbClr val="0F0F0F"/>
                </a:solidFill>
                <a:latin typeface="微软雅黑" panose="020B0503020204020204" charset="-122"/>
              </a:rPr>
              <a:t>Unit 2 Home Sweet Home · 词汇/短语积累 3</a:t>
            </a:r>
            <a:endParaRPr sz="2800" b="1">
              <a:solidFill>
                <a:srgbClr val="0F0F0F"/>
              </a:solidFill>
              <a:latin typeface="微软雅黑" panose="020B0503020204020204" charset="-122"/>
            </a:endParaRPr>
          </a:p>
        </p:txBody>
      </p:sp>
      <p:sp>
        <p:nvSpPr>
          <p:cNvPr id="3" name="TextBox 2"/>
          <p:cNvSpPr txBox="1"/>
          <p:nvPr/>
        </p:nvSpPr>
        <p:spPr>
          <a:xfrm>
            <a:off x="10012680" y="320040"/>
            <a:ext cx="1691640" cy="201168"/>
          </a:xfrm>
          <a:prstGeom prst="rect">
            <a:avLst/>
          </a:prstGeom>
          <a:noFill/>
        </p:spPr>
        <p:txBody>
          <a:bodyPr wrap="square" lIns="36576" tIns="18288" rIns="36576" bIns="18288" anchor="t">
            <a:spAutoFit/>
          </a:bodyPr>
          <a:lstStyle/>
          <a:p>
            <a:pPr algn="r">
              <a:spcAft>
                <a:spcPts val="300"/>
              </a:spcAft>
            </a:pPr>
            <a:r>
              <a:rPr sz="1100" b="0">
                <a:solidFill>
                  <a:srgbClr val="626262"/>
                </a:solidFill>
                <a:latin typeface="微软雅黑" panose="020B0503020204020204" charset="-122"/>
              </a:rPr>
              <a:t>click reveal</a:t>
            </a:r>
            <a:endParaRPr sz="1100" b="0">
              <a:solidFill>
                <a:srgbClr val="626262"/>
              </a:solidFill>
              <a:latin typeface="微软雅黑" panose="020B0503020204020204" charset="-122"/>
            </a:endParaRPr>
          </a:p>
        </p:txBody>
      </p:sp>
      <p:sp>
        <p:nvSpPr>
          <p:cNvPr id="4" name="Rectangle 3"/>
          <p:cNvSpPr/>
          <p:nvPr/>
        </p:nvSpPr>
        <p:spPr>
          <a:xfrm>
            <a:off x="502920" y="749808"/>
            <a:ext cx="11201400" cy="16459"/>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im_001_vocab_cn_17"/>
          <p:cNvSpPr txBox="1"/>
          <p:nvPr/>
        </p:nvSpPr>
        <p:spPr>
          <a:xfrm>
            <a:off x="713232" y="1143000"/>
            <a:ext cx="2686507"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17. 给植物浇水</a:t>
            </a:r>
            <a:endParaRPr sz="2300" b="0">
              <a:solidFill>
                <a:srgbClr val="0F0F0F"/>
              </a:solidFill>
              <a:latin typeface="微软雅黑" panose="020B0503020204020204" charset="-122"/>
            </a:endParaRPr>
          </a:p>
        </p:txBody>
      </p:sp>
      <p:sp>
        <p:nvSpPr>
          <p:cNvPr id="6" name="anim_002_vocab_en_17"/>
          <p:cNvSpPr txBox="1"/>
          <p:nvPr/>
        </p:nvSpPr>
        <p:spPr>
          <a:xfrm>
            <a:off x="3509467" y="1143000"/>
            <a:ext cx="2370124"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water plants</a:t>
            </a:r>
            <a:endParaRPr sz="2300" b="0">
              <a:solidFill>
                <a:srgbClr val="CD1E1E"/>
              </a:solidFill>
              <a:latin typeface="Arial" panose="020B0604020202020204"/>
            </a:endParaRPr>
          </a:p>
        </p:txBody>
      </p:sp>
      <p:sp>
        <p:nvSpPr>
          <p:cNvPr id="7" name="anim_003_vocab_cn_18"/>
          <p:cNvSpPr txBox="1"/>
          <p:nvPr/>
        </p:nvSpPr>
        <p:spPr>
          <a:xfrm>
            <a:off x="713232" y="2366010"/>
            <a:ext cx="2686507"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18. 和朋友闲逛</a:t>
            </a:r>
            <a:endParaRPr sz="2300" b="0">
              <a:solidFill>
                <a:srgbClr val="0F0F0F"/>
              </a:solidFill>
              <a:latin typeface="微软雅黑" panose="020B0503020204020204" charset="-122"/>
            </a:endParaRPr>
          </a:p>
        </p:txBody>
      </p:sp>
      <p:sp>
        <p:nvSpPr>
          <p:cNvPr id="8" name="anim_004_vocab_en_18"/>
          <p:cNvSpPr txBox="1"/>
          <p:nvPr/>
        </p:nvSpPr>
        <p:spPr>
          <a:xfrm>
            <a:off x="3509467" y="2366010"/>
            <a:ext cx="2370124"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hang out with friends</a:t>
            </a:r>
            <a:endParaRPr sz="2300" b="0">
              <a:solidFill>
                <a:srgbClr val="CD1E1E"/>
              </a:solidFill>
              <a:latin typeface="Arial" panose="020B0604020202020204"/>
            </a:endParaRPr>
          </a:p>
        </p:txBody>
      </p:sp>
      <p:sp>
        <p:nvSpPr>
          <p:cNvPr id="9" name="anim_005_vocab_cn_19"/>
          <p:cNvSpPr txBox="1"/>
          <p:nvPr/>
        </p:nvSpPr>
        <p:spPr>
          <a:xfrm>
            <a:off x="713232" y="3589020"/>
            <a:ext cx="2686507"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19. 把东西分类到盒子里</a:t>
            </a:r>
            <a:endParaRPr sz="2300" b="0">
              <a:solidFill>
                <a:srgbClr val="0F0F0F"/>
              </a:solidFill>
              <a:latin typeface="微软雅黑" panose="020B0503020204020204" charset="-122"/>
            </a:endParaRPr>
          </a:p>
        </p:txBody>
      </p:sp>
      <p:sp>
        <p:nvSpPr>
          <p:cNvPr id="10" name="anim_006_vocab_en_19"/>
          <p:cNvSpPr txBox="1"/>
          <p:nvPr/>
        </p:nvSpPr>
        <p:spPr>
          <a:xfrm>
            <a:off x="3509467" y="3589020"/>
            <a:ext cx="2370124"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sort things into boxes</a:t>
            </a:r>
            <a:endParaRPr sz="2300" b="0">
              <a:solidFill>
                <a:srgbClr val="CD1E1E"/>
              </a:solidFill>
              <a:latin typeface="Arial" panose="020B0604020202020204"/>
            </a:endParaRPr>
          </a:p>
        </p:txBody>
      </p:sp>
      <p:sp>
        <p:nvSpPr>
          <p:cNvPr id="11" name="anim_007_vocab_cn_20"/>
          <p:cNvSpPr txBox="1"/>
          <p:nvPr/>
        </p:nvSpPr>
        <p:spPr>
          <a:xfrm>
            <a:off x="713232" y="4812029"/>
            <a:ext cx="2686507"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20. 种花</a:t>
            </a:r>
            <a:endParaRPr sz="2300" b="0">
              <a:solidFill>
                <a:srgbClr val="0F0F0F"/>
              </a:solidFill>
              <a:latin typeface="微软雅黑" panose="020B0503020204020204" charset="-122"/>
            </a:endParaRPr>
          </a:p>
        </p:txBody>
      </p:sp>
      <p:sp>
        <p:nvSpPr>
          <p:cNvPr id="12" name="anim_008_vocab_en_20"/>
          <p:cNvSpPr txBox="1"/>
          <p:nvPr/>
        </p:nvSpPr>
        <p:spPr>
          <a:xfrm>
            <a:off x="3509467" y="4812029"/>
            <a:ext cx="2370124"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grow flowers</a:t>
            </a:r>
            <a:endParaRPr sz="2300" b="0">
              <a:solidFill>
                <a:srgbClr val="CD1E1E"/>
              </a:solidFill>
              <a:latin typeface="Arial" panose="020B0604020202020204"/>
            </a:endParaRPr>
          </a:p>
        </p:txBody>
      </p:sp>
      <p:sp>
        <p:nvSpPr>
          <p:cNvPr id="13" name="anim_009_vocab_cn_21"/>
          <p:cNvSpPr txBox="1"/>
          <p:nvPr/>
        </p:nvSpPr>
        <p:spPr>
          <a:xfrm>
            <a:off x="6144768" y="1143000"/>
            <a:ext cx="2748320"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21. 不得不</a:t>
            </a:r>
            <a:endParaRPr sz="2300" b="0">
              <a:solidFill>
                <a:srgbClr val="0F0F0F"/>
              </a:solidFill>
              <a:latin typeface="微软雅黑" panose="020B0503020204020204" charset="-122"/>
            </a:endParaRPr>
          </a:p>
        </p:txBody>
      </p:sp>
      <p:sp>
        <p:nvSpPr>
          <p:cNvPr id="14" name="anim_010_vocab_en_21"/>
          <p:cNvSpPr txBox="1"/>
          <p:nvPr/>
        </p:nvSpPr>
        <p:spPr>
          <a:xfrm>
            <a:off x="9002816" y="1143000"/>
            <a:ext cx="2427183"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have to</a:t>
            </a:r>
            <a:endParaRPr sz="2300" b="0">
              <a:solidFill>
                <a:srgbClr val="CD1E1E"/>
              </a:solidFill>
              <a:latin typeface="Arial" panose="020B0604020202020204"/>
            </a:endParaRPr>
          </a:p>
        </p:txBody>
      </p:sp>
      <p:sp>
        <p:nvSpPr>
          <p:cNvPr id="15" name="anim_011_vocab_cn_23"/>
          <p:cNvSpPr txBox="1"/>
          <p:nvPr/>
        </p:nvSpPr>
        <p:spPr>
          <a:xfrm>
            <a:off x="6144768" y="2366010"/>
            <a:ext cx="2748320"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23. 邀请...到...</a:t>
            </a:r>
            <a:endParaRPr sz="2300" b="0">
              <a:solidFill>
                <a:srgbClr val="0F0F0F"/>
              </a:solidFill>
              <a:latin typeface="微软雅黑" panose="020B0503020204020204" charset="-122"/>
            </a:endParaRPr>
          </a:p>
        </p:txBody>
      </p:sp>
      <p:sp>
        <p:nvSpPr>
          <p:cNvPr id="16" name="anim_012_vocab_en_23"/>
          <p:cNvSpPr txBox="1"/>
          <p:nvPr/>
        </p:nvSpPr>
        <p:spPr>
          <a:xfrm>
            <a:off x="9002816" y="2366010"/>
            <a:ext cx="2427183"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invite...to...</a:t>
            </a:r>
            <a:endParaRPr sz="2300" b="0">
              <a:solidFill>
                <a:srgbClr val="CD1E1E"/>
              </a:solidFill>
              <a:latin typeface="Arial" panose="020B0604020202020204"/>
            </a:endParaRPr>
          </a:p>
        </p:txBody>
      </p:sp>
      <p:sp>
        <p:nvSpPr>
          <p:cNvPr id="17" name="anim_013_vocab_cn_24"/>
          <p:cNvSpPr txBox="1"/>
          <p:nvPr/>
        </p:nvSpPr>
        <p:spPr>
          <a:xfrm>
            <a:off x="6144768" y="3589020"/>
            <a:ext cx="2748320"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24. 需要做某事</a:t>
            </a:r>
            <a:endParaRPr sz="2300" b="0">
              <a:solidFill>
                <a:srgbClr val="0F0F0F"/>
              </a:solidFill>
              <a:latin typeface="微软雅黑" panose="020B0503020204020204" charset="-122"/>
            </a:endParaRPr>
          </a:p>
        </p:txBody>
      </p:sp>
      <p:sp>
        <p:nvSpPr>
          <p:cNvPr id="18" name="anim_014_vocab_en_24"/>
          <p:cNvSpPr txBox="1"/>
          <p:nvPr/>
        </p:nvSpPr>
        <p:spPr>
          <a:xfrm>
            <a:off x="9002816" y="3589020"/>
            <a:ext cx="2427183"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need to do sth.</a:t>
            </a:r>
            <a:endParaRPr sz="2300" b="0">
              <a:solidFill>
                <a:srgbClr val="CD1E1E"/>
              </a:solidFill>
              <a:latin typeface="Arial" panose="020B0604020202020204"/>
            </a:endParaRPr>
          </a:p>
        </p:txBody>
      </p:sp>
      <p:sp>
        <p:nvSpPr>
          <p:cNvPr id="19" name="anim_015_vocab_cn_25"/>
          <p:cNvSpPr txBox="1"/>
          <p:nvPr/>
        </p:nvSpPr>
        <p:spPr>
          <a:xfrm>
            <a:off x="6144768" y="4812029"/>
            <a:ext cx="2748320"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25. 打扫</a:t>
            </a:r>
            <a:endParaRPr sz="2300" b="0">
              <a:solidFill>
                <a:srgbClr val="0F0F0F"/>
              </a:solidFill>
              <a:latin typeface="微软雅黑" panose="020B0503020204020204" charset="-122"/>
            </a:endParaRPr>
          </a:p>
        </p:txBody>
      </p:sp>
      <p:sp>
        <p:nvSpPr>
          <p:cNvPr id="20" name="anim_016_vocab_en_25"/>
          <p:cNvSpPr txBox="1"/>
          <p:nvPr/>
        </p:nvSpPr>
        <p:spPr>
          <a:xfrm>
            <a:off x="9002816" y="4812029"/>
            <a:ext cx="2427183"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clean up</a:t>
            </a:r>
            <a:endParaRPr sz="2300" b="0">
              <a:solidFill>
                <a:srgbClr val="CD1E1E"/>
              </a:solidFill>
              <a:latin typeface="Arial" panose="020B0604020202020204"/>
            </a:endParaRPr>
          </a:p>
        </p:txBody>
      </p:sp>
      <p:sp>
        <p:nvSpPr>
          <p:cNvPr id="21" name="Rectangle 20"/>
          <p:cNvSpPr/>
          <p:nvPr/>
        </p:nvSpPr>
        <p:spPr>
          <a:xfrm>
            <a:off x="5943600" y="1078992"/>
            <a:ext cx="13716" cy="5029200"/>
          </a:xfrm>
          <a:prstGeom prst="rect">
            <a:avLst/>
          </a:prstGeom>
          <a:solidFill>
            <a:srgbClr val="E1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292840" y="6437376"/>
            <a:ext cx="411480" cy="201168"/>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48</a:t>
            </a:r>
            <a:endParaRPr sz="1000" b="0">
              <a:solidFill>
                <a:srgbClr val="626262"/>
              </a:solidFill>
              <a:latin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1"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1"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1"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1"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1"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1"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1"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1"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1"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1" nodeType="click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1" nodeType="click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500"/>
                                        <p:tgtEl>
                                          <p:spTgt spid="19"/>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1" nodeType="click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5" grpId="1"/>
      <p:bldP spid="6" grpId="1"/>
      <p:bldP spid="7" grpId="1"/>
      <p:bldP spid="8" grpId="1"/>
      <p:bldP spid="9" grpId="1"/>
      <p:bldP spid="10" grpId="1"/>
      <p:bldP spid="11" grpId="1"/>
      <p:bldP spid="12" grpId="1"/>
      <p:bldP spid="13" grpId="1"/>
      <p:bldP spid="14" grpId="1"/>
      <p:bldP spid="15" grpId="1"/>
      <p:bldP spid="16" grpId="1"/>
      <p:bldP spid="17" grpId="1"/>
      <p:bldP spid="18" grpId="1"/>
      <p:bldP spid="19" grpId="1"/>
      <p:bldP spid="20" grpId="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02920" y="219456"/>
            <a:ext cx="10241280" cy="402336"/>
          </a:xfrm>
          <a:prstGeom prst="rect">
            <a:avLst/>
          </a:prstGeom>
          <a:noFill/>
        </p:spPr>
        <p:txBody>
          <a:bodyPr wrap="square" lIns="36576" tIns="18288" rIns="36576" bIns="18288" anchor="t">
            <a:spAutoFit/>
          </a:bodyPr>
          <a:lstStyle/>
          <a:p>
            <a:pPr>
              <a:spcAft>
                <a:spcPts val="300"/>
              </a:spcAft>
            </a:pPr>
            <a:r>
              <a:rPr sz="2800" b="1">
                <a:solidFill>
                  <a:srgbClr val="0F0F0F"/>
                </a:solidFill>
                <a:latin typeface="微软雅黑" panose="020B0503020204020204" charset="-122"/>
              </a:rPr>
              <a:t>Unit 2 Home Sweet Home · 词汇/短语积累 4</a:t>
            </a:r>
            <a:endParaRPr sz="2800" b="1">
              <a:solidFill>
                <a:srgbClr val="0F0F0F"/>
              </a:solidFill>
              <a:latin typeface="微软雅黑" panose="020B0503020204020204" charset="-122"/>
            </a:endParaRPr>
          </a:p>
        </p:txBody>
      </p:sp>
      <p:sp>
        <p:nvSpPr>
          <p:cNvPr id="3" name="TextBox 2"/>
          <p:cNvSpPr txBox="1"/>
          <p:nvPr/>
        </p:nvSpPr>
        <p:spPr>
          <a:xfrm>
            <a:off x="10012680" y="320040"/>
            <a:ext cx="1691640" cy="201168"/>
          </a:xfrm>
          <a:prstGeom prst="rect">
            <a:avLst/>
          </a:prstGeom>
          <a:noFill/>
        </p:spPr>
        <p:txBody>
          <a:bodyPr wrap="square" lIns="36576" tIns="18288" rIns="36576" bIns="18288" anchor="t">
            <a:spAutoFit/>
          </a:bodyPr>
          <a:lstStyle/>
          <a:p>
            <a:pPr algn="r">
              <a:spcAft>
                <a:spcPts val="300"/>
              </a:spcAft>
            </a:pPr>
            <a:r>
              <a:rPr sz="1100" b="0">
                <a:solidFill>
                  <a:srgbClr val="626262"/>
                </a:solidFill>
                <a:latin typeface="微软雅黑" panose="020B0503020204020204" charset="-122"/>
              </a:rPr>
              <a:t>click reveal</a:t>
            </a:r>
            <a:endParaRPr sz="1100" b="0">
              <a:solidFill>
                <a:srgbClr val="626262"/>
              </a:solidFill>
              <a:latin typeface="微软雅黑" panose="020B0503020204020204" charset="-122"/>
            </a:endParaRPr>
          </a:p>
        </p:txBody>
      </p:sp>
      <p:sp>
        <p:nvSpPr>
          <p:cNvPr id="4" name="Rectangle 3"/>
          <p:cNvSpPr/>
          <p:nvPr/>
        </p:nvSpPr>
        <p:spPr>
          <a:xfrm>
            <a:off x="502920" y="749808"/>
            <a:ext cx="11201400" cy="16459"/>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im_001_vocab_cn_26"/>
          <p:cNvSpPr txBox="1"/>
          <p:nvPr/>
        </p:nvSpPr>
        <p:spPr>
          <a:xfrm>
            <a:off x="713232" y="1143000"/>
            <a:ext cx="2686507"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26. 拖地</a:t>
            </a:r>
            <a:endParaRPr sz="2300" b="0">
              <a:solidFill>
                <a:srgbClr val="0F0F0F"/>
              </a:solidFill>
              <a:latin typeface="微软雅黑" panose="020B0503020204020204" charset="-122"/>
            </a:endParaRPr>
          </a:p>
        </p:txBody>
      </p:sp>
      <p:sp>
        <p:nvSpPr>
          <p:cNvPr id="6" name="anim_002_vocab_en_26"/>
          <p:cNvSpPr txBox="1"/>
          <p:nvPr/>
        </p:nvSpPr>
        <p:spPr>
          <a:xfrm>
            <a:off x="3509467" y="1143000"/>
            <a:ext cx="2370124"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mop the floor</a:t>
            </a:r>
            <a:endParaRPr sz="2300" b="0">
              <a:solidFill>
                <a:srgbClr val="CD1E1E"/>
              </a:solidFill>
              <a:latin typeface="Arial" panose="020B0604020202020204"/>
            </a:endParaRPr>
          </a:p>
        </p:txBody>
      </p:sp>
      <p:sp>
        <p:nvSpPr>
          <p:cNvPr id="7" name="anim_003_vocab_cn_27"/>
          <p:cNvSpPr txBox="1"/>
          <p:nvPr/>
        </p:nvSpPr>
        <p:spPr>
          <a:xfrm>
            <a:off x="713232" y="2366010"/>
            <a:ext cx="2686507"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27. 擦窗户</a:t>
            </a:r>
            <a:endParaRPr sz="2300" b="0">
              <a:solidFill>
                <a:srgbClr val="0F0F0F"/>
              </a:solidFill>
              <a:latin typeface="微软雅黑" panose="020B0503020204020204" charset="-122"/>
            </a:endParaRPr>
          </a:p>
        </p:txBody>
      </p:sp>
      <p:sp>
        <p:nvSpPr>
          <p:cNvPr id="8" name="anim_004_vocab_en_27"/>
          <p:cNvSpPr txBox="1"/>
          <p:nvPr/>
        </p:nvSpPr>
        <p:spPr>
          <a:xfrm>
            <a:off x="3509467" y="2366010"/>
            <a:ext cx="2370124"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clean the windows</a:t>
            </a:r>
            <a:endParaRPr sz="2300" b="0">
              <a:solidFill>
                <a:srgbClr val="CD1E1E"/>
              </a:solidFill>
              <a:latin typeface="Arial" panose="020B0604020202020204"/>
            </a:endParaRPr>
          </a:p>
        </p:txBody>
      </p:sp>
      <p:sp>
        <p:nvSpPr>
          <p:cNvPr id="9" name="anim_005_vocab_cn_28"/>
          <p:cNvSpPr txBox="1"/>
          <p:nvPr/>
        </p:nvSpPr>
        <p:spPr>
          <a:xfrm>
            <a:off x="713232" y="3589020"/>
            <a:ext cx="2686507"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28. 做得不错; 干得漂亮</a:t>
            </a:r>
            <a:endParaRPr sz="2300" b="0">
              <a:solidFill>
                <a:srgbClr val="0F0F0F"/>
              </a:solidFill>
              <a:latin typeface="微软雅黑" panose="020B0503020204020204" charset="-122"/>
            </a:endParaRPr>
          </a:p>
        </p:txBody>
      </p:sp>
      <p:sp>
        <p:nvSpPr>
          <p:cNvPr id="10" name="anim_006_vocab_en_28"/>
          <p:cNvSpPr txBox="1"/>
          <p:nvPr/>
        </p:nvSpPr>
        <p:spPr>
          <a:xfrm>
            <a:off x="3509467" y="3589020"/>
            <a:ext cx="2370124"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good job</a:t>
            </a:r>
            <a:endParaRPr sz="2300" b="0">
              <a:solidFill>
                <a:srgbClr val="CD1E1E"/>
              </a:solidFill>
              <a:latin typeface="Arial" panose="020B0604020202020204"/>
            </a:endParaRPr>
          </a:p>
        </p:txBody>
      </p:sp>
      <p:sp>
        <p:nvSpPr>
          <p:cNvPr id="11" name="anim_007_vocab_cn_29"/>
          <p:cNvSpPr txBox="1"/>
          <p:nvPr/>
        </p:nvSpPr>
        <p:spPr>
          <a:xfrm>
            <a:off x="713232" y="4812029"/>
            <a:ext cx="2686507"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29. 等不及做某事</a:t>
            </a:r>
            <a:endParaRPr sz="2300" b="0">
              <a:solidFill>
                <a:srgbClr val="0F0F0F"/>
              </a:solidFill>
              <a:latin typeface="微软雅黑" panose="020B0503020204020204" charset="-122"/>
            </a:endParaRPr>
          </a:p>
        </p:txBody>
      </p:sp>
      <p:sp>
        <p:nvSpPr>
          <p:cNvPr id="12" name="anim_008_vocab_en_29"/>
          <p:cNvSpPr txBox="1"/>
          <p:nvPr/>
        </p:nvSpPr>
        <p:spPr>
          <a:xfrm>
            <a:off x="3509467" y="4812029"/>
            <a:ext cx="2370124"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can't wait to do sth.</a:t>
            </a:r>
            <a:endParaRPr sz="2300" b="0">
              <a:solidFill>
                <a:srgbClr val="CD1E1E"/>
              </a:solidFill>
              <a:latin typeface="Arial" panose="020B0604020202020204"/>
            </a:endParaRPr>
          </a:p>
        </p:txBody>
      </p:sp>
      <p:sp>
        <p:nvSpPr>
          <p:cNvPr id="13" name="anim_009_vocab_cn_30"/>
          <p:cNvSpPr txBox="1"/>
          <p:nvPr/>
        </p:nvSpPr>
        <p:spPr>
          <a:xfrm>
            <a:off x="6144768" y="1143000"/>
            <a:ext cx="2748320"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30. 帮助某人做某事</a:t>
            </a:r>
            <a:endParaRPr sz="2300" b="0">
              <a:solidFill>
                <a:srgbClr val="0F0F0F"/>
              </a:solidFill>
              <a:latin typeface="微软雅黑" panose="020B0503020204020204" charset="-122"/>
            </a:endParaRPr>
          </a:p>
        </p:txBody>
      </p:sp>
      <p:sp>
        <p:nvSpPr>
          <p:cNvPr id="14" name="anim_010_vocab_en_30"/>
          <p:cNvSpPr txBox="1"/>
          <p:nvPr/>
        </p:nvSpPr>
        <p:spPr>
          <a:xfrm>
            <a:off x="9002816" y="1143000"/>
            <a:ext cx="2427183"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help sb. do sth.</a:t>
            </a:r>
            <a:endParaRPr sz="2300" b="0">
              <a:solidFill>
                <a:srgbClr val="CD1E1E"/>
              </a:solidFill>
              <a:latin typeface="Arial" panose="020B0604020202020204"/>
            </a:endParaRPr>
          </a:p>
        </p:txBody>
      </p:sp>
      <p:sp>
        <p:nvSpPr>
          <p:cNvPr id="15" name="anim_011_vocab_cn_31"/>
          <p:cNvSpPr txBox="1"/>
          <p:nvPr/>
        </p:nvSpPr>
        <p:spPr>
          <a:xfrm>
            <a:off x="6144768" y="2366010"/>
            <a:ext cx="2748320"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31. 在墙上</a:t>
            </a:r>
            <a:endParaRPr sz="2300" b="0">
              <a:solidFill>
                <a:srgbClr val="0F0F0F"/>
              </a:solidFill>
              <a:latin typeface="微软雅黑" panose="020B0503020204020204" charset="-122"/>
            </a:endParaRPr>
          </a:p>
        </p:txBody>
      </p:sp>
      <p:sp>
        <p:nvSpPr>
          <p:cNvPr id="16" name="anim_012_vocab_en_31"/>
          <p:cNvSpPr txBox="1"/>
          <p:nvPr/>
        </p:nvSpPr>
        <p:spPr>
          <a:xfrm>
            <a:off x="9002816" y="2366010"/>
            <a:ext cx="2427183"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on the wall</a:t>
            </a:r>
            <a:endParaRPr sz="2300" b="0">
              <a:solidFill>
                <a:srgbClr val="CD1E1E"/>
              </a:solidFill>
              <a:latin typeface="Arial" panose="020B0604020202020204"/>
            </a:endParaRPr>
          </a:p>
        </p:txBody>
      </p:sp>
      <p:sp>
        <p:nvSpPr>
          <p:cNvPr id="17" name="anim_013_vocab_cn_32"/>
          <p:cNvSpPr txBox="1"/>
          <p:nvPr/>
        </p:nvSpPr>
        <p:spPr>
          <a:xfrm>
            <a:off x="6144768" y="3589020"/>
            <a:ext cx="2748320"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32. 为某人买某物</a:t>
            </a:r>
            <a:endParaRPr sz="2300" b="0">
              <a:solidFill>
                <a:srgbClr val="0F0F0F"/>
              </a:solidFill>
              <a:latin typeface="微软雅黑" panose="020B0503020204020204" charset="-122"/>
            </a:endParaRPr>
          </a:p>
        </p:txBody>
      </p:sp>
      <p:sp>
        <p:nvSpPr>
          <p:cNvPr id="18" name="anim_014_vocab_en_32"/>
          <p:cNvSpPr txBox="1"/>
          <p:nvPr/>
        </p:nvSpPr>
        <p:spPr>
          <a:xfrm>
            <a:off x="9002816" y="3589020"/>
            <a:ext cx="2427183"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buy sth. for sb.</a:t>
            </a:r>
            <a:endParaRPr sz="2300" b="0">
              <a:solidFill>
                <a:srgbClr val="CD1E1E"/>
              </a:solidFill>
              <a:latin typeface="Arial" panose="020B0604020202020204"/>
            </a:endParaRPr>
          </a:p>
        </p:txBody>
      </p:sp>
      <p:sp>
        <p:nvSpPr>
          <p:cNvPr id="19" name="anim_015_vocab_cn_33"/>
          <p:cNvSpPr txBox="1"/>
          <p:nvPr/>
        </p:nvSpPr>
        <p:spPr>
          <a:xfrm>
            <a:off x="6144768" y="4812029"/>
            <a:ext cx="2748320"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33. 在......前面</a:t>
            </a:r>
            <a:endParaRPr sz="2300" b="0">
              <a:solidFill>
                <a:srgbClr val="0F0F0F"/>
              </a:solidFill>
              <a:latin typeface="微软雅黑" panose="020B0503020204020204" charset="-122"/>
            </a:endParaRPr>
          </a:p>
        </p:txBody>
      </p:sp>
      <p:sp>
        <p:nvSpPr>
          <p:cNvPr id="20" name="anim_016_vocab_en_33"/>
          <p:cNvSpPr txBox="1"/>
          <p:nvPr/>
        </p:nvSpPr>
        <p:spPr>
          <a:xfrm>
            <a:off x="9002816" y="4812029"/>
            <a:ext cx="2427183"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in front of</a:t>
            </a:r>
            <a:endParaRPr sz="2300" b="0">
              <a:solidFill>
                <a:srgbClr val="CD1E1E"/>
              </a:solidFill>
              <a:latin typeface="Arial" panose="020B0604020202020204"/>
            </a:endParaRPr>
          </a:p>
        </p:txBody>
      </p:sp>
      <p:sp>
        <p:nvSpPr>
          <p:cNvPr id="21" name="Rectangle 20"/>
          <p:cNvSpPr/>
          <p:nvPr/>
        </p:nvSpPr>
        <p:spPr>
          <a:xfrm>
            <a:off x="5943600" y="1078992"/>
            <a:ext cx="13716" cy="5029200"/>
          </a:xfrm>
          <a:prstGeom prst="rect">
            <a:avLst/>
          </a:prstGeom>
          <a:solidFill>
            <a:srgbClr val="E1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292840" y="6437376"/>
            <a:ext cx="411480" cy="201168"/>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49</a:t>
            </a:r>
            <a:endParaRPr sz="1000" b="0">
              <a:solidFill>
                <a:srgbClr val="626262"/>
              </a:solidFill>
              <a:latin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1"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1"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1"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1"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1"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1"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1"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1"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1"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1" nodeType="click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1" nodeType="click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500"/>
                                        <p:tgtEl>
                                          <p:spTgt spid="19"/>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1" nodeType="click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5" grpId="1"/>
      <p:bldP spid="6" grpId="1"/>
      <p:bldP spid="7" grpId="1"/>
      <p:bldP spid="8" grpId="1"/>
      <p:bldP spid="9" grpId="1"/>
      <p:bldP spid="10" grpId="1"/>
      <p:bldP spid="11" grpId="1"/>
      <p:bldP spid="12" grpId="1"/>
      <p:bldP spid="13" grpId="1"/>
      <p:bldP spid="14" grpId="1"/>
      <p:bldP spid="15" grpId="1"/>
      <p:bldP spid="16" grpId="1"/>
      <p:bldP spid="17" grpId="1"/>
      <p:bldP spid="18" grpId="1"/>
      <p:bldP spid="19" grpId="1"/>
      <p:bldP spid="20" grpId="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02920" y="219456"/>
            <a:ext cx="10241280" cy="402336"/>
          </a:xfrm>
          <a:prstGeom prst="rect">
            <a:avLst/>
          </a:prstGeom>
          <a:noFill/>
        </p:spPr>
        <p:txBody>
          <a:bodyPr wrap="square" lIns="36576" tIns="18288" rIns="36576" bIns="18288" anchor="t">
            <a:spAutoFit/>
          </a:bodyPr>
          <a:lstStyle/>
          <a:p>
            <a:pPr>
              <a:spcAft>
                <a:spcPts val="300"/>
              </a:spcAft>
            </a:pPr>
            <a:r>
              <a:rPr sz="2800" b="1">
                <a:solidFill>
                  <a:srgbClr val="0F0F0F"/>
                </a:solidFill>
                <a:latin typeface="微软雅黑" panose="020B0503020204020204" charset="-122"/>
              </a:rPr>
              <a:t>Unit 2 Home Sweet Home · 词汇/短语积累 5</a:t>
            </a:r>
            <a:endParaRPr sz="2800" b="1">
              <a:solidFill>
                <a:srgbClr val="0F0F0F"/>
              </a:solidFill>
              <a:latin typeface="微软雅黑" panose="020B0503020204020204" charset="-122"/>
            </a:endParaRPr>
          </a:p>
        </p:txBody>
      </p:sp>
      <p:sp>
        <p:nvSpPr>
          <p:cNvPr id="3" name="TextBox 2"/>
          <p:cNvSpPr txBox="1"/>
          <p:nvPr/>
        </p:nvSpPr>
        <p:spPr>
          <a:xfrm>
            <a:off x="10012680" y="320040"/>
            <a:ext cx="1691640" cy="201168"/>
          </a:xfrm>
          <a:prstGeom prst="rect">
            <a:avLst/>
          </a:prstGeom>
          <a:noFill/>
        </p:spPr>
        <p:txBody>
          <a:bodyPr wrap="square" lIns="36576" tIns="18288" rIns="36576" bIns="18288" anchor="t">
            <a:spAutoFit/>
          </a:bodyPr>
          <a:lstStyle/>
          <a:p>
            <a:pPr algn="r">
              <a:spcAft>
                <a:spcPts val="300"/>
              </a:spcAft>
            </a:pPr>
            <a:r>
              <a:rPr sz="1100" b="0">
                <a:solidFill>
                  <a:srgbClr val="626262"/>
                </a:solidFill>
                <a:latin typeface="微软雅黑" panose="020B0503020204020204" charset="-122"/>
              </a:rPr>
              <a:t>click reveal</a:t>
            </a:r>
            <a:endParaRPr sz="1100" b="0">
              <a:solidFill>
                <a:srgbClr val="626262"/>
              </a:solidFill>
              <a:latin typeface="微软雅黑" panose="020B0503020204020204" charset="-122"/>
            </a:endParaRPr>
          </a:p>
        </p:txBody>
      </p:sp>
      <p:sp>
        <p:nvSpPr>
          <p:cNvPr id="4" name="Rectangle 3"/>
          <p:cNvSpPr/>
          <p:nvPr/>
        </p:nvSpPr>
        <p:spPr>
          <a:xfrm>
            <a:off x="502920" y="749808"/>
            <a:ext cx="11201400" cy="16459"/>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im_001_vocab_cn_34"/>
          <p:cNvSpPr txBox="1"/>
          <p:nvPr/>
        </p:nvSpPr>
        <p:spPr>
          <a:xfrm>
            <a:off x="713232" y="1143000"/>
            <a:ext cx="2686507"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34. 没问题</a:t>
            </a:r>
            <a:endParaRPr sz="2300" b="0">
              <a:solidFill>
                <a:srgbClr val="0F0F0F"/>
              </a:solidFill>
              <a:latin typeface="微软雅黑" panose="020B0503020204020204" charset="-122"/>
            </a:endParaRPr>
          </a:p>
        </p:txBody>
      </p:sp>
      <p:sp>
        <p:nvSpPr>
          <p:cNvPr id="6" name="anim_002_vocab_en_34"/>
          <p:cNvSpPr txBox="1"/>
          <p:nvPr/>
        </p:nvSpPr>
        <p:spPr>
          <a:xfrm>
            <a:off x="3509467" y="1143000"/>
            <a:ext cx="2370124"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no problem</a:t>
            </a:r>
            <a:endParaRPr sz="2300" b="0">
              <a:solidFill>
                <a:srgbClr val="CD1E1E"/>
              </a:solidFill>
              <a:latin typeface="Arial" panose="020B0604020202020204"/>
            </a:endParaRPr>
          </a:p>
        </p:txBody>
      </p:sp>
      <p:sp>
        <p:nvSpPr>
          <p:cNvPr id="7" name="anim_003_vocab_cn_35"/>
          <p:cNvSpPr txBox="1"/>
          <p:nvPr/>
        </p:nvSpPr>
        <p:spPr>
          <a:xfrm>
            <a:off x="713232" y="2366010"/>
            <a:ext cx="2686507"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35. 让人感到宾至如归</a:t>
            </a:r>
            <a:endParaRPr sz="2300" b="0">
              <a:solidFill>
                <a:srgbClr val="0F0F0F"/>
              </a:solidFill>
              <a:latin typeface="微软雅黑" panose="020B0503020204020204" charset="-122"/>
            </a:endParaRPr>
          </a:p>
        </p:txBody>
      </p:sp>
      <p:sp>
        <p:nvSpPr>
          <p:cNvPr id="8" name="anim_004_vocab_en_35"/>
          <p:cNvSpPr txBox="1"/>
          <p:nvPr/>
        </p:nvSpPr>
        <p:spPr>
          <a:xfrm>
            <a:off x="3509467" y="2366010"/>
            <a:ext cx="2370124"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make sb. feel at home</a:t>
            </a:r>
            <a:endParaRPr sz="2300" b="0">
              <a:solidFill>
                <a:srgbClr val="CD1E1E"/>
              </a:solidFill>
              <a:latin typeface="Arial" panose="020B0604020202020204"/>
            </a:endParaRPr>
          </a:p>
        </p:txBody>
      </p:sp>
      <p:sp>
        <p:nvSpPr>
          <p:cNvPr id="9" name="anim_005_vocab_cn_36"/>
          <p:cNvSpPr txBox="1"/>
          <p:nvPr/>
        </p:nvSpPr>
        <p:spPr>
          <a:xfrm>
            <a:off x="713232" y="3589020"/>
            <a:ext cx="2686507"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36. 去购物</a:t>
            </a:r>
            <a:endParaRPr sz="2300" b="0">
              <a:solidFill>
                <a:srgbClr val="0F0F0F"/>
              </a:solidFill>
              <a:latin typeface="微软雅黑" panose="020B0503020204020204" charset="-122"/>
            </a:endParaRPr>
          </a:p>
        </p:txBody>
      </p:sp>
      <p:sp>
        <p:nvSpPr>
          <p:cNvPr id="10" name="anim_006_vocab_en_36"/>
          <p:cNvSpPr txBox="1"/>
          <p:nvPr/>
        </p:nvSpPr>
        <p:spPr>
          <a:xfrm>
            <a:off x="3509467" y="3589020"/>
            <a:ext cx="2370124"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go shopping</a:t>
            </a:r>
            <a:endParaRPr sz="2300" b="0">
              <a:solidFill>
                <a:srgbClr val="CD1E1E"/>
              </a:solidFill>
              <a:latin typeface="Arial" panose="020B0604020202020204"/>
            </a:endParaRPr>
          </a:p>
        </p:txBody>
      </p:sp>
      <p:sp>
        <p:nvSpPr>
          <p:cNvPr id="11" name="anim_007_vocab_cn_37"/>
          <p:cNvSpPr txBox="1"/>
          <p:nvPr/>
        </p:nvSpPr>
        <p:spPr>
          <a:xfrm>
            <a:off x="713232" y="4812029"/>
            <a:ext cx="2686507"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37. 买饮料</a:t>
            </a:r>
            <a:endParaRPr sz="2300" b="0">
              <a:solidFill>
                <a:srgbClr val="0F0F0F"/>
              </a:solidFill>
              <a:latin typeface="微软雅黑" panose="020B0503020204020204" charset="-122"/>
            </a:endParaRPr>
          </a:p>
        </p:txBody>
      </p:sp>
      <p:sp>
        <p:nvSpPr>
          <p:cNvPr id="12" name="anim_008_vocab_en_37"/>
          <p:cNvSpPr txBox="1"/>
          <p:nvPr/>
        </p:nvSpPr>
        <p:spPr>
          <a:xfrm>
            <a:off x="3509467" y="4812029"/>
            <a:ext cx="2370124"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buy drinks</a:t>
            </a:r>
            <a:endParaRPr sz="2300" b="0">
              <a:solidFill>
                <a:srgbClr val="CD1E1E"/>
              </a:solidFill>
              <a:latin typeface="Arial" panose="020B0604020202020204"/>
            </a:endParaRPr>
          </a:p>
        </p:txBody>
      </p:sp>
      <p:sp>
        <p:nvSpPr>
          <p:cNvPr id="13" name="anim_009_vocab_cn_38"/>
          <p:cNvSpPr txBox="1"/>
          <p:nvPr/>
        </p:nvSpPr>
        <p:spPr>
          <a:xfrm>
            <a:off x="6144768" y="1143000"/>
            <a:ext cx="2748320"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38. 制作饼干</a:t>
            </a:r>
            <a:endParaRPr sz="2300" b="0">
              <a:solidFill>
                <a:srgbClr val="0F0F0F"/>
              </a:solidFill>
              <a:latin typeface="微软雅黑" panose="020B0503020204020204" charset="-122"/>
            </a:endParaRPr>
          </a:p>
        </p:txBody>
      </p:sp>
      <p:sp>
        <p:nvSpPr>
          <p:cNvPr id="14" name="anim_010_vocab_en_38"/>
          <p:cNvSpPr txBox="1"/>
          <p:nvPr/>
        </p:nvSpPr>
        <p:spPr>
          <a:xfrm>
            <a:off x="9002816" y="1143000"/>
            <a:ext cx="2427183"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make biscuits</a:t>
            </a:r>
            <a:endParaRPr sz="2300" b="0">
              <a:solidFill>
                <a:srgbClr val="CD1E1E"/>
              </a:solidFill>
              <a:latin typeface="Arial" panose="020B0604020202020204"/>
            </a:endParaRPr>
          </a:p>
        </p:txBody>
      </p:sp>
      <p:sp>
        <p:nvSpPr>
          <p:cNvPr id="15" name="anim_011_vocab_cn_39"/>
          <p:cNvSpPr txBox="1"/>
          <p:nvPr/>
        </p:nvSpPr>
        <p:spPr>
          <a:xfrm>
            <a:off x="6144768" y="2366010"/>
            <a:ext cx="2748320"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39. 做饭</a:t>
            </a:r>
            <a:endParaRPr sz="2300" b="0">
              <a:solidFill>
                <a:srgbClr val="0F0F0F"/>
              </a:solidFill>
              <a:latin typeface="微软雅黑" panose="020B0503020204020204" charset="-122"/>
            </a:endParaRPr>
          </a:p>
        </p:txBody>
      </p:sp>
      <p:sp>
        <p:nvSpPr>
          <p:cNvPr id="16" name="anim_012_vocab_en_39"/>
          <p:cNvSpPr txBox="1"/>
          <p:nvPr/>
        </p:nvSpPr>
        <p:spPr>
          <a:xfrm>
            <a:off x="9002816" y="2366010"/>
            <a:ext cx="2427183"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cook a meal</a:t>
            </a:r>
            <a:endParaRPr sz="2300" b="0">
              <a:solidFill>
                <a:srgbClr val="CD1E1E"/>
              </a:solidFill>
              <a:latin typeface="Arial" panose="020B0604020202020204"/>
            </a:endParaRPr>
          </a:p>
        </p:txBody>
      </p:sp>
      <p:sp>
        <p:nvSpPr>
          <p:cNvPr id="17" name="anim_013_vocab_cn_40"/>
          <p:cNvSpPr txBox="1"/>
          <p:nvPr/>
        </p:nvSpPr>
        <p:spPr>
          <a:xfrm>
            <a:off x="6144768" y="3589020"/>
            <a:ext cx="2748320"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40. 借一套国际象棋</a:t>
            </a:r>
            <a:endParaRPr sz="2300" b="0">
              <a:solidFill>
                <a:srgbClr val="0F0F0F"/>
              </a:solidFill>
              <a:latin typeface="微软雅黑" panose="020B0503020204020204" charset="-122"/>
            </a:endParaRPr>
          </a:p>
        </p:txBody>
      </p:sp>
      <p:sp>
        <p:nvSpPr>
          <p:cNvPr id="18" name="anim_014_vocab_en_40"/>
          <p:cNvSpPr txBox="1"/>
          <p:nvPr/>
        </p:nvSpPr>
        <p:spPr>
          <a:xfrm>
            <a:off x="9002816" y="3589020"/>
            <a:ext cx="2427183"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borrow a chess set</a:t>
            </a:r>
            <a:endParaRPr sz="2300" b="0">
              <a:solidFill>
                <a:srgbClr val="CD1E1E"/>
              </a:solidFill>
              <a:latin typeface="Arial" panose="020B0604020202020204"/>
            </a:endParaRPr>
          </a:p>
        </p:txBody>
      </p:sp>
      <p:sp>
        <p:nvSpPr>
          <p:cNvPr id="19" name="anim_015_vocab_cn_41"/>
          <p:cNvSpPr txBox="1"/>
          <p:nvPr/>
        </p:nvSpPr>
        <p:spPr>
          <a:xfrm>
            <a:off x="6144768" y="4812029"/>
            <a:ext cx="2748320"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41. 计划一次寻宝</a:t>
            </a:r>
            <a:endParaRPr sz="2300" b="0">
              <a:solidFill>
                <a:srgbClr val="0F0F0F"/>
              </a:solidFill>
              <a:latin typeface="微软雅黑" panose="020B0503020204020204" charset="-122"/>
            </a:endParaRPr>
          </a:p>
        </p:txBody>
      </p:sp>
      <p:sp>
        <p:nvSpPr>
          <p:cNvPr id="20" name="anim_016_vocab_en_41"/>
          <p:cNvSpPr txBox="1"/>
          <p:nvPr/>
        </p:nvSpPr>
        <p:spPr>
          <a:xfrm>
            <a:off x="9002816" y="4812029"/>
            <a:ext cx="2427183"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plan a treasure hunt</a:t>
            </a:r>
            <a:endParaRPr sz="2300" b="0">
              <a:solidFill>
                <a:srgbClr val="CD1E1E"/>
              </a:solidFill>
              <a:latin typeface="Arial" panose="020B0604020202020204"/>
            </a:endParaRPr>
          </a:p>
        </p:txBody>
      </p:sp>
      <p:sp>
        <p:nvSpPr>
          <p:cNvPr id="21" name="Rectangle 20"/>
          <p:cNvSpPr/>
          <p:nvPr/>
        </p:nvSpPr>
        <p:spPr>
          <a:xfrm>
            <a:off x="5943600" y="1078992"/>
            <a:ext cx="13716" cy="5029200"/>
          </a:xfrm>
          <a:prstGeom prst="rect">
            <a:avLst/>
          </a:prstGeom>
          <a:solidFill>
            <a:srgbClr val="E1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292840" y="6437376"/>
            <a:ext cx="411480" cy="201168"/>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50</a:t>
            </a:r>
            <a:endParaRPr sz="1000" b="0">
              <a:solidFill>
                <a:srgbClr val="626262"/>
              </a:solidFill>
              <a:latin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1"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1"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1"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1"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1"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1"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1"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1"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1"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1" nodeType="click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1" nodeType="click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500"/>
                                        <p:tgtEl>
                                          <p:spTgt spid="19"/>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1" nodeType="click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5" grpId="1"/>
      <p:bldP spid="6" grpId="1"/>
      <p:bldP spid="7" grpId="1"/>
      <p:bldP spid="8" grpId="1"/>
      <p:bldP spid="9" grpId="1"/>
      <p:bldP spid="10" grpId="1"/>
      <p:bldP spid="11" grpId="1"/>
      <p:bldP spid="12" grpId="1"/>
      <p:bldP spid="13" grpId="1"/>
      <p:bldP spid="14" grpId="1"/>
      <p:bldP spid="15" grpId="1"/>
      <p:bldP spid="16" grpId="1"/>
      <p:bldP spid="17" grpId="1"/>
      <p:bldP spid="18" grpId="1"/>
      <p:bldP spid="19" grpId="1"/>
      <p:bldP spid="20" grpId="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02920" y="219456"/>
            <a:ext cx="10241280" cy="402336"/>
          </a:xfrm>
          <a:prstGeom prst="rect">
            <a:avLst/>
          </a:prstGeom>
          <a:noFill/>
        </p:spPr>
        <p:txBody>
          <a:bodyPr wrap="square" lIns="36576" tIns="18288" rIns="36576" bIns="18288" anchor="t">
            <a:spAutoFit/>
          </a:bodyPr>
          <a:lstStyle/>
          <a:p>
            <a:pPr>
              <a:spcAft>
                <a:spcPts val="300"/>
              </a:spcAft>
            </a:pPr>
            <a:r>
              <a:rPr sz="2800" b="1">
                <a:solidFill>
                  <a:srgbClr val="0F0F0F"/>
                </a:solidFill>
                <a:latin typeface="微软雅黑" panose="020B0503020204020204" charset="-122"/>
              </a:rPr>
              <a:t>Unit 2 Home Sweet Home · 词汇/短语积累 6</a:t>
            </a:r>
            <a:endParaRPr sz="2800" b="1">
              <a:solidFill>
                <a:srgbClr val="0F0F0F"/>
              </a:solidFill>
              <a:latin typeface="微软雅黑" panose="020B0503020204020204" charset="-122"/>
            </a:endParaRPr>
          </a:p>
        </p:txBody>
      </p:sp>
      <p:sp>
        <p:nvSpPr>
          <p:cNvPr id="3" name="TextBox 2"/>
          <p:cNvSpPr txBox="1"/>
          <p:nvPr/>
        </p:nvSpPr>
        <p:spPr>
          <a:xfrm>
            <a:off x="10012680" y="320040"/>
            <a:ext cx="1691640" cy="201168"/>
          </a:xfrm>
          <a:prstGeom prst="rect">
            <a:avLst/>
          </a:prstGeom>
          <a:noFill/>
        </p:spPr>
        <p:txBody>
          <a:bodyPr wrap="square" lIns="36576" tIns="18288" rIns="36576" bIns="18288" anchor="t">
            <a:spAutoFit/>
          </a:bodyPr>
          <a:lstStyle/>
          <a:p>
            <a:pPr algn="r">
              <a:spcAft>
                <a:spcPts val="300"/>
              </a:spcAft>
            </a:pPr>
            <a:r>
              <a:rPr sz="1100" b="0">
                <a:solidFill>
                  <a:srgbClr val="626262"/>
                </a:solidFill>
                <a:latin typeface="微软雅黑" panose="020B0503020204020204" charset="-122"/>
              </a:rPr>
              <a:t>click reveal</a:t>
            </a:r>
            <a:endParaRPr sz="1100" b="0">
              <a:solidFill>
                <a:srgbClr val="626262"/>
              </a:solidFill>
              <a:latin typeface="微软雅黑" panose="020B0503020204020204" charset="-122"/>
            </a:endParaRPr>
          </a:p>
        </p:txBody>
      </p:sp>
      <p:sp>
        <p:nvSpPr>
          <p:cNvPr id="4" name="Rectangle 3"/>
          <p:cNvSpPr/>
          <p:nvPr/>
        </p:nvSpPr>
        <p:spPr>
          <a:xfrm>
            <a:off x="502920" y="749808"/>
            <a:ext cx="11201400" cy="16459"/>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im_001_vocab_cn_42"/>
          <p:cNvSpPr txBox="1"/>
          <p:nvPr/>
        </p:nvSpPr>
        <p:spPr>
          <a:xfrm>
            <a:off x="713232" y="1143000"/>
            <a:ext cx="2686507"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42. 不回家，待得很晚</a:t>
            </a:r>
            <a:endParaRPr sz="2300" b="0">
              <a:solidFill>
                <a:srgbClr val="0F0F0F"/>
              </a:solidFill>
              <a:latin typeface="微软雅黑" panose="020B0503020204020204" charset="-122"/>
            </a:endParaRPr>
          </a:p>
        </p:txBody>
      </p:sp>
      <p:sp>
        <p:nvSpPr>
          <p:cNvPr id="6" name="anim_002_vocab_en_42"/>
          <p:cNvSpPr txBox="1"/>
          <p:nvPr/>
        </p:nvSpPr>
        <p:spPr>
          <a:xfrm>
            <a:off x="3509467" y="1143000"/>
            <a:ext cx="2370124"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stay out</a:t>
            </a:r>
            <a:endParaRPr sz="2300" b="0">
              <a:solidFill>
                <a:srgbClr val="CD1E1E"/>
              </a:solidFill>
              <a:latin typeface="Arial" panose="020B0604020202020204"/>
            </a:endParaRPr>
          </a:p>
        </p:txBody>
      </p:sp>
      <p:sp>
        <p:nvSpPr>
          <p:cNvPr id="7" name="anim_003_vocab_cn_43"/>
          <p:cNvSpPr txBox="1"/>
          <p:nvPr/>
        </p:nvSpPr>
        <p:spPr>
          <a:xfrm>
            <a:off x="713232" y="2366010"/>
            <a:ext cx="2686507"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43. 垃圾袋</a:t>
            </a:r>
            <a:endParaRPr sz="2300" b="0">
              <a:solidFill>
                <a:srgbClr val="0F0F0F"/>
              </a:solidFill>
              <a:latin typeface="微软雅黑" panose="020B0503020204020204" charset="-122"/>
            </a:endParaRPr>
          </a:p>
        </p:txBody>
      </p:sp>
      <p:sp>
        <p:nvSpPr>
          <p:cNvPr id="8" name="anim_004_vocab_en_43"/>
          <p:cNvSpPr txBox="1"/>
          <p:nvPr/>
        </p:nvSpPr>
        <p:spPr>
          <a:xfrm>
            <a:off x="3509467" y="2366010"/>
            <a:ext cx="2370124"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rubbish bags</a:t>
            </a:r>
            <a:endParaRPr sz="2300" b="0">
              <a:solidFill>
                <a:srgbClr val="CD1E1E"/>
              </a:solidFill>
              <a:latin typeface="Arial" panose="020B0604020202020204"/>
            </a:endParaRPr>
          </a:p>
        </p:txBody>
      </p:sp>
      <p:sp>
        <p:nvSpPr>
          <p:cNvPr id="9" name="anim_005_vocab_cn_44"/>
          <p:cNvSpPr txBox="1"/>
          <p:nvPr/>
        </p:nvSpPr>
        <p:spPr>
          <a:xfrm>
            <a:off x="713232" y="3589020"/>
            <a:ext cx="2686507"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44. 春节</a:t>
            </a:r>
            <a:endParaRPr sz="2300" b="0">
              <a:solidFill>
                <a:srgbClr val="0F0F0F"/>
              </a:solidFill>
              <a:latin typeface="微软雅黑" panose="020B0503020204020204" charset="-122"/>
            </a:endParaRPr>
          </a:p>
        </p:txBody>
      </p:sp>
      <p:sp>
        <p:nvSpPr>
          <p:cNvPr id="10" name="anim_006_vocab_en_44"/>
          <p:cNvSpPr txBox="1"/>
          <p:nvPr/>
        </p:nvSpPr>
        <p:spPr>
          <a:xfrm>
            <a:off x="3509467" y="3589020"/>
            <a:ext cx="2370124"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the Spring Festival</a:t>
            </a:r>
            <a:endParaRPr sz="2300" b="0">
              <a:solidFill>
                <a:srgbClr val="CD1E1E"/>
              </a:solidFill>
              <a:latin typeface="Arial" panose="020B0604020202020204"/>
            </a:endParaRPr>
          </a:p>
        </p:txBody>
      </p:sp>
      <p:sp>
        <p:nvSpPr>
          <p:cNvPr id="11" name="anim_007_vocab_cn_45"/>
          <p:cNvSpPr txBox="1"/>
          <p:nvPr/>
        </p:nvSpPr>
        <p:spPr>
          <a:xfrm>
            <a:off x="713232" y="4812029"/>
            <a:ext cx="2686507"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45. 起床</a:t>
            </a:r>
            <a:endParaRPr sz="2300" b="0">
              <a:solidFill>
                <a:srgbClr val="0F0F0F"/>
              </a:solidFill>
              <a:latin typeface="微软雅黑" panose="020B0503020204020204" charset="-122"/>
            </a:endParaRPr>
          </a:p>
        </p:txBody>
      </p:sp>
      <p:sp>
        <p:nvSpPr>
          <p:cNvPr id="12" name="anim_008_vocab_en_45"/>
          <p:cNvSpPr txBox="1"/>
          <p:nvPr/>
        </p:nvSpPr>
        <p:spPr>
          <a:xfrm>
            <a:off x="3509467" y="4812029"/>
            <a:ext cx="2370124"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get up</a:t>
            </a:r>
            <a:endParaRPr sz="2300" b="0">
              <a:solidFill>
                <a:srgbClr val="CD1E1E"/>
              </a:solidFill>
              <a:latin typeface="Arial" panose="020B0604020202020204"/>
            </a:endParaRPr>
          </a:p>
        </p:txBody>
      </p:sp>
      <p:sp>
        <p:nvSpPr>
          <p:cNvPr id="13" name="anim_009_vocab_cn_46"/>
          <p:cNvSpPr txBox="1"/>
          <p:nvPr/>
        </p:nvSpPr>
        <p:spPr>
          <a:xfrm>
            <a:off x="6144768" y="1143000"/>
            <a:ext cx="2748320"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46. 忙于做某事</a:t>
            </a:r>
            <a:endParaRPr sz="2300" b="0">
              <a:solidFill>
                <a:srgbClr val="0F0F0F"/>
              </a:solidFill>
              <a:latin typeface="微软雅黑" panose="020B0503020204020204" charset="-122"/>
            </a:endParaRPr>
          </a:p>
        </p:txBody>
      </p:sp>
      <p:sp>
        <p:nvSpPr>
          <p:cNvPr id="14" name="anim_010_vocab_en_46"/>
          <p:cNvSpPr txBox="1"/>
          <p:nvPr/>
        </p:nvSpPr>
        <p:spPr>
          <a:xfrm>
            <a:off x="9002816" y="1143000"/>
            <a:ext cx="2427183"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be busy doing sth.</a:t>
            </a:r>
            <a:endParaRPr sz="2300" b="0">
              <a:solidFill>
                <a:srgbClr val="CD1E1E"/>
              </a:solidFill>
              <a:latin typeface="Arial" panose="020B0604020202020204"/>
            </a:endParaRPr>
          </a:p>
        </p:txBody>
      </p:sp>
      <p:sp>
        <p:nvSpPr>
          <p:cNvPr id="15" name="anim_011_vocab_cn_47"/>
          <p:cNvSpPr txBox="1"/>
          <p:nvPr/>
        </p:nvSpPr>
        <p:spPr>
          <a:xfrm>
            <a:off x="6144768" y="2366010"/>
            <a:ext cx="2748320"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47. 很高兴做某事</a:t>
            </a:r>
            <a:endParaRPr sz="2300" b="0">
              <a:solidFill>
                <a:srgbClr val="0F0F0F"/>
              </a:solidFill>
              <a:latin typeface="微软雅黑" panose="020B0503020204020204" charset="-122"/>
            </a:endParaRPr>
          </a:p>
        </p:txBody>
      </p:sp>
      <p:sp>
        <p:nvSpPr>
          <p:cNvPr id="16" name="anim_012_vocab_en_47"/>
          <p:cNvSpPr txBox="1"/>
          <p:nvPr/>
        </p:nvSpPr>
        <p:spPr>
          <a:xfrm>
            <a:off x="9002816" y="2366010"/>
            <a:ext cx="2427183"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be happy to.do sth.</a:t>
            </a:r>
            <a:endParaRPr sz="2300" b="0">
              <a:solidFill>
                <a:srgbClr val="CD1E1E"/>
              </a:solidFill>
              <a:latin typeface="Arial" panose="020B0604020202020204"/>
            </a:endParaRPr>
          </a:p>
        </p:txBody>
      </p:sp>
      <p:sp>
        <p:nvSpPr>
          <p:cNvPr id="17" name="anim_013_vocab_cn_48"/>
          <p:cNvSpPr txBox="1"/>
          <p:nvPr/>
        </p:nvSpPr>
        <p:spPr>
          <a:xfrm>
            <a:off x="6144768" y="3589020"/>
            <a:ext cx="2748320"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48. 和某人分享....</a:t>
            </a:r>
            <a:endParaRPr sz="2300" b="0">
              <a:solidFill>
                <a:srgbClr val="0F0F0F"/>
              </a:solidFill>
              <a:latin typeface="微软雅黑" panose="020B0503020204020204" charset="-122"/>
            </a:endParaRPr>
          </a:p>
        </p:txBody>
      </p:sp>
      <p:sp>
        <p:nvSpPr>
          <p:cNvPr id="18" name="anim_014_vocab_en_48"/>
          <p:cNvSpPr txBox="1"/>
          <p:nvPr/>
        </p:nvSpPr>
        <p:spPr>
          <a:xfrm>
            <a:off x="9002816" y="3589020"/>
            <a:ext cx="2427183"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share...with sb.</a:t>
            </a:r>
            <a:endParaRPr sz="2300" b="0">
              <a:solidFill>
                <a:srgbClr val="CD1E1E"/>
              </a:solidFill>
              <a:latin typeface="Arial" panose="020B0604020202020204"/>
            </a:endParaRPr>
          </a:p>
        </p:txBody>
      </p:sp>
      <p:sp>
        <p:nvSpPr>
          <p:cNvPr id="19" name="anim_015_vocab_cn_49"/>
          <p:cNvSpPr txBox="1"/>
          <p:nvPr/>
        </p:nvSpPr>
        <p:spPr>
          <a:xfrm>
            <a:off x="6144768" y="4812029"/>
            <a:ext cx="2748320"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49. 摆放餐具</a:t>
            </a:r>
            <a:endParaRPr sz="2300" b="0">
              <a:solidFill>
                <a:srgbClr val="0F0F0F"/>
              </a:solidFill>
              <a:latin typeface="微软雅黑" panose="020B0503020204020204" charset="-122"/>
            </a:endParaRPr>
          </a:p>
        </p:txBody>
      </p:sp>
      <p:sp>
        <p:nvSpPr>
          <p:cNvPr id="20" name="anim_016_vocab_en_49"/>
          <p:cNvSpPr txBox="1"/>
          <p:nvPr/>
        </p:nvSpPr>
        <p:spPr>
          <a:xfrm>
            <a:off x="9002816" y="4812029"/>
            <a:ext cx="2427183"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set the table</a:t>
            </a:r>
            <a:endParaRPr sz="2300" b="0">
              <a:solidFill>
                <a:srgbClr val="CD1E1E"/>
              </a:solidFill>
              <a:latin typeface="Arial" panose="020B0604020202020204"/>
            </a:endParaRPr>
          </a:p>
        </p:txBody>
      </p:sp>
      <p:sp>
        <p:nvSpPr>
          <p:cNvPr id="21" name="Rectangle 20"/>
          <p:cNvSpPr/>
          <p:nvPr/>
        </p:nvSpPr>
        <p:spPr>
          <a:xfrm>
            <a:off x="5943600" y="1078992"/>
            <a:ext cx="13716" cy="5029200"/>
          </a:xfrm>
          <a:prstGeom prst="rect">
            <a:avLst/>
          </a:prstGeom>
          <a:solidFill>
            <a:srgbClr val="E1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292840" y="6437376"/>
            <a:ext cx="411480" cy="201168"/>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51</a:t>
            </a:r>
            <a:endParaRPr sz="1000" b="0">
              <a:solidFill>
                <a:srgbClr val="626262"/>
              </a:solidFill>
              <a:latin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1"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1"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1"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1"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1"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1"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1"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1"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1"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1" nodeType="click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1" nodeType="click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500"/>
                                        <p:tgtEl>
                                          <p:spTgt spid="19"/>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1" nodeType="click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5" grpId="1"/>
      <p:bldP spid="6" grpId="1"/>
      <p:bldP spid="7" grpId="1"/>
      <p:bldP spid="8" grpId="1"/>
      <p:bldP spid="9" grpId="1"/>
      <p:bldP spid="10" grpId="1"/>
      <p:bldP spid="11" grpId="1"/>
      <p:bldP spid="12" grpId="1"/>
      <p:bldP spid="13" grpId="1"/>
      <p:bldP spid="14" grpId="1"/>
      <p:bldP spid="15" grpId="1"/>
      <p:bldP spid="16" grpId="1"/>
      <p:bldP spid="17" grpId="1"/>
      <p:bldP spid="18" grpId="1"/>
      <p:bldP spid="19" grpId="1"/>
      <p:bldP spid="20" grpId="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02920" y="219456"/>
            <a:ext cx="10241280" cy="402336"/>
          </a:xfrm>
          <a:prstGeom prst="rect">
            <a:avLst/>
          </a:prstGeom>
          <a:noFill/>
        </p:spPr>
        <p:txBody>
          <a:bodyPr wrap="square" lIns="36576" tIns="18288" rIns="36576" bIns="18288" anchor="t">
            <a:spAutoFit/>
          </a:bodyPr>
          <a:lstStyle/>
          <a:p>
            <a:pPr>
              <a:spcAft>
                <a:spcPts val="300"/>
              </a:spcAft>
            </a:pPr>
            <a:r>
              <a:rPr sz="2800" b="1">
                <a:solidFill>
                  <a:srgbClr val="0F0F0F"/>
                </a:solidFill>
                <a:latin typeface="微软雅黑" panose="020B0503020204020204" charset="-122"/>
              </a:rPr>
              <a:t>Unit 2 Home Sweet Home · 词汇/短语积累 7</a:t>
            </a:r>
            <a:endParaRPr sz="2800" b="1">
              <a:solidFill>
                <a:srgbClr val="0F0F0F"/>
              </a:solidFill>
              <a:latin typeface="微软雅黑" panose="020B0503020204020204" charset="-122"/>
            </a:endParaRPr>
          </a:p>
        </p:txBody>
      </p:sp>
      <p:sp>
        <p:nvSpPr>
          <p:cNvPr id="3" name="TextBox 2"/>
          <p:cNvSpPr txBox="1"/>
          <p:nvPr/>
        </p:nvSpPr>
        <p:spPr>
          <a:xfrm>
            <a:off x="10012680" y="320040"/>
            <a:ext cx="1691640" cy="201168"/>
          </a:xfrm>
          <a:prstGeom prst="rect">
            <a:avLst/>
          </a:prstGeom>
          <a:noFill/>
        </p:spPr>
        <p:txBody>
          <a:bodyPr wrap="square" lIns="36576" tIns="18288" rIns="36576" bIns="18288" anchor="t">
            <a:spAutoFit/>
          </a:bodyPr>
          <a:lstStyle/>
          <a:p>
            <a:pPr algn="r">
              <a:spcAft>
                <a:spcPts val="300"/>
              </a:spcAft>
            </a:pPr>
            <a:r>
              <a:rPr sz="1100" b="0">
                <a:solidFill>
                  <a:srgbClr val="626262"/>
                </a:solidFill>
                <a:latin typeface="微软雅黑" panose="020B0503020204020204" charset="-122"/>
              </a:rPr>
              <a:t>click reveal</a:t>
            </a:r>
            <a:endParaRPr sz="1100" b="0">
              <a:solidFill>
                <a:srgbClr val="626262"/>
              </a:solidFill>
              <a:latin typeface="微软雅黑" panose="020B0503020204020204" charset="-122"/>
            </a:endParaRPr>
          </a:p>
        </p:txBody>
      </p:sp>
      <p:sp>
        <p:nvSpPr>
          <p:cNvPr id="4" name="Rectangle 3"/>
          <p:cNvSpPr/>
          <p:nvPr/>
        </p:nvSpPr>
        <p:spPr>
          <a:xfrm>
            <a:off x="502920" y="749808"/>
            <a:ext cx="11201400" cy="16459"/>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im_001_vocab_cn_50"/>
          <p:cNvSpPr txBox="1"/>
          <p:nvPr/>
        </p:nvSpPr>
        <p:spPr>
          <a:xfrm>
            <a:off x="713232" y="1143000"/>
            <a:ext cx="2686507"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50. 熟悉的家的味道</a:t>
            </a:r>
            <a:endParaRPr sz="2300" b="0">
              <a:solidFill>
                <a:srgbClr val="0F0F0F"/>
              </a:solidFill>
              <a:latin typeface="微软雅黑" panose="020B0503020204020204" charset="-122"/>
            </a:endParaRPr>
          </a:p>
        </p:txBody>
      </p:sp>
      <p:sp>
        <p:nvSpPr>
          <p:cNvPr id="6" name="anim_002_vocab_en_50"/>
          <p:cNvSpPr txBox="1"/>
          <p:nvPr/>
        </p:nvSpPr>
        <p:spPr>
          <a:xfrm>
            <a:off x="3509467" y="1143000"/>
            <a:ext cx="2370124"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the familiar taste of home</a:t>
            </a:r>
            <a:endParaRPr sz="2300" b="0">
              <a:solidFill>
                <a:srgbClr val="CD1E1E"/>
              </a:solidFill>
              <a:latin typeface="Arial" panose="020B0604020202020204"/>
            </a:endParaRPr>
          </a:p>
        </p:txBody>
      </p:sp>
      <p:sp>
        <p:nvSpPr>
          <p:cNvPr id="7" name="anim_003_vocab_cn_51"/>
          <p:cNvSpPr txBox="1"/>
          <p:nvPr/>
        </p:nvSpPr>
        <p:spPr>
          <a:xfrm>
            <a:off x="713232" y="2366010"/>
            <a:ext cx="2686507"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51. 讲笑话</a:t>
            </a:r>
            <a:endParaRPr sz="2300" b="0">
              <a:solidFill>
                <a:srgbClr val="0F0F0F"/>
              </a:solidFill>
              <a:latin typeface="微软雅黑" panose="020B0503020204020204" charset="-122"/>
            </a:endParaRPr>
          </a:p>
        </p:txBody>
      </p:sp>
      <p:sp>
        <p:nvSpPr>
          <p:cNvPr id="8" name="anim_004_vocab_en_51"/>
          <p:cNvSpPr txBox="1"/>
          <p:nvPr/>
        </p:nvSpPr>
        <p:spPr>
          <a:xfrm>
            <a:off x="3509467" y="2366010"/>
            <a:ext cx="2370124"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tell jokes</a:t>
            </a:r>
            <a:endParaRPr sz="2300" b="0">
              <a:solidFill>
                <a:srgbClr val="CD1E1E"/>
              </a:solidFill>
              <a:latin typeface="Arial" panose="020B0604020202020204"/>
            </a:endParaRPr>
          </a:p>
        </p:txBody>
      </p:sp>
      <p:sp>
        <p:nvSpPr>
          <p:cNvPr id="9" name="anim_005_vocab_cn_52"/>
          <p:cNvSpPr txBox="1"/>
          <p:nvPr/>
        </p:nvSpPr>
        <p:spPr>
          <a:xfrm>
            <a:off x="713232" y="3589020"/>
            <a:ext cx="2686507"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52. 握住某人的手</a:t>
            </a:r>
            <a:endParaRPr sz="2300" b="0">
              <a:solidFill>
                <a:srgbClr val="0F0F0F"/>
              </a:solidFill>
              <a:latin typeface="微软雅黑" panose="020B0503020204020204" charset="-122"/>
            </a:endParaRPr>
          </a:p>
        </p:txBody>
      </p:sp>
      <p:sp>
        <p:nvSpPr>
          <p:cNvPr id="10" name="anim_006_vocab_en_52"/>
          <p:cNvSpPr txBox="1"/>
          <p:nvPr/>
        </p:nvSpPr>
        <p:spPr>
          <a:xfrm>
            <a:off x="3509467" y="3589020"/>
            <a:ext cx="2370124"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hold one's hands</a:t>
            </a:r>
            <a:endParaRPr sz="2300" b="0">
              <a:solidFill>
                <a:srgbClr val="CD1E1E"/>
              </a:solidFill>
              <a:latin typeface="Arial" panose="020B0604020202020204"/>
            </a:endParaRPr>
          </a:p>
        </p:txBody>
      </p:sp>
      <p:sp>
        <p:nvSpPr>
          <p:cNvPr id="11" name="anim_007_vocab_cn_53"/>
          <p:cNvSpPr txBox="1"/>
          <p:nvPr/>
        </p:nvSpPr>
        <p:spPr>
          <a:xfrm>
            <a:off x="713232" y="4812029"/>
            <a:ext cx="2686507"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53. 想要做某事</a:t>
            </a:r>
            <a:endParaRPr sz="2300" b="0">
              <a:solidFill>
                <a:srgbClr val="0F0F0F"/>
              </a:solidFill>
              <a:latin typeface="微软雅黑" panose="020B0503020204020204" charset="-122"/>
            </a:endParaRPr>
          </a:p>
        </p:txBody>
      </p:sp>
      <p:sp>
        <p:nvSpPr>
          <p:cNvPr id="12" name="anim_008_vocab_en_53"/>
          <p:cNvSpPr txBox="1"/>
          <p:nvPr/>
        </p:nvSpPr>
        <p:spPr>
          <a:xfrm>
            <a:off x="3509467" y="4812029"/>
            <a:ext cx="2370124"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would like to do sth.</a:t>
            </a:r>
            <a:endParaRPr sz="2300" b="0">
              <a:solidFill>
                <a:srgbClr val="CD1E1E"/>
              </a:solidFill>
              <a:latin typeface="Arial" panose="020B0604020202020204"/>
            </a:endParaRPr>
          </a:p>
        </p:txBody>
      </p:sp>
      <p:sp>
        <p:nvSpPr>
          <p:cNvPr id="13" name="anim_009_vocab_cn_54"/>
          <p:cNvSpPr txBox="1"/>
          <p:nvPr/>
        </p:nvSpPr>
        <p:spPr>
          <a:xfrm>
            <a:off x="6144768" y="1143000"/>
            <a:ext cx="2748320"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54. 帮忙</a:t>
            </a:r>
            <a:endParaRPr sz="2300" b="0">
              <a:solidFill>
                <a:srgbClr val="0F0F0F"/>
              </a:solidFill>
              <a:latin typeface="微软雅黑" panose="020B0503020204020204" charset="-122"/>
            </a:endParaRPr>
          </a:p>
        </p:txBody>
      </p:sp>
      <p:sp>
        <p:nvSpPr>
          <p:cNvPr id="14" name="anim_010_vocab_en_54"/>
          <p:cNvSpPr txBox="1"/>
          <p:nvPr/>
        </p:nvSpPr>
        <p:spPr>
          <a:xfrm>
            <a:off x="9002816" y="1143000"/>
            <a:ext cx="2427183"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give a hand</a:t>
            </a:r>
            <a:endParaRPr sz="2300" b="0">
              <a:solidFill>
                <a:srgbClr val="CD1E1E"/>
              </a:solidFill>
              <a:latin typeface="Arial" panose="020B0604020202020204"/>
            </a:endParaRPr>
          </a:p>
        </p:txBody>
      </p:sp>
      <p:sp>
        <p:nvSpPr>
          <p:cNvPr id="15" name="anim_011_vocab_cn_55"/>
          <p:cNvSpPr txBox="1"/>
          <p:nvPr/>
        </p:nvSpPr>
        <p:spPr>
          <a:xfrm>
            <a:off x="6144768" y="2366010"/>
            <a:ext cx="2748320"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55. 制作海报</a:t>
            </a:r>
            <a:endParaRPr sz="2300" b="0">
              <a:solidFill>
                <a:srgbClr val="0F0F0F"/>
              </a:solidFill>
              <a:latin typeface="微软雅黑" panose="020B0503020204020204" charset="-122"/>
            </a:endParaRPr>
          </a:p>
        </p:txBody>
      </p:sp>
      <p:sp>
        <p:nvSpPr>
          <p:cNvPr id="16" name="anim_012_vocab_en_55"/>
          <p:cNvSpPr txBox="1"/>
          <p:nvPr/>
        </p:nvSpPr>
        <p:spPr>
          <a:xfrm>
            <a:off x="9002816" y="2366010"/>
            <a:ext cx="2427183"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make a poster</a:t>
            </a:r>
            <a:endParaRPr sz="2300" b="0">
              <a:solidFill>
                <a:srgbClr val="CD1E1E"/>
              </a:solidFill>
              <a:latin typeface="Arial" panose="020B0604020202020204"/>
            </a:endParaRPr>
          </a:p>
        </p:txBody>
      </p:sp>
      <p:sp>
        <p:nvSpPr>
          <p:cNvPr id="17" name="anim_013_vocab_cn_56"/>
          <p:cNvSpPr txBox="1"/>
          <p:nvPr/>
        </p:nvSpPr>
        <p:spPr>
          <a:xfrm>
            <a:off x="6144768" y="3589020"/>
            <a:ext cx="2748320"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56. 制作剪纸</a:t>
            </a:r>
            <a:endParaRPr sz="2300" b="0">
              <a:solidFill>
                <a:srgbClr val="0F0F0F"/>
              </a:solidFill>
              <a:latin typeface="微软雅黑" panose="020B0503020204020204" charset="-122"/>
            </a:endParaRPr>
          </a:p>
        </p:txBody>
      </p:sp>
      <p:sp>
        <p:nvSpPr>
          <p:cNvPr id="18" name="anim_014_vocab_en_56"/>
          <p:cNvSpPr txBox="1"/>
          <p:nvPr/>
        </p:nvSpPr>
        <p:spPr>
          <a:xfrm>
            <a:off x="9002816" y="3589020"/>
            <a:ext cx="2427183"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make paper cuttings</a:t>
            </a:r>
            <a:endParaRPr sz="2300" b="0">
              <a:solidFill>
                <a:srgbClr val="CD1E1E"/>
              </a:solidFill>
              <a:latin typeface="Arial" panose="020B0604020202020204"/>
            </a:endParaRPr>
          </a:p>
        </p:txBody>
      </p:sp>
      <p:sp>
        <p:nvSpPr>
          <p:cNvPr id="19" name="anim_015_vocab_cn_57"/>
          <p:cNvSpPr txBox="1"/>
          <p:nvPr/>
        </p:nvSpPr>
        <p:spPr>
          <a:xfrm>
            <a:off x="6144768" y="4812029"/>
            <a:ext cx="2748320"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57. 倒垃圾</a:t>
            </a:r>
            <a:endParaRPr sz="2300" b="0">
              <a:solidFill>
                <a:srgbClr val="0F0F0F"/>
              </a:solidFill>
              <a:latin typeface="微软雅黑" panose="020B0503020204020204" charset="-122"/>
            </a:endParaRPr>
          </a:p>
        </p:txBody>
      </p:sp>
      <p:sp>
        <p:nvSpPr>
          <p:cNvPr id="20" name="anim_016_vocab_en_57"/>
          <p:cNvSpPr txBox="1"/>
          <p:nvPr/>
        </p:nvSpPr>
        <p:spPr>
          <a:xfrm>
            <a:off x="9002816" y="4812029"/>
            <a:ext cx="2427183"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take out the rubbish</a:t>
            </a:r>
            <a:endParaRPr sz="2300" b="0">
              <a:solidFill>
                <a:srgbClr val="CD1E1E"/>
              </a:solidFill>
              <a:latin typeface="Arial" panose="020B0604020202020204"/>
            </a:endParaRPr>
          </a:p>
        </p:txBody>
      </p:sp>
      <p:sp>
        <p:nvSpPr>
          <p:cNvPr id="21" name="Rectangle 20"/>
          <p:cNvSpPr/>
          <p:nvPr/>
        </p:nvSpPr>
        <p:spPr>
          <a:xfrm>
            <a:off x="5943600" y="1078992"/>
            <a:ext cx="13716" cy="5029200"/>
          </a:xfrm>
          <a:prstGeom prst="rect">
            <a:avLst/>
          </a:prstGeom>
          <a:solidFill>
            <a:srgbClr val="E1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292840" y="6437376"/>
            <a:ext cx="411480" cy="201168"/>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52</a:t>
            </a:r>
            <a:endParaRPr sz="1000" b="0">
              <a:solidFill>
                <a:srgbClr val="626262"/>
              </a:solidFill>
              <a:latin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1"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1"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1"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1"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1"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1"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1"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1"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1"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1" nodeType="click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1" nodeType="click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500"/>
                                        <p:tgtEl>
                                          <p:spTgt spid="19"/>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1" nodeType="click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5" grpId="1"/>
      <p:bldP spid="6" grpId="1"/>
      <p:bldP spid="7" grpId="1"/>
      <p:bldP spid="8" grpId="1"/>
      <p:bldP spid="9" grpId="1"/>
      <p:bldP spid="10" grpId="1"/>
      <p:bldP spid="11" grpId="1"/>
      <p:bldP spid="12" grpId="1"/>
      <p:bldP spid="13" grpId="1"/>
      <p:bldP spid="14" grpId="1"/>
      <p:bldP spid="15" grpId="1"/>
      <p:bldP spid="16" grpId="1"/>
      <p:bldP spid="17" grpId="1"/>
      <p:bldP spid="18" grpId="1"/>
      <p:bldP spid="19" grpId="1"/>
      <p:bldP spid="20" grpId="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02920" y="219456"/>
            <a:ext cx="10241280" cy="402336"/>
          </a:xfrm>
          <a:prstGeom prst="rect">
            <a:avLst/>
          </a:prstGeom>
          <a:noFill/>
        </p:spPr>
        <p:txBody>
          <a:bodyPr wrap="square" lIns="36576" tIns="18288" rIns="36576" bIns="18288" anchor="t">
            <a:spAutoFit/>
          </a:bodyPr>
          <a:lstStyle/>
          <a:p>
            <a:pPr>
              <a:spcAft>
                <a:spcPts val="300"/>
              </a:spcAft>
            </a:pPr>
            <a:r>
              <a:rPr sz="2800" b="1">
                <a:solidFill>
                  <a:srgbClr val="0F0F0F"/>
                </a:solidFill>
                <a:latin typeface="微软雅黑" panose="020B0503020204020204" charset="-122"/>
              </a:rPr>
              <a:t>Unit 2 Home Sweet Home · 词汇/短语积累 8</a:t>
            </a:r>
            <a:endParaRPr sz="2800" b="1">
              <a:solidFill>
                <a:srgbClr val="0F0F0F"/>
              </a:solidFill>
              <a:latin typeface="微软雅黑" panose="020B0503020204020204" charset="-122"/>
            </a:endParaRPr>
          </a:p>
        </p:txBody>
      </p:sp>
      <p:sp>
        <p:nvSpPr>
          <p:cNvPr id="3" name="TextBox 2"/>
          <p:cNvSpPr txBox="1"/>
          <p:nvPr/>
        </p:nvSpPr>
        <p:spPr>
          <a:xfrm>
            <a:off x="10012680" y="320040"/>
            <a:ext cx="1691640" cy="201168"/>
          </a:xfrm>
          <a:prstGeom prst="rect">
            <a:avLst/>
          </a:prstGeom>
          <a:noFill/>
        </p:spPr>
        <p:txBody>
          <a:bodyPr wrap="square" lIns="36576" tIns="18288" rIns="36576" bIns="18288" anchor="t">
            <a:spAutoFit/>
          </a:bodyPr>
          <a:lstStyle/>
          <a:p>
            <a:pPr algn="r">
              <a:spcAft>
                <a:spcPts val="300"/>
              </a:spcAft>
            </a:pPr>
            <a:r>
              <a:rPr sz="1100" b="0">
                <a:solidFill>
                  <a:srgbClr val="626262"/>
                </a:solidFill>
                <a:latin typeface="微软雅黑" panose="020B0503020204020204" charset="-122"/>
              </a:rPr>
              <a:t>click reveal</a:t>
            </a:r>
            <a:endParaRPr sz="1100" b="0">
              <a:solidFill>
                <a:srgbClr val="626262"/>
              </a:solidFill>
              <a:latin typeface="微软雅黑" panose="020B0503020204020204" charset="-122"/>
            </a:endParaRPr>
          </a:p>
        </p:txBody>
      </p:sp>
      <p:sp>
        <p:nvSpPr>
          <p:cNvPr id="4" name="Rectangle 3"/>
          <p:cNvSpPr/>
          <p:nvPr/>
        </p:nvSpPr>
        <p:spPr>
          <a:xfrm>
            <a:off x="502920" y="749808"/>
            <a:ext cx="11201400" cy="16459"/>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im_001_vocab_cn_58"/>
          <p:cNvSpPr txBox="1"/>
          <p:nvPr/>
        </p:nvSpPr>
        <p:spPr>
          <a:xfrm>
            <a:off x="713232" y="1143000"/>
            <a:ext cx="2686507"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58. 洗衣服</a:t>
            </a:r>
            <a:endParaRPr sz="2300" b="0">
              <a:solidFill>
                <a:srgbClr val="0F0F0F"/>
              </a:solidFill>
              <a:latin typeface="微软雅黑" panose="020B0503020204020204" charset="-122"/>
            </a:endParaRPr>
          </a:p>
        </p:txBody>
      </p:sp>
      <p:sp>
        <p:nvSpPr>
          <p:cNvPr id="6" name="anim_002_vocab_en_58"/>
          <p:cNvSpPr txBox="1"/>
          <p:nvPr/>
        </p:nvSpPr>
        <p:spPr>
          <a:xfrm>
            <a:off x="3509467" y="1143000"/>
            <a:ext cx="2370124"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do the laundry</a:t>
            </a:r>
            <a:endParaRPr sz="2300" b="0">
              <a:solidFill>
                <a:srgbClr val="CD1E1E"/>
              </a:solidFill>
              <a:latin typeface="Arial" panose="020B0604020202020204"/>
            </a:endParaRPr>
          </a:p>
        </p:txBody>
      </p:sp>
      <p:sp>
        <p:nvSpPr>
          <p:cNvPr id="7" name="anim_003_vocab_cn_59"/>
          <p:cNvSpPr txBox="1"/>
          <p:nvPr/>
        </p:nvSpPr>
        <p:spPr>
          <a:xfrm>
            <a:off x="713232" y="2366010"/>
            <a:ext cx="2686507"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59. 洗碗</a:t>
            </a:r>
            <a:endParaRPr sz="2300" b="0">
              <a:solidFill>
                <a:srgbClr val="0F0F0F"/>
              </a:solidFill>
              <a:latin typeface="微软雅黑" panose="020B0503020204020204" charset="-122"/>
            </a:endParaRPr>
          </a:p>
        </p:txBody>
      </p:sp>
      <p:sp>
        <p:nvSpPr>
          <p:cNvPr id="8" name="anim_004_vocab_en_59"/>
          <p:cNvSpPr txBox="1"/>
          <p:nvPr/>
        </p:nvSpPr>
        <p:spPr>
          <a:xfrm>
            <a:off x="3509467" y="2366010"/>
            <a:ext cx="2370124"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do the dishes</a:t>
            </a:r>
            <a:endParaRPr sz="2300" b="0">
              <a:solidFill>
                <a:srgbClr val="CD1E1E"/>
              </a:solidFill>
              <a:latin typeface="Arial" panose="020B0604020202020204"/>
            </a:endParaRPr>
          </a:p>
        </p:txBody>
      </p:sp>
      <p:sp>
        <p:nvSpPr>
          <p:cNvPr id="9" name="anim_005_vocab_cn_60"/>
          <p:cNvSpPr txBox="1"/>
          <p:nvPr/>
        </p:nvSpPr>
        <p:spPr>
          <a:xfrm>
            <a:off x="713232" y="3589020"/>
            <a:ext cx="2686507"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60. 叠衣服</a:t>
            </a:r>
            <a:endParaRPr sz="2300" b="0">
              <a:solidFill>
                <a:srgbClr val="0F0F0F"/>
              </a:solidFill>
              <a:latin typeface="微软雅黑" panose="020B0503020204020204" charset="-122"/>
            </a:endParaRPr>
          </a:p>
        </p:txBody>
      </p:sp>
      <p:sp>
        <p:nvSpPr>
          <p:cNvPr id="10" name="anim_006_vocab_en_60"/>
          <p:cNvSpPr txBox="1"/>
          <p:nvPr/>
        </p:nvSpPr>
        <p:spPr>
          <a:xfrm>
            <a:off x="3509467" y="3589020"/>
            <a:ext cx="2370124"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fold the clothes</a:t>
            </a:r>
            <a:endParaRPr sz="2300" b="0">
              <a:solidFill>
                <a:srgbClr val="CD1E1E"/>
              </a:solidFill>
              <a:latin typeface="Arial" panose="020B0604020202020204"/>
            </a:endParaRPr>
          </a:p>
        </p:txBody>
      </p:sp>
      <p:sp>
        <p:nvSpPr>
          <p:cNvPr id="11" name="anim_007_vocab_cn_61"/>
          <p:cNvSpPr txBox="1"/>
          <p:nvPr/>
        </p:nvSpPr>
        <p:spPr>
          <a:xfrm>
            <a:off x="713232" y="4812029"/>
            <a:ext cx="2686507"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61. 遛狗</a:t>
            </a:r>
            <a:endParaRPr sz="2300" b="0">
              <a:solidFill>
                <a:srgbClr val="0F0F0F"/>
              </a:solidFill>
              <a:latin typeface="微软雅黑" panose="020B0503020204020204" charset="-122"/>
            </a:endParaRPr>
          </a:p>
        </p:txBody>
      </p:sp>
      <p:sp>
        <p:nvSpPr>
          <p:cNvPr id="12" name="anim_008_vocab_en_61"/>
          <p:cNvSpPr txBox="1"/>
          <p:nvPr/>
        </p:nvSpPr>
        <p:spPr>
          <a:xfrm>
            <a:off x="3509467" y="4812029"/>
            <a:ext cx="2370124"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walk the dog</a:t>
            </a:r>
            <a:endParaRPr sz="2300" b="0">
              <a:solidFill>
                <a:srgbClr val="CD1E1E"/>
              </a:solidFill>
              <a:latin typeface="Arial" panose="020B0604020202020204"/>
            </a:endParaRPr>
          </a:p>
        </p:txBody>
      </p:sp>
      <p:sp>
        <p:nvSpPr>
          <p:cNvPr id="13" name="anim_009_vocab_cn_62"/>
          <p:cNvSpPr txBox="1"/>
          <p:nvPr/>
        </p:nvSpPr>
        <p:spPr>
          <a:xfrm>
            <a:off x="6144768" y="1143000"/>
            <a:ext cx="2748320"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62. 整理床铺</a:t>
            </a:r>
            <a:endParaRPr sz="2300" b="0">
              <a:solidFill>
                <a:srgbClr val="0F0F0F"/>
              </a:solidFill>
              <a:latin typeface="微软雅黑" panose="020B0503020204020204" charset="-122"/>
            </a:endParaRPr>
          </a:p>
        </p:txBody>
      </p:sp>
      <p:sp>
        <p:nvSpPr>
          <p:cNvPr id="14" name="anim_010_vocab_en_62"/>
          <p:cNvSpPr txBox="1"/>
          <p:nvPr/>
        </p:nvSpPr>
        <p:spPr>
          <a:xfrm>
            <a:off x="9002816" y="1143000"/>
            <a:ext cx="2427183"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make the bed</a:t>
            </a:r>
            <a:endParaRPr sz="2300" b="0">
              <a:solidFill>
                <a:srgbClr val="CD1E1E"/>
              </a:solidFill>
              <a:latin typeface="Arial" panose="020B0604020202020204"/>
            </a:endParaRPr>
          </a:p>
        </p:txBody>
      </p:sp>
      <p:sp>
        <p:nvSpPr>
          <p:cNvPr id="15" name="anim_011_vocab_cn_63"/>
          <p:cNvSpPr txBox="1"/>
          <p:nvPr/>
        </p:nvSpPr>
        <p:spPr>
          <a:xfrm>
            <a:off x="6144768" y="2366010"/>
            <a:ext cx="2748320" cy="1125169"/>
          </a:xfrm>
          <a:prstGeom prst="rect">
            <a:avLst/>
          </a:prstGeom>
          <a:noFill/>
        </p:spPr>
        <p:txBody>
          <a:bodyPr wrap="square" lIns="36576" tIns="18288" rIns="36576" bIns="18288" anchor="t">
            <a:spAutoFit/>
          </a:bodyPr>
          <a:lstStyle/>
          <a:p>
            <a:pPr>
              <a:spcAft>
                <a:spcPts val="300"/>
              </a:spcAft>
            </a:pPr>
            <a:r>
              <a:rPr sz="2000" b="0">
                <a:solidFill>
                  <a:srgbClr val="0F0F0F"/>
                </a:solidFill>
                <a:latin typeface="微软雅黑" panose="020B0503020204020204" charset="-122"/>
              </a:rPr>
              <a:t>63. 在公寓 1 楼</a:t>
            </a:r>
            <a:endParaRPr sz="2000" b="0">
              <a:solidFill>
                <a:srgbClr val="0F0F0F"/>
              </a:solidFill>
              <a:latin typeface="微软雅黑" panose="020B0503020204020204" charset="-122"/>
            </a:endParaRPr>
          </a:p>
        </p:txBody>
      </p:sp>
      <p:sp>
        <p:nvSpPr>
          <p:cNvPr id="16" name="anim_012_vocab_en_63"/>
          <p:cNvSpPr txBox="1"/>
          <p:nvPr/>
        </p:nvSpPr>
        <p:spPr>
          <a:xfrm>
            <a:off x="9002816" y="2366010"/>
            <a:ext cx="2427183" cy="1125169"/>
          </a:xfrm>
          <a:prstGeom prst="rect">
            <a:avLst/>
          </a:prstGeom>
          <a:noFill/>
        </p:spPr>
        <p:txBody>
          <a:bodyPr wrap="square" lIns="36576" tIns="18288" rIns="36576" bIns="18288" anchor="t">
            <a:spAutoFit/>
          </a:bodyPr>
          <a:lstStyle/>
          <a:p>
            <a:pPr>
              <a:spcAft>
                <a:spcPts val="300"/>
              </a:spcAft>
            </a:pPr>
            <a:r>
              <a:rPr sz="2000" b="0">
                <a:solidFill>
                  <a:srgbClr val="CD1E1E"/>
                </a:solidFill>
                <a:latin typeface="Arial" panose="020B0604020202020204"/>
              </a:rPr>
              <a:t>on the first floor of the apartment</a:t>
            </a:r>
            <a:endParaRPr sz="2000" b="0">
              <a:solidFill>
                <a:srgbClr val="CD1E1E"/>
              </a:solidFill>
              <a:latin typeface="Arial" panose="020B0604020202020204"/>
            </a:endParaRPr>
          </a:p>
        </p:txBody>
      </p:sp>
      <p:sp>
        <p:nvSpPr>
          <p:cNvPr id="17" name="anim_013_vocab_cn_64"/>
          <p:cNvSpPr txBox="1"/>
          <p:nvPr/>
        </p:nvSpPr>
        <p:spPr>
          <a:xfrm>
            <a:off x="6144768" y="3589020"/>
            <a:ext cx="2748320"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64. 开车顺便送某人</a:t>
            </a:r>
            <a:endParaRPr sz="2300" b="0">
              <a:solidFill>
                <a:srgbClr val="0F0F0F"/>
              </a:solidFill>
              <a:latin typeface="微软雅黑" panose="020B0503020204020204" charset="-122"/>
            </a:endParaRPr>
          </a:p>
        </p:txBody>
      </p:sp>
      <p:sp>
        <p:nvSpPr>
          <p:cNvPr id="18" name="anim_014_vocab_en_64"/>
          <p:cNvSpPr txBox="1"/>
          <p:nvPr/>
        </p:nvSpPr>
        <p:spPr>
          <a:xfrm>
            <a:off x="9002816" y="3589020"/>
            <a:ext cx="2427183"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give sb. a lift/ride</a:t>
            </a:r>
            <a:endParaRPr sz="2300" b="0">
              <a:solidFill>
                <a:srgbClr val="CD1E1E"/>
              </a:solidFill>
              <a:latin typeface="Arial" panose="020B0604020202020204"/>
            </a:endParaRPr>
          </a:p>
        </p:txBody>
      </p:sp>
      <p:sp>
        <p:nvSpPr>
          <p:cNvPr id="19" name="anim_015_vocab_cn_65"/>
          <p:cNvSpPr txBox="1"/>
          <p:nvPr/>
        </p:nvSpPr>
        <p:spPr>
          <a:xfrm>
            <a:off x="6144768" y="4812029"/>
            <a:ext cx="2748320" cy="1125169"/>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65. 整天在家工作</a:t>
            </a:r>
            <a:endParaRPr sz="2300" b="0">
              <a:solidFill>
                <a:srgbClr val="0F0F0F"/>
              </a:solidFill>
              <a:latin typeface="微软雅黑" panose="020B0503020204020204" charset="-122"/>
            </a:endParaRPr>
          </a:p>
        </p:txBody>
      </p:sp>
      <p:sp>
        <p:nvSpPr>
          <p:cNvPr id="20" name="anim_016_vocab_en_65"/>
          <p:cNvSpPr txBox="1"/>
          <p:nvPr/>
        </p:nvSpPr>
        <p:spPr>
          <a:xfrm>
            <a:off x="9002816" y="4812029"/>
            <a:ext cx="2427183" cy="1125169"/>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work from home all day</a:t>
            </a:r>
            <a:endParaRPr sz="2300" b="0">
              <a:solidFill>
                <a:srgbClr val="CD1E1E"/>
              </a:solidFill>
              <a:latin typeface="Arial" panose="020B0604020202020204"/>
            </a:endParaRPr>
          </a:p>
        </p:txBody>
      </p:sp>
      <p:sp>
        <p:nvSpPr>
          <p:cNvPr id="21" name="Rectangle 20"/>
          <p:cNvSpPr/>
          <p:nvPr/>
        </p:nvSpPr>
        <p:spPr>
          <a:xfrm>
            <a:off x="5943600" y="1078992"/>
            <a:ext cx="13716" cy="5029200"/>
          </a:xfrm>
          <a:prstGeom prst="rect">
            <a:avLst/>
          </a:prstGeom>
          <a:solidFill>
            <a:srgbClr val="E1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292840" y="6437376"/>
            <a:ext cx="411480" cy="201168"/>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53</a:t>
            </a:r>
            <a:endParaRPr sz="1000" b="0">
              <a:solidFill>
                <a:srgbClr val="626262"/>
              </a:solidFill>
              <a:latin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1"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1"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1"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1"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1"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1"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1"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1"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1"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1" nodeType="click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1" nodeType="click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500"/>
                                        <p:tgtEl>
                                          <p:spTgt spid="19"/>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1" nodeType="click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5" grpId="1"/>
      <p:bldP spid="6" grpId="1"/>
      <p:bldP spid="7" grpId="1"/>
      <p:bldP spid="8" grpId="1"/>
      <p:bldP spid="9" grpId="1"/>
      <p:bldP spid="10" grpId="1"/>
      <p:bldP spid="11" grpId="1"/>
      <p:bldP spid="12" grpId="1"/>
      <p:bldP spid="13" grpId="1"/>
      <p:bldP spid="14" grpId="1"/>
      <p:bldP spid="15" grpId="1"/>
      <p:bldP spid="16" grpId="1"/>
      <p:bldP spid="17" grpId="1"/>
      <p:bldP spid="18" grpId="1"/>
      <p:bldP spid="19" grpId="1"/>
      <p:bldP spid="20" grpId="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02920" y="219456"/>
            <a:ext cx="10241280" cy="402336"/>
          </a:xfrm>
          <a:prstGeom prst="rect">
            <a:avLst/>
          </a:prstGeom>
          <a:noFill/>
        </p:spPr>
        <p:txBody>
          <a:bodyPr wrap="square" lIns="36576" tIns="18288" rIns="36576" bIns="18288" anchor="t">
            <a:spAutoFit/>
          </a:bodyPr>
          <a:lstStyle/>
          <a:p>
            <a:pPr>
              <a:spcAft>
                <a:spcPts val="300"/>
              </a:spcAft>
            </a:pPr>
            <a:r>
              <a:rPr sz="2800" b="1">
                <a:solidFill>
                  <a:srgbClr val="0F0F0F"/>
                </a:solidFill>
                <a:latin typeface="微软雅黑" panose="020B0503020204020204" charset="-122"/>
              </a:rPr>
              <a:t>Unit 2 Home Sweet Home · 词汇/短语积累 9</a:t>
            </a:r>
            <a:endParaRPr sz="2800" b="1">
              <a:solidFill>
                <a:srgbClr val="0F0F0F"/>
              </a:solidFill>
              <a:latin typeface="微软雅黑" panose="020B0503020204020204" charset="-122"/>
            </a:endParaRPr>
          </a:p>
        </p:txBody>
      </p:sp>
      <p:sp>
        <p:nvSpPr>
          <p:cNvPr id="3" name="TextBox 2"/>
          <p:cNvSpPr txBox="1"/>
          <p:nvPr/>
        </p:nvSpPr>
        <p:spPr>
          <a:xfrm>
            <a:off x="10012680" y="320040"/>
            <a:ext cx="1691640" cy="201168"/>
          </a:xfrm>
          <a:prstGeom prst="rect">
            <a:avLst/>
          </a:prstGeom>
          <a:noFill/>
        </p:spPr>
        <p:txBody>
          <a:bodyPr wrap="square" lIns="36576" tIns="18288" rIns="36576" bIns="18288" anchor="t">
            <a:spAutoFit/>
          </a:bodyPr>
          <a:lstStyle/>
          <a:p>
            <a:pPr algn="r">
              <a:spcAft>
                <a:spcPts val="300"/>
              </a:spcAft>
            </a:pPr>
            <a:r>
              <a:rPr sz="1100" b="0">
                <a:solidFill>
                  <a:srgbClr val="626262"/>
                </a:solidFill>
                <a:latin typeface="微软雅黑" panose="020B0503020204020204" charset="-122"/>
              </a:rPr>
              <a:t>click reveal</a:t>
            </a:r>
            <a:endParaRPr sz="1100" b="0">
              <a:solidFill>
                <a:srgbClr val="626262"/>
              </a:solidFill>
              <a:latin typeface="微软雅黑" panose="020B0503020204020204" charset="-122"/>
            </a:endParaRPr>
          </a:p>
        </p:txBody>
      </p:sp>
      <p:sp>
        <p:nvSpPr>
          <p:cNvPr id="4" name="Rectangle 3"/>
          <p:cNvSpPr/>
          <p:nvPr/>
        </p:nvSpPr>
        <p:spPr>
          <a:xfrm>
            <a:off x="502920" y="749808"/>
            <a:ext cx="11201400" cy="16459"/>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im_001_vocab_cn_66"/>
          <p:cNvSpPr txBox="1"/>
          <p:nvPr/>
        </p:nvSpPr>
        <p:spPr>
          <a:xfrm>
            <a:off x="713232" y="1143000"/>
            <a:ext cx="2686507" cy="150022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66. 家庭成员</a:t>
            </a:r>
            <a:endParaRPr sz="2300" b="0">
              <a:solidFill>
                <a:srgbClr val="0F0F0F"/>
              </a:solidFill>
              <a:latin typeface="微软雅黑" panose="020B0503020204020204" charset="-122"/>
            </a:endParaRPr>
          </a:p>
        </p:txBody>
      </p:sp>
      <p:sp>
        <p:nvSpPr>
          <p:cNvPr id="6" name="anim_002_vocab_en_66"/>
          <p:cNvSpPr txBox="1"/>
          <p:nvPr/>
        </p:nvSpPr>
        <p:spPr>
          <a:xfrm>
            <a:off x="3509467" y="1143000"/>
            <a:ext cx="2370124" cy="150022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family member</a:t>
            </a:r>
            <a:endParaRPr sz="2300" b="0">
              <a:solidFill>
                <a:srgbClr val="CD1E1E"/>
              </a:solidFill>
              <a:latin typeface="Arial" panose="020B0604020202020204"/>
            </a:endParaRPr>
          </a:p>
        </p:txBody>
      </p:sp>
      <p:sp>
        <p:nvSpPr>
          <p:cNvPr id="7" name="anim_003_vocab_cn_67"/>
          <p:cNvSpPr txBox="1"/>
          <p:nvPr/>
        </p:nvSpPr>
        <p:spPr>
          <a:xfrm>
            <a:off x="713232" y="2773680"/>
            <a:ext cx="2686507" cy="150022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67. 把墙漆成浅绿色</a:t>
            </a:r>
            <a:endParaRPr sz="2300" b="0">
              <a:solidFill>
                <a:srgbClr val="0F0F0F"/>
              </a:solidFill>
              <a:latin typeface="微软雅黑" panose="020B0503020204020204" charset="-122"/>
            </a:endParaRPr>
          </a:p>
        </p:txBody>
      </p:sp>
      <p:sp>
        <p:nvSpPr>
          <p:cNvPr id="8" name="anim_004_vocab_en_67"/>
          <p:cNvSpPr txBox="1"/>
          <p:nvPr/>
        </p:nvSpPr>
        <p:spPr>
          <a:xfrm>
            <a:off x="3509467" y="2773680"/>
            <a:ext cx="2370124" cy="150022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paint the walls light green</a:t>
            </a:r>
            <a:endParaRPr sz="2300" b="0">
              <a:solidFill>
                <a:srgbClr val="CD1E1E"/>
              </a:solidFill>
              <a:latin typeface="Arial" panose="020B0604020202020204"/>
            </a:endParaRPr>
          </a:p>
        </p:txBody>
      </p:sp>
      <p:sp>
        <p:nvSpPr>
          <p:cNvPr id="9" name="anim_005_vocab_cn_68"/>
          <p:cNvSpPr txBox="1"/>
          <p:nvPr/>
        </p:nvSpPr>
        <p:spPr>
          <a:xfrm>
            <a:off x="713232" y="4404360"/>
            <a:ext cx="2686507" cy="150022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68. 鼓励某人做某事</a:t>
            </a:r>
            <a:endParaRPr sz="2300" b="0">
              <a:solidFill>
                <a:srgbClr val="0F0F0F"/>
              </a:solidFill>
              <a:latin typeface="微软雅黑" panose="020B0503020204020204" charset="-122"/>
            </a:endParaRPr>
          </a:p>
        </p:txBody>
      </p:sp>
      <p:sp>
        <p:nvSpPr>
          <p:cNvPr id="10" name="anim_006_vocab_en_68"/>
          <p:cNvSpPr txBox="1"/>
          <p:nvPr/>
        </p:nvSpPr>
        <p:spPr>
          <a:xfrm>
            <a:off x="3509467" y="4404360"/>
            <a:ext cx="2370124" cy="150022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encourage sb. to do sth.</a:t>
            </a:r>
            <a:endParaRPr sz="2300" b="0">
              <a:solidFill>
                <a:srgbClr val="CD1E1E"/>
              </a:solidFill>
              <a:latin typeface="Arial" panose="020B0604020202020204"/>
            </a:endParaRPr>
          </a:p>
        </p:txBody>
      </p:sp>
      <p:sp>
        <p:nvSpPr>
          <p:cNvPr id="11" name="anim_007_vocab_cn_69"/>
          <p:cNvSpPr txBox="1"/>
          <p:nvPr/>
        </p:nvSpPr>
        <p:spPr>
          <a:xfrm>
            <a:off x="6144768" y="1143000"/>
            <a:ext cx="2748320" cy="150022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69. 与某人一起玩某物</a:t>
            </a:r>
            <a:endParaRPr sz="2300" b="0">
              <a:solidFill>
                <a:srgbClr val="0F0F0F"/>
              </a:solidFill>
              <a:latin typeface="微软雅黑" panose="020B0503020204020204" charset="-122"/>
            </a:endParaRPr>
          </a:p>
        </p:txBody>
      </p:sp>
      <p:sp>
        <p:nvSpPr>
          <p:cNvPr id="12" name="anim_008_vocab_en_69"/>
          <p:cNvSpPr txBox="1"/>
          <p:nvPr/>
        </p:nvSpPr>
        <p:spPr>
          <a:xfrm>
            <a:off x="9002816" y="1143000"/>
            <a:ext cx="2427183" cy="150022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play sth.with sb.</a:t>
            </a:r>
            <a:endParaRPr sz="2300" b="0">
              <a:solidFill>
                <a:srgbClr val="CD1E1E"/>
              </a:solidFill>
              <a:latin typeface="Arial" panose="020B0604020202020204"/>
            </a:endParaRPr>
          </a:p>
        </p:txBody>
      </p:sp>
      <p:sp>
        <p:nvSpPr>
          <p:cNvPr id="13" name="anim_009_vocab_cn_70"/>
          <p:cNvSpPr txBox="1"/>
          <p:nvPr/>
        </p:nvSpPr>
        <p:spPr>
          <a:xfrm>
            <a:off x="6144768" y="2773680"/>
            <a:ext cx="2748320" cy="150022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70. 尽某人最大的努力</a:t>
            </a:r>
            <a:endParaRPr sz="2300" b="0">
              <a:solidFill>
                <a:srgbClr val="0F0F0F"/>
              </a:solidFill>
              <a:latin typeface="微软雅黑" panose="020B0503020204020204" charset="-122"/>
            </a:endParaRPr>
          </a:p>
        </p:txBody>
      </p:sp>
      <p:sp>
        <p:nvSpPr>
          <p:cNvPr id="14" name="anim_010_vocab_en_70"/>
          <p:cNvSpPr txBox="1"/>
          <p:nvPr/>
        </p:nvSpPr>
        <p:spPr>
          <a:xfrm>
            <a:off x="9002816" y="2773680"/>
            <a:ext cx="2427183" cy="150022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try one ' s best</a:t>
            </a:r>
            <a:endParaRPr sz="2300" b="0">
              <a:solidFill>
                <a:srgbClr val="CD1E1E"/>
              </a:solidFill>
              <a:latin typeface="Arial" panose="020B0604020202020204"/>
            </a:endParaRPr>
          </a:p>
        </p:txBody>
      </p:sp>
      <p:sp>
        <p:nvSpPr>
          <p:cNvPr id="15" name="anim_011_vocab_cn_71"/>
          <p:cNvSpPr txBox="1"/>
          <p:nvPr/>
        </p:nvSpPr>
        <p:spPr>
          <a:xfrm>
            <a:off x="6144768" y="4404360"/>
            <a:ext cx="2748320" cy="150022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71. 在…的帮助下</a:t>
            </a:r>
            <a:endParaRPr sz="2300" b="0">
              <a:solidFill>
                <a:srgbClr val="0F0F0F"/>
              </a:solidFill>
              <a:latin typeface="微软雅黑" panose="020B0503020204020204" charset="-122"/>
            </a:endParaRPr>
          </a:p>
        </p:txBody>
      </p:sp>
      <p:sp>
        <p:nvSpPr>
          <p:cNvPr id="16" name="anim_012_vocab_en_71"/>
          <p:cNvSpPr txBox="1"/>
          <p:nvPr/>
        </p:nvSpPr>
        <p:spPr>
          <a:xfrm>
            <a:off x="9002816" y="4404360"/>
            <a:ext cx="2427183" cy="150022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with the help of</a:t>
            </a:r>
            <a:endParaRPr sz="2300" b="0">
              <a:solidFill>
                <a:srgbClr val="CD1E1E"/>
              </a:solidFill>
              <a:latin typeface="Arial" panose="020B0604020202020204"/>
            </a:endParaRPr>
          </a:p>
        </p:txBody>
      </p:sp>
      <p:sp>
        <p:nvSpPr>
          <p:cNvPr id="17" name="Rectangle 16"/>
          <p:cNvSpPr/>
          <p:nvPr/>
        </p:nvSpPr>
        <p:spPr>
          <a:xfrm>
            <a:off x="5943600" y="1078992"/>
            <a:ext cx="13716" cy="5029200"/>
          </a:xfrm>
          <a:prstGeom prst="rect">
            <a:avLst/>
          </a:prstGeom>
          <a:solidFill>
            <a:srgbClr val="E1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292840" y="6437376"/>
            <a:ext cx="411480" cy="201168"/>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54</a:t>
            </a:r>
            <a:endParaRPr sz="1000" b="0">
              <a:solidFill>
                <a:srgbClr val="626262"/>
              </a:solidFill>
              <a:latin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1"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1"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1"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1"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1"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1"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1"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1"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5" grpId="1"/>
      <p:bldP spid="6" grpId="1"/>
      <p:bldP spid="7" grpId="1"/>
      <p:bldP spid="8" grpId="1"/>
      <p:bldP spid="9" grpId="1"/>
      <p:bldP spid="10" grpId="1"/>
      <p:bldP spid="11" grpId="1"/>
      <p:bldP spid="12" grpId="1"/>
      <p:bldP spid="13" grpId="1"/>
      <p:bldP spid="14" grpId="1"/>
      <p:bldP spid="15" grpId="1"/>
      <p:bldP spid="16" grpId="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3" name="TextBox 1"/>
          <p:cNvSpPr txBox="1"/>
          <p:nvPr/>
        </p:nvSpPr>
        <p:spPr>
          <a:xfrm>
            <a:off x="502920" y="219456"/>
            <a:ext cx="10241280" cy="402336"/>
          </a:xfrm>
          <a:prstGeom prst="rect">
            <a:avLst/>
          </a:prstGeom>
          <a:noFill/>
        </p:spPr>
        <p:txBody>
          <a:bodyPr wrap="square" lIns="0" tIns="0" rIns="0" bIns="0" anchor="t">
            <a:spAutoFit/>
          </a:bodyPr>
          <a:lstStyle/>
          <a:p>
            <a:pPr>
              <a:spcBef>
                <a:spcPts val="0"/>
              </a:spcBef>
              <a:spcAft>
                <a:spcPts val="0"/>
              </a:spcAft>
            </a:pPr>
            <a:r>
              <a:rPr sz="2800" b="0">
                <a:solidFill>
                  <a:srgbClr val="0F0F0F"/>
                </a:solidFill>
                <a:latin typeface="微软雅黑" panose="020B0503020204020204" charset="-122"/>
              </a:rPr>
              <a:t>Unit 2 Home Sweet Home · 句型练习 1</a:t>
            </a:r>
            <a:endParaRPr sz="2800" b="0">
              <a:solidFill>
                <a:srgbClr val="0F0F0F"/>
              </a:solidFill>
              <a:latin typeface="微软雅黑" panose="020B0503020204020204" charset="-122"/>
            </a:endParaRPr>
          </a:p>
        </p:txBody>
      </p:sp>
      <p:sp>
        <p:nvSpPr>
          <p:cNvPr id="14" name="TextBox 2"/>
          <p:cNvSpPr txBox="1"/>
          <p:nvPr/>
        </p:nvSpPr>
        <p:spPr>
          <a:xfrm>
            <a:off x="10012680" y="320040"/>
            <a:ext cx="1691640" cy="201168"/>
          </a:xfrm>
          <a:prstGeom prst="rect">
            <a:avLst/>
          </a:prstGeom>
          <a:noFill/>
        </p:spPr>
        <p:txBody>
          <a:bodyPr wrap="square" lIns="0" tIns="0" rIns="0" bIns="0" anchor="t">
            <a:spAutoFit/>
          </a:bodyPr>
          <a:lstStyle/>
          <a:p>
            <a:pPr>
              <a:spcBef>
                <a:spcPts val="0"/>
              </a:spcBef>
              <a:spcAft>
                <a:spcPts val="0"/>
              </a:spcAft>
            </a:pPr>
            <a:r>
              <a:rPr sz="1100" b="0">
                <a:solidFill>
                  <a:srgbClr val="626262"/>
                </a:solidFill>
                <a:latin typeface="微软雅黑" panose="020B0503020204020204" charset="-122"/>
              </a:rPr>
              <a:t>click reveal</a:t>
            </a:r>
            <a:endParaRPr sz="1100" b="0">
              <a:solidFill>
                <a:srgbClr val="626262"/>
              </a:solidFill>
              <a:latin typeface="微软雅黑" panose="020B0503020204020204" charset="-122"/>
            </a:endParaRPr>
          </a:p>
        </p:txBody>
      </p:sp>
      <p:sp>
        <p:nvSpPr>
          <p:cNvPr id="15" name="TextBox 7"/>
          <p:cNvSpPr txBox="1"/>
          <p:nvPr/>
        </p:nvSpPr>
        <p:spPr>
          <a:xfrm>
            <a:off x="11292840" y="6437376"/>
            <a:ext cx="411480" cy="201168"/>
          </a:xfrm>
          <a:prstGeom prst="rect">
            <a:avLst/>
          </a:prstGeom>
          <a:noFill/>
        </p:spPr>
        <p:txBody>
          <a:bodyPr wrap="square" lIns="0" tIns="0" rIns="0" bIns="0" anchor="t">
            <a:spAutoFit/>
          </a:bodyPr>
          <a:lstStyle/>
          <a:p>
            <a:pPr>
              <a:spcBef>
                <a:spcPts val="0"/>
              </a:spcBef>
              <a:spcAft>
                <a:spcPts val="0"/>
              </a:spcAft>
            </a:pPr>
            <a:r>
              <a:rPr sz="1000" b="0">
                <a:solidFill>
                  <a:srgbClr val="626262"/>
                </a:solidFill>
                <a:latin typeface="微软雅黑" panose="020B0503020204020204" charset="-122"/>
              </a:rPr>
              <a:t>55</a:t>
            </a:r>
            <a:endParaRPr sz="1000" b="0">
              <a:solidFill>
                <a:srgbClr val="626262"/>
              </a:solidFill>
              <a:latin typeface="微软雅黑" panose="020B0503020204020204" charset="-122"/>
            </a:endParaRPr>
          </a:p>
        </p:txBody>
      </p:sp>
      <p:sp>
        <p:nvSpPr>
          <p:cNvPr id="16" name="TextBox 4"/>
          <p:cNvSpPr txBox="1"/>
          <p:nvPr/>
        </p:nvSpPr>
        <p:spPr>
          <a:xfrm>
            <a:off x="713232" y="987552"/>
            <a:ext cx="10835640" cy="347472"/>
          </a:xfrm>
          <a:prstGeom prst="rect">
            <a:avLst/>
          </a:prstGeom>
          <a:noFill/>
        </p:spPr>
        <p:txBody>
          <a:bodyPr wrap="square" lIns="0" tIns="0" rIns="0" bIns="0" anchor="t">
            <a:spAutoFit/>
          </a:bodyPr>
          <a:lstStyle/>
          <a:p>
            <a:pPr>
              <a:spcBef>
                <a:spcPts val="0"/>
              </a:spcBef>
              <a:spcAft>
                <a:spcPts val="0"/>
              </a:spcAft>
            </a:pPr>
            <a:r>
              <a:rPr sz="2300" b="0">
                <a:solidFill>
                  <a:srgbClr val="3F9148"/>
                </a:solidFill>
                <a:latin typeface="微软雅黑" panose="020B0503020204020204" charset="-122"/>
              </a:rPr>
              <a:t>1.开篇点题--引出“家”的话题</a:t>
            </a:r>
            <a:endParaRPr sz="2300" b="0">
              <a:solidFill>
                <a:srgbClr val="3F9148"/>
              </a:solidFill>
              <a:latin typeface="微软雅黑" panose="020B0503020204020204" charset="-122"/>
            </a:endParaRPr>
          </a:p>
        </p:txBody>
      </p:sp>
      <p:sp>
        <p:nvSpPr>
          <p:cNvPr id="17" name="anim_001_sent_prompt_1"/>
          <p:cNvSpPr txBox="1"/>
          <p:nvPr/>
        </p:nvSpPr>
        <p:spPr>
          <a:xfrm>
            <a:off x="713232" y="1481328"/>
            <a:ext cx="10835640" cy="786384"/>
          </a:xfrm>
          <a:prstGeom prst="rect">
            <a:avLst/>
          </a:prstGeom>
          <a:noFill/>
        </p:spPr>
        <p:txBody>
          <a:bodyPr wrap="square" lIns="0" tIns="0" rIns="0" bIns="0" anchor="t">
            <a:spAutoFit/>
          </a:bodyPr>
          <a:lstStyle/>
          <a:p>
            <a:pPr>
              <a:spcBef>
                <a:spcPts val="0"/>
              </a:spcBef>
              <a:spcAft>
                <a:spcPts val="0"/>
              </a:spcAft>
            </a:pPr>
            <a:r>
              <a:rPr sz="2400">
                <a:solidFill>
                  <a:srgbClr val="0F0F0F"/>
                </a:solidFill>
                <a:latin typeface="微软雅黑" panose="020B0503020204020204" charset="-122"/>
              </a:rPr>
              <a:t>1. 家在中国人心中扮演着重要的角色。</a:t>
            </a:r>
            <a:endParaRPr sz="2400">
              <a:solidFill>
                <a:srgbClr val="0F0F0F"/>
              </a:solidFill>
              <a:latin typeface="微软雅黑" panose="020B0503020204020204" charset="-122"/>
            </a:endParaRPr>
          </a:p>
          <a:p>
            <a:pPr>
              <a:spcBef>
                <a:spcPts val="0"/>
              </a:spcBef>
              <a:spcAft>
                <a:spcPts val="0"/>
              </a:spcAft>
            </a:pPr>
            <a:r>
              <a:rPr sz="2400">
                <a:solidFill>
                  <a:srgbClr val="3F9148"/>
                </a:solidFill>
                <a:latin typeface="微软雅黑" panose="020B0503020204020204" charset="-122"/>
              </a:rPr>
              <a:t>(play an important role in...)</a:t>
            </a:r>
            <a:endParaRPr sz="2400">
              <a:solidFill>
                <a:srgbClr val="3F9148"/>
              </a:solidFill>
              <a:latin typeface="微软雅黑" panose="020B0503020204020204" charset="-122"/>
            </a:endParaRPr>
          </a:p>
        </p:txBody>
      </p:sp>
      <p:sp>
        <p:nvSpPr>
          <p:cNvPr id="18" name="anim_002_sent_answer_1"/>
          <p:cNvSpPr txBox="1"/>
          <p:nvPr/>
        </p:nvSpPr>
        <p:spPr>
          <a:xfrm>
            <a:off x="713232" y="2377440"/>
            <a:ext cx="10835640" cy="786384"/>
          </a:xfrm>
          <a:prstGeom prst="rect">
            <a:avLst/>
          </a:prstGeom>
          <a:noFill/>
        </p:spPr>
        <p:txBody>
          <a:bodyPr wrap="square" lIns="0" tIns="0" rIns="0" bIns="0" anchor="t">
            <a:spAutoFit/>
          </a:bodyPr>
          <a:lstStyle/>
          <a:p>
            <a:pPr>
              <a:spcBef>
                <a:spcPts val="0"/>
              </a:spcBef>
              <a:spcAft>
                <a:spcPts val="0"/>
              </a:spcAft>
            </a:pPr>
            <a:r>
              <a:rPr sz="2400" b="0">
                <a:solidFill>
                  <a:srgbClr val="CD1E1E"/>
                </a:solidFill>
                <a:latin typeface="微软雅黑" panose="020B0503020204020204" charset="-122"/>
              </a:rPr>
              <a:t>Home plays an important role in the hearts of Chinese people.</a:t>
            </a:r>
            <a:endParaRPr sz="2400" b="0">
              <a:solidFill>
                <a:srgbClr val="CD1E1E"/>
              </a:solidFill>
              <a:latin typeface="微软雅黑" panose="020B0503020204020204" charset="-122"/>
            </a:endParaRPr>
          </a:p>
        </p:txBody>
      </p:sp>
      <p:sp>
        <p:nvSpPr>
          <p:cNvPr id="19" name="anim_003_sent_prompt_2"/>
          <p:cNvSpPr txBox="1"/>
          <p:nvPr/>
        </p:nvSpPr>
        <p:spPr>
          <a:xfrm>
            <a:off x="713232" y="3346704"/>
            <a:ext cx="10835640" cy="749808"/>
          </a:xfrm>
          <a:prstGeom prst="rect">
            <a:avLst/>
          </a:prstGeom>
          <a:noFill/>
        </p:spPr>
        <p:txBody>
          <a:bodyPr wrap="square" lIns="0" tIns="0" rIns="0" bIns="0" anchor="t">
            <a:spAutoFit/>
          </a:bodyPr>
          <a:lstStyle/>
          <a:p>
            <a:pPr>
              <a:spcBef>
                <a:spcPts val="0"/>
              </a:spcBef>
              <a:spcAft>
                <a:spcPts val="0"/>
              </a:spcAft>
            </a:pPr>
            <a:r>
              <a:rPr sz="2200">
                <a:solidFill>
                  <a:srgbClr val="0F0F0F"/>
                </a:solidFill>
                <a:latin typeface="微软雅黑" panose="020B0503020204020204" charset="-122"/>
              </a:rPr>
              <a:t>2. 家不仅仅是一个居住的地方，也是一个充满爱、温暖和力量的地方。</a:t>
            </a:r>
            <a:endParaRPr sz="2200">
              <a:solidFill>
                <a:srgbClr val="0F0F0F"/>
              </a:solidFill>
              <a:latin typeface="微软雅黑" panose="020B0503020204020204" charset="-122"/>
            </a:endParaRPr>
          </a:p>
          <a:p>
            <a:pPr>
              <a:spcBef>
                <a:spcPts val="0"/>
              </a:spcBef>
              <a:spcAft>
                <a:spcPts val="0"/>
              </a:spcAft>
            </a:pPr>
            <a:r>
              <a:rPr sz="2200">
                <a:solidFill>
                  <a:srgbClr val="3F9148"/>
                </a:solidFill>
                <a:latin typeface="微软雅黑" panose="020B0503020204020204" charset="-122"/>
              </a:rPr>
              <a:t>(not only...but also...)</a:t>
            </a:r>
            <a:endParaRPr sz="2200">
              <a:solidFill>
                <a:srgbClr val="3F9148"/>
              </a:solidFill>
              <a:latin typeface="微软雅黑" panose="020B0503020204020204" charset="-122"/>
            </a:endParaRPr>
          </a:p>
        </p:txBody>
      </p:sp>
      <p:sp>
        <p:nvSpPr>
          <p:cNvPr id="20" name="anim_004_sent_answer_2"/>
          <p:cNvSpPr txBox="1"/>
          <p:nvPr/>
        </p:nvSpPr>
        <p:spPr>
          <a:xfrm>
            <a:off x="713232" y="4206240"/>
            <a:ext cx="10835640" cy="749808"/>
          </a:xfrm>
          <a:prstGeom prst="rect">
            <a:avLst/>
          </a:prstGeom>
          <a:noFill/>
        </p:spPr>
        <p:txBody>
          <a:bodyPr wrap="square" lIns="0" tIns="0" rIns="0" bIns="0" anchor="t">
            <a:spAutoFit/>
          </a:bodyPr>
          <a:lstStyle/>
          <a:p>
            <a:pPr>
              <a:spcBef>
                <a:spcPts val="0"/>
              </a:spcBef>
              <a:spcAft>
                <a:spcPts val="0"/>
              </a:spcAft>
            </a:pPr>
            <a:r>
              <a:rPr sz="2200" b="0">
                <a:solidFill>
                  <a:srgbClr val="CD1E1E"/>
                </a:solidFill>
                <a:latin typeface="微软雅黑" panose="020B0503020204020204" charset="-122"/>
              </a:rPr>
              <a:t>Home is not only just a place to live in but also a place full of love, warmth and strength.</a:t>
            </a:r>
            <a:endParaRPr sz="2200" b="0">
              <a:solidFill>
                <a:srgbClr val="CD1E1E"/>
              </a:solidFill>
              <a:latin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3" name="TextBox 1"/>
          <p:cNvSpPr txBox="1"/>
          <p:nvPr/>
        </p:nvSpPr>
        <p:spPr>
          <a:xfrm>
            <a:off x="502920" y="219456"/>
            <a:ext cx="10241280" cy="402336"/>
          </a:xfrm>
          <a:prstGeom prst="rect">
            <a:avLst/>
          </a:prstGeom>
          <a:noFill/>
        </p:spPr>
        <p:txBody>
          <a:bodyPr wrap="square" lIns="0" tIns="0" rIns="0" bIns="0" anchor="t">
            <a:spAutoFit/>
          </a:bodyPr>
          <a:lstStyle/>
          <a:p>
            <a:pPr>
              <a:spcBef>
                <a:spcPts val="0"/>
              </a:spcBef>
              <a:spcAft>
                <a:spcPts val="0"/>
              </a:spcAft>
            </a:pPr>
            <a:r>
              <a:rPr sz="2800" b="0">
                <a:solidFill>
                  <a:srgbClr val="0F0F0F"/>
                </a:solidFill>
                <a:latin typeface="微软雅黑" panose="020B0503020204020204" charset="-122"/>
              </a:rPr>
              <a:t>Unit 2 Home Sweet Home · 句型练习 2</a:t>
            </a:r>
            <a:endParaRPr sz="2800" b="0">
              <a:solidFill>
                <a:srgbClr val="0F0F0F"/>
              </a:solidFill>
              <a:latin typeface="微软雅黑" panose="020B0503020204020204" charset="-122"/>
            </a:endParaRPr>
          </a:p>
        </p:txBody>
      </p:sp>
      <p:sp>
        <p:nvSpPr>
          <p:cNvPr id="14" name="TextBox 2"/>
          <p:cNvSpPr txBox="1"/>
          <p:nvPr/>
        </p:nvSpPr>
        <p:spPr>
          <a:xfrm>
            <a:off x="10012680" y="320040"/>
            <a:ext cx="1691640" cy="201168"/>
          </a:xfrm>
          <a:prstGeom prst="rect">
            <a:avLst/>
          </a:prstGeom>
          <a:noFill/>
        </p:spPr>
        <p:txBody>
          <a:bodyPr wrap="square" lIns="0" tIns="0" rIns="0" bIns="0" anchor="t">
            <a:spAutoFit/>
          </a:bodyPr>
          <a:lstStyle/>
          <a:p>
            <a:pPr>
              <a:spcBef>
                <a:spcPts val="0"/>
              </a:spcBef>
              <a:spcAft>
                <a:spcPts val="0"/>
              </a:spcAft>
            </a:pPr>
            <a:r>
              <a:rPr sz="1100" b="0">
                <a:solidFill>
                  <a:srgbClr val="626262"/>
                </a:solidFill>
                <a:latin typeface="微软雅黑" panose="020B0503020204020204" charset="-122"/>
              </a:rPr>
              <a:t>click reveal</a:t>
            </a:r>
            <a:endParaRPr sz="1100" b="0">
              <a:solidFill>
                <a:srgbClr val="626262"/>
              </a:solidFill>
              <a:latin typeface="微软雅黑" panose="020B0503020204020204" charset="-122"/>
            </a:endParaRPr>
          </a:p>
        </p:txBody>
      </p:sp>
      <p:sp>
        <p:nvSpPr>
          <p:cNvPr id="15" name="TextBox 7"/>
          <p:cNvSpPr txBox="1"/>
          <p:nvPr/>
        </p:nvSpPr>
        <p:spPr>
          <a:xfrm>
            <a:off x="11292840" y="6437376"/>
            <a:ext cx="411480" cy="201168"/>
          </a:xfrm>
          <a:prstGeom prst="rect">
            <a:avLst/>
          </a:prstGeom>
          <a:noFill/>
        </p:spPr>
        <p:txBody>
          <a:bodyPr wrap="square" lIns="0" tIns="0" rIns="0" bIns="0" anchor="t">
            <a:spAutoFit/>
          </a:bodyPr>
          <a:lstStyle/>
          <a:p>
            <a:pPr>
              <a:spcBef>
                <a:spcPts val="0"/>
              </a:spcBef>
              <a:spcAft>
                <a:spcPts val="0"/>
              </a:spcAft>
            </a:pPr>
            <a:r>
              <a:rPr sz="1000" b="0">
                <a:solidFill>
                  <a:srgbClr val="626262"/>
                </a:solidFill>
                <a:latin typeface="微软雅黑" panose="020B0503020204020204" charset="-122"/>
              </a:rPr>
              <a:t>56</a:t>
            </a:r>
            <a:endParaRPr sz="1000" b="0">
              <a:solidFill>
                <a:srgbClr val="626262"/>
              </a:solidFill>
              <a:latin typeface="微软雅黑" panose="020B0503020204020204" charset="-122"/>
            </a:endParaRPr>
          </a:p>
        </p:txBody>
      </p:sp>
      <p:sp>
        <p:nvSpPr>
          <p:cNvPr id="16" name="TextBox 4"/>
          <p:cNvSpPr txBox="1"/>
          <p:nvPr/>
        </p:nvSpPr>
        <p:spPr>
          <a:xfrm>
            <a:off x="713232" y="987552"/>
            <a:ext cx="10835640" cy="347472"/>
          </a:xfrm>
          <a:prstGeom prst="rect">
            <a:avLst/>
          </a:prstGeom>
          <a:noFill/>
        </p:spPr>
        <p:txBody>
          <a:bodyPr wrap="square" lIns="0" tIns="0" rIns="0" bIns="0" anchor="t">
            <a:spAutoFit/>
          </a:bodyPr>
          <a:lstStyle/>
          <a:p>
            <a:pPr>
              <a:spcBef>
                <a:spcPts val="0"/>
              </a:spcBef>
              <a:spcAft>
                <a:spcPts val="0"/>
              </a:spcAft>
            </a:pPr>
            <a:r>
              <a:rPr sz="2300" b="0">
                <a:solidFill>
                  <a:srgbClr val="3F9148"/>
                </a:solidFill>
                <a:latin typeface="微软雅黑" panose="020B0503020204020204" charset="-122"/>
              </a:rPr>
              <a:t>2.分点阐述“家”的意义</a:t>
            </a:r>
            <a:endParaRPr sz="2300" b="0">
              <a:solidFill>
                <a:srgbClr val="3F9148"/>
              </a:solidFill>
              <a:latin typeface="微软雅黑" panose="020B0503020204020204" charset="-122"/>
            </a:endParaRPr>
          </a:p>
        </p:txBody>
      </p:sp>
      <p:sp>
        <p:nvSpPr>
          <p:cNvPr id="17" name="TextBox 4"/>
          <p:cNvSpPr txBox="1"/>
          <p:nvPr/>
        </p:nvSpPr>
        <p:spPr>
          <a:xfrm>
            <a:off x="713232" y="1481328"/>
            <a:ext cx="10835640" cy="347472"/>
          </a:xfrm>
          <a:prstGeom prst="rect">
            <a:avLst/>
          </a:prstGeom>
          <a:noFill/>
        </p:spPr>
        <p:txBody>
          <a:bodyPr wrap="square" lIns="0" tIns="0" rIns="0" bIns="0" anchor="t">
            <a:spAutoFit/>
          </a:bodyPr>
          <a:lstStyle/>
          <a:p>
            <a:pPr>
              <a:spcBef>
                <a:spcPts val="0"/>
              </a:spcBef>
              <a:spcAft>
                <a:spcPts val="0"/>
              </a:spcAft>
            </a:pPr>
            <a:r>
              <a:rPr sz="2300" b="0">
                <a:solidFill>
                  <a:srgbClr val="3F9148"/>
                </a:solidFill>
                <a:latin typeface="微软雅黑" panose="020B0503020204020204" charset="-122"/>
              </a:rPr>
              <a:t>介绍家庭成员</a:t>
            </a:r>
            <a:endParaRPr sz="2300" b="0">
              <a:solidFill>
                <a:srgbClr val="3F9148"/>
              </a:solidFill>
              <a:latin typeface="微软雅黑" panose="020B0503020204020204" charset="-122"/>
            </a:endParaRPr>
          </a:p>
        </p:txBody>
      </p:sp>
      <p:sp>
        <p:nvSpPr>
          <p:cNvPr id="18" name="anim_001_sent_prompt_3"/>
          <p:cNvSpPr txBox="1"/>
          <p:nvPr/>
        </p:nvSpPr>
        <p:spPr>
          <a:xfrm>
            <a:off x="713232" y="1975104"/>
            <a:ext cx="10835640" cy="429768"/>
          </a:xfrm>
          <a:prstGeom prst="rect">
            <a:avLst/>
          </a:prstGeom>
          <a:noFill/>
        </p:spPr>
        <p:txBody>
          <a:bodyPr wrap="square" lIns="0" tIns="0" rIns="0" bIns="0" anchor="t">
            <a:spAutoFit/>
          </a:bodyPr>
          <a:lstStyle/>
          <a:p>
            <a:pPr>
              <a:spcBef>
                <a:spcPts val="0"/>
              </a:spcBef>
              <a:spcAft>
                <a:spcPts val="0"/>
              </a:spcAft>
            </a:pPr>
            <a:r>
              <a:rPr sz="2200">
                <a:solidFill>
                  <a:srgbClr val="0F0F0F"/>
                </a:solidFill>
                <a:latin typeface="微软雅黑" panose="020B0503020204020204" charset="-122"/>
              </a:rPr>
              <a:t>3. 我们是一个六口之家，有我的祖父母，我的父母，我的兄弟和我。</a:t>
            </a:r>
            <a:endParaRPr sz="2200">
              <a:solidFill>
                <a:srgbClr val="0F0F0F"/>
              </a:solidFill>
              <a:latin typeface="微软雅黑" panose="020B0503020204020204" charset="-122"/>
            </a:endParaRPr>
          </a:p>
        </p:txBody>
      </p:sp>
      <p:sp>
        <p:nvSpPr>
          <p:cNvPr id="19" name="anim_002_sent_answer_3"/>
          <p:cNvSpPr txBox="1"/>
          <p:nvPr/>
        </p:nvSpPr>
        <p:spPr>
          <a:xfrm>
            <a:off x="713232" y="2514600"/>
            <a:ext cx="10835640" cy="749808"/>
          </a:xfrm>
          <a:prstGeom prst="rect">
            <a:avLst/>
          </a:prstGeom>
          <a:noFill/>
        </p:spPr>
        <p:txBody>
          <a:bodyPr wrap="square" lIns="0" tIns="0" rIns="0" bIns="0" anchor="t">
            <a:spAutoFit/>
          </a:bodyPr>
          <a:lstStyle/>
          <a:p>
            <a:pPr>
              <a:spcBef>
                <a:spcPts val="0"/>
              </a:spcBef>
              <a:spcAft>
                <a:spcPts val="0"/>
              </a:spcAft>
            </a:pPr>
            <a:r>
              <a:rPr sz="2200" b="0">
                <a:solidFill>
                  <a:srgbClr val="CD1E1E"/>
                </a:solidFill>
                <a:latin typeface="微软雅黑" panose="020B0503020204020204" charset="-122"/>
              </a:rPr>
              <a:t>We are a family of six and there are my grandparents, my parents, my brother and me.</a:t>
            </a:r>
            <a:endParaRPr sz="2200" b="0">
              <a:solidFill>
                <a:srgbClr val="CD1E1E"/>
              </a:solidFill>
              <a:latin typeface="微软雅黑" panose="020B0503020204020204" charset="-122"/>
            </a:endParaRPr>
          </a:p>
        </p:txBody>
      </p:sp>
      <p:sp>
        <p:nvSpPr>
          <p:cNvPr id="20" name="anim_003_sent_prompt_4"/>
          <p:cNvSpPr txBox="1"/>
          <p:nvPr/>
        </p:nvSpPr>
        <p:spPr>
          <a:xfrm>
            <a:off x="713232" y="3447288"/>
            <a:ext cx="10835640" cy="448056"/>
          </a:xfrm>
          <a:prstGeom prst="rect">
            <a:avLst/>
          </a:prstGeom>
          <a:noFill/>
        </p:spPr>
        <p:txBody>
          <a:bodyPr wrap="square" lIns="0" tIns="0" rIns="0" bIns="0" anchor="t">
            <a:spAutoFit/>
          </a:bodyPr>
          <a:lstStyle/>
          <a:p>
            <a:pPr>
              <a:spcBef>
                <a:spcPts val="0"/>
              </a:spcBef>
              <a:spcAft>
                <a:spcPts val="0"/>
              </a:spcAft>
            </a:pPr>
            <a:r>
              <a:rPr sz="2400">
                <a:solidFill>
                  <a:srgbClr val="0F0F0F"/>
                </a:solidFill>
                <a:latin typeface="微软雅黑" panose="020B0503020204020204" charset="-122"/>
              </a:rPr>
              <a:t>4. 我家有三口人，包括爸爸、妈妈和我。</a:t>
            </a:r>
            <a:endParaRPr sz="2400">
              <a:solidFill>
                <a:srgbClr val="0F0F0F"/>
              </a:solidFill>
              <a:latin typeface="微软雅黑" panose="020B0503020204020204" charset="-122"/>
            </a:endParaRPr>
          </a:p>
        </p:txBody>
      </p:sp>
      <p:sp>
        <p:nvSpPr>
          <p:cNvPr id="21" name="anim_004_sent_answer_4"/>
          <p:cNvSpPr txBox="1"/>
          <p:nvPr/>
        </p:nvSpPr>
        <p:spPr>
          <a:xfrm>
            <a:off x="713232" y="4005072"/>
            <a:ext cx="10835640" cy="786384"/>
          </a:xfrm>
          <a:prstGeom prst="rect">
            <a:avLst/>
          </a:prstGeom>
          <a:noFill/>
        </p:spPr>
        <p:txBody>
          <a:bodyPr wrap="square" lIns="0" tIns="0" rIns="0" bIns="0" anchor="t">
            <a:spAutoFit/>
          </a:bodyPr>
          <a:lstStyle/>
          <a:p>
            <a:pPr>
              <a:spcBef>
                <a:spcPts val="0"/>
              </a:spcBef>
              <a:spcAft>
                <a:spcPts val="0"/>
              </a:spcAft>
            </a:pPr>
            <a:r>
              <a:rPr sz="2400" b="0">
                <a:solidFill>
                  <a:srgbClr val="CD1E1E"/>
                </a:solidFill>
                <a:latin typeface="微软雅黑" panose="020B0503020204020204" charset="-122"/>
              </a:rPr>
              <a:t>There are three people in my family, including my father, my mother and me.</a:t>
            </a:r>
            <a:endParaRPr sz="2400" b="0">
              <a:solidFill>
                <a:srgbClr val="CD1E1E"/>
              </a:solidFill>
              <a:latin typeface="微软雅黑" panose="020B0503020204020204" charset="-122"/>
            </a:endParaRPr>
          </a:p>
        </p:txBody>
      </p:sp>
      <p:sp>
        <p:nvSpPr>
          <p:cNvPr id="22" name="anim_005_sent_prompt_5"/>
          <p:cNvSpPr txBox="1"/>
          <p:nvPr/>
        </p:nvSpPr>
        <p:spPr>
          <a:xfrm>
            <a:off x="713232" y="4974336"/>
            <a:ext cx="10835640" cy="448056"/>
          </a:xfrm>
          <a:prstGeom prst="rect">
            <a:avLst/>
          </a:prstGeom>
          <a:noFill/>
        </p:spPr>
        <p:txBody>
          <a:bodyPr wrap="square" lIns="0" tIns="0" rIns="0" bIns="0" anchor="t">
            <a:spAutoFit/>
          </a:bodyPr>
          <a:lstStyle/>
          <a:p>
            <a:pPr>
              <a:spcBef>
                <a:spcPts val="0"/>
              </a:spcBef>
              <a:spcAft>
                <a:spcPts val="0"/>
              </a:spcAft>
            </a:pPr>
            <a:r>
              <a:rPr sz="2400">
                <a:solidFill>
                  <a:srgbClr val="0F0F0F"/>
                </a:solidFill>
                <a:latin typeface="微软雅黑" panose="020B0503020204020204" charset="-122"/>
              </a:rPr>
              <a:t>5. 这些是我可爱的家人。</a:t>
            </a:r>
            <a:endParaRPr sz="2400">
              <a:solidFill>
                <a:srgbClr val="0F0F0F"/>
              </a:solidFill>
              <a:latin typeface="微软雅黑" panose="020B0503020204020204" charset="-122"/>
            </a:endParaRPr>
          </a:p>
        </p:txBody>
      </p:sp>
      <p:sp>
        <p:nvSpPr>
          <p:cNvPr id="23" name="anim_006_sent_answer_5"/>
          <p:cNvSpPr txBox="1"/>
          <p:nvPr/>
        </p:nvSpPr>
        <p:spPr>
          <a:xfrm>
            <a:off x="713232" y="5532120"/>
            <a:ext cx="10835640" cy="448056"/>
          </a:xfrm>
          <a:prstGeom prst="rect">
            <a:avLst/>
          </a:prstGeom>
          <a:noFill/>
        </p:spPr>
        <p:txBody>
          <a:bodyPr wrap="square" lIns="0" tIns="0" rIns="0" bIns="0" anchor="t">
            <a:spAutoFit/>
          </a:bodyPr>
          <a:lstStyle/>
          <a:p>
            <a:pPr>
              <a:spcBef>
                <a:spcPts val="0"/>
              </a:spcBef>
              <a:spcAft>
                <a:spcPts val="0"/>
              </a:spcAft>
            </a:pPr>
            <a:r>
              <a:rPr sz="2400" b="0">
                <a:solidFill>
                  <a:srgbClr val="CD1E1E"/>
                </a:solidFill>
                <a:latin typeface="微软雅黑" panose="020B0503020204020204" charset="-122"/>
              </a:rPr>
              <a:t>These are my lovely family members.</a:t>
            </a:r>
            <a:endParaRPr sz="2400" b="0">
              <a:solidFill>
                <a:srgbClr val="CD1E1E"/>
              </a:solidFill>
              <a:latin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22" grpId="0"/>
      <p:bldP spid="23"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3" name="TextBox 1"/>
          <p:cNvSpPr txBox="1"/>
          <p:nvPr/>
        </p:nvSpPr>
        <p:spPr>
          <a:xfrm>
            <a:off x="502920" y="219456"/>
            <a:ext cx="10241280" cy="402336"/>
          </a:xfrm>
          <a:prstGeom prst="rect">
            <a:avLst/>
          </a:prstGeom>
          <a:noFill/>
        </p:spPr>
        <p:txBody>
          <a:bodyPr wrap="square" lIns="0" tIns="0" rIns="0" bIns="0" anchor="t">
            <a:spAutoFit/>
          </a:bodyPr>
          <a:lstStyle/>
          <a:p>
            <a:pPr>
              <a:spcBef>
                <a:spcPts val="0"/>
              </a:spcBef>
              <a:spcAft>
                <a:spcPts val="0"/>
              </a:spcAft>
            </a:pPr>
            <a:r>
              <a:rPr sz="2800" b="0">
                <a:solidFill>
                  <a:srgbClr val="0F0F0F"/>
                </a:solidFill>
                <a:latin typeface="微软雅黑" panose="020B0503020204020204" charset="-122"/>
              </a:rPr>
              <a:t>Unit 2 Home Sweet Home · 句型练习 3</a:t>
            </a:r>
            <a:endParaRPr sz="2800" b="0">
              <a:solidFill>
                <a:srgbClr val="0F0F0F"/>
              </a:solidFill>
              <a:latin typeface="微软雅黑" panose="020B0503020204020204" charset="-122"/>
            </a:endParaRPr>
          </a:p>
        </p:txBody>
      </p:sp>
      <p:sp>
        <p:nvSpPr>
          <p:cNvPr id="14" name="TextBox 2"/>
          <p:cNvSpPr txBox="1"/>
          <p:nvPr/>
        </p:nvSpPr>
        <p:spPr>
          <a:xfrm>
            <a:off x="10012680" y="320040"/>
            <a:ext cx="1691640" cy="201168"/>
          </a:xfrm>
          <a:prstGeom prst="rect">
            <a:avLst/>
          </a:prstGeom>
          <a:noFill/>
        </p:spPr>
        <p:txBody>
          <a:bodyPr wrap="square" lIns="0" tIns="0" rIns="0" bIns="0" anchor="t">
            <a:spAutoFit/>
          </a:bodyPr>
          <a:lstStyle/>
          <a:p>
            <a:pPr>
              <a:spcBef>
                <a:spcPts val="0"/>
              </a:spcBef>
              <a:spcAft>
                <a:spcPts val="0"/>
              </a:spcAft>
            </a:pPr>
            <a:r>
              <a:rPr sz="1100" b="0">
                <a:solidFill>
                  <a:srgbClr val="626262"/>
                </a:solidFill>
                <a:latin typeface="微软雅黑" panose="020B0503020204020204" charset="-122"/>
              </a:rPr>
              <a:t>click reveal</a:t>
            </a:r>
            <a:endParaRPr sz="1100" b="0">
              <a:solidFill>
                <a:srgbClr val="626262"/>
              </a:solidFill>
              <a:latin typeface="微软雅黑" panose="020B0503020204020204" charset="-122"/>
            </a:endParaRPr>
          </a:p>
        </p:txBody>
      </p:sp>
      <p:sp>
        <p:nvSpPr>
          <p:cNvPr id="15" name="TextBox 7"/>
          <p:cNvSpPr txBox="1"/>
          <p:nvPr/>
        </p:nvSpPr>
        <p:spPr>
          <a:xfrm>
            <a:off x="11292840" y="6437376"/>
            <a:ext cx="411480" cy="201168"/>
          </a:xfrm>
          <a:prstGeom prst="rect">
            <a:avLst/>
          </a:prstGeom>
          <a:noFill/>
        </p:spPr>
        <p:txBody>
          <a:bodyPr wrap="square" lIns="0" tIns="0" rIns="0" bIns="0" anchor="t">
            <a:spAutoFit/>
          </a:bodyPr>
          <a:lstStyle/>
          <a:p>
            <a:pPr>
              <a:spcBef>
                <a:spcPts val="0"/>
              </a:spcBef>
              <a:spcAft>
                <a:spcPts val="0"/>
              </a:spcAft>
            </a:pPr>
            <a:r>
              <a:rPr sz="1000" b="0">
                <a:solidFill>
                  <a:srgbClr val="626262"/>
                </a:solidFill>
                <a:latin typeface="微软雅黑" panose="020B0503020204020204" charset="-122"/>
              </a:rPr>
              <a:t>57</a:t>
            </a:r>
            <a:endParaRPr sz="1000" b="0">
              <a:solidFill>
                <a:srgbClr val="626262"/>
              </a:solidFill>
              <a:latin typeface="微软雅黑" panose="020B0503020204020204" charset="-122"/>
            </a:endParaRPr>
          </a:p>
        </p:txBody>
      </p:sp>
      <p:sp>
        <p:nvSpPr>
          <p:cNvPr id="16" name="anim_001_sent_prompt_6"/>
          <p:cNvSpPr txBox="1"/>
          <p:nvPr/>
        </p:nvSpPr>
        <p:spPr>
          <a:xfrm>
            <a:off x="713232" y="987552"/>
            <a:ext cx="10835640" cy="448056"/>
          </a:xfrm>
          <a:prstGeom prst="rect">
            <a:avLst/>
          </a:prstGeom>
          <a:noFill/>
        </p:spPr>
        <p:txBody>
          <a:bodyPr wrap="square" lIns="0" tIns="0" rIns="0" bIns="0" anchor="t">
            <a:spAutoFit/>
          </a:bodyPr>
          <a:lstStyle/>
          <a:p>
            <a:pPr>
              <a:spcBef>
                <a:spcPts val="0"/>
              </a:spcBef>
              <a:spcAft>
                <a:spcPts val="0"/>
              </a:spcAft>
            </a:pPr>
            <a:r>
              <a:rPr sz="2400">
                <a:solidFill>
                  <a:srgbClr val="0F0F0F"/>
                </a:solidFill>
                <a:latin typeface="微软雅黑" panose="020B0503020204020204" charset="-122"/>
              </a:rPr>
              <a:t>6. 如你所见，我家有六口人。</a:t>
            </a:r>
            <a:endParaRPr sz="2400">
              <a:solidFill>
                <a:srgbClr val="0F0F0F"/>
              </a:solidFill>
              <a:latin typeface="微软雅黑" panose="020B0503020204020204" charset="-122"/>
            </a:endParaRPr>
          </a:p>
        </p:txBody>
      </p:sp>
      <p:sp>
        <p:nvSpPr>
          <p:cNvPr id="17" name="anim_002_sent_answer_6"/>
          <p:cNvSpPr txBox="1"/>
          <p:nvPr/>
        </p:nvSpPr>
        <p:spPr>
          <a:xfrm>
            <a:off x="713232" y="1545336"/>
            <a:ext cx="10835640" cy="786384"/>
          </a:xfrm>
          <a:prstGeom prst="rect">
            <a:avLst/>
          </a:prstGeom>
          <a:noFill/>
        </p:spPr>
        <p:txBody>
          <a:bodyPr wrap="square" lIns="0" tIns="0" rIns="0" bIns="0" anchor="t">
            <a:spAutoFit/>
          </a:bodyPr>
          <a:lstStyle/>
          <a:p>
            <a:pPr>
              <a:spcBef>
                <a:spcPts val="0"/>
              </a:spcBef>
              <a:spcAft>
                <a:spcPts val="0"/>
              </a:spcAft>
            </a:pPr>
            <a:r>
              <a:rPr sz="2400" b="0">
                <a:solidFill>
                  <a:srgbClr val="CD1E1E"/>
                </a:solidFill>
                <a:latin typeface="微软雅黑" panose="020B0503020204020204" charset="-122"/>
              </a:rPr>
              <a:t>As you can see ,there are six people in my family.</a:t>
            </a:r>
            <a:endParaRPr sz="2400" b="0">
              <a:solidFill>
                <a:srgbClr val="CD1E1E"/>
              </a:solidFill>
              <a:latin typeface="微软雅黑" panose="020B0503020204020204" charset="-122"/>
            </a:endParaRPr>
          </a:p>
        </p:txBody>
      </p:sp>
      <p:sp>
        <p:nvSpPr>
          <p:cNvPr id="18" name="anim_003_sent_prompt_7"/>
          <p:cNvSpPr txBox="1"/>
          <p:nvPr/>
        </p:nvSpPr>
        <p:spPr>
          <a:xfrm>
            <a:off x="713232" y="2514600"/>
            <a:ext cx="10835640" cy="448056"/>
          </a:xfrm>
          <a:prstGeom prst="rect">
            <a:avLst/>
          </a:prstGeom>
          <a:noFill/>
        </p:spPr>
        <p:txBody>
          <a:bodyPr wrap="square" lIns="0" tIns="0" rIns="0" bIns="0" anchor="t">
            <a:spAutoFit/>
          </a:bodyPr>
          <a:lstStyle/>
          <a:p>
            <a:pPr>
              <a:spcBef>
                <a:spcPts val="0"/>
              </a:spcBef>
              <a:spcAft>
                <a:spcPts val="0"/>
              </a:spcAft>
            </a:pPr>
            <a:r>
              <a:rPr sz="2400">
                <a:solidFill>
                  <a:srgbClr val="0F0F0F"/>
                </a:solidFill>
                <a:latin typeface="微软雅黑" panose="020B0503020204020204" charset="-122"/>
              </a:rPr>
              <a:t>7. 这是我的全家福。</a:t>
            </a:r>
            <a:endParaRPr sz="2400">
              <a:solidFill>
                <a:srgbClr val="0F0F0F"/>
              </a:solidFill>
              <a:latin typeface="微软雅黑" panose="020B0503020204020204" charset="-122"/>
            </a:endParaRPr>
          </a:p>
        </p:txBody>
      </p:sp>
      <p:sp>
        <p:nvSpPr>
          <p:cNvPr id="19" name="anim_004_sent_answer_7"/>
          <p:cNvSpPr txBox="1"/>
          <p:nvPr/>
        </p:nvSpPr>
        <p:spPr>
          <a:xfrm>
            <a:off x="713232" y="3072384"/>
            <a:ext cx="10835640" cy="448056"/>
          </a:xfrm>
          <a:prstGeom prst="rect">
            <a:avLst/>
          </a:prstGeom>
          <a:noFill/>
        </p:spPr>
        <p:txBody>
          <a:bodyPr wrap="square" lIns="0" tIns="0" rIns="0" bIns="0" anchor="t">
            <a:spAutoFit/>
          </a:bodyPr>
          <a:lstStyle/>
          <a:p>
            <a:pPr>
              <a:spcBef>
                <a:spcPts val="0"/>
              </a:spcBef>
              <a:spcAft>
                <a:spcPts val="0"/>
              </a:spcAft>
            </a:pPr>
            <a:r>
              <a:rPr sz="2400" b="0">
                <a:solidFill>
                  <a:srgbClr val="CD1E1E"/>
                </a:solidFill>
                <a:latin typeface="微软雅黑" panose="020B0503020204020204" charset="-122"/>
              </a:rPr>
              <a:t>Here is a photo of my family.</a:t>
            </a:r>
            <a:endParaRPr sz="2400" b="0">
              <a:solidFill>
                <a:srgbClr val="CD1E1E"/>
              </a:solidFill>
              <a:latin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3" name="TextBox 1"/>
          <p:cNvSpPr txBox="1"/>
          <p:nvPr/>
        </p:nvSpPr>
        <p:spPr>
          <a:xfrm>
            <a:off x="502920" y="219456"/>
            <a:ext cx="10241280" cy="402336"/>
          </a:xfrm>
          <a:prstGeom prst="rect">
            <a:avLst/>
          </a:prstGeom>
          <a:noFill/>
        </p:spPr>
        <p:txBody>
          <a:bodyPr wrap="square" lIns="0" tIns="0" rIns="0" bIns="0" anchor="t">
            <a:spAutoFit/>
          </a:bodyPr>
          <a:lstStyle/>
          <a:p>
            <a:pPr>
              <a:spcBef>
                <a:spcPts val="0"/>
              </a:spcBef>
              <a:spcAft>
                <a:spcPts val="0"/>
              </a:spcAft>
            </a:pPr>
            <a:r>
              <a:rPr sz="2800" b="0">
                <a:solidFill>
                  <a:srgbClr val="0F0F0F"/>
                </a:solidFill>
                <a:latin typeface="微软雅黑" panose="020B0503020204020204" charset="-122"/>
              </a:rPr>
              <a:t>Unit 2 Home Sweet Home · 句型练习 4</a:t>
            </a:r>
            <a:endParaRPr sz="2800" b="0">
              <a:solidFill>
                <a:srgbClr val="0F0F0F"/>
              </a:solidFill>
              <a:latin typeface="微软雅黑" panose="020B0503020204020204" charset="-122"/>
            </a:endParaRPr>
          </a:p>
        </p:txBody>
      </p:sp>
      <p:sp>
        <p:nvSpPr>
          <p:cNvPr id="14" name="TextBox 2"/>
          <p:cNvSpPr txBox="1"/>
          <p:nvPr/>
        </p:nvSpPr>
        <p:spPr>
          <a:xfrm>
            <a:off x="10012680" y="320040"/>
            <a:ext cx="1691640" cy="201168"/>
          </a:xfrm>
          <a:prstGeom prst="rect">
            <a:avLst/>
          </a:prstGeom>
          <a:noFill/>
        </p:spPr>
        <p:txBody>
          <a:bodyPr wrap="square" lIns="0" tIns="0" rIns="0" bIns="0" anchor="t">
            <a:spAutoFit/>
          </a:bodyPr>
          <a:lstStyle/>
          <a:p>
            <a:pPr>
              <a:spcBef>
                <a:spcPts val="0"/>
              </a:spcBef>
              <a:spcAft>
                <a:spcPts val="0"/>
              </a:spcAft>
            </a:pPr>
            <a:r>
              <a:rPr sz="1100" b="0">
                <a:solidFill>
                  <a:srgbClr val="626262"/>
                </a:solidFill>
                <a:latin typeface="微软雅黑" panose="020B0503020204020204" charset="-122"/>
              </a:rPr>
              <a:t>click reveal</a:t>
            </a:r>
            <a:endParaRPr sz="1100" b="0">
              <a:solidFill>
                <a:srgbClr val="626262"/>
              </a:solidFill>
              <a:latin typeface="微软雅黑" panose="020B0503020204020204" charset="-122"/>
            </a:endParaRPr>
          </a:p>
        </p:txBody>
      </p:sp>
      <p:sp>
        <p:nvSpPr>
          <p:cNvPr id="15" name="TextBox 7"/>
          <p:cNvSpPr txBox="1"/>
          <p:nvPr/>
        </p:nvSpPr>
        <p:spPr>
          <a:xfrm>
            <a:off x="11292840" y="6437376"/>
            <a:ext cx="411480" cy="201168"/>
          </a:xfrm>
          <a:prstGeom prst="rect">
            <a:avLst/>
          </a:prstGeom>
          <a:noFill/>
        </p:spPr>
        <p:txBody>
          <a:bodyPr wrap="square" lIns="0" tIns="0" rIns="0" bIns="0" anchor="t">
            <a:spAutoFit/>
          </a:bodyPr>
          <a:lstStyle/>
          <a:p>
            <a:pPr>
              <a:spcBef>
                <a:spcPts val="0"/>
              </a:spcBef>
              <a:spcAft>
                <a:spcPts val="0"/>
              </a:spcAft>
            </a:pPr>
            <a:r>
              <a:rPr sz="1000" b="0">
                <a:solidFill>
                  <a:srgbClr val="626262"/>
                </a:solidFill>
                <a:latin typeface="微软雅黑" panose="020B0503020204020204" charset="-122"/>
              </a:rPr>
              <a:t>58</a:t>
            </a:r>
            <a:endParaRPr sz="1000" b="0">
              <a:solidFill>
                <a:srgbClr val="626262"/>
              </a:solidFill>
              <a:latin typeface="微软雅黑" panose="020B0503020204020204" charset="-122"/>
            </a:endParaRPr>
          </a:p>
        </p:txBody>
      </p:sp>
      <p:sp>
        <p:nvSpPr>
          <p:cNvPr id="16" name="TextBox 4"/>
          <p:cNvSpPr txBox="1"/>
          <p:nvPr/>
        </p:nvSpPr>
        <p:spPr>
          <a:xfrm>
            <a:off x="713232" y="987552"/>
            <a:ext cx="10835640" cy="621792"/>
          </a:xfrm>
          <a:prstGeom prst="rect">
            <a:avLst/>
          </a:prstGeom>
          <a:noFill/>
        </p:spPr>
        <p:txBody>
          <a:bodyPr wrap="square" lIns="0" tIns="0" rIns="0" bIns="0" anchor="t">
            <a:spAutoFit/>
          </a:bodyPr>
          <a:lstStyle/>
          <a:p>
            <a:pPr>
              <a:spcBef>
                <a:spcPts val="0"/>
              </a:spcBef>
              <a:spcAft>
                <a:spcPts val="0"/>
              </a:spcAft>
            </a:pPr>
            <a:r>
              <a:rPr sz="2300" b="0">
                <a:solidFill>
                  <a:srgbClr val="3F9148"/>
                </a:solidFill>
                <a:latin typeface="微软雅黑" panose="020B0503020204020204" charset="-122"/>
              </a:rPr>
              <a:t>最有爱的地方: 欢聚一堂，主动分担家务(sit together, have a big dinner, offer to do some housework)</a:t>
            </a:r>
            <a:endParaRPr sz="2300" b="0">
              <a:solidFill>
                <a:srgbClr val="3F9148"/>
              </a:solidFill>
              <a:latin typeface="微软雅黑" panose="020B0503020204020204" charset="-122"/>
            </a:endParaRPr>
          </a:p>
        </p:txBody>
      </p:sp>
      <p:sp>
        <p:nvSpPr>
          <p:cNvPr id="17" name="anim_001_sent_prompt_8"/>
          <p:cNvSpPr txBox="1"/>
          <p:nvPr/>
        </p:nvSpPr>
        <p:spPr>
          <a:xfrm>
            <a:off x="713232" y="1755648"/>
            <a:ext cx="10835640" cy="429768"/>
          </a:xfrm>
          <a:prstGeom prst="rect">
            <a:avLst/>
          </a:prstGeom>
          <a:noFill/>
        </p:spPr>
        <p:txBody>
          <a:bodyPr wrap="square" lIns="0" tIns="0" rIns="0" bIns="0" anchor="t">
            <a:spAutoFit/>
          </a:bodyPr>
          <a:lstStyle/>
          <a:p>
            <a:pPr>
              <a:spcBef>
                <a:spcPts val="0"/>
              </a:spcBef>
              <a:spcAft>
                <a:spcPts val="0"/>
              </a:spcAft>
            </a:pPr>
            <a:r>
              <a:rPr sz="2200">
                <a:solidFill>
                  <a:srgbClr val="0F0F0F"/>
                </a:solidFill>
                <a:latin typeface="微软雅黑" panose="020B0503020204020204" charset="-122"/>
              </a:rPr>
              <a:t>8. 没有什么比和我们的父母和祖父母坐在一起吃一顿丰盛的晚餐更令人愉快的了。</a:t>
            </a:r>
            <a:endParaRPr sz="2200">
              <a:solidFill>
                <a:srgbClr val="0F0F0F"/>
              </a:solidFill>
              <a:latin typeface="微软雅黑" panose="020B0503020204020204" charset="-122"/>
            </a:endParaRPr>
          </a:p>
        </p:txBody>
      </p:sp>
      <p:sp>
        <p:nvSpPr>
          <p:cNvPr id="18" name="anim_002_sent_answer_8"/>
          <p:cNvSpPr txBox="1"/>
          <p:nvPr/>
        </p:nvSpPr>
        <p:spPr>
          <a:xfrm>
            <a:off x="713232" y="2295144"/>
            <a:ext cx="10835640" cy="1069848"/>
          </a:xfrm>
          <a:prstGeom prst="rect">
            <a:avLst/>
          </a:prstGeom>
          <a:noFill/>
        </p:spPr>
        <p:txBody>
          <a:bodyPr wrap="square" lIns="0" tIns="0" rIns="0" bIns="0" anchor="t">
            <a:spAutoFit/>
          </a:bodyPr>
          <a:lstStyle/>
          <a:p>
            <a:pPr>
              <a:spcBef>
                <a:spcPts val="0"/>
              </a:spcBef>
              <a:spcAft>
                <a:spcPts val="0"/>
              </a:spcAft>
            </a:pPr>
            <a:r>
              <a:rPr sz="2200" b="0">
                <a:solidFill>
                  <a:srgbClr val="CD1E1E"/>
                </a:solidFill>
                <a:latin typeface="微软雅黑" panose="020B0503020204020204" charset="-122"/>
              </a:rPr>
              <a:t>Nothing is more enjoyable than sitting together and having a big dinner with our parents and grandparents.</a:t>
            </a:r>
            <a:endParaRPr sz="2200" b="0">
              <a:solidFill>
                <a:srgbClr val="CD1E1E"/>
              </a:solidFill>
              <a:latin typeface="微软雅黑" panose="020B0503020204020204" charset="-122"/>
            </a:endParaRPr>
          </a:p>
        </p:txBody>
      </p:sp>
      <p:sp>
        <p:nvSpPr>
          <p:cNvPr id="19" name="anim_003_sent_prompt_9"/>
          <p:cNvSpPr txBox="1"/>
          <p:nvPr/>
        </p:nvSpPr>
        <p:spPr>
          <a:xfrm>
            <a:off x="713232" y="3547872"/>
            <a:ext cx="10835640" cy="429768"/>
          </a:xfrm>
          <a:prstGeom prst="rect">
            <a:avLst/>
          </a:prstGeom>
          <a:noFill/>
        </p:spPr>
        <p:txBody>
          <a:bodyPr wrap="square" lIns="0" tIns="0" rIns="0" bIns="0" anchor="t">
            <a:spAutoFit/>
          </a:bodyPr>
          <a:lstStyle/>
          <a:p>
            <a:pPr>
              <a:spcBef>
                <a:spcPts val="0"/>
              </a:spcBef>
              <a:spcAft>
                <a:spcPts val="0"/>
              </a:spcAft>
            </a:pPr>
            <a:r>
              <a:rPr sz="2200">
                <a:solidFill>
                  <a:srgbClr val="0F0F0F"/>
                </a:solidFill>
                <a:latin typeface="微软雅黑" panose="020B0503020204020204" charset="-122"/>
              </a:rPr>
              <a:t>9. 晚饭后，我们可以做一些家务或分享一些我们在生活中遇到的有趣的故事。</a:t>
            </a:r>
            <a:endParaRPr sz="2200">
              <a:solidFill>
                <a:srgbClr val="0F0F0F"/>
              </a:solidFill>
              <a:latin typeface="微软雅黑" panose="020B0503020204020204" charset="-122"/>
            </a:endParaRPr>
          </a:p>
        </p:txBody>
      </p:sp>
      <p:sp>
        <p:nvSpPr>
          <p:cNvPr id="20" name="anim_004_sent_answer_9"/>
          <p:cNvSpPr txBox="1"/>
          <p:nvPr/>
        </p:nvSpPr>
        <p:spPr>
          <a:xfrm>
            <a:off x="713232" y="4087368"/>
            <a:ext cx="10835640" cy="1069848"/>
          </a:xfrm>
          <a:prstGeom prst="rect">
            <a:avLst/>
          </a:prstGeom>
          <a:noFill/>
        </p:spPr>
        <p:txBody>
          <a:bodyPr wrap="square" lIns="0" tIns="0" rIns="0" bIns="0" anchor="t">
            <a:spAutoFit/>
          </a:bodyPr>
          <a:lstStyle/>
          <a:p>
            <a:pPr>
              <a:spcBef>
                <a:spcPts val="0"/>
              </a:spcBef>
              <a:spcAft>
                <a:spcPts val="0"/>
              </a:spcAft>
            </a:pPr>
            <a:r>
              <a:rPr sz="2200" b="0">
                <a:solidFill>
                  <a:srgbClr val="CD1E1E"/>
                </a:solidFill>
                <a:latin typeface="微软雅黑" panose="020B0503020204020204" charset="-122"/>
              </a:rPr>
              <a:t>After dinner, we can offer to do some housework or share some interesting stories we encountered in life.</a:t>
            </a:r>
            <a:endParaRPr sz="2200" b="0">
              <a:solidFill>
                <a:srgbClr val="CD1E1E"/>
              </a:solidFill>
              <a:latin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3" name="TextBox 1"/>
          <p:cNvSpPr txBox="1"/>
          <p:nvPr/>
        </p:nvSpPr>
        <p:spPr>
          <a:xfrm>
            <a:off x="502920" y="219456"/>
            <a:ext cx="10241280" cy="402336"/>
          </a:xfrm>
          <a:prstGeom prst="rect">
            <a:avLst/>
          </a:prstGeom>
          <a:noFill/>
        </p:spPr>
        <p:txBody>
          <a:bodyPr wrap="square" lIns="0" tIns="0" rIns="0" bIns="0" anchor="t">
            <a:spAutoFit/>
          </a:bodyPr>
          <a:lstStyle/>
          <a:p>
            <a:pPr>
              <a:spcBef>
                <a:spcPts val="0"/>
              </a:spcBef>
              <a:spcAft>
                <a:spcPts val="0"/>
              </a:spcAft>
            </a:pPr>
            <a:r>
              <a:rPr sz="2800" b="0">
                <a:solidFill>
                  <a:srgbClr val="0F0F0F"/>
                </a:solidFill>
                <a:latin typeface="微软雅黑" panose="020B0503020204020204" charset="-122"/>
              </a:rPr>
              <a:t>Unit 2 Home Sweet Home · 句型练习 5</a:t>
            </a:r>
            <a:endParaRPr sz="2800" b="0">
              <a:solidFill>
                <a:srgbClr val="0F0F0F"/>
              </a:solidFill>
              <a:latin typeface="微软雅黑" panose="020B0503020204020204" charset="-122"/>
            </a:endParaRPr>
          </a:p>
        </p:txBody>
      </p:sp>
      <p:sp>
        <p:nvSpPr>
          <p:cNvPr id="14" name="TextBox 2"/>
          <p:cNvSpPr txBox="1"/>
          <p:nvPr/>
        </p:nvSpPr>
        <p:spPr>
          <a:xfrm>
            <a:off x="10012680" y="320040"/>
            <a:ext cx="1691640" cy="201168"/>
          </a:xfrm>
          <a:prstGeom prst="rect">
            <a:avLst/>
          </a:prstGeom>
          <a:noFill/>
        </p:spPr>
        <p:txBody>
          <a:bodyPr wrap="square" lIns="0" tIns="0" rIns="0" bIns="0" anchor="t">
            <a:spAutoFit/>
          </a:bodyPr>
          <a:lstStyle/>
          <a:p>
            <a:pPr>
              <a:spcBef>
                <a:spcPts val="0"/>
              </a:spcBef>
              <a:spcAft>
                <a:spcPts val="0"/>
              </a:spcAft>
            </a:pPr>
            <a:r>
              <a:rPr sz="1100" b="0">
                <a:solidFill>
                  <a:srgbClr val="626262"/>
                </a:solidFill>
                <a:latin typeface="微软雅黑" panose="020B0503020204020204" charset="-122"/>
              </a:rPr>
              <a:t>click reveal</a:t>
            </a:r>
            <a:endParaRPr sz="1100" b="0">
              <a:solidFill>
                <a:srgbClr val="626262"/>
              </a:solidFill>
              <a:latin typeface="微软雅黑" panose="020B0503020204020204" charset="-122"/>
            </a:endParaRPr>
          </a:p>
        </p:txBody>
      </p:sp>
      <p:sp>
        <p:nvSpPr>
          <p:cNvPr id="15" name="TextBox 7"/>
          <p:cNvSpPr txBox="1"/>
          <p:nvPr/>
        </p:nvSpPr>
        <p:spPr>
          <a:xfrm>
            <a:off x="11292840" y="6437376"/>
            <a:ext cx="411480" cy="201168"/>
          </a:xfrm>
          <a:prstGeom prst="rect">
            <a:avLst/>
          </a:prstGeom>
          <a:noFill/>
        </p:spPr>
        <p:txBody>
          <a:bodyPr wrap="square" lIns="0" tIns="0" rIns="0" bIns="0" anchor="t">
            <a:spAutoFit/>
          </a:bodyPr>
          <a:lstStyle/>
          <a:p>
            <a:pPr>
              <a:spcBef>
                <a:spcPts val="0"/>
              </a:spcBef>
              <a:spcAft>
                <a:spcPts val="0"/>
              </a:spcAft>
            </a:pPr>
            <a:r>
              <a:rPr sz="1000" b="0">
                <a:solidFill>
                  <a:srgbClr val="626262"/>
                </a:solidFill>
                <a:latin typeface="微软雅黑" panose="020B0503020204020204" charset="-122"/>
              </a:rPr>
              <a:t>59</a:t>
            </a:r>
            <a:endParaRPr sz="1000" b="0">
              <a:solidFill>
                <a:srgbClr val="626262"/>
              </a:solidFill>
              <a:latin typeface="微软雅黑" panose="020B0503020204020204" charset="-122"/>
            </a:endParaRPr>
          </a:p>
        </p:txBody>
      </p:sp>
      <p:sp>
        <p:nvSpPr>
          <p:cNvPr id="16" name="TextBox 4"/>
          <p:cNvSpPr txBox="1"/>
          <p:nvPr/>
        </p:nvSpPr>
        <p:spPr>
          <a:xfrm>
            <a:off x="713232" y="987552"/>
            <a:ext cx="10835640" cy="621792"/>
          </a:xfrm>
          <a:prstGeom prst="rect">
            <a:avLst/>
          </a:prstGeom>
          <a:noFill/>
        </p:spPr>
        <p:txBody>
          <a:bodyPr wrap="square" lIns="0" tIns="0" rIns="0" bIns="0" anchor="t">
            <a:spAutoFit/>
          </a:bodyPr>
          <a:lstStyle/>
          <a:p>
            <a:pPr>
              <a:spcBef>
                <a:spcPts val="0"/>
              </a:spcBef>
              <a:spcAft>
                <a:spcPts val="0"/>
              </a:spcAft>
            </a:pPr>
            <a:r>
              <a:rPr sz="2300" b="0">
                <a:solidFill>
                  <a:srgbClr val="3F9148"/>
                </a:solidFill>
                <a:latin typeface="微软雅黑" panose="020B0503020204020204" charset="-122"/>
              </a:rPr>
              <a:t>最温暖的地方:相互分享，谈论趣事(share sth. with sb., talk about)</a:t>
            </a:r>
            <a:endParaRPr sz="2300" b="0">
              <a:solidFill>
                <a:srgbClr val="3F9148"/>
              </a:solidFill>
              <a:latin typeface="微软雅黑" panose="020B0503020204020204" charset="-122"/>
            </a:endParaRPr>
          </a:p>
        </p:txBody>
      </p:sp>
      <p:sp>
        <p:nvSpPr>
          <p:cNvPr id="17" name="anim_001_sent_prompt_10"/>
          <p:cNvSpPr txBox="1"/>
          <p:nvPr/>
        </p:nvSpPr>
        <p:spPr>
          <a:xfrm>
            <a:off x="713232" y="1755648"/>
            <a:ext cx="10835640" cy="448056"/>
          </a:xfrm>
          <a:prstGeom prst="rect">
            <a:avLst/>
          </a:prstGeom>
          <a:noFill/>
        </p:spPr>
        <p:txBody>
          <a:bodyPr wrap="square" lIns="0" tIns="0" rIns="0" bIns="0" anchor="t">
            <a:spAutoFit/>
          </a:bodyPr>
          <a:lstStyle/>
          <a:p>
            <a:pPr>
              <a:spcBef>
                <a:spcPts val="0"/>
              </a:spcBef>
              <a:spcAft>
                <a:spcPts val="0"/>
              </a:spcAft>
            </a:pPr>
            <a:r>
              <a:rPr sz="2400">
                <a:solidFill>
                  <a:srgbClr val="0F0F0F"/>
                </a:solidFill>
                <a:latin typeface="微软雅黑" panose="020B0503020204020204" charset="-122"/>
              </a:rPr>
              <a:t>10. 此外，在我的脑海中，谈论我们的日常事物是最温暖的。</a:t>
            </a:r>
            <a:endParaRPr sz="2400">
              <a:solidFill>
                <a:srgbClr val="0F0F0F"/>
              </a:solidFill>
              <a:latin typeface="微软雅黑" panose="020B0503020204020204" charset="-122"/>
            </a:endParaRPr>
          </a:p>
        </p:txBody>
      </p:sp>
      <p:sp>
        <p:nvSpPr>
          <p:cNvPr id="18" name="anim_002_sent_answer_10"/>
          <p:cNvSpPr txBox="1"/>
          <p:nvPr/>
        </p:nvSpPr>
        <p:spPr>
          <a:xfrm>
            <a:off x="713232" y="2313432"/>
            <a:ext cx="10835640" cy="786384"/>
          </a:xfrm>
          <a:prstGeom prst="rect">
            <a:avLst/>
          </a:prstGeom>
          <a:noFill/>
        </p:spPr>
        <p:txBody>
          <a:bodyPr wrap="square" lIns="0" tIns="0" rIns="0" bIns="0" anchor="t">
            <a:spAutoFit/>
          </a:bodyPr>
          <a:lstStyle/>
          <a:p>
            <a:pPr>
              <a:spcBef>
                <a:spcPts val="0"/>
              </a:spcBef>
              <a:spcAft>
                <a:spcPts val="0"/>
              </a:spcAft>
            </a:pPr>
            <a:r>
              <a:rPr sz="2400" b="0">
                <a:solidFill>
                  <a:srgbClr val="CD1E1E"/>
                </a:solidFill>
                <a:latin typeface="微软雅黑" panose="020B0503020204020204" charset="-122"/>
              </a:rPr>
              <a:t>In addition, talking about our everyday stuff is the warmest in my mind.</a:t>
            </a:r>
            <a:endParaRPr sz="2400" b="0">
              <a:solidFill>
                <a:srgbClr val="CD1E1E"/>
              </a:solidFill>
              <a:latin typeface="微软雅黑" panose="020B0503020204020204" charset="-122"/>
            </a:endParaRPr>
          </a:p>
        </p:txBody>
      </p:sp>
      <p:sp>
        <p:nvSpPr>
          <p:cNvPr id="19" name="anim_003_sent_prompt_11"/>
          <p:cNvSpPr txBox="1"/>
          <p:nvPr/>
        </p:nvSpPr>
        <p:spPr>
          <a:xfrm>
            <a:off x="713232" y="3282696"/>
            <a:ext cx="10835640" cy="448056"/>
          </a:xfrm>
          <a:prstGeom prst="rect">
            <a:avLst/>
          </a:prstGeom>
          <a:noFill/>
        </p:spPr>
        <p:txBody>
          <a:bodyPr wrap="square" lIns="0" tIns="0" rIns="0" bIns="0" anchor="t">
            <a:spAutoFit/>
          </a:bodyPr>
          <a:lstStyle/>
          <a:p>
            <a:pPr>
              <a:spcBef>
                <a:spcPts val="0"/>
              </a:spcBef>
              <a:spcAft>
                <a:spcPts val="0"/>
              </a:spcAft>
            </a:pPr>
            <a:r>
              <a:rPr sz="2400">
                <a:solidFill>
                  <a:srgbClr val="0F0F0F"/>
                </a:solidFill>
                <a:latin typeface="微软雅黑" panose="020B0503020204020204" charset="-122"/>
              </a:rPr>
              <a:t>11. 分享快乐是非常奇妙的。</a:t>
            </a:r>
            <a:endParaRPr sz="2400">
              <a:solidFill>
                <a:srgbClr val="0F0F0F"/>
              </a:solidFill>
              <a:latin typeface="微软雅黑" panose="020B0503020204020204" charset="-122"/>
            </a:endParaRPr>
          </a:p>
        </p:txBody>
      </p:sp>
      <p:sp>
        <p:nvSpPr>
          <p:cNvPr id="20" name="anim_004_sent_answer_11"/>
          <p:cNvSpPr txBox="1"/>
          <p:nvPr/>
        </p:nvSpPr>
        <p:spPr>
          <a:xfrm>
            <a:off x="713232" y="3840480"/>
            <a:ext cx="10835640" cy="448056"/>
          </a:xfrm>
          <a:prstGeom prst="rect">
            <a:avLst/>
          </a:prstGeom>
          <a:noFill/>
        </p:spPr>
        <p:txBody>
          <a:bodyPr wrap="square" lIns="0" tIns="0" rIns="0" bIns="0" anchor="t">
            <a:spAutoFit/>
          </a:bodyPr>
          <a:lstStyle/>
          <a:p>
            <a:pPr>
              <a:spcBef>
                <a:spcPts val="0"/>
              </a:spcBef>
              <a:spcAft>
                <a:spcPts val="0"/>
              </a:spcAft>
            </a:pPr>
            <a:r>
              <a:rPr sz="2400" b="0">
                <a:solidFill>
                  <a:srgbClr val="CD1E1E"/>
                </a:solidFill>
                <a:latin typeface="微软雅黑" panose="020B0503020204020204" charset="-122"/>
              </a:rPr>
              <a:t>Sharing the happiness is very fantastic.</a:t>
            </a:r>
            <a:endParaRPr sz="2400" b="0">
              <a:solidFill>
                <a:srgbClr val="CD1E1E"/>
              </a:solidFill>
              <a:latin typeface="微软雅黑" panose="020B0503020204020204" charset="-122"/>
            </a:endParaRPr>
          </a:p>
        </p:txBody>
      </p:sp>
      <p:sp>
        <p:nvSpPr>
          <p:cNvPr id="21" name="anim_005_sent_prompt_例句"/>
          <p:cNvSpPr txBox="1"/>
          <p:nvPr/>
        </p:nvSpPr>
        <p:spPr>
          <a:xfrm>
            <a:off x="713232" y="4471416"/>
            <a:ext cx="10835640" cy="429768"/>
          </a:xfrm>
          <a:prstGeom prst="rect">
            <a:avLst/>
          </a:prstGeom>
          <a:noFill/>
        </p:spPr>
        <p:txBody>
          <a:bodyPr wrap="square" lIns="0" tIns="0" rIns="0" bIns="0" anchor="t">
            <a:spAutoFit/>
          </a:bodyPr>
          <a:lstStyle/>
          <a:p>
            <a:pPr>
              <a:spcBef>
                <a:spcPts val="0"/>
              </a:spcBef>
              <a:spcAft>
                <a:spcPts val="0"/>
              </a:spcAft>
            </a:pPr>
            <a:r>
              <a:rPr sz="2200">
                <a:solidFill>
                  <a:srgbClr val="0F0F0F"/>
                </a:solidFill>
                <a:latin typeface="微软雅黑" panose="020B0503020204020204" charset="-122"/>
              </a:rPr>
              <a:t>例句：在日常生活中，我们珍惜与家人和朋友共度的时光。</a:t>
            </a:r>
            <a:endParaRPr sz="2200">
              <a:solidFill>
                <a:srgbClr val="0F0F0F"/>
              </a:solidFill>
              <a:latin typeface="微软雅黑" panose="020B0503020204020204" charset="-122"/>
            </a:endParaRPr>
          </a:p>
        </p:txBody>
      </p:sp>
      <p:sp>
        <p:nvSpPr>
          <p:cNvPr id="22" name="anim_006_sent_answer_例句"/>
          <p:cNvSpPr txBox="1"/>
          <p:nvPr/>
        </p:nvSpPr>
        <p:spPr>
          <a:xfrm>
            <a:off x="713232" y="5010912"/>
            <a:ext cx="10835640" cy="749808"/>
          </a:xfrm>
          <a:prstGeom prst="rect">
            <a:avLst/>
          </a:prstGeom>
          <a:noFill/>
        </p:spPr>
        <p:txBody>
          <a:bodyPr wrap="square" lIns="0" tIns="0" rIns="0" bIns="0" anchor="t">
            <a:spAutoFit/>
          </a:bodyPr>
          <a:lstStyle/>
          <a:p>
            <a:pPr>
              <a:spcBef>
                <a:spcPts val="0"/>
              </a:spcBef>
              <a:spcAft>
                <a:spcPts val="0"/>
              </a:spcAft>
            </a:pPr>
            <a:r>
              <a:rPr sz="2200" b="0">
                <a:solidFill>
                  <a:srgbClr val="CD1E1E"/>
                </a:solidFill>
                <a:latin typeface="微软雅黑" panose="020B0503020204020204" charset="-122"/>
              </a:rPr>
              <a:t>We value the time we spend with our family and friends in our everyday lives.</a:t>
            </a:r>
            <a:endParaRPr sz="2200" b="0">
              <a:solidFill>
                <a:srgbClr val="CD1E1E"/>
              </a:solidFill>
              <a:latin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p:bldP spid="21" grpId="0"/>
      <p:bldP spid="22"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3" name="TextBox 1"/>
          <p:cNvSpPr txBox="1"/>
          <p:nvPr/>
        </p:nvSpPr>
        <p:spPr>
          <a:xfrm>
            <a:off x="502920" y="219456"/>
            <a:ext cx="10241280" cy="402336"/>
          </a:xfrm>
          <a:prstGeom prst="rect">
            <a:avLst/>
          </a:prstGeom>
          <a:noFill/>
        </p:spPr>
        <p:txBody>
          <a:bodyPr wrap="square" lIns="0" tIns="0" rIns="0" bIns="0" anchor="t">
            <a:spAutoFit/>
          </a:bodyPr>
          <a:lstStyle/>
          <a:p>
            <a:pPr>
              <a:spcBef>
                <a:spcPts val="0"/>
              </a:spcBef>
              <a:spcAft>
                <a:spcPts val="0"/>
              </a:spcAft>
            </a:pPr>
            <a:r>
              <a:rPr sz="2800" b="0">
                <a:solidFill>
                  <a:srgbClr val="0F0F0F"/>
                </a:solidFill>
                <a:latin typeface="微软雅黑" panose="020B0503020204020204" charset="-122"/>
              </a:rPr>
              <a:t>Unit 2 Home Sweet Home · 句型练习 6</a:t>
            </a:r>
            <a:endParaRPr sz="2800" b="0">
              <a:solidFill>
                <a:srgbClr val="0F0F0F"/>
              </a:solidFill>
              <a:latin typeface="微软雅黑" panose="020B0503020204020204" charset="-122"/>
            </a:endParaRPr>
          </a:p>
        </p:txBody>
      </p:sp>
      <p:sp>
        <p:nvSpPr>
          <p:cNvPr id="14" name="TextBox 2"/>
          <p:cNvSpPr txBox="1"/>
          <p:nvPr/>
        </p:nvSpPr>
        <p:spPr>
          <a:xfrm>
            <a:off x="10012680" y="320040"/>
            <a:ext cx="1691640" cy="201168"/>
          </a:xfrm>
          <a:prstGeom prst="rect">
            <a:avLst/>
          </a:prstGeom>
          <a:noFill/>
        </p:spPr>
        <p:txBody>
          <a:bodyPr wrap="square" lIns="0" tIns="0" rIns="0" bIns="0" anchor="t">
            <a:spAutoFit/>
          </a:bodyPr>
          <a:lstStyle/>
          <a:p>
            <a:pPr>
              <a:spcBef>
                <a:spcPts val="0"/>
              </a:spcBef>
              <a:spcAft>
                <a:spcPts val="0"/>
              </a:spcAft>
            </a:pPr>
            <a:r>
              <a:rPr sz="1100" b="0">
                <a:solidFill>
                  <a:srgbClr val="626262"/>
                </a:solidFill>
                <a:latin typeface="微软雅黑" panose="020B0503020204020204" charset="-122"/>
              </a:rPr>
              <a:t>click reveal</a:t>
            </a:r>
            <a:endParaRPr sz="1100" b="0">
              <a:solidFill>
                <a:srgbClr val="626262"/>
              </a:solidFill>
              <a:latin typeface="微软雅黑" panose="020B0503020204020204" charset="-122"/>
            </a:endParaRPr>
          </a:p>
        </p:txBody>
      </p:sp>
      <p:sp>
        <p:nvSpPr>
          <p:cNvPr id="15" name="TextBox 7"/>
          <p:cNvSpPr txBox="1"/>
          <p:nvPr/>
        </p:nvSpPr>
        <p:spPr>
          <a:xfrm>
            <a:off x="11292840" y="6437376"/>
            <a:ext cx="411480" cy="201168"/>
          </a:xfrm>
          <a:prstGeom prst="rect">
            <a:avLst/>
          </a:prstGeom>
          <a:noFill/>
        </p:spPr>
        <p:txBody>
          <a:bodyPr wrap="square" lIns="0" tIns="0" rIns="0" bIns="0" anchor="t">
            <a:spAutoFit/>
          </a:bodyPr>
          <a:lstStyle/>
          <a:p>
            <a:pPr>
              <a:spcBef>
                <a:spcPts val="0"/>
              </a:spcBef>
              <a:spcAft>
                <a:spcPts val="0"/>
              </a:spcAft>
            </a:pPr>
            <a:r>
              <a:rPr sz="1000" b="0">
                <a:solidFill>
                  <a:srgbClr val="626262"/>
                </a:solidFill>
                <a:latin typeface="微软雅黑" panose="020B0503020204020204" charset="-122"/>
              </a:rPr>
              <a:t>60</a:t>
            </a:r>
            <a:endParaRPr sz="1000" b="0">
              <a:solidFill>
                <a:srgbClr val="626262"/>
              </a:solidFill>
              <a:latin typeface="微软雅黑" panose="020B0503020204020204" charset="-122"/>
            </a:endParaRPr>
          </a:p>
        </p:txBody>
      </p:sp>
      <p:sp>
        <p:nvSpPr>
          <p:cNvPr id="16" name="TextBox 4"/>
          <p:cNvSpPr txBox="1"/>
          <p:nvPr/>
        </p:nvSpPr>
        <p:spPr>
          <a:xfrm>
            <a:off x="713232" y="987552"/>
            <a:ext cx="10835640" cy="621792"/>
          </a:xfrm>
          <a:prstGeom prst="rect">
            <a:avLst/>
          </a:prstGeom>
          <a:noFill/>
        </p:spPr>
        <p:txBody>
          <a:bodyPr wrap="square" lIns="0" tIns="0" rIns="0" bIns="0" anchor="t">
            <a:spAutoFit/>
          </a:bodyPr>
          <a:lstStyle/>
          <a:p>
            <a:pPr>
              <a:spcBef>
                <a:spcPts val="0"/>
              </a:spcBef>
              <a:spcAft>
                <a:spcPts val="0"/>
              </a:spcAft>
            </a:pPr>
            <a:r>
              <a:rPr sz="2300" b="0">
                <a:solidFill>
                  <a:srgbClr val="3F9148"/>
                </a:solidFill>
                <a:latin typeface="微软雅黑" panose="020B0503020204020204" charset="-122"/>
              </a:rPr>
              <a:t>最有力量的地方:倾诉困难，帮助解决(tell sth. to sb., try one's best to do sth,, get over)</a:t>
            </a:r>
            <a:endParaRPr sz="2300" b="0">
              <a:solidFill>
                <a:srgbClr val="3F9148"/>
              </a:solidFill>
              <a:latin typeface="微软雅黑" panose="020B0503020204020204" charset="-122"/>
            </a:endParaRPr>
          </a:p>
        </p:txBody>
      </p:sp>
      <p:sp>
        <p:nvSpPr>
          <p:cNvPr id="17" name="anim_001_sent_prompt_12"/>
          <p:cNvSpPr txBox="1"/>
          <p:nvPr/>
        </p:nvSpPr>
        <p:spPr>
          <a:xfrm>
            <a:off x="713232" y="1755648"/>
            <a:ext cx="10835640" cy="813815"/>
          </a:xfrm>
          <a:prstGeom prst="rect">
            <a:avLst/>
          </a:prstGeom>
          <a:noFill/>
        </p:spPr>
        <p:txBody>
          <a:bodyPr wrap="square" lIns="0" tIns="0" rIns="0" bIns="0" anchor="t">
            <a:spAutoFit/>
          </a:bodyPr>
          <a:lstStyle/>
          <a:p>
            <a:pPr>
              <a:spcBef>
                <a:spcPts val="0"/>
              </a:spcBef>
              <a:spcAft>
                <a:spcPts val="0"/>
              </a:spcAft>
            </a:pPr>
            <a:r>
              <a:rPr sz="2200">
                <a:solidFill>
                  <a:srgbClr val="0F0F0F"/>
                </a:solidFill>
                <a:latin typeface="微软雅黑" panose="020B0503020204020204" charset="-122"/>
              </a:rPr>
              <a:t>12. 然而，我们也可以告诉我们遇到的困难，我们的家人，他们会尽最大努力帮助我们克服他们。</a:t>
            </a:r>
            <a:endParaRPr sz="2200">
              <a:solidFill>
                <a:srgbClr val="0F0F0F"/>
              </a:solidFill>
              <a:latin typeface="微软雅黑" panose="020B0503020204020204" charset="-122"/>
            </a:endParaRPr>
          </a:p>
        </p:txBody>
      </p:sp>
      <p:sp>
        <p:nvSpPr>
          <p:cNvPr id="18" name="anim_002_sent_answer_12"/>
          <p:cNvSpPr txBox="1"/>
          <p:nvPr/>
        </p:nvSpPr>
        <p:spPr>
          <a:xfrm>
            <a:off x="713232" y="2770632"/>
            <a:ext cx="10835640" cy="1069848"/>
          </a:xfrm>
          <a:prstGeom prst="rect">
            <a:avLst/>
          </a:prstGeom>
          <a:noFill/>
        </p:spPr>
        <p:txBody>
          <a:bodyPr wrap="square" lIns="0" tIns="0" rIns="0" bIns="0" anchor="t">
            <a:spAutoFit/>
          </a:bodyPr>
          <a:lstStyle/>
          <a:p>
            <a:pPr>
              <a:spcBef>
                <a:spcPts val="0"/>
              </a:spcBef>
              <a:spcAft>
                <a:spcPts val="0"/>
              </a:spcAft>
            </a:pPr>
            <a:r>
              <a:rPr sz="2200" b="0">
                <a:solidFill>
                  <a:srgbClr val="CD1E1E"/>
                </a:solidFill>
                <a:latin typeface="微软雅黑" panose="020B0503020204020204" charset="-122"/>
              </a:rPr>
              <a:t>However, we can also tell the difficulties we have met to our family members, and they will try their best to help us get over them.</a:t>
            </a:r>
            <a:endParaRPr sz="2200" b="0">
              <a:solidFill>
                <a:srgbClr val="CD1E1E"/>
              </a:solidFill>
              <a:latin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3" name="TextBox 1"/>
          <p:cNvSpPr txBox="1"/>
          <p:nvPr/>
        </p:nvSpPr>
        <p:spPr>
          <a:xfrm>
            <a:off x="502920" y="219456"/>
            <a:ext cx="10241280" cy="402336"/>
          </a:xfrm>
          <a:prstGeom prst="rect">
            <a:avLst/>
          </a:prstGeom>
          <a:noFill/>
        </p:spPr>
        <p:txBody>
          <a:bodyPr wrap="square" lIns="0" tIns="0" rIns="0" bIns="0" anchor="t">
            <a:spAutoFit/>
          </a:bodyPr>
          <a:lstStyle/>
          <a:p>
            <a:pPr>
              <a:spcBef>
                <a:spcPts val="0"/>
              </a:spcBef>
              <a:spcAft>
                <a:spcPts val="0"/>
              </a:spcAft>
            </a:pPr>
            <a:r>
              <a:rPr sz="2800" b="0">
                <a:solidFill>
                  <a:srgbClr val="0F0F0F"/>
                </a:solidFill>
                <a:latin typeface="微软雅黑" panose="020B0503020204020204" charset="-122"/>
              </a:rPr>
              <a:t>Unit 2 Home Sweet Home · 句型练习 7</a:t>
            </a:r>
            <a:endParaRPr sz="2800" b="0">
              <a:solidFill>
                <a:srgbClr val="0F0F0F"/>
              </a:solidFill>
              <a:latin typeface="微软雅黑" panose="020B0503020204020204" charset="-122"/>
            </a:endParaRPr>
          </a:p>
        </p:txBody>
      </p:sp>
      <p:sp>
        <p:nvSpPr>
          <p:cNvPr id="14" name="TextBox 2"/>
          <p:cNvSpPr txBox="1"/>
          <p:nvPr/>
        </p:nvSpPr>
        <p:spPr>
          <a:xfrm>
            <a:off x="10012680" y="320040"/>
            <a:ext cx="1691640" cy="201168"/>
          </a:xfrm>
          <a:prstGeom prst="rect">
            <a:avLst/>
          </a:prstGeom>
          <a:noFill/>
        </p:spPr>
        <p:txBody>
          <a:bodyPr wrap="square" lIns="0" tIns="0" rIns="0" bIns="0" anchor="t">
            <a:spAutoFit/>
          </a:bodyPr>
          <a:lstStyle/>
          <a:p>
            <a:pPr>
              <a:spcBef>
                <a:spcPts val="0"/>
              </a:spcBef>
              <a:spcAft>
                <a:spcPts val="0"/>
              </a:spcAft>
            </a:pPr>
            <a:r>
              <a:rPr sz="1100" b="0">
                <a:solidFill>
                  <a:srgbClr val="626262"/>
                </a:solidFill>
                <a:latin typeface="微软雅黑" panose="020B0503020204020204" charset="-122"/>
              </a:rPr>
              <a:t>click reveal</a:t>
            </a:r>
            <a:endParaRPr sz="1100" b="0">
              <a:solidFill>
                <a:srgbClr val="626262"/>
              </a:solidFill>
              <a:latin typeface="微软雅黑" panose="020B0503020204020204" charset="-122"/>
            </a:endParaRPr>
          </a:p>
        </p:txBody>
      </p:sp>
      <p:sp>
        <p:nvSpPr>
          <p:cNvPr id="15" name="TextBox 7"/>
          <p:cNvSpPr txBox="1"/>
          <p:nvPr/>
        </p:nvSpPr>
        <p:spPr>
          <a:xfrm>
            <a:off x="11292840" y="6437376"/>
            <a:ext cx="411480" cy="201168"/>
          </a:xfrm>
          <a:prstGeom prst="rect">
            <a:avLst/>
          </a:prstGeom>
          <a:noFill/>
        </p:spPr>
        <p:txBody>
          <a:bodyPr wrap="square" lIns="0" tIns="0" rIns="0" bIns="0" anchor="t">
            <a:spAutoFit/>
          </a:bodyPr>
          <a:lstStyle/>
          <a:p>
            <a:pPr>
              <a:spcBef>
                <a:spcPts val="0"/>
              </a:spcBef>
              <a:spcAft>
                <a:spcPts val="0"/>
              </a:spcAft>
            </a:pPr>
            <a:r>
              <a:rPr sz="1000" b="0">
                <a:solidFill>
                  <a:srgbClr val="626262"/>
                </a:solidFill>
                <a:latin typeface="微软雅黑" panose="020B0503020204020204" charset="-122"/>
              </a:rPr>
              <a:t>61</a:t>
            </a:r>
            <a:endParaRPr sz="1000" b="0">
              <a:solidFill>
                <a:srgbClr val="626262"/>
              </a:solidFill>
              <a:latin typeface="微软雅黑" panose="020B0503020204020204" charset="-122"/>
            </a:endParaRPr>
          </a:p>
        </p:txBody>
      </p:sp>
      <p:sp>
        <p:nvSpPr>
          <p:cNvPr id="16" name="TextBox 4"/>
          <p:cNvSpPr txBox="1"/>
          <p:nvPr/>
        </p:nvSpPr>
        <p:spPr>
          <a:xfrm>
            <a:off x="713232" y="987552"/>
            <a:ext cx="10835640" cy="347472"/>
          </a:xfrm>
          <a:prstGeom prst="rect">
            <a:avLst/>
          </a:prstGeom>
          <a:noFill/>
        </p:spPr>
        <p:txBody>
          <a:bodyPr wrap="square" lIns="0" tIns="0" rIns="0" bIns="0" anchor="t">
            <a:spAutoFit/>
          </a:bodyPr>
          <a:lstStyle/>
          <a:p>
            <a:pPr>
              <a:spcBef>
                <a:spcPts val="0"/>
              </a:spcBef>
              <a:spcAft>
                <a:spcPts val="0"/>
              </a:spcAft>
            </a:pPr>
            <a:r>
              <a:rPr sz="2300" b="0">
                <a:solidFill>
                  <a:srgbClr val="3F9148"/>
                </a:solidFill>
                <a:latin typeface="微软雅黑" panose="020B0503020204020204" charset="-122"/>
              </a:rPr>
              <a:t>3.总结全文，升华主题：对家感受及看法</a:t>
            </a:r>
            <a:endParaRPr sz="2300" b="0">
              <a:solidFill>
                <a:srgbClr val="3F9148"/>
              </a:solidFill>
              <a:latin typeface="微软雅黑" panose="020B0503020204020204" charset="-122"/>
            </a:endParaRPr>
          </a:p>
        </p:txBody>
      </p:sp>
      <p:sp>
        <p:nvSpPr>
          <p:cNvPr id="17" name="anim_001_sent_prompt_13"/>
          <p:cNvSpPr txBox="1"/>
          <p:nvPr/>
        </p:nvSpPr>
        <p:spPr>
          <a:xfrm>
            <a:off x="713232" y="1481328"/>
            <a:ext cx="10835640" cy="448056"/>
          </a:xfrm>
          <a:prstGeom prst="rect">
            <a:avLst/>
          </a:prstGeom>
          <a:noFill/>
        </p:spPr>
        <p:txBody>
          <a:bodyPr wrap="square" lIns="0" tIns="0" rIns="0" bIns="0" anchor="t">
            <a:spAutoFit/>
          </a:bodyPr>
          <a:lstStyle/>
          <a:p>
            <a:pPr>
              <a:spcBef>
                <a:spcPts val="0"/>
              </a:spcBef>
              <a:spcAft>
                <a:spcPts val="0"/>
              </a:spcAft>
            </a:pPr>
            <a:r>
              <a:rPr sz="2400">
                <a:solidFill>
                  <a:srgbClr val="0F0F0F"/>
                </a:solidFill>
                <a:latin typeface="微软雅黑" panose="020B0503020204020204" charset="-122"/>
              </a:rPr>
              <a:t>13. 我爱我的家庭，因为它带给我温暖和幸福。</a:t>
            </a:r>
            <a:endParaRPr sz="2400">
              <a:solidFill>
                <a:srgbClr val="0F0F0F"/>
              </a:solidFill>
              <a:latin typeface="微软雅黑" panose="020B0503020204020204" charset="-122"/>
            </a:endParaRPr>
          </a:p>
        </p:txBody>
      </p:sp>
      <p:sp>
        <p:nvSpPr>
          <p:cNvPr id="18" name="anim_002_sent_answer_13"/>
          <p:cNvSpPr txBox="1"/>
          <p:nvPr/>
        </p:nvSpPr>
        <p:spPr>
          <a:xfrm>
            <a:off x="713232" y="2039112"/>
            <a:ext cx="10835640" cy="786384"/>
          </a:xfrm>
          <a:prstGeom prst="rect">
            <a:avLst/>
          </a:prstGeom>
          <a:noFill/>
        </p:spPr>
        <p:txBody>
          <a:bodyPr wrap="square" lIns="0" tIns="0" rIns="0" bIns="0" anchor="t">
            <a:spAutoFit/>
          </a:bodyPr>
          <a:lstStyle/>
          <a:p>
            <a:pPr>
              <a:spcBef>
                <a:spcPts val="0"/>
              </a:spcBef>
              <a:spcAft>
                <a:spcPts val="0"/>
              </a:spcAft>
            </a:pPr>
            <a:r>
              <a:rPr sz="2400" b="0">
                <a:solidFill>
                  <a:srgbClr val="CD1E1E"/>
                </a:solidFill>
                <a:latin typeface="微软雅黑" panose="020B0503020204020204" charset="-122"/>
              </a:rPr>
              <a:t>I love my family because it brings me warmth and happiness.</a:t>
            </a:r>
            <a:endParaRPr sz="2400" b="0">
              <a:solidFill>
                <a:srgbClr val="CD1E1E"/>
              </a:solidFill>
              <a:latin typeface="微软雅黑" panose="020B0503020204020204" charset="-122"/>
            </a:endParaRPr>
          </a:p>
        </p:txBody>
      </p:sp>
      <p:sp>
        <p:nvSpPr>
          <p:cNvPr id="19" name="anim_003_sent_prompt_14"/>
          <p:cNvSpPr txBox="1"/>
          <p:nvPr/>
        </p:nvSpPr>
        <p:spPr>
          <a:xfrm>
            <a:off x="713232" y="3008376"/>
            <a:ext cx="10835640" cy="448056"/>
          </a:xfrm>
          <a:prstGeom prst="rect">
            <a:avLst/>
          </a:prstGeom>
          <a:noFill/>
        </p:spPr>
        <p:txBody>
          <a:bodyPr wrap="square" lIns="0" tIns="0" rIns="0" bIns="0" anchor="t">
            <a:spAutoFit/>
          </a:bodyPr>
          <a:lstStyle/>
          <a:p>
            <a:pPr>
              <a:spcBef>
                <a:spcPts val="0"/>
              </a:spcBef>
              <a:spcAft>
                <a:spcPts val="0"/>
              </a:spcAft>
            </a:pPr>
            <a:r>
              <a:rPr sz="2400">
                <a:solidFill>
                  <a:srgbClr val="0F0F0F"/>
                </a:solidFill>
                <a:latin typeface="微软雅黑" panose="020B0503020204020204" charset="-122"/>
              </a:rPr>
              <a:t>14. 我有一个多么和谐温暖的家庭啊。</a:t>
            </a:r>
            <a:endParaRPr sz="2400">
              <a:solidFill>
                <a:srgbClr val="0F0F0F"/>
              </a:solidFill>
              <a:latin typeface="微软雅黑" panose="020B0503020204020204" charset="-122"/>
            </a:endParaRPr>
          </a:p>
        </p:txBody>
      </p:sp>
      <p:sp>
        <p:nvSpPr>
          <p:cNvPr id="20" name="anim_004_sent_answer_14"/>
          <p:cNvSpPr txBox="1"/>
          <p:nvPr/>
        </p:nvSpPr>
        <p:spPr>
          <a:xfrm>
            <a:off x="713232" y="3566160"/>
            <a:ext cx="10835640" cy="448056"/>
          </a:xfrm>
          <a:prstGeom prst="rect">
            <a:avLst/>
          </a:prstGeom>
          <a:noFill/>
        </p:spPr>
        <p:txBody>
          <a:bodyPr wrap="square" lIns="0" tIns="0" rIns="0" bIns="0" anchor="t">
            <a:spAutoFit/>
          </a:bodyPr>
          <a:lstStyle/>
          <a:p>
            <a:pPr>
              <a:spcBef>
                <a:spcPts val="0"/>
              </a:spcBef>
              <a:spcAft>
                <a:spcPts val="0"/>
              </a:spcAft>
            </a:pPr>
            <a:r>
              <a:rPr sz="2400" b="0">
                <a:solidFill>
                  <a:srgbClr val="CD1E1E"/>
                </a:solidFill>
                <a:latin typeface="微软雅黑" panose="020B0503020204020204" charset="-122"/>
              </a:rPr>
              <a:t>What a harmonious and warm family I have.</a:t>
            </a:r>
            <a:endParaRPr sz="2400" b="0">
              <a:solidFill>
                <a:srgbClr val="CD1E1E"/>
              </a:solidFill>
              <a:latin typeface="微软雅黑" panose="020B0503020204020204" charset="-122"/>
            </a:endParaRPr>
          </a:p>
        </p:txBody>
      </p:sp>
      <p:sp>
        <p:nvSpPr>
          <p:cNvPr id="21" name="anim_005_sent_prompt_15"/>
          <p:cNvSpPr txBox="1"/>
          <p:nvPr/>
        </p:nvSpPr>
        <p:spPr>
          <a:xfrm>
            <a:off x="713232" y="4197096"/>
            <a:ext cx="10835640" cy="448056"/>
          </a:xfrm>
          <a:prstGeom prst="rect">
            <a:avLst/>
          </a:prstGeom>
          <a:noFill/>
        </p:spPr>
        <p:txBody>
          <a:bodyPr wrap="square" lIns="0" tIns="0" rIns="0" bIns="0" anchor="t">
            <a:spAutoFit/>
          </a:bodyPr>
          <a:lstStyle/>
          <a:p>
            <a:pPr>
              <a:spcBef>
                <a:spcPts val="0"/>
              </a:spcBef>
              <a:spcAft>
                <a:spcPts val="0"/>
              </a:spcAft>
            </a:pPr>
            <a:r>
              <a:rPr sz="2400">
                <a:solidFill>
                  <a:srgbClr val="0F0F0F"/>
                </a:solidFill>
                <a:latin typeface="微软雅黑" panose="020B0503020204020204" charset="-122"/>
              </a:rPr>
              <a:t>15. 俗话说，金窝银窝，不如自己的草窝。</a:t>
            </a:r>
            <a:endParaRPr sz="2400">
              <a:solidFill>
                <a:srgbClr val="0F0F0F"/>
              </a:solidFill>
              <a:latin typeface="微软雅黑" panose="020B0503020204020204" charset="-122"/>
            </a:endParaRPr>
          </a:p>
        </p:txBody>
      </p:sp>
      <p:sp>
        <p:nvSpPr>
          <p:cNvPr id="22" name="anim_006_sent_answer_15"/>
          <p:cNvSpPr txBox="1"/>
          <p:nvPr/>
        </p:nvSpPr>
        <p:spPr>
          <a:xfrm>
            <a:off x="713232" y="4754880"/>
            <a:ext cx="10835640" cy="786384"/>
          </a:xfrm>
          <a:prstGeom prst="rect">
            <a:avLst/>
          </a:prstGeom>
          <a:noFill/>
        </p:spPr>
        <p:txBody>
          <a:bodyPr wrap="square" lIns="0" tIns="0" rIns="0" bIns="0" anchor="t">
            <a:spAutoFit/>
          </a:bodyPr>
          <a:lstStyle/>
          <a:p>
            <a:pPr>
              <a:spcBef>
                <a:spcPts val="0"/>
              </a:spcBef>
              <a:spcAft>
                <a:spcPts val="0"/>
              </a:spcAft>
            </a:pPr>
            <a:r>
              <a:rPr sz="2400" b="0">
                <a:solidFill>
                  <a:srgbClr val="CD1E1E"/>
                </a:solidFill>
                <a:latin typeface="微软雅黑" panose="020B0503020204020204" charset="-122"/>
              </a:rPr>
              <a:t>As an old saying goes,east or west,home is the best</a:t>
            </a:r>
            <a:endParaRPr sz="2400" b="0">
              <a:solidFill>
                <a:srgbClr val="CD1E1E"/>
              </a:solidFill>
              <a:latin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p:bldP spid="21" grpId="0"/>
      <p:bldP spid="22"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3" name="TextBox 1"/>
          <p:cNvSpPr txBox="1"/>
          <p:nvPr/>
        </p:nvSpPr>
        <p:spPr>
          <a:xfrm>
            <a:off x="502920" y="219456"/>
            <a:ext cx="10241280" cy="402336"/>
          </a:xfrm>
          <a:prstGeom prst="rect">
            <a:avLst/>
          </a:prstGeom>
          <a:noFill/>
        </p:spPr>
        <p:txBody>
          <a:bodyPr wrap="square" lIns="0" tIns="0" rIns="0" bIns="0" anchor="t">
            <a:spAutoFit/>
          </a:bodyPr>
          <a:lstStyle/>
          <a:p>
            <a:pPr>
              <a:spcBef>
                <a:spcPts val="0"/>
              </a:spcBef>
              <a:spcAft>
                <a:spcPts val="0"/>
              </a:spcAft>
            </a:pPr>
            <a:r>
              <a:rPr sz="2800" b="0">
                <a:solidFill>
                  <a:srgbClr val="0F0F0F"/>
                </a:solidFill>
                <a:latin typeface="微软雅黑" panose="020B0503020204020204" charset="-122"/>
              </a:rPr>
              <a:t>Unit 2 Home Sweet Home · 句型练习 8</a:t>
            </a:r>
            <a:endParaRPr sz="2800" b="0">
              <a:solidFill>
                <a:srgbClr val="0F0F0F"/>
              </a:solidFill>
              <a:latin typeface="微软雅黑" panose="020B0503020204020204" charset="-122"/>
            </a:endParaRPr>
          </a:p>
        </p:txBody>
      </p:sp>
      <p:sp>
        <p:nvSpPr>
          <p:cNvPr id="14" name="TextBox 2"/>
          <p:cNvSpPr txBox="1"/>
          <p:nvPr/>
        </p:nvSpPr>
        <p:spPr>
          <a:xfrm>
            <a:off x="10012680" y="320040"/>
            <a:ext cx="1691640" cy="201168"/>
          </a:xfrm>
          <a:prstGeom prst="rect">
            <a:avLst/>
          </a:prstGeom>
          <a:noFill/>
        </p:spPr>
        <p:txBody>
          <a:bodyPr wrap="square" lIns="0" tIns="0" rIns="0" bIns="0" anchor="t">
            <a:spAutoFit/>
          </a:bodyPr>
          <a:lstStyle/>
          <a:p>
            <a:pPr>
              <a:spcBef>
                <a:spcPts val="0"/>
              </a:spcBef>
              <a:spcAft>
                <a:spcPts val="0"/>
              </a:spcAft>
            </a:pPr>
            <a:r>
              <a:rPr sz="1100" b="0">
                <a:solidFill>
                  <a:srgbClr val="626262"/>
                </a:solidFill>
                <a:latin typeface="微软雅黑" panose="020B0503020204020204" charset="-122"/>
              </a:rPr>
              <a:t>click reveal</a:t>
            </a:r>
            <a:endParaRPr sz="1100" b="0">
              <a:solidFill>
                <a:srgbClr val="626262"/>
              </a:solidFill>
              <a:latin typeface="微软雅黑" panose="020B0503020204020204" charset="-122"/>
            </a:endParaRPr>
          </a:p>
        </p:txBody>
      </p:sp>
      <p:sp>
        <p:nvSpPr>
          <p:cNvPr id="15" name="TextBox 7"/>
          <p:cNvSpPr txBox="1"/>
          <p:nvPr/>
        </p:nvSpPr>
        <p:spPr>
          <a:xfrm>
            <a:off x="11292840" y="6437376"/>
            <a:ext cx="411480" cy="201168"/>
          </a:xfrm>
          <a:prstGeom prst="rect">
            <a:avLst/>
          </a:prstGeom>
          <a:noFill/>
        </p:spPr>
        <p:txBody>
          <a:bodyPr wrap="square" lIns="0" tIns="0" rIns="0" bIns="0" anchor="t">
            <a:spAutoFit/>
          </a:bodyPr>
          <a:lstStyle/>
          <a:p>
            <a:pPr>
              <a:spcBef>
                <a:spcPts val="0"/>
              </a:spcBef>
              <a:spcAft>
                <a:spcPts val="0"/>
              </a:spcAft>
            </a:pPr>
            <a:r>
              <a:rPr sz="1000" b="0">
                <a:solidFill>
                  <a:srgbClr val="626262"/>
                </a:solidFill>
                <a:latin typeface="微软雅黑" panose="020B0503020204020204" charset="-122"/>
              </a:rPr>
              <a:t>62</a:t>
            </a:r>
            <a:endParaRPr sz="1000" b="0">
              <a:solidFill>
                <a:srgbClr val="626262"/>
              </a:solidFill>
              <a:latin typeface="微软雅黑" panose="020B0503020204020204" charset="-122"/>
            </a:endParaRPr>
          </a:p>
        </p:txBody>
      </p:sp>
      <p:sp>
        <p:nvSpPr>
          <p:cNvPr id="16" name="anim_001_sent_prompt_16"/>
          <p:cNvSpPr txBox="1"/>
          <p:nvPr/>
        </p:nvSpPr>
        <p:spPr>
          <a:xfrm>
            <a:off x="713232" y="987552"/>
            <a:ext cx="10835640" cy="448056"/>
          </a:xfrm>
          <a:prstGeom prst="rect">
            <a:avLst/>
          </a:prstGeom>
          <a:noFill/>
        </p:spPr>
        <p:txBody>
          <a:bodyPr wrap="square" lIns="0" tIns="0" rIns="0" bIns="0" anchor="t">
            <a:spAutoFit/>
          </a:bodyPr>
          <a:lstStyle/>
          <a:p>
            <a:pPr>
              <a:spcBef>
                <a:spcPts val="0"/>
              </a:spcBef>
              <a:spcAft>
                <a:spcPts val="0"/>
              </a:spcAft>
            </a:pPr>
            <a:r>
              <a:rPr sz="2400">
                <a:solidFill>
                  <a:srgbClr val="0F0F0F"/>
                </a:solidFill>
                <a:latin typeface="微软雅黑" panose="020B0503020204020204" charset="-122"/>
              </a:rPr>
              <a:t>16. 这就是我的家庭，充满欢笑和爱。</a:t>
            </a:r>
            <a:endParaRPr sz="2400">
              <a:solidFill>
                <a:srgbClr val="0F0F0F"/>
              </a:solidFill>
              <a:latin typeface="微软雅黑" panose="020B0503020204020204" charset="-122"/>
            </a:endParaRPr>
          </a:p>
        </p:txBody>
      </p:sp>
      <p:sp>
        <p:nvSpPr>
          <p:cNvPr id="17" name="anim_002_sent_answer_16"/>
          <p:cNvSpPr txBox="1"/>
          <p:nvPr/>
        </p:nvSpPr>
        <p:spPr>
          <a:xfrm>
            <a:off x="713232" y="1545336"/>
            <a:ext cx="10835640" cy="786384"/>
          </a:xfrm>
          <a:prstGeom prst="rect">
            <a:avLst/>
          </a:prstGeom>
          <a:noFill/>
        </p:spPr>
        <p:txBody>
          <a:bodyPr wrap="square" lIns="0" tIns="0" rIns="0" bIns="0" anchor="t">
            <a:spAutoFit/>
          </a:bodyPr>
          <a:lstStyle/>
          <a:p>
            <a:pPr>
              <a:spcBef>
                <a:spcPts val="0"/>
              </a:spcBef>
              <a:spcAft>
                <a:spcPts val="0"/>
              </a:spcAft>
            </a:pPr>
            <a:r>
              <a:rPr sz="2400" b="0">
                <a:solidFill>
                  <a:srgbClr val="CD1E1E"/>
                </a:solidFill>
                <a:latin typeface="微软雅黑" panose="020B0503020204020204" charset="-122"/>
              </a:rPr>
              <a:t>This is my family, full of laughter and love.</a:t>
            </a:r>
            <a:endParaRPr sz="2400" b="0">
              <a:solidFill>
                <a:srgbClr val="CD1E1E"/>
              </a:solidFill>
              <a:latin typeface="微软雅黑" panose="020B0503020204020204" charset="-122"/>
            </a:endParaRPr>
          </a:p>
        </p:txBody>
      </p:sp>
      <p:sp>
        <p:nvSpPr>
          <p:cNvPr id="18" name="anim_003_sent_prompt_17"/>
          <p:cNvSpPr txBox="1"/>
          <p:nvPr/>
        </p:nvSpPr>
        <p:spPr>
          <a:xfrm>
            <a:off x="713232" y="2514600"/>
            <a:ext cx="10835640" cy="448056"/>
          </a:xfrm>
          <a:prstGeom prst="rect">
            <a:avLst/>
          </a:prstGeom>
          <a:noFill/>
        </p:spPr>
        <p:txBody>
          <a:bodyPr wrap="square" lIns="0" tIns="0" rIns="0" bIns="0" anchor="t">
            <a:spAutoFit/>
          </a:bodyPr>
          <a:lstStyle/>
          <a:p>
            <a:pPr>
              <a:spcBef>
                <a:spcPts val="0"/>
              </a:spcBef>
              <a:spcAft>
                <a:spcPts val="0"/>
              </a:spcAft>
            </a:pPr>
            <a:r>
              <a:rPr sz="2400">
                <a:solidFill>
                  <a:srgbClr val="0F0F0F"/>
                </a:solidFill>
                <a:latin typeface="微软雅黑" panose="020B0503020204020204" charset="-122"/>
              </a:rPr>
              <a:t>17. 这就是我们家的样子。</a:t>
            </a:r>
            <a:endParaRPr sz="2400">
              <a:solidFill>
                <a:srgbClr val="0F0F0F"/>
              </a:solidFill>
              <a:latin typeface="微软雅黑" panose="020B0503020204020204" charset="-122"/>
            </a:endParaRPr>
          </a:p>
        </p:txBody>
      </p:sp>
      <p:sp>
        <p:nvSpPr>
          <p:cNvPr id="19" name="anim_004_sent_answer_17"/>
          <p:cNvSpPr txBox="1"/>
          <p:nvPr/>
        </p:nvSpPr>
        <p:spPr>
          <a:xfrm>
            <a:off x="713232" y="3072384"/>
            <a:ext cx="10835640" cy="448056"/>
          </a:xfrm>
          <a:prstGeom prst="rect">
            <a:avLst/>
          </a:prstGeom>
          <a:noFill/>
        </p:spPr>
        <p:txBody>
          <a:bodyPr wrap="square" lIns="0" tIns="0" rIns="0" bIns="0" anchor="t">
            <a:spAutoFit/>
          </a:bodyPr>
          <a:lstStyle/>
          <a:p>
            <a:pPr>
              <a:spcBef>
                <a:spcPts val="0"/>
              </a:spcBef>
              <a:spcAft>
                <a:spcPts val="0"/>
              </a:spcAft>
            </a:pPr>
            <a:r>
              <a:rPr sz="2400" b="0">
                <a:solidFill>
                  <a:srgbClr val="CD1E1E"/>
                </a:solidFill>
                <a:latin typeface="微软雅黑" panose="020B0503020204020204" charset="-122"/>
              </a:rPr>
              <a:t>That is what our home is like.</a:t>
            </a:r>
            <a:endParaRPr sz="2400" b="0">
              <a:solidFill>
                <a:srgbClr val="CD1E1E"/>
              </a:solidFill>
              <a:latin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3" name="TextBox 1"/>
          <p:cNvSpPr txBox="1"/>
          <p:nvPr/>
        </p:nvSpPr>
        <p:spPr>
          <a:xfrm>
            <a:off x="502920" y="219456"/>
            <a:ext cx="10241280" cy="402336"/>
          </a:xfrm>
          <a:prstGeom prst="rect">
            <a:avLst/>
          </a:prstGeom>
          <a:noFill/>
        </p:spPr>
        <p:txBody>
          <a:bodyPr wrap="square" lIns="0" tIns="0" rIns="0" bIns="0" anchor="t">
            <a:spAutoFit/>
          </a:bodyPr>
          <a:lstStyle/>
          <a:p>
            <a:pPr>
              <a:spcBef>
                <a:spcPts val="0"/>
              </a:spcBef>
              <a:spcAft>
                <a:spcPts val="0"/>
              </a:spcAft>
            </a:pPr>
            <a:r>
              <a:rPr sz="2800" b="0">
                <a:solidFill>
                  <a:srgbClr val="0F0F0F"/>
                </a:solidFill>
                <a:latin typeface="微软雅黑" panose="020B0503020204020204" charset="-122"/>
              </a:rPr>
              <a:t>Unit 2 Home Sweet Home · 句型练习 9</a:t>
            </a:r>
            <a:endParaRPr sz="2800" b="0">
              <a:solidFill>
                <a:srgbClr val="0F0F0F"/>
              </a:solidFill>
              <a:latin typeface="微软雅黑" panose="020B0503020204020204" charset="-122"/>
            </a:endParaRPr>
          </a:p>
        </p:txBody>
      </p:sp>
      <p:sp>
        <p:nvSpPr>
          <p:cNvPr id="14" name="TextBox 2"/>
          <p:cNvSpPr txBox="1"/>
          <p:nvPr/>
        </p:nvSpPr>
        <p:spPr>
          <a:xfrm>
            <a:off x="10012680" y="320040"/>
            <a:ext cx="1691640" cy="201168"/>
          </a:xfrm>
          <a:prstGeom prst="rect">
            <a:avLst/>
          </a:prstGeom>
          <a:noFill/>
        </p:spPr>
        <p:txBody>
          <a:bodyPr wrap="square" lIns="0" tIns="0" rIns="0" bIns="0" anchor="t">
            <a:spAutoFit/>
          </a:bodyPr>
          <a:lstStyle/>
          <a:p>
            <a:pPr>
              <a:spcBef>
                <a:spcPts val="0"/>
              </a:spcBef>
              <a:spcAft>
                <a:spcPts val="0"/>
              </a:spcAft>
            </a:pPr>
            <a:r>
              <a:rPr sz="1100" b="0">
                <a:solidFill>
                  <a:srgbClr val="626262"/>
                </a:solidFill>
                <a:latin typeface="微软雅黑" panose="020B0503020204020204" charset="-122"/>
              </a:rPr>
              <a:t>click reveal</a:t>
            </a:r>
            <a:endParaRPr sz="1100" b="0">
              <a:solidFill>
                <a:srgbClr val="626262"/>
              </a:solidFill>
              <a:latin typeface="微软雅黑" panose="020B0503020204020204" charset="-122"/>
            </a:endParaRPr>
          </a:p>
        </p:txBody>
      </p:sp>
      <p:sp>
        <p:nvSpPr>
          <p:cNvPr id="15" name="TextBox 7"/>
          <p:cNvSpPr txBox="1"/>
          <p:nvPr/>
        </p:nvSpPr>
        <p:spPr>
          <a:xfrm>
            <a:off x="11292840" y="6437376"/>
            <a:ext cx="411480" cy="201168"/>
          </a:xfrm>
          <a:prstGeom prst="rect">
            <a:avLst/>
          </a:prstGeom>
          <a:noFill/>
        </p:spPr>
        <p:txBody>
          <a:bodyPr wrap="square" lIns="0" tIns="0" rIns="0" bIns="0" anchor="t">
            <a:spAutoFit/>
          </a:bodyPr>
          <a:lstStyle/>
          <a:p>
            <a:pPr>
              <a:spcBef>
                <a:spcPts val="0"/>
              </a:spcBef>
              <a:spcAft>
                <a:spcPts val="0"/>
              </a:spcAft>
            </a:pPr>
            <a:r>
              <a:rPr sz="1000" b="0">
                <a:solidFill>
                  <a:srgbClr val="626262"/>
                </a:solidFill>
                <a:latin typeface="微软雅黑" panose="020B0503020204020204" charset="-122"/>
              </a:rPr>
              <a:t>63</a:t>
            </a:r>
            <a:endParaRPr sz="1000" b="0">
              <a:solidFill>
                <a:srgbClr val="626262"/>
              </a:solidFill>
              <a:latin typeface="微软雅黑" panose="020B0503020204020204" charset="-122"/>
            </a:endParaRPr>
          </a:p>
        </p:txBody>
      </p:sp>
      <p:sp>
        <p:nvSpPr>
          <p:cNvPr id="16" name="anim_001_sent_prompt_18"/>
          <p:cNvSpPr txBox="1"/>
          <p:nvPr/>
        </p:nvSpPr>
        <p:spPr>
          <a:xfrm>
            <a:off x="713232" y="987552"/>
            <a:ext cx="10835640" cy="429768"/>
          </a:xfrm>
          <a:prstGeom prst="rect">
            <a:avLst/>
          </a:prstGeom>
          <a:noFill/>
        </p:spPr>
        <p:txBody>
          <a:bodyPr wrap="square" lIns="0" tIns="0" rIns="0" bIns="0" anchor="t">
            <a:spAutoFit/>
          </a:bodyPr>
          <a:lstStyle/>
          <a:p>
            <a:pPr>
              <a:spcBef>
                <a:spcPts val="0"/>
              </a:spcBef>
              <a:spcAft>
                <a:spcPts val="0"/>
              </a:spcAft>
            </a:pPr>
            <a:r>
              <a:rPr sz="2200">
                <a:solidFill>
                  <a:srgbClr val="0F0F0F"/>
                </a:solidFill>
                <a:latin typeface="微软雅黑" panose="020B0503020204020204" charset="-122"/>
              </a:rPr>
              <a:t>18. 无论何时何地，请记住，总有人在家等着你。</a:t>
            </a:r>
            <a:endParaRPr sz="2200">
              <a:solidFill>
                <a:srgbClr val="0F0F0F"/>
              </a:solidFill>
              <a:latin typeface="微软雅黑" panose="020B0503020204020204" charset="-122"/>
            </a:endParaRPr>
          </a:p>
        </p:txBody>
      </p:sp>
      <p:sp>
        <p:nvSpPr>
          <p:cNvPr id="17" name="anim_002_sent_answer_18"/>
          <p:cNvSpPr txBox="1"/>
          <p:nvPr/>
        </p:nvSpPr>
        <p:spPr>
          <a:xfrm>
            <a:off x="713232" y="1527048"/>
            <a:ext cx="10835640" cy="1069848"/>
          </a:xfrm>
          <a:prstGeom prst="rect">
            <a:avLst/>
          </a:prstGeom>
          <a:noFill/>
        </p:spPr>
        <p:txBody>
          <a:bodyPr wrap="square" lIns="0" tIns="0" rIns="0" bIns="0" anchor="t">
            <a:spAutoFit/>
          </a:bodyPr>
          <a:lstStyle/>
          <a:p>
            <a:pPr>
              <a:spcBef>
                <a:spcPts val="0"/>
              </a:spcBef>
              <a:spcAft>
                <a:spcPts val="0"/>
              </a:spcAft>
            </a:pPr>
            <a:r>
              <a:rPr sz="2200" b="0">
                <a:solidFill>
                  <a:srgbClr val="CD1E1E"/>
                </a:solidFill>
                <a:latin typeface="微软雅黑" panose="020B0503020204020204" charset="-122"/>
              </a:rPr>
              <a:t>Whenever and wherever you are, please remember there is always someone waiting for you at home.</a:t>
            </a:r>
            <a:endParaRPr sz="2200" b="0">
              <a:solidFill>
                <a:srgbClr val="CD1E1E"/>
              </a:solidFill>
              <a:latin typeface="微软雅黑" panose="020B0503020204020204" charset="-122"/>
            </a:endParaRPr>
          </a:p>
        </p:txBody>
      </p:sp>
      <p:sp>
        <p:nvSpPr>
          <p:cNvPr id="18" name="anim_003_sent_prompt_19"/>
          <p:cNvSpPr txBox="1"/>
          <p:nvPr/>
        </p:nvSpPr>
        <p:spPr>
          <a:xfrm>
            <a:off x="713232" y="2779776"/>
            <a:ext cx="10835640" cy="448056"/>
          </a:xfrm>
          <a:prstGeom prst="rect">
            <a:avLst/>
          </a:prstGeom>
          <a:noFill/>
        </p:spPr>
        <p:txBody>
          <a:bodyPr wrap="square" lIns="0" tIns="0" rIns="0" bIns="0" anchor="t">
            <a:spAutoFit/>
          </a:bodyPr>
          <a:lstStyle/>
          <a:p>
            <a:pPr>
              <a:spcBef>
                <a:spcPts val="0"/>
              </a:spcBef>
              <a:spcAft>
                <a:spcPts val="0"/>
              </a:spcAft>
            </a:pPr>
            <a:r>
              <a:rPr sz="2400">
                <a:solidFill>
                  <a:srgbClr val="0F0F0F"/>
                </a:solidFill>
                <a:latin typeface="微软雅黑" panose="020B0503020204020204" charset="-122"/>
              </a:rPr>
              <a:t>19. 家就像阳光，温暖了我们很多。</a:t>
            </a:r>
            <a:endParaRPr sz="2400">
              <a:solidFill>
                <a:srgbClr val="0F0F0F"/>
              </a:solidFill>
              <a:latin typeface="微软雅黑" panose="020B0503020204020204" charset="-122"/>
            </a:endParaRPr>
          </a:p>
        </p:txBody>
      </p:sp>
      <p:sp>
        <p:nvSpPr>
          <p:cNvPr id="19" name="anim_004_sent_answer_19"/>
          <p:cNvSpPr txBox="1"/>
          <p:nvPr/>
        </p:nvSpPr>
        <p:spPr>
          <a:xfrm>
            <a:off x="713232" y="3337560"/>
            <a:ext cx="10835640" cy="448056"/>
          </a:xfrm>
          <a:prstGeom prst="rect">
            <a:avLst/>
          </a:prstGeom>
          <a:noFill/>
        </p:spPr>
        <p:txBody>
          <a:bodyPr wrap="square" lIns="0" tIns="0" rIns="0" bIns="0" anchor="t">
            <a:spAutoFit/>
          </a:bodyPr>
          <a:lstStyle/>
          <a:p>
            <a:pPr>
              <a:spcBef>
                <a:spcPts val="0"/>
              </a:spcBef>
              <a:spcAft>
                <a:spcPts val="0"/>
              </a:spcAft>
            </a:pPr>
            <a:r>
              <a:rPr sz="2400" b="0">
                <a:solidFill>
                  <a:srgbClr val="CD1E1E"/>
                </a:solidFill>
                <a:latin typeface="微软雅黑" panose="020B0503020204020204" charset="-122"/>
              </a:rPr>
              <a:t>Home is like sunshine,warming us a lot.</a:t>
            </a:r>
            <a:endParaRPr sz="2400" b="0">
              <a:solidFill>
                <a:srgbClr val="CD1E1E"/>
              </a:solidFill>
              <a:latin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3" name="TextBox 1"/>
          <p:cNvSpPr txBox="1"/>
          <p:nvPr/>
        </p:nvSpPr>
        <p:spPr>
          <a:xfrm>
            <a:off x="502920" y="219456"/>
            <a:ext cx="10241280" cy="402336"/>
          </a:xfrm>
          <a:prstGeom prst="rect">
            <a:avLst/>
          </a:prstGeom>
          <a:noFill/>
        </p:spPr>
        <p:txBody>
          <a:bodyPr wrap="square" lIns="0" tIns="0" rIns="0" bIns="0" anchor="t">
            <a:spAutoFit/>
          </a:bodyPr>
          <a:lstStyle/>
          <a:p>
            <a:pPr>
              <a:spcBef>
                <a:spcPts val="0"/>
              </a:spcBef>
              <a:spcAft>
                <a:spcPts val="0"/>
              </a:spcAft>
            </a:pPr>
            <a:r>
              <a:rPr sz="2800" b="0">
                <a:solidFill>
                  <a:srgbClr val="0F0F0F"/>
                </a:solidFill>
                <a:latin typeface="微软雅黑" panose="020B0503020204020204" charset="-122"/>
              </a:rPr>
              <a:t>Unit 2 Home Sweet Home · 句型练习 10</a:t>
            </a:r>
            <a:endParaRPr sz="2800" b="0">
              <a:solidFill>
                <a:srgbClr val="0F0F0F"/>
              </a:solidFill>
              <a:latin typeface="微软雅黑" panose="020B0503020204020204" charset="-122"/>
            </a:endParaRPr>
          </a:p>
        </p:txBody>
      </p:sp>
      <p:sp>
        <p:nvSpPr>
          <p:cNvPr id="14" name="TextBox 2"/>
          <p:cNvSpPr txBox="1"/>
          <p:nvPr/>
        </p:nvSpPr>
        <p:spPr>
          <a:xfrm>
            <a:off x="10012680" y="320040"/>
            <a:ext cx="1691640" cy="201168"/>
          </a:xfrm>
          <a:prstGeom prst="rect">
            <a:avLst/>
          </a:prstGeom>
          <a:noFill/>
        </p:spPr>
        <p:txBody>
          <a:bodyPr wrap="square" lIns="0" tIns="0" rIns="0" bIns="0" anchor="t">
            <a:spAutoFit/>
          </a:bodyPr>
          <a:lstStyle/>
          <a:p>
            <a:pPr>
              <a:spcBef>
                <a:spcPts val="0"/>
              </a:spcBef>
              <a:spcAft>
                <a:spcPts val="0"/>
              </a:spcAft>
            </a:pPr>
            <a:r>
              <a:rPr sz="1100" b="0">
                <a:solidFill>
                  <a:srgbClr val="626262"/>
                </a:solidFill>
                <a:latin typeface="微软雅黑" panose="020B0503020204020204" charset="-122"/>
              </a:rPr>
              <a:t>click reveal</a:t>
            </a:r>
            <a:endParaRPr sz="1100" b="0">
              <a:solidFill>
                <a:srgbClr val="626262"/>
              </a:solidFill>
              <a:latin typeface="微软雅黑" panose="020B0503020204020204" charset="-122"/>
            </a:endParaRPr>
          </a:p>
        </p:txBody>
      </p:sp>
      <p:sp>
        <p:nvSpPr>
          <p:cNvPr id="15" name="TextBox 7"/>
          <p:cNvSpPr txBox="1"/>
          <p:nvPr/>
        </p:nvSpPr>
        <p:spPr>
          <a:xfrm>
            <a:off x="11292840" y="6437376"/>
            <a:ext cx="411480" cy="201168"/>
          </a:xfrm>
          <a:prstGeom prst="rect">
            <a:avLst/>
          </a:prstGeom>
          <a:noFill/>
        </p:spPr>
        <p:txBody>
          <a:bodyPr wrap="square" lIns="0" tIns="0" rIns="0" bIns="0" anchor="t">
            <a:spAutoFit/>
          </a:bodyPr>
          <a:lstStyle/>
          <a:p>
            <a:pPr>
              <a:spcBef>
                <a:spcPts val="0"/>
              </a:spcBef>
              <a:spcAft>
                <a:spcPts val="0"/>
              </a:spcAft>
            </a:pPr>
            <a:r>
              <a:rPr sz="1000" b="0">
                <a:solidFill>
                  <a:srgbClr val="626262"/>
                </a:solidFill>
                <a:latin typeface="微软雅黑" panose="020B0503020204020204" charset="-122"/>
              </a:rPr>
              <a:t>64</a:t>
            </a:r>
            <a:endParaRPr sz="1000" b="0">
              <a:solidFill>
                <a:srgbClr val="626262"/>
              </a:solidFill>
              <a:latin typeface="微软雅黑" panose="020B0503020204020204" charset="-122"/>
            </a:endParaRPr>
          </a:p>
        </p:txBody>
      </p:sp>
      <p:sp>
        <p:nvSpPr>
          <p:cNvPr id="16" name="TextBox 4"/>
          <p:cNvSpPr txBox="1"/>
          <p:nvPr/>
        </p:nvSpPr>
        <p:spPr>
          <a:xfrm>
            <a:off x="713232" y="987552"/>
            <a:ext cx="10835640" cy="347472"/>
          </a:xfrm>
          <a:prstGeom prst="rect">
            <a:avLst/>
          </a:prstGeom>
          <a:noFill/>
        </p:spPr>
        <p:txBody>
          <a:bodyPr wrap="square" lIns="0" tIns="0" rIns="0" bIns="0" anchor="t">
            <a:spAutoFit/>
          </a:bodyPr>
          <a:lstStyle/>
          <a:p>
            <a:pPr>
              <a:spcBef>
                <a:spcPts val="0"/>
              </a:spcBef>
              <a:spcAft>
                <a:spcPts val="0"/>
              </a:spcAft>
            </a:pPr>
            <a:r>
              <a:rPr sz="2300" b="0">
                <a:solidFill>
                  <a:srgbClr val="3F9148"/>
                </a:solidFill>
                <a:latin typeface="微软雅黑" panose="020B0503020204020204" charset="-122"/>
              </a:rPr>
              <a:t>4.俗语谚语</a:t>
            </a:r>
            <a:endParaRPr sz="2300" b="0">
              <a:solidFill>
                <a:srgbClr val="3F9148"/>
              </a:solidFill>
              <a:latin typeface="微软雅黑" panose="020B0503020204020204" charset="-122"/>
            </a:endParaRPr>
          </a:p>
        </p:txBody>
      </p:sp>
      <p:sp>
        <p:nvSpPr>
          <p:cNvPr id="17" name="anim_001_sent_prompt_20"/>
          <p:cNvSpPr txBox="1"/>
          <p:nvPr/>
        </p:nvSpPr>
        <p:spPr>
          <a:xfrm>
            <a:off x="713232" y="1481328"/>
            <a:ext cx="10835640" cy="448056"/>
          </a:xfrm>
          <a:prstGeom prst="rect">
            <a:avLst/>
          </a:prstGeom>
          <a:noFill/>
        </p:spPr>
        <p:txBody>
          <a:bodyPr wrap="square" lIns="0" tIns="0" rIns="0" bIns="0" anchor="t">
            <a:spAutoFit/>
          </a:bodyPr>
          <a:lstStyle/>
          <a:p>
            <a:pPr>
              <a:spcBef>
                <a:spcPts val="0"/>
              </a:spcBef>
              <a:spcAft>
                <a:spcPts val="0"/>
              </a:spcAft>
            </a:pPr>
            <a:r>
              <a:rPr sz="2400">
                <a:solidFill>
                  <a:srgbClr val="0F0F0F"/>
                </a:solidFill>
                <a:latin typeface="微软雅黑" panose="020B0503020204020204" charset="-122"/>
              </a:rPr>
              <a:t>20. 金窝银窝,不如自家的草窝。</a:t>
            </a:r>
            <a:endParaRPr sz="2400">
              <a:solidFill>
                <a:srgbClr val="0F0F0F"/>
              </a:solidFill>
              <a:latin typeface="微软雅黑" panose="020B0503020204020204" charset="-122"/>
            </a:endParaRPr>
          </a:p>
        </p:txBody>
      </p:sp>
      <p:sp>
        <p:nvSpPr>
          <p:cNvPr id="18" name="anim_002_sent_answer_20"/>
          <p:cNvSpPr txBox="1"/>
          <p:nvPr/>
        </p:nvSpPr>
        <p:spPr>
          <a:xfrm>
            <a:off x="713232" y="2039112"/>
            <a:ext cx="10835640" cy="448056"/>
          </a:xfrm>
          <a:prstGeom prst="rect">
            <a:avLst/>
          </a:prstGeom>
          <a:noFill/>
        </p:spPr>
        <p:txBody>
          <a:bodyPr wrap="square" lIns="0" tIns="0" rIns="0" bIns="0" anchor="t">
            <a:spAutoFit/>
          </a:bodyPr>
          <a:lstStyle/>
          <a:p>
            <a:pPr>
              <a:spcBef>
                <a:spcPts val="0"/>
              </a:spcBef>
              <a:spcAft>
                <a:spcPts val="0"/>
              </a:spcAft>
            </a:pPr>
            <a:r>
              <a:rPr sz="2400" b="0">
                <a:solidFill>
                  <a:srgbClr val="CD1E1E"/>
                </a:solidFill>
                <a:latin typeface="微软雅黑" panose="020B0503020204020204" charset="-122"/>
              </a:rPr>
              <a:t>East or west,home is the best.</a:t>
            </a:r>
            <a:endParaRPr sz="2400" b="0">
              <a:solidFill>
                <a:srgbClr val="CD1E1E"/>
              </a:solidFill>
              <a:latin typeface="微软雅黑" panose="020B0503020204020204" charset="-122"/>
            </a:endParaRPr>
          </a:p>
        </p:txBody>
      </p:sp>
      <p:sp>
        <p:nvSpPr>
          <p:cNvPr id="19" name="anim_003_sent_prompt_21"/>
          <p:cNvSpPr txBox="1"/>
          <p:nvPr/>
        </p:nvSpPr>
        <p:spPr>
          <a:xfrm>
            <a:off x="713232" y="2670048"/>
            <a:ext cx="10835640" cy="448056"/>
          </a:xfrm>
          <a:prstGeom prst="rect">
            <a:avLst/>
          </a:prstGeom>
          <a:noFill/>
        </p:spPr>
        <p:txBody>
          <a:bodyPr wrap="square" lIns="0" tIns="0" rIns="0" bIns="0" anchor="t">
            <a:spAutoFit/>
          </a:bodyPr>
          <a:lstStyle/>
          <a:p>
            <a:pPr>
              <a:spcBef>
                <a:spcPts val="0"/>
              </a:spcBef>
              <a:spcAft>
                <a:spcPts val="0"/>
              </a:spcAft>
            </a:pPr>
            <a:r>
              <a:rPr sz="2400">
                <a:solidFill>
                  <a:srgbClr val="0F0F0F"/>
                </a:solidFill>
                <a:latin typeface="微软雅黑" panose="020B0503020204020204" charset="-122"/>
              </a:rPr>
              <a:t>21. 没有一个地方可以和家相提并论。</a:t>
            </a:r>
            <a:endParaRPr sz="2400">
              <a:solidFill>
                <a:srgbClr val="0F0F0F"/>
              </a:solidFill>
              <a:latin typeface="微软雅黑" panose="020B0503020204020204" charset="-122"/>
            </a:endParaRPr>
          </a:p>
        </p:txBody>
      </p:sp>
      <p:sp>
        <p:nvSpPr>
          <p:cNvPr id="20" name="anim_004_sent_answer_21"/>
          <p:cNvSpPr txBox="1"/>
          <p:nvPr/>
        </p:nvSpPr>
        <p:spPr>
          <a:xfrm>
            <a:off x="713232" y="3227832"/>
            <a:ext cx="10835640" cy="448056"/>
          </a:xfrm>
          <a:prstGeom prst="rect">
            <a:avLst/>
          </a:prstGeom>
          <a:noFill/>
        </p:spPr>
        <p:txBody>
          <a:bodyPr wrap="square" lIns="0" tIns="0" rIns="0" bIns="0" anchor="t">
            <a:spAutoFit/>
          </a:bodyPr>
          <a:lstStyle/>
          <a:p>
            <a:pPr>
              <a:spcBef>
                <a:spcPts val="0"/>
              </a:spcBef>
              <a:spcAft>
                <a:spcPts val="0"/>
              </a:spcAft>
            </a:pPr>
            <a:r>
              <a:rPr sz="2400" b="0">
                <a:solidFill>
                  <a:srgbClr val="CD1E1E"/>
                </a:solidFill>
                <a:latin typeface="微软雅黑" panose="020B0503020204020204" charset="-122"/>
              </a:rPr>
              <a:t>There's no place like home.</a:t>
            </a:r>
            <a:endParaRPr sz="2400" b="0">
              <a:solidFill>
                <a:srgbClr val="CD1E1E"/>
              </a:solidFill>
              <a:latin typeface="微软雅黑" panose="020B0503020204020204" charset="-122"/>
            </a:endParaRPr>
          </a:p>
        </p:txBody>
      </p:sp>
      <p:sp>
        <p:nvSpPr>
          <p:cNvPr id="21" name="anim_005_sent_prompt_22"/>
          <p:cNvSpPr txBox="1"/>
          <p:nvPr/>
        </p:nvSpPr>
        <p:spPr>
          <a:xfrm>
            <a:off x="713232" y="3858768"/>
            <a:ext cx="10835640" cy="429768"/>
          </a:xfrm>
          <a:prstGeom prst="rect">
            <a:avLst/>
          </a:prstGeom>
          <a:noFill/>
        </p:spPr>
        <p:txBody>
          <a:bodyPr wrap="square" lIns="0" tIns="0" rIns="0" bIns="0" anchor="t">
            <a:spAutoFit/>
          </a:bodyPr>
          <a:lstStyle/>
          <a:p>
            <a:pPr>
              <a:spcBef>
                <a:spcPts val="0"/>
              </a:spcBef>
              <a:spcAft>
                <a:spcPts val="0"/>
              </a:spcAft>
            </a:pPr>
            <a:r>
              <a:rPr sz="2200">
                <a:solidFill>
                  <a:srgbClr val="0F0F0F"/>
                </a:solidFill>
                <a:latin typeface="微软雅黑" panose="020B0503020204020204" charset="-122"/>
              </a:rPr>
              <a:t>22. 哪里有家,哪里就有爱。哪里有爱,哪里就有温暖和幸福。</a:t>
            </a:r>
            <a:endParaRPr sz="2200">
              <a:solidFill>
                <a:srgbClr val="0F0F0F"/>
              </a:solidFill>
              <a:latin typeface="微软雅黑" panose="020B0503020204020204" charset="-122"/>
            </a:endParaRPr>
          </a:p>
        </p:txBody>
      </p:sp>
      <p:sp>
        <p:nvSpPr>
          <p:cNvPr id="22" name="anim_006_sent_answer_22"/>
          <p:cNvSpPr txBox="1"/>
          <p:nvPr/>
        </p:nvSpPr>
        <p:spPr>
          <a:xfrm>
            <a:off x="713232" y="4398264"/>
            <a:ext cx="10835640" cy="749808"/>
          </a:xfrm>
          <a:prstGeom prst="rect">
            <a:avLst/>
          </a:prstGeom>
          <a:noFill/>
        </p:spPr>
        <p:txBody>
          <a:bodyPr wrap="square" lIns="0" tIns="0" rIns="0" bIns="0" anchor="t">
            <a:spAutoFit/>
          </a:bodyPr>
          <a:lstStyle/>
          <a:p>
            <a:pPr>
              <a:spcBef>
                <a:spcPts val="0"/>
              </a:spcBef>
              <a:spcAft>
                <a:spcPts val="0"/>
              </a:spcAft>
            </a:pPr>
            <a:r>
              <a:rPr sz="2200" b="0">
                <a:solidFill>
                  <a:srgbClr val="CD1E1E"/>
                </a:solidFill>
                <a:latin typeface="微软雅黑" panose="020B0503020204020204" charset="-122"/>
              </a:rPr>
              <a:t>Where there is home,there is love. Where there is love,there is warmth and happiness.</a:t>
            </a:r>
            <a:endParaRPr sz="2200" b="0">
              <a:solidFill>
                <a:srgbClr val="CD1E1E"/>
              </a:solidFill>
              <a:latin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p:bldP spid="21" grpId="0"/>
      <p:bldP spid="22"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85800" y="493776"/>
            <a:ext cx="10881360" cy="493776"/>
          </a:xfrm>
          <a:prstGeom prst="rect">
            <a:avLst/>
          </a:prstGeom>
          <a:noFill/>
        </p:spPr>
        <p:txBody>
          <a:bodyPr wrap="square" lIns="36576" tIns="18288" rIns="36576" bIns="18288" anchor="t">
            <a:spAutoFit/>
          </a:bodyPr>
          <a:lstStyle/>
          <a:p>
            <a:pPr>
              <a:spcAft>
                <a:spcPts val="300"/>
              </a:spcAft>
            </a:pPr>
            <a:r>
              <a:rPr sz="3300" b="1">
                <a:solidFill>
                  <a:srgbClr val="0F0F0F"/>
                </a:solidFill>
                <a:latin typeface="Arial" panose="020B0604020202020204"/>
              </a:rPr>
              <a:t>Home</a:t>
            </a:r>
            <a:endParaRPr sz="3300" b="1">
              <a:solidFill>
                <a:srgbClr val="0F0F0F"/>
              </a:solidFill>
              <a:latin typeface="Arial" panose="020B0604020202020204"/>
            </a:endParaRPr>
          </a:p>
        </p:txBody>
      </p:sp>
      <p:sp>
        <p:nvSpPr>
          <p:cNvPr id="3" name="Rectangle 2"/>
          <p:cNvSpPr/>
          <p:nvPr/>
        </p:nvSpPr>
        <p:spPr>
          <a:xfrm>
            <a:off x="694944" y="1115568"/>
            <a:ext cx="10808208" cy="16459"/>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1389888"/>
            <a:ext cx="10716768" cy="4709160"/>
          </a:xfrm>
          <a:prstGeom prst="rect">
            <a:avLst/>
          </a:prstGeom>
          <a:noFill/>
        </p:spPr>
        <p:txBody>
          <a:bodyPr wrap="square" lIns="36576" tIns="27432" rIns="36576" bIns="27432" anchor="t">
            <a:spAutoFit/>
          </a:bodyPr>
          <a:lstStyle/>
          <a:p>
            <a:pPr>
              <a:lnSpc>
                <a:spcPct val="108000"/>
              </a:lnSpc>
              <a:spcAft>
                <a:spcPts val="900"/>
              </a:spcAft>
            </a:pPr>
            <a:r>
              <a:rPr sz="2200">
                <a:solidFill>
                  <a:srgbClr val="0F0F0F"/>
                </a:solidFill>
                <a:latin typeface="Arial" panose="020B0604020202020204"/>
              </a:rPr>
              <a:t>Home plays an important role in the hearts of Chinese people. Home is not only just a place to live in but also a place full of love, warmth and strength.</a:t>
            </a:r>
            <a:endParaRPr sz="2200">
              <a:solidFill>
                <a:srgbClr val="0F0F0F"/>
              </a:solidFill>
              <a:latin typeface="Arial" panose="020B0604020202020204"/>
            </a:endParaRPr>
          </a:p>
          <a:p>
            <a:pPr>
              <a:lnSpc>
                <a:spcPct val="108000"/>
              </a:lnSpc>
              <a:spcAft>
                <a:spcPts val="900"/>
              </a:spcAft>
            </a:pPr>
            <a:r>
              <a:rPr sz="2200">
                <a:solidFill>
                  <a:srgbClr val="0F0F0F"/>
                </a:solidFill>
                <a:latin typeface="Arial" panose="020B0604020202020204"/>
              </a:rPr>
              <a:t>Nothing is more enjoyable than sitting together and having a big dinner with our parents and grandparents, After dinner, we can offer to do some housework or share some interesting stories we encountered in life. In addition, talking about our everyday stuff is the warmest in my mind. Sharing the happiness is very fantastic, However, we can also tell the difficulties we have met to our family members, and they will try their best to help us get over them.</a:t>
            </a:r>
            <a:endParaRPr sz="2200">
              <a:solidFill>
                <a:srgbClr val="0F0F0F"/>
              </a:solidFill>
              <a:latin typeface="Arial" panose="020B0604020202020204"/>
            </a:endParaRPr>
          </a:p>
          <a:p>
            <a:pPr>
              <a:lnSpc>
                <a:spcPct val="108000"/>
              </a:lnSpc>
              <a:spcAft>
                <a:spcPts val="0"/>
              </a:spcAft>
            </a:pPr>
            <a:r>
              <a:rPr sz="2200">
                <a:solidFill>
                  <a:srgbClr val="0F0F0F"/>
                </a:solidFill>
                <a:latin typeface="Arial" panose="020B0604020202020204"/>
              </a:rPr>
              <a:t>That is what our home is like.So, whenever and wherever you are, please remember there is always someone waiting for you at home.</a:t>
            </a:r>
            <a:endParaRPr sz="2200">
              <a:solidFill>
                <a:srgbClr val="0F0F0F"/>
              </a:solidFill>
              <a:latin typeface="Arial" panose="020B0604020202020204"/>
            </a:endParaRPr>
          </a:p>
        </p:txBody>
      </p:sp>
      <p:sp>
        <p:nvSpPr>
          <p:cNvPr id="5" name="TextBox 4"/>
          <p:cNvSpPr txBox="1"/>
          <p:nvPr/>
        </p:nvSpPr>
        <p:spPr>
          <a:xfrm>
            <a:off x="11292840" y="6437376"/>
            <a:ext cx="411480" cy="201168"/>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77</a:t>
            </a:r>
            <a:endParaRPr sz="1000" b="0">
              <a:solidFill>
                <a:srgbClr val="626262"/>
              </a:solidFill>
              <a:latin typeface="微软雅黑" panose="020B0503020204020204" charset="-122"/>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5820</Words>
  <Application>WPS 演示</Application>
  <PresentationFormat>On-screen Show (4:3)</PresentationFormat>
  <Paragraphs>555</Paragraphs>
  <Slides>24</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24</vt:i4>
      </vt:variant>
    </vt:vector>
  </HeadingPairs>
  <TitlesOfParts>
    <vt:vector size="32" baseType="lpstr">
      <vt:lpstr>Arial</vt:lpstr>
      <vt:lpstr>宋体</vt:lpstr>
      <vt:lpstr>Wingdings</vt:lpstr>
      <vt:lpstr>Arial</vt:lpstr>
      <vt:lpstr>微软雅黑</vt:lpstr>
      <vt:lpstr>Calibri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English Courseware PPT</dc:creator>
  <dc:description>generated using python-pptx</dc:description>
  <cp:lastModifiedBy>English Courseware PPT</cp:lastModifiedBy>
  <cp:revision>4</cp:revision>
  <dcterms:created xsi:type="dcterms:W3CDTF">2013-01-27T09:14:00Z</dcterms:created>
  <dcterms:modified xsi:type="dcterms:W3CDTF">2026-06-06T02:21:44Z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92FDEEC8E77E4DB6A739BDA00BE53B8B_12</vt:lpwstr>
  </property>
  <property fmtid="{D5CDD505-2E9C-101B-9397-08002B2CF9AE}" pid="3" name="KSOProductBuildVer">
    <vt:lpwstr>2052-12.8.2.18913</vt:lpwstr>
  </property>
</Properties>
</file>