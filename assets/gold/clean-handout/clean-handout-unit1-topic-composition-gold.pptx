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28"/>
  </p:handout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unit-01-theme.png"/>
          <p:cNvPicPr>
            <a:picLocks noChangeAspect="1"/>
          </p:cNvPicPr>
          <p:nvPr/>
        </p:nvPicPr>
        <p:blipFill>
          <a:blip r:embed="rId1"/>
          <a:stretch>
            <a:fillRect/>
          </a:stretch>
        </p:blipFill>
        <p:spPr>
          <a:xfrm>
            <a:off x="822110" y="841248"/>
            <a:ext cx="4391454" cy="4937760"/>
          </a:xfrm>
          <a:prstGeom prst="rect">
            <a:avLst/>
          </a:prstGeom>
        </p:spPr>
      </p:pic>
      <p:sp>
        <p:nvSpPr>
          <p:cNvPr id="3" name="TextBox 2"/>
          <p:cNvSpPr txBox="1"/>
          <p:nvPr/>
        </p:nvSpPr>
        <p:spPr>
          <a:xfrm>
            <a:off x="5898198" y="1783080"/>
            <a:ext cx="5120640" cy="1273810"/>
          </a:xfrm>
          <a:prstGeom prst="rect">
            <a:avLst/>
          </a:prstGeom>
          <a:noFill/>
        </p:spPr>
        <p:txBody>
          <a:bodyPr wrap="square" lIns="36576" tIns="18288" rIns="36576" bIns="18288" anchor="t">
            <a:spAutoFit/>
          </a:bodyPr>
          <a:lstStyle/>
          <a:p>
            <a:pPr>
              <a:spcAft>
                <a:spcPts val="300"/>
              </a:spcAft>
            </a:pPr>
            <a:r>
              <a:rPr sz="3900" b="1">
                <a:solidFill>
                  <a:srgbClr val="0F0F0F"/>
                </a:solidFill>
                <a:latin typeface="微软雅黑" panose="020B0503020204020204" charset="-122"/>
              </a:rPr>
              <a:t>新人教版英语八年级上</a:t>
            </a:r>
            <a:endParaRPr sz="3900" b="1">
              <a:solidFill>
                <a:srgbClr val="0F0F0F"/>
              </a:solidFill>
              <a:latin typeface="微软雅黑" panose="020B0503020204020204" charset="-122"/>
            </a:endParaRPr>
          </a:p>
          <a:p>
            <a:pPr>
              <a:spcAft>
                <a:spcPts val="300"/>
              </a:spcAft>
            </a:pPr>
            <a:r>
              <a:rPr sz="3900" b="1">
                <a:solidFill>
                  <a:srgbClr val="0F0F0F"/>
                </a:solidFill>
                <a:latin typeface="微软雅黑" panose="020B0503020204020204" charset="-122"/>
              </a:rPr>
              <a:t>Unit 1-8 作文讲义</a:t>
            </a:r>
            <a:endParaRPr sz="3900" b="1">
              <a:solidFill>
                <a:srgbClr val="0F0F0F"/>
              </a:solidFill>
              <a:latin typeface="微软雅黑" panose="020B0503020204020204" charset="-122"/>
            </a:endParaRPr>
          </a:p>
        </p:txBody>
      </p:sp>
      <p:sp>
        <p:nvSpPr>
          <p:cNvPr id="4" name="TextBox 3"/>
          <p:cNvSpPr txBox="1"/>
          <p:nvPr/>
        </p:nvSpPr>
        <p:spPr>
          <a:xfrm>
            <a:off x="5943918" y="3703320"/>
            <a:ext cx="5120640" cy="312420"/>
          </a:xfrm>
          <a:prstGeom prst="rect">
            <a:avLst/>
          </a:prstGeom>
          <a:noFill/>
        </p:spPr>
        <p:txBody>
          <a:bodyPr wrap="square" lIns="36576" tIns="18288" rIns="36576" bIns="18288" anchor="t">
            <a:spAutoFit/>
          </a:bodyPr>
          <a:lstStyle/>
          <a:p>
            <a:pPr>
              <a:spcAft>
                <a:spcPts val="300"/>
              </a:spcAft>
            </a:pPr>
            <a:r>
              <a:rPr sz="1800" b="0">
                <a:solidFill>
                  <a:srgbClr val="626262"/>
                </a:solidFill>
                <a:latin typeface="微软雅黑" panose="020B0503020204020204" charset="-122"/>
              </a:rPr>
              <a:t>课堂投影新版 · 排版修复验收版</a:t>
            </a:r>
            <a:endParaRPr sz="1800" b="0">
              <a:solidFill>
                <a:srgbClr val="626262"/>
              </a:solidFill>
              <a:latin typeface="微软雅黑" panose="020B0503020204020204" charset="-122"/>
            </a:endParaRPr>
          </a:p>
        </p:txBody>
      </p:sp>
      <p:sp>
        <p:nvSpPr>
          <p:cNvPr id="5" name="TextBox 4"/>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01</a:t>
            </a:r>
            <a:endParaRPr sz="1000" b="0">
              <a:solidFill>
                <a:srgbClr val="626262"/>
              </a:solidFill>
              <a:latin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unit-01-theme.png"/>
          <p:cNvPicPr>
            <a:picLocks noChangeAspect="1"/>
          </p:cNvPicPr>
          <p:nvPr/>
        </p:nvPicPr>
        <p:blipFill>
          <a:blip r:embed="rId1"/>
          <a:stretch>
            <a:fillRect/>
          </a:stretch>
        </p:blipFill>
        <p:spPr>
          <a:xfrm>
            <a:off x="888647" y="777240"/>
            <a:ext cx="4432116" cy="4983480"/>
          </a:xfrm>
          <a:prstGeom prst="rect">
            <a:avLst/>
          </a:prstGeom>
        </p:spPr>
      </p:pic>
      <p:sp>
        <p:nvSpPr>
          <p:cNvPr id="3" name="TextBox 2"/>
          <p:cNvSpPr txBox="1"/>
          <p:nvPr/>
        </p:nvSpPr>
        <p:spPr>
          <a:xfrm>
            <a:off x="6081078" y="2148840"/>
            <a:ext cx="4389120" cy="742950"/>
          </a:xfrm>
          <a:prstGeom prst="rect">
            <a:avLst/>
          </a:prstGeom>
          <a:noFill/>
        </p:spPr>
        <p:txBody>
          <a:bodyPr wrap="square" lIns="36576" tIns="18288" rIns="36576" bIns="18288" anchor="t">
            <a:spAutoFit/>
          </a:bodyPr>
          <a:lstStyle/>
          <a:p>
            <a:pPr>
              <a:spcAft>
                <a:spcPts val="300"/>
              </a:spcAft>
            </a:pPr>
            <a:r>
              <a:rPr sz="4600" b="1">
                <a:solidFill>
                  <a:srgbClr val="0F0F0F"/>
                </a:solidFill>
                <a:latin typeface="Arial" panose="020B0604020202020204"/>
              </a:rPr>
              <a:t>Unit 1</a:t>
            </a:r>
            <a:endParaRPr sz="4600" b="1">
              <a:solidFill>
                <a:srgbClr val="0F0F0F"/>
              </a:solidFill>
              <a:latin typeface="Arial" panose="020B0604020202020204"/>
            </a:endParaRPr>
          </a:p>
        </p:txBody>
      </p:sp>
      <p:sp>
        <p:nvSpPr>
          <p:cNvPr id="4" name="TextBox 3"/>
          <p:cNvSpPr txBox="1"/>
          <p:nvPr/>
        </p:nvSpPr>
        <p:spPr>
          <a:xfrm>
            <a:off x="6108510" y="2880360"/>
            <a:ext cx="5074920" cy="497205"/>
          </a:xfrm>
          <a:prstGeom prst="rect">
            <a:avLst/>
          </a:prstGeom>
          <a:noFill/>
        </p:spPr>
        <p:txBody>
          <a:bodyPr wrap="square" lIns="36576" tIns="18288" rIns="36576" bIns="18288" anchor="t">
            <a:spAutoFit/>
          </a:bodyPr>
          <a:lstStyle/>
          <a:p>
            <a:pPr>
              <a:spcAft>
                <a:spcPts val="300"/>
              </a:spcAft>
            </a:pPr>
            <a:r>
              <a:rPr sz="3000" b="1">
                <a:solidFill>
                  <a:srgbClr val="0F0F0F"/>
                </a:solidFill>
                <a:latin typeface="Arial" panose="020B0604020202020204"/>
              </a:rPr>
              <a:t>Happy Holiday</a:t>
            </a:r>
            <a:endParaRPr sz="3000" b="1">
              <a:solidFill>
                <a:srgbClr val="0F0F0F"/>
              </a:solidFill>
              <a:latin typeface="Arial" panose="020B0604020202020204"/>
            </a:endParaRPr>
          </a:p>
        </p:txBody>
      </p:sp>
      <p:sp>
        <p:nvSpPr>
          <p:cNvPr id="5" name="TextBox 4"/>
          <p:cNvSpPr txBox="1"/>
          <p:nvPr/>
        </p:nvSpPr>
        <p:spPr>
          <a:xfrm>
            <a:off x="6145086" y="3730752"/>
            <a:ext cx="4389120" cy="296545"/>
          </a:xfrm>
          <a:prstGeom prst="rect">
            <a:avLst/>
          </a:prstGeom>
          <a:noFill/>
        </p:spPr>
        <p:txBody>
          <a:bodyPr wrap="square" lIns="36576" tIns="18288" rIns="36576" bIns="18288" anchor="t">
            <a:spAutoFit/>
          </a:bodyPr>
          <a:lstStyle/>
          <a:p>
            <a:pPr>
              <a:spcAft>
                <a:spcPts val="300"/>
              </a:spcAft>
            </a:pPr>
            <a:r>
              <a:rPr sz="1700" b="0">
                <a:solidFill>
                  <a:srgbClr val="626262"/>
                </a:solidFill>
                <a:latin typeface="微软雅黑" panose="020B0503020204020204" charset="-122"/>
              </a:rPr>
              <a:t>作文讲义 · 课堂投影新版</a:t>
            </a:r>
            <a:endParaRPr sz="1700" b="0">
              <a:solidFill>
                <a:srgbClr val="626262"/>
              </a:solidFill>
              <a:latin typeface="微软雅黑" panose="020B0503020204020204" charset="-122"/>
            </a:endParaRPr>
          </a:p>
        </p:txBody>
      </p:sp>
      <p:sp>
        <p:nvSpPr>
          <p:cNvPr id="6" name="TextBox 5"/>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02</a:t>
            </a:r>
            <a:endParaRPr sz="1000" b="0">
              <a:solidFill>
                <a:srgbClr val="626262"/>
              </a:solidFill>
              <a:latin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写作任务与审题</a:t>
            </a:r>
            <a:endParaRPr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editable</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686" y="1024128"/>
            <a:ext cx="5074920" cy="404495"/>
          </a:xfrm>
          <a:prstGeom prst="rect">
            <a:avLst/>
          </a:prstGeom>
          <a:noFill/>
        </p:spPr>
        <p:txBody>
          <a:bodyPr wrap="square" lIns="36576" tIns="18288" rIns="36576" bIns="18288" anchor="t">
            <a:spAutoFit/>
          </a:bodyPr>
          <a:lstStyle/>
          <a:p>
            <a:pPr>
              <a:spcAft>
                <a:spcPts val="300"/>
              </a:spcAft>
            </a:pPr>
            <a:r>
              <a:rPr sz="2400" b="1">
                <a:solidFill>
                  <a:srgbClr val="386FA4"/>
                </a:solidFill>
                <a:latin typeface="微软雅黑" panose="020B0503020204020204" charset="-122"/>
              </a:rPr>
              <a:t>写作任务</a:t>
            </a:r>
            <a:endParaRPr sz="2400" b="1">
              <a:solidFill>
                <a:srgbClr val="386FA4"/>
              </a:solidFill>
              <a:latin typeface="微软雅黑" panose="020B0503020204020204" charset="-122"/>
            </a:endParaRPr>
          </a:p>
        </p:txBody>
      </p:sp>
      <p:sp>
        <p:nvSpPr>
          <p:cNvPr id="6" name="TextBox 5"/>
          <p:cNvSpPr txBox="1"/>
          <p:nvPr/>
        </p:nvSpPr>
        <p:spPr>
          <a:xfrm>
            <a:off x="6446838" y="1024128"/>
            <a:ext cx="5074920" cy="404495"/>
          </a:xfrm>
          <a:prstGeom prst="rect">
            <a:avLst/>
          </a:prstGeom>
          <a:noFill/>
        </p:spPr>
        <p:txBody>
          <a:bodyPr wrap="square" lIns="36576" tIns="18288" rIns="36576" bIns="18288" anchor="t">
            <a:spAutoFit/>
          </a:bodyPr>
          <a:lstStyle/>
          <a:p>
            <a:pPr>
              <a:spcAft>
                <a:spcPts val="300"/>
              </a:spcAft>
            </a:pPr>
            <a:r>
              <a:rPr sz="2400" b="1">
                <a:solidFill>
                  <a:srgbClr val="386FA4"/>
                </a:solidFill>
                <a:latin typeface="微软雅黑" panose="020B0503020204020204" charset="-122"/>
              </a:rPr>
              <a:t>审题指导</a:t>
            </a:r>
            <a:endParaRPr sz="2400" b="1">
              <a:solidFill>
                <a:srgbClr val="386FA4"/>
              </a:solidFill>
              <a:latin typeface="微软雅黑" panose="020B0503020204020204" charset="-122"/>
            </a:endParaRPr>
          </a:p>
        </p:txBody>
      </p:sp>
      <p:sp>
        <p:nvSpPr>
          <p:cNvPr id="7" name="TextBox 6"/>
          <p:cNvSpPr txBox="1"/>
          <p:nvPr/>
        </p:nvSpPr>
        <p:spPr>
          <a:xfrm>
            <a:off x="658685" y="1481328"/>
            <a:ext cx="5193792" cy="3613150"/>
          </a:xfrm>
          <a:prstGeom prst="rect">
            <a:avLst/>
          </a:prstGeom>
          <a:noFill/>
        </p:spPr>
        <p:txBody>
          <a:bodyPr wrap="square" lIns="36576" tIns="18288" rIns="36576" bIns="18288" anchor="t">
            <a:spAutoFit/>
          </a:bodyPr>
          <a:lstStyle/>
          <a:p>
            <a:pPr>
              <a:spcAft>
                <a:spcPts val="300"/>
              </a:spcAft>
            </a:pPr>
            <a:r>
              <a:rPr sz="2100" b="0">
                <a:solidFill>
                  <a:srgbClr val="0F0F0F"/>
                </a:solidFill>
                <a:latin typeface="微软雅黑" panose="020B0503020204020204" charset="-122"/>
              </a:rPr>
              <a:t>读万卷书,不如行万里路。请以“A trip</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I’ll never</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forget”为题,根据以下要点和要求,用英语</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写一篇短文,</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介绍你曾经的一次旅行。</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要点:</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1)你和谁一起去的以及当地的天气状况;</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2)你在当地都做了什么、吃了什么以及最喜</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欢什么;</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3)你对这次旅行的感受如何。</a:t>
            </a:r>
            <a:endParaRPr sz="2100" b="0">
              <a:solidFill>
                <a:srgbClr val="0F0F0F"/>
              </a:solidFill>
              <a:latin typeface="微软雅黑" panose="020B0503020204020204" charset="-122"/>
            </a:endParaRPr>
          </a:p>
        </p:txBody>
      </p:sp>
      <p:sp>
        <p:nvSpPr>
          <p:cNvPr id="8" name="TextBox 7"/>
          <p:cNvSpPr txBox="1"/>
          <p:nvPr/>
        </p:nvSpPr>
        <p:spPr>
          <a:xfrm>
            <a:off x="6446838" y="1481328"/>
            <a:ext cx="5193792" cy="2889885"/>
          </a:xfrm>
          <a:prstGeom prst="rect">
            <a:avLst/>
          </a:prstGeom>
          <a:noFill/>
        </p:spPr>
        <p:txBody>
          <a:bodyPr wrap="square" lIns="36576" tIns="18288" rIns="36576" bIns="18288" anchor="t">
            <a:spAutoFit/>
          </a:bodyPr>
          <a:lstStyle/>
          <a:p>
            <a:pPr>
              <a:spcAft>
                <a:spcPts val="300"/>
              </a:spcAft>
            </a:pPr>
            <a:r>
              <a:rPr sz="2100" b="0">
                <a:solidFill>
                  <a:srgbClr val="0F0F0F"/>
                </a:solidFill>
                <a:latin typeface="微软雅黑" panose="020B0503020204020204" charset="-122"/>
              </a:rPr>
              <a:t>审主题：一次难忘的旅行</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审文体：记叙文</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审人称：第一人称</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审时态：一般过去时</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审要点：本题给出问题提示，包含：</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a.和谁一起去的以及天气如何;</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b.做了什么、吃了什么以及最喜欢什么 </a:t>
            </a:r>
            <a:endParaRPr sz="2100" b="0">
              <a:solidFill>
                <a:srgbClr val="0F0F0F"/>
              </a:solidFill>
              <a:latin typeface="微软雅黑" panose="020B0503020204020204" charset="-122"/>
            </a:endParaRPr>
          </a:p>
          <a:p>
            <a:pPr>
              <a:spcAft>
                <a:spcPts val="300"/>
              </a:spcAft>
            </a:pPr>
            <a:r>
              <a:rPr sz="2100" b="0">
                <a:solidFill>
                  <a:srgbClr val="0F0F0F"/>
                </a:solidFill>
                <a:latin typeface="微软雅黑" panose="020B0503020204020204" charset="-122"/>
              </a:rPr>
              <a:t>c.自己的感受。。</a:t>
            </a:r>
            <a:endParaRPr sz="2100" b="0">
              <a:solidFill>
                <a:srgbClr val="0F0F0F"/>
              </a:solidFill>
              <a:latin typeface="微软雅黑" panose="020B0503020204020204" charset="-122"/>
            </a:endParaRPr>
          </a:p>
        </p:txBody>
      </p:sp>
      <p:sp>
        <p:nvSpPr>
          <p:cNvPr id="9" name="Rectangle 8"/>
          <p:cNvSpPr/>
          <p:nvPr/>
        </p:nvSpPr>
        <p:spPr>
          <a:xfrm>
            <a:off x="6108510" y="1024128"/>
            <a:ext cx="16459" cy="5230368"/>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03</a:t>
            </a:r>
            <a:endParaRPr sz="1000" b="0">
              <a:solidFill>
                <a:srgbClr val="626262"/>
              </a:solidFill>
              <a:latin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写作框架</a:t>
            </a:r>
            <a:endParaRPr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framework crop</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nit-01-framework-only.png"/>
          <p:cNvPicPr>
            <a:picLocks noChangeAspect="1"/>
          </p:cNvPicPr>
          <p:nvPr/>
        </p:nvPicPr>
        <p:blipFill>
          <a:blip r:embed="rId1"/>
          <a:stretch>
            <a:fillRect/>
          </a:stretch>
        </p:blipFill>
        <p:spPr>
          <a:xfrm>
            <a:off x="256350" y="1000659"/>
            <a:ext cx="11686032" cy="4564072"/>
          </a:xfrm>
          <a:prstGeom prst="rect">
            <a:avLst/>
          </a:prstGeom>
        </p:spPr>
      </p:pic>
      <p:sp>
        <p:nvSpPr>
          <p:cNvPr id="6" name="TextBox 5"/>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04</a:t>
            </a:r>
            <a:endParaRPr sz="1000" b="0">
              <a:solidFill>
                <a:srgbClr val="626262"/>
              </a:solidFill>
              <a:latin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词汇/短语积累 1</a:t>
            </a:r>
            <a:endParaRPr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1"/>
          <p:cNvSpPr txBox="1"/>
          <p:nvPr/>
        </p:nvSpPr>
        <p:spPr>
          <a:xfrm>
            <a:off x="713549" y="114300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 风景;景色</a:t>
            </a:r>
            <a:endParaRPr sz="2300" b="0">
              <a:solidFill>
                <a:srgbClr val="0F0F0F"/>
              </a:solidFill>
              <a:latin typeface="微软雅黑" panose="020B0503020204020204" charset="-122"/>
            </a:endParaRPr>
          </a:p>
        </p:txBody>
      </p:sp>
      <p:sp>
        <p:nvSpPr>
          <p:cNvPr id="6" name="anim_002_vocab_en_1"/>
          <p:cNvSpPr txBox="1"/>
          <p:nvPr/>
        </p:nvSpPr>
        <p:spPr>
          <a:xfrm>
            <a:off x="3509785" y="114300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landscape</a:t>
            </a:r>
            <a:endParaRPr sz="2300" b="0">
              <a:solidFill>
                <a:srgbClr val="CD1E1E"/>
              </a:solidFill>
              <a:latin typeface="Arial" panose="020B0604020202020204"/>
            </a:endParaRPr>
          </a:p>
        </p:txBody>
      </p:sp>
      <p:sp>
        <p:nvSpPr>
          <p:cNvPr id="7" name="anim_003_vocab_cn_2"/>
          <p:cNvSpPr txBox="1"/>
          <p:nvPr/>
        </p:nvSpPr>
        <p:spPr>
          <a:xfrm>
            <a:off x="713549" y="236601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 假期;度假</a:t>
            </a:r>
            <a:endParaRPr sz="2300" b="0">
              <a:solidFill>
                <a:srgbClr val="0F0F0F"/>
              </a:solidFill>
              <a:latin typeface="微软雅黑" panose="020B0503020204020204" charset="-122"/>
            </a:endParaRPr>
          </a:p>
        </p:txBody>
      </p:sp>
      <p:sp>
        <p:nvSpPr>
          <p:cNvPr id="8" name="anim_004_vocab_en_2"/>
          <p:cNvSpPr txBox="1"/>
          <p:nvPr/>
        </p:nvSpPr>
        <p:spPr>
          <a:xfrm>
            <a:off x="3509785" y="236601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vacation</a:t>
            </a:r>
            <a:endParaRPr sz="2300" b="0">
              <a:solidFill>
                <a:srgbClr val="CD1E1E"/>
              </a:solidFill>
              <a:latin typeface="Arial" panose="020B0604020202020204"/>
            </a:endParaRPr>
          </a:p>
        </p:txBody>
      </p:sp>
      <p:sp>
        <p:nvSpPr>
          <p:cNvPr id="9" name="anim_005_vocab_cn_3"/>
          <p:cNvSpPr txBox="1"/>
          <p:nvPr/>
        </p:nvSpPr>
        <p:spPr>
          <a:xfrm>
            <a:off x="713549" y="358902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 镇;商业区</a:t>
            </a:r>
            <a:endParaRPr sz="2300" b="0">
              <a:solidFill>
                <a:srgbClr val="0F0F0F"/>
              </a:solidFill>
              <a:latin typeface="微软雅黑" panose="020B0503020204020204" charset="-122"/>
            </a:endParaRPr>
          </a:p>
        </p:txBody>
      </p:sp>
      <p:sp>
        <p:nvSpPr>
          <p:cNvPr id="10" name="anim_006_vocab_en_3"/>
          <p:cNvSpPr txBox="1"/>
          <p:nvPr/>
        </p:nvSpPr>
        <p:spPr>
          <a:xfrm>
            <a:off x="3509785" y="358902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town</a:t>
            </a:r>
            <a:endParaRPr sz="2300" b="0">
              <a:solidFill>
                <a:srgbClr val="CD1E1E"/>
              </a:solidFill>
              <a:latin typeface="Arial" panose="020B0604020202020204"/>
            </a:endParaRPr>
          </a:p>
        </p:txBody>
      </p:sp>
      <p:sp>
        <p:nvSpPr>
          <p:cNvPr id="11" name="anim_007_vocab_cn_4"/>
          <p:cNvSpPr txBox="1"/>
          <p:nvPr/>
        </p:nvSpPr>
        <p:spPr>
          <a:xfrm>
            <a:off x="713549" y="4812029"/>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 呼吸;气</a:t>
            </a:r>
            <a:endParaRPr sz="2300" b="0">
              <a:solidFill>
                <a:srgbClr val="0F0F0F"/>
              </a:solidFill>
              <a:latin typeface="微软雅黑" panose="020B0503020204020204" charset="-122"/>
            </a:endParaRPr>
          </a:p>
        </p:txBody>
      </p:sp>
      <p:sp>
        <p:nvSpPr>
          <p:cNvPr id="12" name="anim_008_vocab_en_4"/>
          <p:cNvSpPr txBox="1"/>
          <p:nvPr/>
        </p:nvSpPr>
        <p:spPr>
          <a:xfrm>
            <a:off x="3509785" y="4812029"/>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breath</a:t>
            </a:r>
            <a:endParaRPr sz="2300" b="0">
              <a:solidFill>
                <a:srgbClr val="CD1E1E"/>
              </a:solidFill>
              <a:latin typeface="Arial" panose="020B0604020202020204"/>
            </a:endParaRPr>
          </a:p>
        </p:txBody>
      </p:sp>
      <p:sp>
        <p:nvSpPr>
          <p:cNvPr id="13" name="anim_009_vocab_cn_5"/>
          <p:cNvSpPr txBox="1"/>
          <p:nvPr/>
        </p:nvSpPr>
        <p:spPr>
          <a:xfrm>
            <a:off x="6145086" y="114300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 风景</a:t>
            </a:r>
            <a:endParaRPr sz="2300" b="0">
              <a:solidFill>
                <a:srgbClr val="0F0F0F"/>
              </a:solidFill>
              <a:latin typeface="微软雅黑" panose="020B0503020204020204" charset="-122"/>
            </a:endParaRPr>
          </a:p>
        </p:txBody>
      </p:sp>
      <p:sp>
        <p:nvSpPr>
          <p:cNvPr id="14" name="anim_010_vocab_en_5"/>
          <p:cNvSpPr txBox="1"/>
          <p:nvPr/>
        </p:nvSpPr>
        <p:spPr>
          <a:xfrm>
            <a:off x="9003134" y="114300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scenery</a:t>
            </a:r>
            <a:endParaRPr sz="2300" b="0">
              <a:solidFill>
                <a:srgbClr val="CD1E1E"/>
              </a:solidFill>
              <a:latin typeface="Arial" panose="020B0604020202020204"/>
            </a:endParaRPr>
          </a:p>
        </p:txBody>
      </p:sp>
      <p:sp>
        <p:nvSpPr>
          <p:cNvPr id="15" name="anim_011_vocab_cn_6"/>
          <p:cNvSpPr txBox="1"/>
          <p:nvPr/>
        </p:nvSpPr>
        <p:spPr>
          <a:xfrm>
            <a:off x="6145086" y="236601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6. 旅馆; 旅社</a:t>
            </a:r>
            <a:endParaRPr sz="2300" b="0">
              <a:solidFill>
                <a:srgbClr val="0F0F0F"/>
              </a:solidFill>
              <a:latin typeface="微软雅黑" panose="020B0503020204020204" charset="-122"/>
            </a:endParaRPr>
          </a:p>
        </p:txBody>
      </p:sp>
      <p:sp>
        <p:nvSpPr>
          <p:cNvPr id="16" name="anim_012_vocab_en_6"/>
          <p:cNvSpPr txBox="1"/>
          <p:nvPr/>
        </p:nvSpPr>
        <p:spPr>
          <a:xfrm>
            <a:off x="9003134" y="236601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hotel</a:t>
            </a:r>
            <a:endParaRPr sz="2300" b="0">
              <a:solidFill>
                <a:srgbClr val="CD1E1E"/>
              </a:solidFill>
              <a:latin typeface="Arial" panose="020B0604020202020204"/>
            </a:endParaRPr>
          </a:p>
        </p:txBody>
      </p:sp>
      <p:sp>
        <p:nvSpPr>
          <p:cNvPr id="17" name="anim_013_vocab_cn_7"/>
          <p:cNvSpPr txBox="1"/>
          <p:nvPr/>
        </p:nvSpPr>
        <p:spPr>
          <a:xfrm>
            <a:off x="6145086" y="358902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7. 艺术作品</a:t>
            </a:r>
            <a:endParaRPr sz="2300" b="0">
              <a:solidFill>
                <a:srgbClr val="0F0F0F"/>
              </a:solidFill>
              <a:latin typeface="微软雅黑" panose="020B0503020204020204" charset="-122"/>
            </a:endParaRPr>
          </a:p>
        </p:txBody>
      </p:sp>
      <p:sp>
        <p:nvSpPr>
          <p:cNvPr id="18" name="anim_014_vocab_en_7"/>
          <p:cNvSpPr txBox="1"/>
          <p:nvPr/>
        </p:nvSpPr>
        <p:spPr>
          <a:xfrm>
            <a:off x="9003134" y="358902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artwork</a:t>
            </a:r>
            <a:endParaRPr sz="2300" b="0">
              <a:solidFill>
                <a:srgbClr val="CD1E1E"/>
              </a:solidFill>
              <a:latin typeface="Arial" panose="020B0604020202020204"/>
            </a:endParaRPr>
          </a:p>
        </p:txBody>
      </p:sp>
      <p:sp>
        <p:nvSpPr>
          <p:cNvPr id="19" name="anim_015_vocab_cn_8"/>
          <p:cNvSpPr txBox="1"/>
          <p:nvPr/>
        </p:nvSpPr>
        <p:spPr>
          <a:xfrm>
            <a:off x="6145086" y="4812029"/>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8. 正午;中午</a:t>
            </a:r>
            <a:endParaRPr sz="2300" b="0">
              <a:solidFill>
                <a:srgbClr val="0F0F0F"/>
              </a:solidFill>
              <a:latin typeface="微软雅黑" panose="020B0503020204020204" charset="-122"/>
            </a:endParaRPr>
          </a:p>
        </p:txBody>
      </p:sp>
      <p:sp>
        <p:nvSpPr>
          <p:cNvPr id="20" name="anim_016_vocab_en_8"/>
          <p:cNvSpPr txBox="1"/>
          <p:nvPr/>
        </p:nvSpPr>
        <p:spPr>
          <a:xfrm>
            <a:off x="9003134" y="4812029"/>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noon</a:t>
            </a:r>
            <a:endParaRPr sz="2300" b="0">
              <a:solidFill>
                <a:srgbClr val="CD1E1E"/>
              </a:solidFill>
              <a:latin typeface="Arial" panose="020B0604020202020204"/>
            </a:endParaRPr>
          </a:p>
        </p:txBody>
      </p:sp>
      <p:sp>
        <p:nvSpPr>
          <p:cNvPr id="21" name="Rectangle 20"/>
          <p:cNvSpPr/>
          <p:nvPr/>
        </p:nvSpPr>
        <p:spPr>
          <a:xfrm>
            <a:off x="5943918"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05</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词汇/短语积累 2</a:t>
            </a:r>
            <a:endParaRPr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9"/>
          <p:cNvSpPr txBox="1"/>
          <p:nvPr/>
        </p:nvSpPr>
        <p:spPr>
          <a:xfrm>
            <a:off x="713549" y="114300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9. 车站;所;站</a:t>
            </a:r>
            <a:endParaRPr sz="2300" b="0">
              <a:solidFill>
                <a:srgbClr val="0F0F0F"/>
              </a:solidFill>
              <a:latin typeface="微软雅黑" panose="020B0503020204020204" charset="-122"/>
            </a:endParaRPr>
          </a:p>
        </p:txBody>
      </p:sp>
      <p:sp>
        <p:nvSpPr>
          <p:cNvPr id="6" name="anim_002_vocab_en_9"/>
          <p:cNvSpPr txBox="1"/>
          <p:nvPr/>
        </p:nvSpPr>
        <p:spPr>
          <a:xfrm>
            <a:off x="3509785" y="114300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station</a:t>
            </a:r>
            <a:endParaRPr sz="2300" b="0">
              <a:solidFill>
                <a:srgbClr val="CD1E1E"/>
              </a:solidFill>
              <a:latin typeface="Arial" panose="020B0604020202020204"/>
            </a:endParaRPr>
          </a:p>
        </p:txBody>
      </p:sp>
      <p:sp>
        <p:nvSpPr>
          <p:cNvPr id="7" name="anim_003_vocab_cn_10"/>
          <p:cNvSpPr txBox="1"/>
          <p:nvPr/>
        </p:nvSpPr>
        <p:spPr>
          <a:xfrm>
            <a:off x="713549" y="236601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10. 宫殿</a:t>
            </a:r>
            <a:endParaRPr sz="2300" b="0">
              <a:solidFill>
                <a:srgbClr val="0F0F0F"/>
              </a:solidFill>
              <a:latin typeface="微软雅黑" panose="020B0503020204020204" charset="-122"/>
            </a:endParaRPr>
          </a:p>
        </p:txBody>
      </p:sp>
      <p:sp>
        <p:nvSpPr>
          <p:cNvPr id="8" name="anim_004_vocab_en_10"/>
          <p:cNvSpPr txBox="1"/>
          <p:nvPr/>
        </p:nvSpPr>
        <p:spPr>
          <a:xfrm>
            <a:off x="3509785" y="236601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palace</a:t>
            </a:r>
            <a:endParaRPr sz="2300" b="0">
              <a:solidFill>
                <a:srgbClr val="CD1E1E"/>
              </a:solidFill>
              <a:latin typeface="Arial" panose="020B0604020202020204"/>
            </a:endParaRPr>
          </a:p>
        </p:txBody>
      </p:sp>
      <p:sp>
        <p:nvSpPr>
          <p:cNvPr id="9" name="anim_005_vocab_cn_11"/>
          <p:cNvSpPr txBox="1"/>
          <p:nvPr/>
        </p:nvSpPr>
        <p:spPr>
          <a:xfrm>
            <a:off x="713549" y="358902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11. 塔 ; 塔 楼</a:t>
            </a:r>
            <a:endParaRPr sz="2300" b="0">
              <a:solidFill>
                <a:srgbClr val="0F0F0F"/>
              </a:solidFill>
              <a:latin typeface="微软雅黑" panose="020B0503020204020204" charset="-122"/>
            </a:endParaRPr>
          </a:p>
        </p:txBody>
      </p:sp>
      <p:sp>
        <p:nvSpPr>
          <p:cNvPr id="10" name="anim_006_vocab_en_11"/>
          <p:cNvSpPr txBox="1"/>
          <p:nvPr/>
        </p:nvSpPr>
        <p:spPr>
          <a:xfrm>
            <a:off x="3509785" y="358902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tower</a:t>
            </a:r>
            <a:endParaRPr sz="2300" b="0">
              <a:solidFill>
                <a:srgbClr val="CD1E1E"/>
              </a:solidFill>
              <a:latin typeface="Arial" panose="020B0604020202020204"/>
            </a:endParaRPr>
          </a:p>
        </p:txBody>
      </p:sp>
      <p:sp>
        <p:nvSpPr>
          <p:cNvPr id="11" name="anim_007_vocab_cn_12"/>
          <p:cNvSpPr txBox="1"/>
          <p:nvPr/>
        </p:nvSpPr>
        <p:spPr>
          <a:xfrm>
            <a:off x="713549" y="4812029"/>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12. 护 照</a:t>
            </a:r>
            <a:endParaRPr sz="2300" b="0">
              <a:solidFill>
                <a:srgbClr val="0F0F0F"/>
              </a:solidFill>
              <a:latin typeface="微软雅黑" panose="020B0503020204020204" charset="-122"/>
            </a:endParaRPr>
          </a:p>
        </p:txBody>
      </p:sp>
      <p:sp>
        <p:nvSpPr>
          <p:cNvPr id="12" name="anim_008_vocab_en_12"/>
          <p:cNvSpPr txBox="1"/>
          <p:nvPr/>
        </p:nvSpPr>
        <p:spPr>
          <a:xfrm>
            <a:off x="3509785" y="4812029"/>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passport</a:t>
            </a:r>
            <a:endParaRPr sz="2300" b="0">
              <a:solidFill>
                <a:srgbClr val="CD1E1E"/>
              </a:solidFill>
              <a:latin typeface="Arial" panose="020B0604020202020204"/>
            </a:endParaRPr>
          </a:p>
        </p:txBody>
      </p:sp>
      <p:sp>
        <p:nvSpPr>
          <p:cNvPr id="13" name="anim_009_vocab_cn_13"/>
          <p:cNvSpPr txBox="1"/>
          <p:nvPr/>
        </p:nvSpPr>
        <p:spPr>
          <a:xfrm>
            <a:off x="6145086" y="114300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13. 乡 村 ; 农 村</a:t>
            </a:r>
            <a:endParaRPr sz="2300" b="0">
              <a:solidFill>
                <a:srgbClr val="0F0F0F"/>
              </a:solidFill>
              <a:latin typeface="微软雅黑" panose="020B0503020204020204" charset="-122"/>
            </a:endParaRPr>
          </a:p>
        </p:txBody>
      </p:sp>
      <p:sp>
        <p:nvSpPr>
          <p:cNvPr id="14" name="anim_010_vocab_en_13"/>
          <p:cNvSpPr txBox="1"/>
          <p:nvPr/>
        </p:nvSpPr>
        <p:spPr>
          <a:xfrm>
            <a:off x="9003134" y="114300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countryside</a:t>
            </a:r>
            <a:endParaRPr sz="2300" b="0">
              <a:solidFill>
                <a:srgbClr val="CD1E1E"/>
              </a:solidFill>
              <a:latin typeface="Arial" panose="020B0604020202020204"/>
            </a:endParaRPr>
          </a:p>
        </p:txBody>
      </p:sp>
      <p:sp>
        <p:nvSpPr>
          <p:cNvPr id="15" name="anim_011_vocab_cn_14"/>
          <p:cNvSpPr txBox="1"/>
          <p:nvPr/>
        </p:nvSpPr>
        <p:spPr>
          <a:xfrm>
            <a:off x="6145086" y="236601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14. 提 醒</a:t>
            </a:r>
            <a:endParaRPr sz="2300" b="0">
              <a:solidFill>
                <a:srgbClr val="0F0F0F"/>
              </a:solidFill>
              <a:latin typeface="微软雅黑" panose="020B0503020204020204" charset="-122"/>
            </a:endParaRPr>
          </a:p>
        </p:txBody>
      </p:sp>
      <p:sp>
        <p:nvSpPr>
          <p:cNvPr id="16" name="anim_012_vocab_en_14"/>
          <p:cNvSpPr txBox="1"/>
          <p:nvPr/>
        </p:nvSpPr>
        <p:spPr>
          <a:xfrm>
            <a:off x="9003134" y="236601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remind</a:t>
            </a:r>
            <a:endParaRPr sz="2300" b="0">
              <a:solidFill>
                <a:srgbClr val="CD1E1E"/>
              </a:solidFill>
              <a:latin typeface="Arial" panose="020B0604020202020204"/>
            </a:endParaRPr>
          </a:p>
        </p:txBody>
      </p:sp>
      <p:sp>
        <p:nvSpPr>
          <p:cNvPr id="17" name="anim_013_vocab_cn_15"/>
          <p:cNvSpPr txBox="1"/>
          <p:nvPr/>
        </p:nvSpPr>
        <p:spPr>
          <a:xfrm>
            <a:off x="6145086" y="358902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15. 忘 记</a:t>
            </a:r>
            <a:endParaRPr sz="2300" b="0">
              <a:solidFill>
                <a:srgbClr val="0F0F0F"/>
              </a:solidFill>
              <a:latin typeface="微软雅黑" panose="020B0503020204020204" charset="-122"/>
            </a:endParaRPr>
          </a:p>
        </p:txBody>
      </p:sp>
      <p:sp>
        <p:nvSpPr>
          <p:cNvPr id="18" name="anim_014_vocab_en_15"/>
          <p:cNvSpPr txBox="1"/>
          <p:nvPr/>
        </p:nvSpPr>
        <p:spPr>
          <a:xfrm>
            <a:off x="9003134" y="358902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forget</a:t>
            </a:r>
            <a:endParaRPr sz="2300" b="0">
              <a:solidFill>
                <a:srgbClr val="CD1E1E"/>
              </a:solidFill>
              <a:latin typeface="Arial" panose="020B0604020202020204"/>
            </a:endParaRPr>
          </a:p>
        </p:txBody>
      </p:sp>
      <p:sp>
        <p:nvSpPr>
          <p:cNvPr id="19" name="anim_015_vocab_cn_16"/>
          <p:cNvSpPr txBox="1"/>
          <p:nvPr/>
        </p:nvSpPr>
        <p:spPr>
          <a:xfrm>
            <a:off x="6145086" y="4812029"/>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16. 古代的</a:t>
            </a:r>
            <a:endParaRPr sz="2300" b="0">
              <a:solidFill>
                <a:srgbClr val="0F0F0F"/>
              </a:solidFill>
              <a:latin typeface="微软雅黑" panose="020B0503020204020204" charset="-122"/>
            </a:endParaRPr>
          </a:p>
        </p:txBody>
      </p:sp>
      <p:sp>
        <p:nvSpPr>
          <p:cNvPr id="20" name="anim_016_vocab_en_16"/>
          <p:cNvSpPr txBox="1"/>
          <p:nvPr/>
        </p:nvSpPr>
        <p:spPr>
          <a:xfrm>
            <a:off x="9003134" y="4812029"/>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ancient</a:t>
            </a:r>
            <a:endParaRPr sz="2300" b="0">
              <a:solidFill>
                <a:srgbClr val="CD1E1E"/>
              </a:solidFill>
              <a:latin typeface="Arial" panose="020B0604020202020204"/>
            </a:endParaRPr>
          </a:p>
        </p:txBody>
      </p:sp>
      <p:sp>
        <p:nvSpPr>
          <p:cNvPr id="21" name="Rectangle 20"/>
          <p:cNvSpPr/>
          <p:nvPr/>
        </p:nvSpPr>
        <p:spPr>
          <a:xfrm>
            <a:off x="5943918"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06</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词汇/短语积累 3</a:t>
            </a:r>
            <a:endParaRPr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17"/>
          <p:cNvSpPr txBox="1"/>
          <p:nvPr/>
        </p:nvSpPr>
        <p:spPr>
          <a:xfrm>
            <a:off x="713549" y="114300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17. 奇怪的</a:t>
            </a:r>
            <a:endParaRPr sz="2300" b="0">
              <a:solidFill>
                <a:srgbClr val="0F0F0F"/>
              </a:solidFill>
              <a:latin typeface="微软雅黑" panose="020B0503020204020204" charset="-122"/>
            </a:endParaRPr>
          </a:p>
        </p:txBody>
      </p:sp>
      <p:sp>
        <p:nvSpPr>
          <p:cNvPr id="6" name="anim_002_vocab_en_17"/>
          <p:cNvSpPr txBox="1"/>
          <p:nvPr/>
        </p:nvSpPr>
        <p:spPr>
          <a:xfrm>
            <a:off x="3509785" y="114300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strange</a:t>
            </a:r>
            <a:endParaRPr sz="2300" b="0">
              <a:solidFill>
                <a:srgbClr val="CD1E1E"/>
              </a:solidFill>
              <a:latin typeface="Arial" panose="020B0604020202020204"/>
            </a:endParaRPr>
          </a:p>
        </p:txBody>
      </p:sp>
      <p:sp>
        <p:nvSpPr>
          <p:cNvPr id="7" name="anim_003_vocab_cn_18"/>
          <p:cNvSpPr txBox="1"/>
          <p:nvPr/>
        </p:nvSpPr>
        <p:spPr>
          <a:xfrm>
            <a:off x="713549" y="236601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18. 极好的</a:t>
            </a:r>
            <a:endParaRPr sz="2300" b="0">
              <a:solidFill>
                <a:srgbClr val="0F0F0F"/>
              </a:solidFill>
              <a:latin typeface="微软雅黑" panose="020B0503020204020204" charset="-122"/>
            </a:endParaRPr>
          </a:p>
        </p:txBody>
      </p:sp>
      <p:sp>
        <p:nvSpPr>
          <p:cNvPr id="8" name="anim_004_vocab_en_18"/>
          <p:cNvSpPr txBox="1"/>
          <p:nvPr/>
        </p:nvSpPr>
        <p:spPr>
          <a:xfrm>
            <a:off x="3509785" y="236601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fantastic</a:t>
            </a:r>
            <a:endParaRPr sz="2300" b="0">
              <a:solidFill>
                <a:srgbClr val="CD1E1E"/>
              </a:solidFill>
              <a:latin typeface="Arial" panose="020B0604020202020204"/>
            </a:endParaRPr>
          </a:p>
        </p:txBody>
      </p:sp>
      <p:sp>
        <p:nvSpPr>
          <p:cNvPr id="9" name="anim_005_vocab_cn_19"/>
          <p:cNvSpPr txBox="1"/>
          <p:nvPr/>
        </p:nvSpPr>
        <p:spPr>
          <a:xfrm>
            <a:off x="713549" y="358902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19. 舒服的</a:t>
            </a:r>
            <a:endParaRPr sz="2300" b="0">
              <a:solidFill>
                <a:srgbClr val="0F0F0F"/>
              </a:solidFill>
              <a:latin typeface="微软雅黑" panose="020B0503020204020204" charset="-122"/>
            </a:endParaRPr>
          </a:p>
        </p:txBody>
      </p:sp>
      <p:sp>
        <p:nvSpPr>
          <p:cNvPr id="10" name="anim_006_vocab_en_19"/>
          <p:cNvSpPr txBox="1"/>
          <p:nvPr/>
        </p:nvSpPr>
        <p:spPr>
          <a:xfrm>
            <a:off x="3509785" y="358902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comfortable</a:t>
            </a:r>
            <a:endParaRPr sz="2300" b="0">
              <a:solidFill>
                <a:srgbClr val="CD1E1E"/>
              </a:solidFill>
              <a:latin typeface="Arial" panose="020B0604020202020204"/>
            </a:endParaRPr>
          </a:p>
        </p:txBody>
      </p:sp>
      <p:sp>
        <p:nvSpPr>
          <p:cNvPr id="11" name="anim_007_vocab_cn_20"/>
          <p:cNvSpPr txBox="1"/>
          <p:nvPr/>
        </p:nvSpPr>
        <p:spPr>
          <a:xfrm>
            <a:off x="713549" y="4812029"/>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20. 遥远的</a:t>
            </a:r>
            <a:endParaRPr sz="2300" b="0">
              <a:solidFill>
                <a:srgbClr val="0F0F0F"/>
              </a:solidFill>
              <a:latin typeface="微软雅黑" panose="020B0503020204020204" charset="-122"/>
            </a:endParaRPr>
          </a:p>
        </p:txBody>
      </p:sp>
      <p:sp>
        <p:nvSpPr>
          <p:cNvPr id="12" name="anim_008_vocab_en_20"/>
          <p:cNvSpPr txBox="1"/>
          <p:nvPr/>
        </p:nvSpPr>
        <p:spPr>
          <a:xfrm>
            <a:off x="3509785" y="4812029"/>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faraway</a:t>
            </a:r>
            <a:endParaRPr sz="2300" b="0">
              <a:solidFill>
                <a:srgbClr val="CD1E1E"/>
              </a:solidFill>
              <a:latin typeface="Arial" panose="020B0604020202020204"/>
            </a:endParaRPr>
          </a:p>
        </p:txBody>
      </p:sp>
      <p:sp>
        <p:nvSpPr>
          <p:cNvPr id="13" name="anim_009_vocab_cn_21"/>
          <p:cNvSpPr txBox="1"/>
          <p:nvPr/>
        </p:nvSpPr>
        <p:spPr>
          <a:xfrm>
            <a:off x="6145086" y="114300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21. 惊奇的;惊讶的</a:t>
            </a:r>
            <a:endParaRPr sz="2300" b="0">
              <a:solidFill>
                <a:srgbClr val="0F0F0F"/>
              </a:solidFill>
              <a:latin typeface="微软雅黑" panose="020B0503020204020204" charset="-122"/>
            </a:endParaRPr>
          </a:p>
        </p:txBody>
      </p:sp>
      <p:sp>
        <p:nvSpPr>
          <p:cNvPr id="14" name="anim_010_vocab_en_21"/>
          <p:cNvSpPr txBox="1"/>
          <p:nvPr/>
        </p:nvSpPr>
        <p:spPr>
          <a:xfrm>
            <a:off x="9003134" y="114300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surprised</a:t>
            </a:r>
            <a:endParaRPr sz="2300" b="0">
              <a:solidFill>
                <a:srgbClr val="CD1E1E"/>
              </a:solidFill>
              <a:latin typeface="Arial" panose="020B0604020202020204"/>
            </a:endParaRPr>
          </a:p>
        </p:txBody>
      </p:sp>
      <p:sp>
        <p:nvSpPr>
          <p:cNvPr id="15" name="anim_011_vocab_cn_22"/>
          <p:cNvSpPr txBox="1"/>
          <p:nvPr/>
        </p:nvSpPr>
        <p:spPr>
          <a:xfrm>
            <a:off x="6145086" y="236601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22. 尤其;特别;格外</a:t>
            </a:r>
            <a:endParaRPr sz="2300" b="0">
              <a:solidFill>
                <a:srgbClr val="0F0F0F"/>
              </a:solidFill>
              <a:latin typeface="微软雅黑" panose="020B0503020204020204" charset="-122"/>
            </a:endParaRPr>
          </a:p>
        </p:txBody>
      </p:sp>
      <p:sp>
        <p:nvSpPr>
          <p:cNvPr id="16" name="anim_012_vocab_en_22"/>
          <p:cNvSpPr txBox="1"/>
          <p:nvPr/>
        </p:nvSpPr>
        <p:spPr>
          <a:xfrm>
            <a:off x="9003134" y="236601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especially</a:t>
            </a:r>
            <a:endParaRPr sz="2300" b="0">
              <a:solidFill>
                <a:srgbClr val="CD1E1E"/>
              </a:solidFill>
              <a:latin typeface="Arial" panose="020B0604020202020204"/>
            </a:endParaRPr>
          </a:p>
        </p:txBody>
      </p:sp>
      <p:sp>
        <p:nvSpPr>
          <p:cNvPr id="17" name="anim_013_vocab_cn_23"/>
          <p:cNvSpPr txBox="1"/>
          <p:nvPr/>
        </p:nvSpPr>
        <p:spPr>
          <a:xfrm>
            <a:off x="6145086" y="358902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23. 玩得开心</a:t>
            </a:r>
            <a:endParaRPr sz="2300" b="0">
              <a:solidFill>
                <a:srgbClr val="0F0F0F"/>
              </a:solidFill>
              <a:latin typeface="微软雅黑" panose="020B0503020204020204" charset="-122"/>
            </a:endParaRPr>
          </a:p>
        </p:txBody>
      </p:sp>
      <p:sp>
        <p:nvSpPr>
          <p:cNvPr id="18" name="anim_014_vocab_en_23"/>
          <p:cNvSpPr txBox="1"/>
          <p:nvPr/>
        </p:nvSpPr>
        <p:spPr>
          <a:xfrm>
            <a:off x="9003134" y="358902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have fun</a:t>
            </a:r>
            <a:endParaRPr sz="2300" b="0">
              <a:solidFill>
                <a:srgbClr val="CD1E1E"/>
              </a:solidFill>
              <a:latin typeface="Arial" panose="020B0604020202020204"/>
            </a:endParaRPr>
          </a:p>
        </p:txBody>
      </p:sp>
      <p:sp>
        <p:nvSpPr>
          <p:cNvPr id="19" name="anim_015_vocab_cn_24"/>
          <p:cNvSpPr txBox="1"/>
          <p:nvPr/>
        </p:nvSpPr>
        <p:spPr>
          <a:xfrm>
            <a:off x="6145086" y="4812029"/>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24. 在度假</a:t>
            </a:r>
            <a:endParaRPr sz="2300" b="0">
              <a:solidFill>
                <a:srgbClr val="0F0F0F"/>
              </a:solidFill>
              <a:latin typeface="微软雅黑" panose="020B0503020204020204" charset="-122"/>
            </a:endParaRPr>
          </a:p>
        </p:txBody>
      </p:sp>
      <p:sp>
        <p:nvSpPr>
          <p:cNvPr id="20" name="anim_016_vocab_en_24"/>
          <p:cNvSpPr txBox="1"/>
          <p:nvPr/>
        </p:nvSpPr>
        <p:spPr>
          <a:xfrm>
            <a:off x="9003134" y="4812029"/>
            <a:ext cx="2427183"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on holiday/vacation</a:t>
            </a:r>
            <a:endParaRPr sz="2300" b="0">
              <a:solidFill>
                <a:srgbClr val="CD1E1E"/>
              </a:solidFill>
              <a:latin typeface="Arial" panose="020B0604020202020204"/>
            </a:endParaRPr>
          </a:p>
        </p:txBody>
      </p:sp>
      <p:sp>
        <p:nvSpPr>
          <p:cNvPr id="21" name="Rectangle 20"/>
          <p:cNvSpPr/>
          <p:nvPr/>
        </p:nvSpPr>
        <p:spPr>
          <a:xfrm>
            <a:off x="5943918"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07</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词汇/短语积累 4</a:t>
            </a:r>
            <a:endParaRPr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25"/>
          <p:cNvSpPr txBox="1"/>
          <p:nvPr/>
        </p:nvSpPr>
        <p:spPr>
          <a:xfrm>
            <a:off x="713549" y="114300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25. 准备好做某事</a:t>
            </a:r>
            <a:endParaRPr sz="2300" b="0">
              <a:solidFill>
                <a:srgbClr val="0F0F0F"/>
              </a:solidFill>
              <a:latin typeface="微软雅黑" panose="020B0503020204020204" charset="-122"/>
            </a:endParaRPr>
          </a:p>
        </p:txBody>
      </p:sp>
      <p:sp>
        <p:nvSpPr>
          <p:cNvPr id="6" name="anim_002_vocab_en_25"/>
          <p:cNvSpPr txBox="1"/>
          <p:nvPr/>
        </p:nvSpPr>
        <p:spPr>
          <a:xfrm>
            <a:off x="3509785" y="1143000"/>
            <a:ext cx="2370124"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be ready to do sth.</a:t>
            </a:r>
            <a:endParaRPr sz="2300" b="0">
              <a:solidFill>
                <a:srgbClr val="CD1E1E"/>
              </a:solidFill>
              <a:latin typeface="Arial" panose="020B0604020202020204"/>
            </a:endParaRPr>
          </a:p>
        </p:txBody>
      </p:sp>
      <p:sp>
        <p:nvSpPr>
          <p:cNvPr id="7" name="anim_003_vocab_cn_26"/>
          <p:cNvSpPr txBox="1"/>
          <p:nvPr/>
        </p:nvSpPr>
        <p:spPr>
          <a:xfrm>
            <a:off x="713549" y="2366010"/>
            <a:ext cx="2686507" cy="742950"/>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26. 有…的感觉;感受到</a:t>
            </a:r>
            <a:endParaRPr sz="2300" b="0">
              <a:solidFill>
                <a:srgbClr val="0F0F0F"/>
              </a:solidFill>
              <a:latin typeface="微软雅黑" panose="020B0503020204020204" charset="-122"/>
            </a:endParaRPr>
          </a:p>
        </p:txBody>
      </p:sp>
      <p:sp>
        <p:nvSpPr>
          <p:cNvPr id="8" name="anim_004_vocab_en_26"/>
          <p:cNvSpPr txBox="1"/>
          <p:nvPr/>
        </p:nvSpPr>
        <p:spPr>
          <a:xfrm>
            <a:off x="3509785" y="236601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feel like</a:t>
            </a:r>
            <a:endParaRPr sz="2300" b="0">
              <a:solidFill>
                <a:srgbClr val="CD1E1E"/>
              </a:solidFill>
              <a:latin typeface="Arial" panose="020B0604020202020204"/>
            </a:endParaRPr>
          </a:p>
        </p:txBody>
      </p:sp>
      <p:sp>
        <p:nvSpPr>
          <p:cNvPr id="9" name="anim_005_vocab_cn_27"/>
          <p:cNvSpPr txBox="1"/>
          <p:nvPr/>
        </p:nvSpPr>
        <p:spPr>
          <a:xfrm>
            <a:off x="713549" y="358902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27. 拍照片</a:t>
            </a:r>
            <a:endParaRPr sz="2300" b="0">
              <a:solidFill>
                <a:srgbClr val="0F0F0F"/>
              </a:solidFill>
              <a:latin typeface="微软雅黑" panose="020B0503020204020204" charset="-122"/>
            </a:endParaRPr>
          </a:p>
        </p:txBody>
      </p:sp>
      <p:sp>
        <p:nvSpPr>
          <p:cNvPr id="10" name="anim_006_vocab_en_27"/>
          <p:cNvSpPr txBox="1"/>
          <p:nvPr/>
        </p:nvSpPr>
        <p:spPr>
          <a:xfrm>
            <a:off x="3509785" y="358902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take photos</a:t>
            </a:r>
            <a:endParaRPr sz="2300" b="0">
              <a:solidFill>
                <a:srgbClr val="CD1E1E"/>
              </a:solidFill>
              <a:latin typeface="Arial" panose="020B0604020202020204"/>
            </a:endParaRPr>
          </a:p>
        </p:txBody>
      </p:sp>
      <p:sp>
        <p:nvSpPr>
          <p:cNvPr id="11" name="anim_007_vocab_cn_28"/>
          <p:cNvSpPr txBox="1"/>
          <p:nvPr/>
        </p:nvSpPr>
        <p:spPr>
          <a:xfrm>
            <a:off x="713549" y="4812029"/>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28. 买特别的东西</a:t>
            </a:r>
            <a:endParaRPr sz="2300" b="0">
              <a:solidFill>
                <a:srgbClr val="0F0F0F"/>
              </a:solidFill>
              <a:latin typeface="微软雅黑" panose="020B0503020204020204" charset="-122"/>
            </a:endParaRPr>
          </a:p>
        </p:txBody>
      </p:sp>
      <p:sp>
        <p:nvSpPr>
          <p:cNvPr id="12" name="anim_008_vocab_en_28"/>
          <p:cNvSpPr txBox="1"/>
          <p:nvPr/>
        </p:nvSpPr>
        <p:spPr>
          <a:xfrm>
            <a:off x="3509785" y="4812029"/>
            <a:ext cx="2370124"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buy something special</a:t>
            </a:r>
            <a:endParaRPr sz="2300" b="0">
              <a:solidFill>
                <a:srgbClr val="CD1E1E"/>
              </a:solidFill>
              <a:latin typeface="Arial" panose="020B0604020202020204"/>
            </a:endParaRPr>
          </a:p>
        </p:txBody>
      </p:sp>
      <p:sp>
        <p:nvSpPr>
          <p:cNvPr id="13" name="anim_009_vocab_cn_29"/>
          <p:cNvSpPr txBox="1"/>
          <p:nvPr/>
        </p:nvSpPr>
        <p:spPr>
          <a:xfrm>
            <a:off x="6145086" y="114300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29. 拜访;参观</a:t>
            </a:r>
            <a:endParaRPr sz="2300" b="0">
              <a:solidFill>
                <a:srgbClr val="0F0F0F"/>
              </a:solidFill>
              <a:latin typeface="微软雅黑" panose="020B0503020204020204" charset="-122"/>
            </a:endParaRPr>
          </a:p>
        </p:txBody>
      </p:sp>
      <p:sp>
        <p:nvSpPr>
          <p:cNvPr id="14" name="anim_010_vocab_en_29"/>
          <p:cNvSpPr txBox="1"/>
          <p:nvPr/>
        </p:nvSpPr>
        <p:spPr>
          <a:xfrm>
            <a:off x="9003134" y="114300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pay a visit to</a:t>
            </a:r>
            <a:endParaRPr sz="2300" b="0">
              <a:solidFill>
                <a:srgbClr val="CD1E1E"/>
              </a:solidFill>
              <a:latin typeface="Arial" panose="020B0604020202020204"/>
            </a:endParaRPr>
          </a:p>
        </p:txBody>
      </p:sp>
      <p:sp>
        <p:nvSpPr>
          <p:cNvPr id="15" name="anim_011_vocab_cn_30"/>
          <p:cNvSpPr txBox="1"/>
          <p:nvPr/>
        </p:nvSpPr>
        <p:spPr>
          <a:xfrm>
            <a:off x="6145086" y="236601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30. 参观古建筑</a:t>
            </a:r>
            <a:endParaRPr sz="2300" b="0">
              <a:solidFill>
                <a:srgbClr val="0F0F0F"/>
              </a:solidFill>
              <a:latin typeface="微软雅黑" panose="020B0503020204020204" charset="-122"/>
            </a:endParaRPr>
          </a:p>
        </p:txBody>
      </p:sp>
      <p:sp>
        <p:nvSpPr>
          <p:cNvPr id="16" name="anim_012_vocab_en_30"/>
          <p:cNvSpPr txBox="1"/>
          <p:nvPr/>
        </p:nvSpPr>
        <p:spPr>
          <a:xfrm>
            <a:off x="9003134" y="2366010"/>
            <a:ext cx="2427183"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visit ancient buildings</a:t>
            </a:r>
            <a:endParaRPr sz="2300" b="0">
              <a:solidFill>
                <a:srgbClr val="CD1E1E"/>
              </a:solidFill>
              <a:latin typeface="Arial" panose="020B0604020202020204"/>
            </a:endParaRPr>
          </a:p>
        </p:txBody>
      </p:sp>
      <p:sp>
        <p:nvSpPr>
          <p:cNvPr id="17" name="anim_013_vocab_cn_31"/>
          <p:cNvSpPr txBox="1"/>
          <p:nvPr/>
        </p:nvSpPr>
        <p:spPr>
          <a:xfrm>
            <a:off x="6145086" y="358902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31. 美丽的景色</a:t>
            </a:r>
            <a:endParaRPr sz="2300" b="0">
              <a:solidFill>
                <a:srgbClr val="0F0F0F"/>
              </a:solidFill>
              <a:latin typeface="微软雅黑" panose="020B0503020204020204" charset="-122"/>
            </a:endParaRPr>
          </a:p>
        </p:txBody>
      </p:sp>
      <p:sp>
        <p:nvSpPr>
          <p:cNvPr id="18" name="anim_014_vocab_en_31"/>
          <p:cNvSpPr txBox="1"/>
          <p:nvPr/>
        </p:nvSpPr>
        <p:spPr>
          <a:xfrm>
            <a:off x="9003134" y="358902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beautiful scenery</a:t>
            </a:r>
            <a:endParaRPr sz="2300" b="0">
              <a:solidFill>
                <a:srgbClr val="CD1E1E"/>
              </a:solidFill>
              <a:latin typeface="Arial" panose="020B0604020202020204"/>
            </a:endParaRPr>
          </a:p>
        </p:txBody>
      </p:sp>
      <p:sp>
        <p:nvSpPr>
          <p:cNvPr id="19" name="anim_015_vocab_cn_32"/>
          <p:cNvSpPr txBox="1"/>
          <p:nvPr/>
        </p:nvSpPr>
        <p:spPr>
          <a:xfrm>
            <a:off x="6145086" y="4812029"/>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32. 暑假</a:t>
            </a:r>
            <a:endParaRPr sz="2300" b="0">
              <a:solidFill>
                <a:srgbClr val="0F0F0F"/>
              </a:solidFill>
              <a:latin typeface="微软雅黑" panose="020B0503020204020204" charset="-122"/>
            </a:endParaRPr>
          </a:p>
        </p:txBody>
      </p:sp>
      <p:sp>
        <p:nvSpPr>
          <p:cNvPr id="20" name="anim_016_vocab_en_32"/>
          <p:cNvSpPr txBox="1"/>
          <p:nvPr/>
        </p:nvSpPr>
        <p:spPr>
          <a:xfrm>
            <a:off x="9003134" y="4812029"/>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summer holiday</a:t>
            </a:r>
            <a:endParaRPr sz="2300" b="0">
              <a:solidFill>
                <a:srgbClr val="CD1E1E"/>
              </a:solidFill>
              <a:latin typeface="Arial" panose="020B0604020202020204"/>
            </a:endParaRPr>
          </a:p>
        </p:txBody>
      </p:sp>
      <p:sp>
        <p:nvSpPr>
          <p:cNvPr id="21" name="Rectangle 20"/>
          <p:cNvSpPr/>
          <p:nvPr/>
        </p:nvSpPr>
        <p:spPr>
          <a:xfrm>
            <a:off x="5943918"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08</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词汇/短语积累 5</a:t>
            </a:r>
            <a:endParaRPr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33"/>
          <p:cNvSpPr txBox="1"/>
          <p:nvPr/>
        </p:nvSpPr>
        <p:spPr>
          <a:xfrm>
            <a:off x="713549" y="114300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33. 寒假</a:t>
            </a:r>
            <a:endParaRPr sz="2300" b="0">
              <a:solidFill>
                <a:srgbClr val="0F0F0F"/>
              </a:solidFill>
              <a:latin typeface="微软雅黑" panose="020B0503020204020204" charset="-122"/>
            </a:endParaRPr>
          </a:p>
        </p:txBody>
      </p:sp>
      <p:sp>
        <p:nvSpPr>
          <p:cNvPr id="6" name="anim_002_vocab_en_33"/>
          <p:cNvSpPr txBox="1"/>
          <p:nvPr/>
        </p:nvSpPr>
        <p:spPr>
          <a:xfrm>
            <a:off x="3509785" y="114300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winter holiday</a:t>
            </a:r>
            <a:endParaRPr sz="2300" b="0">
              <a:solidFill>
                <a:srgbClr val="CD1E1E"/>
              </a:solidFill>
              <a:latin typeface="Arial" panose="020B0604020202020204"/>
            </a:endParaRPr>
          </a:p>
        </p:txBody>
      </p:sp>
      <p:sp>
        <p:nvSpPr>
          <p:cNvPr id="7" name="anim_003_vocab_cn_34"/>
          <p:cNvSpPr txBox="1"/>
          <p:nvPr/>
        </p:nvSpPr>
        <p:spPr>
          <a:xfrm>
            <a:off x="713549" y="236601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34. 有趣的事</a:t>
            </a:r>
            <a:endParaRPr sz="2300" b="0">
              <a:solidFill>
                <a:srgbClr val="0F0F0F"/>
              </a:solidFill>
              <a:latin typeface="微软雅黑" panose="020B0503020204020204" charset="-122"/>
            </a:endParaRPr>
          </a:p>
        </p:txBody>
      </p:sp>
      <p:sp>
        <p:nvSpPr>
          <p:cNvPr id="8" name="anim_004_vocab_en_34"/>
          <p:cNvSpPr txBox="1"/>
          <p:nvPr/>
        </p:nvSpPr>
        <p:spPr>
          <a:xfrm>
            <a:off x="3509785" y="2366010"/>
            <a:ext cx="2370124"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something interesting</a:t>
            </a:r>
            <a:endParaRPr sz="2300" b="0">
              <a:solidFill>
                <a:srgbClr val="CD1E1E"/>
              </a:solidFill>
              <a:latin typeface="Arial" panose="020B0604020202020204"/>
            </a:endParaRPr>
          </a:p>
        </p:txBody>
      </p:sp>
      <p:sp>
        <p:nvSpPr>
          <p:cNvPr id="9" name="anim_005_vocab_cn_35"/>
          <p:cNvSpPr txBox="1"/>
          <p:nvPr/>
        </p:nvSpPr>
        <p:spPr>
          <a:xfrm>
            <a:off x="713549" y="358902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35. 去爬山</a:t>
            </a:r>
            <a:endParaRPr sz="2300" b="0">
              <a:solidFill>
                <a:srgbClr val="0F0F0F"/>
              </a:solidFill>
              <a:latin typeface="微软雅黑" panose="020B0503020204020204" charset="-122"/>
            </a:endParaRPr>
          </a:p>
        </p:txBody>
      </p:sp>
      <p:sp>
        <p:nvSpPr>
          <p:cNvPr id="10" name="anim_006_vocab_en_35"/>
          <p:cNvSpPr txBox="1"/>
          <p:nvPr/>
        </p:nvSpPr>
        <p:spPr>
          <a:xfrm>
            <a:off x="3509785" y="3589020"/>
            <a:ext cx="2370124"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go to the mountains</a:t>
            </a:r>
            <a:endParaRPr sz="2300" b="0">
              <a:solidFill>
                <a:srgbClr val="CD1E1E"/>
              </a:solidFill>
              <a:latin typeface="Arial" panose="020B0604020202020204"/>
            </a:endParaRPr>
          </a:p>
        </p:txBody>
      </p:sp>
      <p:sp>
        <p:nvSpPr>
          <p:cNvPr id="11" name="anim_007_vocab_cn_36"/>
          <p:cNvSpPr txBox="1"/>
          <p:nvPr/>
        </p:nvSpPr>
        <p:spPr>
          <a:xfrm>
            <a:off x="713549" y="4812029"/>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36. 成千上万的</a:t>
            </a:r>
            <a:endParaRPr sz="2300" b="0">
              <a:solidFill>
                <a:srgbClr val="0F0F0F"/>
              </a:solidFill>
              <a:latin typeface="微软雅黑" panose="020B0503020204020204" charset="-122"/>
            </a:endParaRPr>
          </a:p>
        </p:txBody>
      </p:sp>
      <p:sp>
        <p:nvSpPr>
          <p:cNvPr id="12" name="anim_008_vocab_en_36"/>
          <p:cNvSpPr txBox="1"/>
          <p:nvPr/>
        </p:nvSpPr>
        <p:spPr>
          <a:xfrm>
            <a:off x="3509785" y="4812029"/>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thousands of</a:t>
            </a:r>
            <a:endParaRPr sz="2300" b="0">
              <a:solidFill>
                <a:srgbClr val="CD1E1E"/>
              </a:solidFill>
              <a:latin typeface="Arial" panose="020B0604020202020204"/>
            </a:endParaRPr>
          </a:p>
        </p:txBody>
      </p:sp>
      <p:sp>
        <p:nvSpPr>
          <p:cNvPr id="13" name="anim_009_vocab_cn_37"/>
          <p:cNvSpPr txBox="1"/>
          <p:nvPr/>
        </p:nvSpPr>
        <p:spPr>
          <a:xfrm>
            <a:off x="6145086" y="114300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37. 到达</a:t>
            </a:r>
            <a:endParaRPr sz="2300" b="0">
              <a:solidFill>
                <a:srgbClr val="0F0F0F"/>
              </a:solidFill>
              <a:latin typeface="微软雅黑" panose="020B0503020204020204" charset="-122"/>
            </a:endParaRPr>
          </a:p>
        </p:txBody>
      </p:sp>
      <p:sp>
        <p:nvSpPr>
          <p:cNvPr id="14" name="anim_010_vocab_en_37"/>
          <p:cNvSpPr txBox="1"/>
          <p:nvPr/>
        </p:nvSpPr>
        <p:spPr>
          <a:xfrm>
            <a:off x="9003134" y="114300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arrive at / in</a:t>
            </a:r>
            <a:endParaRPr sz="2300" b="0">
              <a:solidFill>
                <a:srgbClr val="CD1E1E"/>
              </a:solidFill>
              <a:latin typeface="Arial" panose="020B0604020202020204"/>
            </a:endParaRPr>
          </a:p>
        </p:txBody>
      </p:sp>
      <p:sp>
        <p:nvSpPr>
          <p:cNvPr id="15" name="anim_011_vocab_cn_38"/>
          <p:cNvSpPr txBox="1"/>
          <p:nvPr/>
        </p:nvSpPr>
        <p:spPr>
          <a:xfrm>
            <a:off x="6145086" y="236601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38. 决定做某事</a:t>
            </a:r>
            <a:endParaRPr sz="2300" b="0">
              <a:solidFill>
                <a:srgbClr val="0F0F0F"/>
              </a:solidFill>
              <a:latin typeface="微软雅黑" panose="020B0503020204020204" charset="-122"/>
            </a:endParaRPr>
          </a:p>
        </p:txBody>
      </p:sp>
      <p:sp>
        <p:nvSpPr>
          <p:cNvPr id="16" name="anim_012_vocab_en_38"/>
          <p:cNvSpPr txBox="1"/>
          <p:nvPr/>
        </p:nvSpPr>
        <p:spPr>
          <a:xfrm>
            <a:off x="9003134" y="236601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decide to do sth</a:t>
            </a:r>
            <a:endParaRPr sz="2300" b="0">
              <a:solidFill>
                <a:srgbClr val="CD1E1E"/>
              </a:solidFill>
              <a:latin typeface="Arial" panose="020B0604020202020204"/>
            </a:endParaRPr>
          </a:p>
        </p:txBody>
      </p:sp>
      <p:sp>
        <p:nvSpPr>
          <p:cNvPr id="17" name="anim_013_vocab_cn_39"/>
          <p:cNvSpPr txBox="1"/>
          <p:nvPr/>
        </p:nvSpPr>
        <p:spPr>
          <a:xfrm>
            <a:off x="6145086" y="358902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39. 做决定</a:t>
            </a:r>
            <a:endParaRPr sz="2300" b="0">
              <a:solidFill>
                <a:srgbClr val="0F0F0F"/>
              </a:solidFill>
              <a:latin typeface="微软雅黑" panose="020B0503020204020204" charset="-122"/>
            </a:endParaRPr>
          </a:p>
        </p:txBody>
      </p:sp>
      <p:sp>
        <p:nvSpPr>
          <p:cNvPr id="18" name="anim_014_vocab_en_39"/>
          <p:cNvSpPr txBox="1"/>
          <p:nvPr/>
        </p:nvSpPr>
        <p:spPr>
          <a:xfrm>
            <a:off x="9003134" y="358902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make a decision</a:t>
            </a:r>
            <a:endParaRPr sz="2300" b="0">
              <a:solidFill>
                <a:srgbClr val="CD1E1E"/>
              </a:solidFill>
              <a:latin typeface="Arial" panose="020B0604020202020204"/>
            </a:endParaRPr>
          </a:p>
        </p:txBody>
      </p:sp>
      <p:sp>
        <p:nvSpPr>
          <p:cNvPr id="19" name="anim_015_vocab_cn_40"/>
          <p:cNvSpPr txBox="1"/>
          <p:nvPr/>
        </p:nvSpPr>
        <p:spPr>
          <a:xfrm>
            <a:off x="6145086" y="4812029"/>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40. 去参加夏令营</a:t>
            </a:r>
            <a:endParaRPr sz="2300" b="0">
              <a:solidFill>
                <a:srgbClr val="0F0F0F"/>
              </a:solidFill>
              <a:latin typeface="微软雅黑" panose="020B0503020204020204" charset="-122"/>
            </a:endParaRPr>
          </a:p>
        </p:txBody>
      </p:sp>
      <p:sp>
        <p:nvSpPr>
          <p:cNvPr id="20" name="anim_016_vocab_en_40"/>
          <p:cNvSpPr txBox="1"/>
          <p:nvPr/>
        </p:nvSpPr>
        <p:spPr>
          <a:xfrm>
            <a:off x="9003134" y="4812029"/>
            <a:ext cx="2427183"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go to a summer camp</a:t>
            </a:r>
            <a:endParaRPr sz="2300" b="0">
              <a:solidFill>
                <a:srgbClr val="CD1E1E"/>
              </a:solidFill>
              <a:latin typeface="Arial" panose="020B0604020202020204"/>
            </a:endParaRPr>
          </a:p>
        </p:txBody>
      </p:sp>
      <p:sp>
        <p:nvSpPr>
          <p:cNvPr id="21" name="Rectangle 20"/>
          <p:cNvSpPr/>
          <p:nvPr/>
        </p:nvSpPr>
        <p:spPr>
          <a:xfrm>
            <a:off x="5943918"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09</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词汇/短语积累 6</a:t>
            </a:r>
            <a:endParaRPr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41"/>
          <p:cNvSpPr txBox="1"/>
          <p:nvPr/>
        </p:nvSpPr>
        <p:spPr>
          <a:xfrm>
            <a:off x="713549" y="114300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41. 返回</a:t>
            </a:r>
            <a:endParaRPr sz="2300" b="0">
              <a:solidFill>
                <a:srgbClr val="0F0F0F"/>
              </a:solidFill>
              <a:latin typeface="微软雅黑" panose="020B0503020204020204" charset="-122"/>
            </a:endParaRPr>
          </a:p>
        </p:txBody>
      </p:sp>
      <p:sp>
        <p:nvSpPr>
          <p:cNvPr id="6" name="anim_002_vocab_en_41"/>
          <p:cNvSpPr txBox="1"/>
          <p:nvPr/>
        </p:nvSpPr>
        <p:spPr>
          <a:xfrm>
            <a:off x="3509785" y="114300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go back to</a:t>
            </a:r>
            <a:endParaRPr sz="2300" b="0">
              <a:solidFill>
                <a:srgbClr val="CD1E1E"/>
              </a:solidFill>
              <a:latin typeface="Arial" panose="020B0604020202020204"/>
            </a:endParaRPr>
          </a:p>
        </p:txBody>
      </p:sp>
      <p:sp>
        <p:nvSpPr>
          <p:cNvPr id="7" name="anim_003_vocab_cn_42"/>
          <p:cNvSpPr txBox="1"/>
          <p:nvPr/>
        </p:nvSpPr>
        <p:spPr>
          <a:xfrm>
            <a:off x="713549" y="236601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42. 去参加草莓节</a:t>
            </a:r>
            <a:endParaRPr sz="2300" b="0">
              <a:solidFill>
                <a:srgbClr val="0F0F0F"/>
              </a:solidFill>
              <a:latin typeface="微软雅黑" panose="020B0503020204020204" charset="-122"/>
            </a:endParaRPr>
          </a:p>
        </p:txBody>
      </p:sp>
      <p:sp>
        <p:nvSpPr>
          <p:cNvPr id="8" name="anim_004_vocab_en_42"/>
          <p:cNvSpPr txBox="1"/>
          <p:nvPr/>
        </p:nvSpPr>
        <p:spPr>
          <a:xfrm>
            <a:off x="3509785" y="2366010"/>
            <a:ext cx="2370124" cy="109728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go to a strawberry festival</a:t>
            </a:r>
            <a:endParaRPr sz="2300" b="0">
              <a:solidFill>
                <a:srgbClr val="CD1E1E"/>
              </a:solidFill>
              <a:latin typeface="Arial" panose="020B0604020202020204"/>
            </a:endParaRPr>
          </a:p>
        </p:txBody>
      </p:sp>
      <p:sp>
        <p:nvSpPr>
          <p:cNvPr id="9" name="anim_005_vocab_cn_43"/>
          <p:cNvSpPr txBox="1"/>
          <p:nvPr/>
        </p:nvSpPr>
        <p:spPr>
          <a:xfrm>
            <a:off x="713549" y="358902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43. 看日出</a:t>
            </a:r>
            <a:endParaRPr sz="2300" b="0">
              <a:solidFill>
                <a:srgbClr val="0F0F0F"/>
              </a:solidFill>
              <a:latin typeface="微软雅黑" panose="020B0503020204020204" charset="-122"/>
            </a:endParaRPr>
          </a:p>
        </p:txBody>
      </p:sp>
      <p:sp>
        <p:nvSpPr>
          <p:cNvPr id="10" name="anim_006_vocab_en_43"/>
          <p:cNvSpPr txBox="1"/>
          <p:nvPr/>
        </p:nvSpPr>
        <p:spPr>
          <a:xfrm>
            <a:off x="3509785" y="358902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see the sunrise</a:t>
            </a:r>
            <a:endParaRPr sz="2300" b="0">
              <a:solidFill>
                <a:srgbClr val="CD1E1E"/>
              </a:solidFill>
              <a:latin typeface="Arial" panose="020B0604020202020204"/>
            </a:endParaRPr>
          </a:p>
        </p:txBody>
      </p:sp>
      <p:sp>
        <p:nvSpPr>
          <p:cNvPr id="11" name="anim_007_vocab_cn_44"/>
          <p:cNvSpPr txBox="1"/>
          <p:nvPr/>
        </p:nvSpPr>
        <p:spPr>
          <a:xfrm>
            <a:off x="713549" y="4812029"/>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44. 待在家里</a:t>
            </a:r>
            <a:endParaRPr sz="2300" b="0">
              <a:solidFill>
                <a:srgbClr val="0F0F0F"/>
              </a:solidFill>
              <a:latin typeface="微软雅黑" panose="020B0503020204020204" charset="-122"/>
            </a:endParaRPr>
          </a:p>
        </p:txBody>
      </p:sp>
      <p:sp>
        <p:nvSpPr>
          <p:cNvPr id="12" name="anim_008_vocab_en_44"/>
          <p:cNvSpPr txBox="1"/>
          <p:nvPr/>
        </p:nvSpPr>
        <p:spPr>
          <a:xfrm>
            <a:off x="3509785" y="4812029"/>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stay at home</a:t>
            </a:r>
            <a:endParaRPr sz="2300" b="0">
              <a:solidFill>
                <a:srgbClr val="CD1E1E"/>
              </a:solidFill>
              <a:latin typeface="Arial" panose="020B0604020202020204"/>
            </a:endParaRPr>
          </a:p>
        </p:txBody>
      </p:sp>
      <p:sp>
        <p:nvSpPr>
          <p:cNvPr id="13" name="anim_009_vocab_cn_45"/>
          <p:cNvSpPr txBox="1"/>
          <p:nvPr/>
        </p:nvSpPr>
        <p:spPr>
          <a:xfrm>
            <a:off x="6145086" y="114300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45. 呆在古镇</a:t>
            </a:r>
            <a:endParaRPr sz="2300" b="0">
              <a:solidFill>
                <a:srgbClr val="0F0F0F"/>
              </a:solidFill>
              <a:latin typeface="微软雅黑" panose="020B0503020204020204" charset="-122"/>
            </a:endParaRPr>
          </a:p>
        </p:txBody>
      </p:sp>
      <p:sp>
        <p:nvSpPr>
          <p:cNvPr id="14" name="anim_010_vocab_en_45"/>
          <p:cNvSpPr txBox="1"/>
          <p:nvPr/>
        </p:nvSpPr>
        <p:spPr>
          <a:xfrm>
            <a:off x="9003134" y="1143000"/>
            <a:ext cx="2427183"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stay in the old town</a:t>
            </a:r>
            <a:endParaRPr sz="2300" b="0">
              <a:solidFill>
                <a:srgbClr val="CD1E1E"/>
              </a:solidFill>
              <a:latin typeface="Arial" panose="020B0604020202020204"/>
            </a:endParaRPr>
          </a:p>
        </p:txBody>
      </p:sp>
      <p:sp>
        <p:nvSpPr>
          <p:cNvPr id="15" name="anim_011_vocab_cn_46"/>
          <p:cNvSpPr txBox="1"/>
          <p:nvPr/>
        </p:nvSpPr>
        <p:spPr>
          <a:xfrm>
            <a:off x="6145086" y="236601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46. 令人惊叹</a:t>
            </a:r>
            <a:endParaRPr sz="2300" b="0">
              <a:solidFill>
                <a:srgbClr val="0F0F0F"/>
              </a:solidFill>
              <a:latin typeface="微软雅黑" panose="020B0503020204020204" charset="-122"/>
            </a:endParaRPr>
          </a:p>
        </p:txBody>
      </p:sp>
      <p:sp>
        <p:nvSpPr>
          <p:cNvPr id="16" name="anim_012_vocab_en_46"/>
          <p:cNvSpPr txBox="1"/>
          <p:nvPr/>
        </p:nvSpPr>
        <p:spPr>
          <a:xfrm>
            <a:off x="9003134" y="2366010"/>
            <a:ext cx="2427183"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take sb's breath away</a:t>
            </a:r>
            <a:endParaRPr sz="2300" b="0">
              <a:solidFill>
                <a:srgbClr val="CD1E1E"/>
              </a:solidFill>
              <a:latin typeface="Arial" panose="020B0604020202020204"/>
            </a:endParaRPr>
          </a:p>
        </p:txBody>
      </p:sp>
      <p:sp>
        <p:nvSpPr>
          <p:cNvPr id="17" name="anim_013_vocab_cn_47"/>
          <p:cNvSpPr txBox="1"/>
          <p:nvPr/>
        </p:nvSpPr>
        <p:spPr>
          <a:xfrm>
            <a:off x="6145086" y="358902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47. 汽锅鸡</a:t>
            </a:r>
            <a:endParaRPr sz="2300" b="0">
              <a:solidFill>
                <a:srgbClr val="0F0F0F"/>
              </a:solidFill>
              <a:latin typeface="微软雅黑" panose="020B0503020204020204" charset="-122"/>
            </a:endParaRPr>
          </a:p>
        </p:txBody>
      </p:sp>
      <p:sp>
        <p:nvSpPr>
          <p:cNvPr id="18" name="anim_014_vocab_en_47"/>
          <p:cNvSpPr txBox="1"/>
          <p:nvPr/>
        </p:nvSpPr>
        <p:spPr>
          <a:xfrm>
            <a:off x="9003134" y="3589020"/>
            <a:ext cx="2427183"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steamed chicken soup</a:t>
            </a:r>
            <a:endParaRPr sz="2300" b="0">
              <a:solidFill>
                <a:srgbClr val="CD1E1E"/>
              </a:solidFill>
              <a:latin typeface="Arial" panose="020B0604020202020204"/>
            </a:endParaRPr>
          </a:p>
        </p:txBody>
      </p:sp>
      <p:sp>
        <p:nvSpPr>
          <p:cNvPr id="19" name="anim_015_vocab_cn_48"/>
          <p:cNvSpPr txBox="1"/>
          <p:nvPr/>
        </p:nvSpPr>
        <p:spPr>
          <a:xfrm>
            <a:off x="6145086" y="4812029"/>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48. 待在酒店</a:t>
            </a:r>
            <a:endParaRPr sz="2300" b="0">
              <a:solidFill>
                <a:srgbClr val="0F0F0F"/>
              </a:solidFill>
              <a:latin typeface="微软雅黑" panose="020B0503020204020204" charset="-122"/>
            </a:endParaRPr>
          </a:p>
        </p:txBody>
      </p:sp>
      <p:sp>
        <p:nvSpPr>
          <p:cNvPr id="20" name="anim_016_vocab_en_48"/>
          <p:cNvSpPr txBox="1"/>
          <p:nvPr/>
        </p:nvSpPr>
        <p:spPr>
          <a:xfrm>
            <a:off x="9003134" y="4812029"/>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stay in the hotel</a:t>
            </a:r>
            <a:endParaRPr sz="2300" b="0">
              <a:solidFill>
                <a:srgbClr val="CD1E1E"/>
              </a:solidFill>
              <a:latin typeface="Arial" panose="020B0604020202020204"/>
            </a:endParaRPr>
          </a:p>
        </p:txBody>
      </p:sp>
      <p:sp>
        <p:nvSpPr>
          <p:cNvPr id="21" name="Rectangle 20"/>
          <p:cNvSpPr/>
          <p:nvPr/>
        </p:nvSpPr>
        <p:spPr>
          <a:xfrm>
            <a:off x="5943918"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10</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词汇/短语积累 7</a:t>
            </a:r>
            <a:endParaRPr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49"/>
          <p:cNvSpPr txBox="1"/>
          <p:nvPr/>
        </p:nvSpPr>
        <p:spPr>
          <a:xfrm>
            <a:off x="713549" y="114300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49. 美丽的双彩虹</a:t>
            </a:r>
            <a:endParaRPr sz="2300" b="0">
              <a:solidFill>
                <a:srgbClr val="0F0F0F"/>
              </a:solidFill>
              <a:latin typeface="微软雅黑" panose="020B0503020204020204" charset="-122"/>
            </a:endParaRPr>
          </a:p>
        </p:txBody>
      </p:sp>
      <p:sp>
        <p:nvSpPr>
          <p:cNvPr id="6" name="anim_002_vocab_en_49"/>
          <p:cNvSpPr txBox="1"/>
          <p:nvPr/>
        </p:nvSpPr>
        <p:spPr>
          <a:xfrm>
            <a:off x="3509785" y="1143000"/>
            <a:ext cx="2370124"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a beautiful double rainbow</a:t>
            </a:r>
            <a:endParaRPr sz="2300" b="0">
              <a:solidFill>
                <a:srgbClr val="CD1E1E"/>
              </a:solidFill>
              <a:latin typeface="Arial" panose="020B0604020202020204"/>
            </a:endParaRPr>
          </a:p>
        </p:txBody>
      </p:sp>
      <p:sp>
        <p:nvSpPr>
          <p:cNvPr id="7" name="anim_003_vocab_cn_50"/>
          <p:cNvSpPr txBox="1"/>
          <p:nvPr/>
        </p:nvSpPr>
        <p:spPr>
          <a:xfrm>
            <a:off x="713549" y="2366010"/>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50. 在阳光下</a:t>
            </a:r>
            <a:endParaRPr sz="2300" b="0">
              <a:solidFill>
                <a:srgbClr val="0F0F0F"/>
              </a:solidFill>
              <a:latin typeface="微软雅黑" panose="020B0503020204020204" charset="-122"/>
            </a:endParaRPr>
          </a:p>
        </p:txBody>
      </p:sp>
      <p:sp>
        <p:nvSpPr>
          <p:cNvPr id="8" name="anim_004_vocab_en_50"/>
          <p:cNvSpPr txBox="1"/>
          <p:nvPr/>
        </p:nvSpPr>
        <p:spPr>
          <a:xfrm>
            <a:off x="3509785" y="236601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in the sun</a:t>
            </a:r>
            <a:endParaRPr sz="2300" b="0">
              <a:solidFill>
                <a:srgbClr val="CD1E1E"/>
              </a:solidFill>
              <a:latin typeface="Arial" panose="020B0604020202020204"/>
            </a:endParaRPr>
          </a:p>
        </p:txBody>
      </p:sp>
      <p:sp>
        <p:nvSpPr>
          <p:cNvPr id="9" name="anim_005_vocab_cn_51"/>
          <p:cNvSpPr txBox="1"/>
          <p:nvPr/>
        </p:nvSpPr>
        <p:spPr>
          <a:xfrm>
            <a:off x="713549" y="3589020"/>
            <a:ext cx="2686507" cy="742950"/>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51. 讲诉关于...的故事</a:t>
            </a:r>
            <a:endParaRPr sz="2300" b="0">
              <a:solidFill>
                <a:srgbClr val="0F0F0F"/>
              </a:solidFill>
              <a:latin typeface="微软雅黑" panose="020B0503020204020204" charset="-122"/>
            </a:endParaRPr>
          </a:p>
        </p:txBody>
      </p:sp>
      <p:sp>
        <p:nvSpPr>
          <p:cNvPr id="10" name="anim_006_vocab_en_51"/>
          <p:cNvSpPr txBox="1"/>
          <p:nvPr/>
        </p:nvSpPr>
        <p:spPr>
          <a:xfrm>
            <a:off x="3509785" y="3589020"/>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tell stories about</a:t>
            </a:r>
            <a:endParaRPr sz="2300" b="0">
              <a:solidFill>
                <a:srgbClr val="CD1E1E"/>
              </a:solidFill>
              <a:latin typeface="Arial" panose="020B0604020202020204"/>
            </a:endParaRPr>
          </a:p>
        </p:txBody>
      </p:sp>
      <p:sp>
        <p:nvSpPr>
          <p:cNvPr id="11" name="anim_007_vocab_cn_52"/>
          <p:cNvSpPr txBox="1"/>
          <p:nvPr/>
        </p:nvSpPr>
        <p:spPr>
          <a:xfrm>
            <a:off x="713549" y="4812029"/>
            <a:ext cx="2686507"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52. 聚会; 相聚</a:t>
            </a:r>
            <a:endParaRPr sz="2300" b="0">
              <a:solidFill>
                <a:srgbClr val="0F0F0F"/>
              </a:solidFill>
              <a:latin typeface="微软雅黑" panose="020B0503020204020204" charset="-122"/>
            </a:endParaRPr>
          </a:p>
        </p:txBody>
      </p:sp>
      <p:sp>
        <p:nvSpPr>
          <p:cNvPr id="12" name="anim_008_vocab_en_52"/>
          <p:cNvSpPr txBox="1"/>
          <p:nvPr/>
        </p:nvSpPr>
        <p:spPr>
          <a:xfrm>
            <a:off x="3509785" y="4812029"/>
            <a:ext cx="2370124"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get together</a:t>
            </a:r>
            <a:endParaRPr sz="2300" b="0">
              <a:solidFill>
                <a:srgbClr val="CD1E1E"/>
              </a:solidFill>
              <a:latin typeface="Arial" panose="020B0604020202020204"/>
            </a:endParaRPr>
          </a:p>
        </p:txBody>
      </p:sp>
      <p:sp>
        <p:nvSpPr>
          <p:cNvPr id="13" name="anim_009_vocab_cn_53"/>
          <p:cNvSpPr txBox="1"/>
          <p:nvPr/>
        </p:nvSpPr>
        <p:spPr>
          <a:xfrm>
            <a:off x="6145086" y="1143000"/>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53. 在乡下</a:t>
            </a:r>
            <a:endParaRPr sz="2300" b="0">
              <a:solidFill>
                <a:srgbClr val="0F0F0F"/>
              </a:solidFill>
              <a:latin typeface="微软雅黑" panose="020B0503020204020204" charset="-122"/>
            </a:endParaRPr>
          </a:p>
        </p:txBody>
      </p:sp>
      <p:sp>
        <p:nvSpPr>
          <p:cNvPr id="14" name="anim_010_vocab_en_53"/>
          <p:cNvSpPr txBox="1"/>
          <p:nvPr/>
        </p:nvSpPr>
        <p:spPr>
          <a:xfrm>
            <a:off x="9003134" y="1143000"/>
            <a:ext cx="2427183" cy="389255"/>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in the countryside</a:t>
            </a:r>
            <a:endParaRPr sz="2300" b="0">
              <a:solidFill>
                <a:srgbClr val="CD1E1E"/>
              </a:solidFill>
              <a:latin typeface="Arial" panose="020B0604020202020204"/>
            </a:endParaRPr>
          </a:p>
        </p:txBody>
      </p:sp>
      <p:sp>
        <p:nvSpPr>
          <p:cNvPr id="15" name="anim_011_vocab_cn_54"/>
          <p:cNvSpPr txBox="1"/>
          <p:nvPr/>
        </p:nvSpPr>
        <p:spPr>
          <a:xfrm>
            <a:off x="6145086" y="2366010"/>
            <a:ext cx="2748320" cy="742950"/>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54. 让你的身心得到休息</a:t>
            </a:r>
            <a:endParaRPr sz="2300" b="0">
              <a:solidFill>
                <a:srgbClr val="0F0F0F"/>
              </a:solidFill>
              <a:latin typeface="微软雅黑" panose="020B0503020204020204" charset="-122"/>
            </a:endParaRPr>
          </a:p>
        </p:txBody>
      </p:sp>
      <p:sp>
        <p:nvSpPr>
          <p:cNvPr id="16" name="anim_012_vocab_en_54"/>
          <p:cNvSpPr txBox="1"/>
          <p:nvPr/>
        </p:nvSpPr>
        <p:spPr>
          <a:xfrm>
            <a:off x="9003134" y="2366010"/>
            <a:ext cx="2427183"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rest your mind and body</a:t>
            </a:r>
            <a:endParaRPr sz="2300" b="0">
              <a:solidFill>
                <a:srgbClr val="CD1E1E"/>
              </a:solidFill>
              <a:latin typeface="Arial" panose="020B0604020202020204"/>
            </a:endParaRPr>
          </a:p>
        </p:txBody>
      </p:sp>
      <p:sp>
        <p:nvSpPr>
          <p:cNvPr id="17" name="anim_013_vocab_cn_55"/>
          <p:cNvSpPr txBox="1"/>
          <p:nvPr/>
        </p:nvSpPr>
        <p:spPr>
          <a:xfrm>
            <a:off x="6145086" y="3589020"/>
            <a:ext cx="2748320" cy="742950"/>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55. 从旅行经历中学习</a:t>
            </a:r>
            <a:endParaRPr sz="2300" b="0">
              <a:solidFill>
                <a:srgbClr val="0F0F0F"/>
              </a:solidFill>
              <a:latin typeface="微软雅黑" panose="020B0503020204020204" charset="-122"/>
            </a:endParaRPr>
          </a:p>
        </p:txBody>
      </p:sp>
      <p:sp>
        <p:nvSpPr>
          <p:cNvPr id="18" name="anim_014_vocab_en_55"/>
          <p:cNvSpPr txBox="1"/>
          <p:nvPr/>
        </p:nvSpPr>
        <p:spPr>
          <a:xfrm>
            <a:off x="9003134" y="3589020"/>
            <a:ext cx="2427183"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learn from travel experiences</a:t>
            </a:r>
            <a:endParaRPr sz="2300" b="0">
              <a:solidFill>
                <a:srgbClr val="CD1E1E"/>
              </a:solidFill>
              <a:latin typeface="Arial" panose="020B0604020202020204"/>
            </a:endParaRPr>
          </a:p>
        </p:txBody>
      </p:sp>
      <p:sp>
        <p:nvSpPr>
          <p:cNvPr id="19" name="anim_015_vocab_cn_56"/>
          <p:cNvSpPr txBox="1"/>
          <p:nvPr/>
        </p:nvSpPr>
        <p:spPr>
          <a:xfrm>
            <a:off x="6145086" y="4812029"/>
            <a:ext cx="2748320" cy="389255"/>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56. 经历美好的时光</a:t>
            </a:r>
            <a:endParaRPr sz="2300" b="0">
              <a:solidFill>
                <a:srgbClr val="0F0F0F"/>
              </a:solidFill>
              <a:latin typeface="微软雅黑" panose="020B0503020204020204" charset="-122"/>
            </a:endParaRPr>
          </a:p>
        </p:txBody>
      </p:sp>
      <p:sp>
        <p:nvSpPr>
          <p:cNvPr id="20" name="anim_016_vocab_en_56"/>
          <p:cNvSpPr txBox="1"/>
          <p:nvPr/>
        </p:nvSpPr>
        <p:spPr>
          <a:xfrm>
            <a:off x="9003134" y="4812029"/>
            <a:ext cx="2427183"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have a wonderful experience</a:t>
            </a:r>
            <a:endParaRPr sz="2300" b="0">
              <a:solidFill>
                <a:srgbClr val="CD1E1E"/>
              </a:solidFill>
              <a:latin typeface="Arial" panose="020B0604020202020204"/>
            </a:endParaRPr>
          </a:p>
        </p:txBody>
      </p:sp>
      <p:sp>
        <p:nvSpPr>
          <p:cNvPr id="21" name="Rectangle 20"/>
          <p:cNvSpPr/>
          <p:nvPr/>
        </p:nvSpPr>
        <p:spPr>
          <a:xfrm>
            <a:off x="5943918"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11</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词汇/短语积累 8</a:t>
            </a:r>
            <a:endParaRPr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vocab_cn_57"/>
          <p:cNvSpPr txBox="1"/>
          <p:nvPr/>
        </p:nvSpPr>
        <p:spPr>
          <a:xfrm>
            <a:off x="713549" y="1143000"/>
            <a:ext cx="2686507" cy="742950"/>
          </a:xfrm>
          <a:prstGeom prst="rect">
            <a:avLst/>
          </a:prstGeom>
          <a:noFill/>
        </p:spPr>
        <p:txBody>
          <a:bodyPr wrap="square" lIns="36576" tIns="18288" rIns="36576" bIns="18288" anchor="t">
            <a:spAutoFit/>
          </a:bodyPr>
          <a:lstStyle/>
          <a:p>
            <a:pPr>
              <a:spcAft>
                <a:spcPts val="300"/>
              </a:spcAft>
            </a:pPr>
            <a:r>
              <a:rPr sz="2300" b="0">
                <a:solidFill>
                  <a:srgbClr val="0F0F0F"/>
                </a:solidFill>
                <a:latin typeface="微软雅黑" panose="020B0503020204020204" charset="-122"/>
              </a:rPr>
              <a:t>57. 回到你的日常生活</a:t>
            </a:r>
            <a:endParaRPr sz="2300" b="0">
              <a:solidFill>
                <a:srgbClr val="0F0F0F"/>
              </a:solidFill>
              <a:latin typeface="微软雅黑" panose="020B0503020204020204" charset="-122"/>
            </a:endParaRPr>
          </a:p>
        </p:txBody>
      </p:sp>
      <p:sp>
        <p:nvSpPr>
          <p:cNvPr id="6" name="anim_002_vocab_en_57"/>
          <p:cNvSpPr txBox="1"/>
          <p:nvPr/>
        </p:nvSpPr>
        <p:spPr>
          <a:xfrm>
            <a:off x="3509785" y="1143000"/>
            <a:ext cx="2370124" cy="742950"/>
          </a:xfrm>
          <a:prstGeom prst="rect">
            <a:avLst/>
          </a:prstGeom>
          <a:noFill/>
        </p:spPr>
        <p:txBody>
          <a:bodyPr wrap="square" lIns="36576" tIns="18288" rIns="36576" bIns="18288" anchor="t">
            <a:spAutoFit/>
          </a:bodyPr>
          <a:lstStyle/>
          <a:p>
            <a:pPr>
              <a:spcAft>
                <a:spcPts val="300"/>
              </a:spcAft>
            </a:pPr>
            <a:r>
              <a:rPr sz="2300" b="0">
                <a:solidFill>
                  <a:srgbClr val="CD1E1E"/>
                </a:solidFill>
                <a:latin typeface="Arial" panose="020B0604020202020204"/>
              </a:rPr>
              <a:t>go back to your regular life</a:t>
            </a:r>
            <a:endParaRPr sz="2300" b="0">
              <a:solidFill>
                <a:srgbClr val="CD1E1E"/>
              </a:solidFill>
              <a:latin typeface="Arial" panose="020B0604020202020204"/>
            </a:endParaRPr>
          </a:p>
        </p:txBody>
      </p:sp>
      <p:sp>
        <p:nvSpPr>
          <p:cNvPr id="7" name="anim_003_vocab_cn_58"/>
          <p:cNvSpPr txBox="1"/>
          <p:nvPr/>
        </p:nvSpPr>
        <p:spPr>
          <a:xfrm>
            <a:off x="6145086" y="1143000"/>
            <a:ext cx="2748320" cy="650875"/>
          </a:xfrm>
          <a:prstGeom prst="rect">
            <a:avLst/>
          </a:prstGeom>
          <a:noFill/>
        </p:spPr>
        <p:txBody>
          <a:bodyPr wrap="square" lIns="36576" tIns="18288" rIns="36576" bIns="18288" anchor="t">
            <a:spAutoFit/>
          </a:bodyPr>
          <a:lstStyle/>
          <a:p>
            <a:pPr>
              <a:spcAft>
                <a:spcPts val="300"/>
              </a:spcAft>
            </a:pPr>
            <a:r>
              <a:rPr sz="2000" b="0">
                <a:solidFill>
                  <a:srgbClr val="0F0F0F"/>
                </a:solidFill>
                <a:latin typeface="微软雅黑" panose="020B0503020204020204" charset="-122"/>
              </a:rPr>
              <a:t>58. 某人花费时间或金钱在某事上/做某事</a:t>
            </a:r>
            <a:endParaRPr sz="2000" b="0">
              <a:solidFill>
                <a:srgbClr val="0F0F0F"/>
              </a:solidFill>
              <a:latin typeface="微软雅黑" panose="020B0503020204020204" charset="-122"/>
            </a:endParaRPr>
          </a:p>
        </p:txBody>
      </p:sp>
      <p:sp>
        <p:nvSpPr>
          <p:cNvPr id="8" name="anim_004_vocab_en_58"/>
          <p:cNvSpPr txBox="1"/>
          <p:nvPr/>
        </p:nvSpPr>
        <p:spPr>
          <a:xfrm>
            <a:off x="9003134" y="1143000"/>
            <a:ext cx="2427183" cy="958850"/>
          </a:xfrm>
          <a:prstGeom prst="rect">
            <a:avLst/>
          </a:prstGeom>
          <a:noFill/>
        </p:spPr>
        <p:txBody>
          <a:bodyPr wrap="square" lIns="36576" tIns="18288" rIns="36576" bIns="18288" anchor="t">
            <a:spAutoFit/>
          </a:bodyPr>
          <a:lstStyle/>
          <a:p>
            <a:pPr>
              <a:spcAft>
                <a:spcPts val="300"/>
              </a:spcAft>
            </a:pPr>
            <a:r>
              <a:rPr sz="2000" b="0">
                <a:solidFill>
                  <a:srgbClr val="CD1E1E"/>
                </a:solidFill>
                <a:latin typeface="Arial" panose="020B0604020202020204"/>
              </a:rPr>
              <a:t>spend (spent) time/money on sth./ (in) doing sth.</a:t>
            </a:r>
            <a:endParaRPr sz="2000" b="0">
              <a:solidFill>
                <a:srgbClr val="CD1E1E"/>
              </a:solidFill>
              <a:latin typeface="Arial" panose="020B0604020202020204"/>
            </a:endParaRPr>
          </a:p>
        </p:txBody>
      </p:sp>
      <p:sp>
        <p:nvSpPr>
          <p:cNvPr id="9" name="Rectangle 8"/>
          <p:cNvSpPr/>
          <p:nvPr/>
        </p:nvSpPr>
        <p:spPr>
          <a:xfrm>
            <a:off x="5943918" y="1078992"/>
            <a:ext cx="13716" cy="5029200"/>
          </a:xfrm>
          <a:prstGeom prst="rect">
            <a:avLst/>
          </a:prstGeom>
          <a:solidFill>
            <a:srgbClr val="E1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12</a:t>
            </a:r>
            <a:endParaRPr sz="1000" b="0">
              <a:solidFill>
                <a:srgbClr val="626262"/>
              </a:solidFill>
              <a:latin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句型练习 1</a:t>
            </a:r>
            <a:endParaRPr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550" y="1078992"/>
            <a:ext cx="10835640" cy="389255"/>
          </a:xfrm>
          <a:prstGeom prst="rect">
            <a:avLst/>
          </a:prstGeom>
          <a:noFill/>
        </p:spPr>
        <p:txBody>
          <a:bodyPr wrap="square" lIns="36576" tIns="18288" rIns="36576" bIns="18288" anchor="t">
            <a:spAutoFit/>
          </a:bodyPr>
          <a:lstStyle/>
          <a:p>
            <a:pPr>
              <a:spcAft>
                <a:spcPts val="300"/>
              </a:spcAft>
            </a:pPr>
            <a:r>
              <a:rPr sz="2300" b="0">
                <a:solidFill>
                  <a:srgbClr val="3F9148"/>
                </a:solidFill>
                <a:latin typeface="微软雅黑" panose="020B0503020204020204" charset="-122"/>
              </a:rPr>
              <a:t>1.开篇点题</a:t>
            </a:r>
            <a:endParaRPr sz="2300" b="0">
              <a:solidFill>
                <a:srgbClr val="3F9148"/>
              </a:solidFill>
              <a:latin typeface="微软雅黑" panose="020B0503020204020204" charset="-122"/>
            </a:endParaRPr>
          </a:p>
        </p:txBody>
      </p:sp>
      <p:sp>
        <p:nvSpPr>
          <p:cNvPr id="6" name="TextBox 5"/>
          <p:cNvSpPr txBox="1"/>
          <p:nvPr/>
        </p:nvSpPr>
        <p:spPr>
          <a:xfrm>
            <a:off x="713550" y="1591056"/>
            <a:ext cx="10835640" cy="389255"/>
          </a:xfrm>
          <a:prstGeom prst="rect">
            <a:avLst/>
          </a:prstGeom>
          <a:noFill/>
        </p:spPr>
        <p:txBody>
          <a:bodyPr wrap="square" lIns="36576" tIns="18288" rIns="36576" bIns="18288" anchor="t">
            <a:spAutoFit/>
          </a:bodyPr>
          <a:lstStyle/>
          <a:p>
            <a:pPr>
              <a:spcAft>
                <a:spcPts val="300"/>
              </a:spcAft>
            </a:pPr>
            <a:r>
              <a:rPr sz="2300" b="0">
                <a:solidFill>
                  <a:srgbClr val="3F9148"/>
                </a:solidFill>
                <a:latin typeface="微软雅黑" panose="020B0503020204020204" charset="-122"/>
              </a:rPr>
              <a:t>①旅行的好处:了解外界，丰富生活(know about,enrich one's life)</a:t>
            </a:r>
            <a:endParaRPr sz="2300" b="0">
              <a:solidFill>
                <a:srgbClr val="3F9148"/>
              </a:solidFill>
              <a:latin typeface="微软雅黑" panose="020B0503020204020204" charset="-122"/>
            </a:endParaRPr>
          </a:p>
        </p:txBody>
      </p:sp>
      <p:sp>
        <p:nvSpPr>
          <p:cNvPr id="7" name="TextBox 6"/>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13</a:t>
            </a:r>
            <a:endParaRPr sz="1000" b="0">
              <a:solidFill>
                <a:srgbClr val="626262"/>
              </a:solidFill>
              <a:latin typeface="微软雅黑" panose="020B0503020204020204" charset="-122"/>
            </a:endParaRPr>
          </a:p>
        </p:txBody>
      </p:sp>
      <p:sp>
        <p:nvSpPr>
          <p:cNvPr id="11" name="TextBox 4"/>
          <p:cNvSpPr txBox="1"/>
          <p:nvPr/>
        </p:nvSpPr>
        <p:spPr>
          <a:xfrm>
            <a:off x="713550" y="2359787"/>
            <a:ext cx="10835640" cy="389255"/>
          </a:xfrm>
          <a:prstGeom prst="rect">
            <a:avLst/>
          </a:prstGeom>
          <a:noFill/>
        </p:spPr>
        <p:txBody>
          <a:bodyPr wrap="square" lIns="36576" tIns="18288" rIns="36576" bIns="18288" anchor="t">
            <a:spAutoFit/>
          </a:bodyPr>
          <a:p>
            <a:pPr>
              <a:spcAft>
                <a:spcPts val="300"/>
              </a:spcAft>
            </a:pPr>
            <a:r>
              <a:rPr sz="2300" b="0">
                <a:solidFill>
                  <a:srgbClr val="3F9148"/>
                </a:solidFill>
                <a:latin typeface="微软雅黑" panose="020B0503020204020204" charset="-122"/>
              </a:rPr>
              <a:t>②介绍自己的旅行</a:t>
            </a:r>
            <a:endParaRPr sz="2300" b="0">
              <a:solidFill>
                <a:srgbClr val="3F9148"/>
              </a:solidFill>
              <a:latin typeface="微软雅黑" panose="020B0503020204020204" charset="-122"/>
            </a:endParaRPr>
          </a:p>
        </p:txBody>
      </p:sp>
      <p:sp>
        <p:nvSpPr>
          <p:cNvPr id="12" name="anim_001_sent_prompt_1"/>
          <p:cNvSpPr txBox="1"/>
          <p:nvPr/>
        </p:nvSpPr>
        <p:spPr>
          <a:xfrm>
            <a:off x="713550" y="2944241"/>
            <a:ext cx="10835640" cy="374015"/>
          </a:xfrm>
          <a:prstGeom prst="rect">
            <a:avLst/>
          </a:prstGeom>
          <a:noFill/>
        </p:spPr>
        <p:txBody>
          <a:bodyPr wrap="square" lIns="36576" tIns="18288" rIns="36576" bIns="18288" anchor="t">
            <a:spAutoFit/>
          </a:bodyPr>
          <a:p>
            <a:pPr>
              <a:spcAft>
                <a:spcPts val="200"/>
              </a:spcAft>
            </a:pPr>
            <a:r>
              <a:rPr sz="2200">
                <a:solidFill>
                  <a:srgbClr val="0F0F0F"/>
                </a:solidFill>
                <a:latin typeface="微软雅黑" panose="020B0503020204020204" charset="-122"/>
              </a:rPr>
              <a:t>1. 旅行帮助我更多地了解外面的世界，也丰富了我的生活。</a:t>
            </a:r>
            <a:endParaRPr sz="2200">
              <a:solidFill>
                <a:srgbClr val="0F0F0F"/>
              </a:solidFill>
              <a:latin typeface="微软雅黑" panose="020B0503020204020204" charset="-122"/>
            </a:endParaRPr>
          </a:p>
        </p:txBody>
      </p:sp>
      <p:sp>
        <p:nvSpPr>
          <p:cNvPr id="13" name="anim_002_sent_answer_1"/>
          <p:cNvSpPr txBox="1"/>
          <p:nvPr/>
        </p:nvSpPr>
        <p:spPr>
          <a:xfrm>
            <a:off x="713550" y="3502533"/>
            <a:ext cx="10835640" cy="374015"/>
          </a:xfrm>
          <a:prstGeom prst="rect">
            <a:avLst/>
          </a:prstGeom>
          <a:noFill/>
        </p:spPr>
        <p:txBody>
          <a:bodyPr wrap="square" lIns="36576" tIns="18288" rIns="36576" bIns="18288" anchor="t">
            <a:spAutoFit/>
          </a:bodyPr>
          <a:p>
            <a:pPr>
              <a:spcAft>
                <a:spcPts val="300"/>
              </a:spcAft>
            </a:pPr>
            <a:r>
              <a:rPr sz="2200" b="0">
                <a:solidFill>
                  <a:srgbClr val="CD1E1E"/>
                </a:solidFill>
                <a:latin typeface="Arial" panose="020B0604020202020204"/>
              </a:rPr>
              <a:t>Travelling helps me know more about the outside world as well as</a:t>
            </a:r>
            <a:r>
              <a:rPr lang="en-US" sz="2200" b="0">
                <a:solidFill>
                  <a:srgbClr val="CD1E1E"/>
                </a:solidFill>
                <a:latin typeface="Arial" panose="020B0604020202020204"/>
              </a:rPr>
              <a:t> </a:t>
            </a:r>
            <a:r>
              <a:rPr sz="2200" b="0">
                <a:solidFill>
                  <a:srgbClr val="CD1E1E"/>
                </a:solidFill>
                <a:latin typeface="Arial" panose="020B0604020202020204"/>
              </a:rPr>
              <a:t>enriches my life.</a:t>
            </a:r>
            <a:endParaRPr sz="2200" b="0">
              <a:solidFill>
                <a:srgbClr val="CD1E1E"/>
              </a:solidFill>
              <a:latin typeface="Arial" panose="020B0604020202020204"/>
            </a:endParaRPr>
          </a:p>
        </p:txBody>
      </p:sp>
      <p:sp>
        <p:nvSpPr>
          <p:cNvPr id="14" name="anim_001_sent_prompt_2"/>
          <p:cNvSpPr txBox="1"/>
          <p:nvPr/>
        </p:nvSpPr>
        <p:spPr>
          <a:xfrm>
            <a:off x="713550" y="4088892"/>
            <a:ext cx="10835640" cy="374015"/>
          </a:xfrm>
          <a:prstGeom prst="rect">
            <a:avLst/>
          </a:prstGeom>
          <a:noFill/>
        </p:spPr>
        <p:txBody>
          <a:bodyPr wrap="square" lIns="36576" tIns="18288" rIns="36576" bIns="18288" anchor="t">
            <a:spAutoFit/>
          </a:bodyPr>
          <a:p>
            <a:pPr>
              <a:spcAft>
                <a:spcPts val="200"/>
              </a:spcAft>
            </a:pPr>
            <a:r>
              <a:rPr sz="2200">
                <a:solidFill>
                  <a:srgbClr val="0F0F0F"/>
                </a:solidFill>
                <a:latin typeface="微软雅黑" panose="020B0503020204020204" charset="-122"/>
              </a:rPr>
              <a:t>2. 今年夏天，我和家人去云南省度假，我们玩得很开心。</a:t>
            </a:r>
            <a:endParaRPr sz="2200">
              <a:solidFill>
                <a:srgbClr val="0F0F0F"/>
              </a:solidFill>
              <a:latin typeface="微软雅黑" panose="020B0503020204020204" charset="-122"/>
            </a:endParaRPr>
          </a:p>
        </p:txBody>
      </p:sp>
      <p:sp>
        <p:nvSpPr>
          <p:cNvPr id="15" name="anim_002_sent_answer_2"/>
          <p:cNvSpPr txBox="1"/>
          <p:nvPr/>
        </p:nvSpPr>
        <p:spPr>
          <a:xfrm>
            <a:off x="713550" y="4641468"/>
            <a:ext cx="10835640" cy="712470"/>
          </a:xfrm>
          <a:prstGeom prst="rect">
            <a:avLst/>
          </a:prstGeom>
          <a:noFill/>
        </p:spPr>
        <p:txBody>
          <a:bodyPr wrap="square" lIns="36576" tIns="18288" rIns="36576" bIns="18288" anchor="t">
            <a:spAutoFit/>
          </a:bodyPr>
          <a:p>
            <a:pPr>
              <a:spcAft>
                <a:spcPts val="300"/>
              </a:spcAft>
            </a:pPr>
            <a:r>
              <a:rPr sz="2200" b="0">
                <a:solidFill>
                  <a:srgbClr val="CD1E1E"/>
                </a:solidFill>
                <a:latin typeface="Arial" panose="020B0604020202020204"/>
              </a:rPr>
              <a:t>This summer, I went on vacation to Yunnan Province with my family and</a:t>
            </a:r>
            <a:r>
              <a:rPr lang="en-US" sz="2200" b="0">
                <a:solidFill>
                  <a:srgbClr val="CD1E1E"/>
                </a:solidFill>
                <a:latin typeface="Arial" panose="020B0604020202020204"/>
              </a:rPr>
              <a:t> </a:t>
            </a:r>
            <a:r>
              <a:rPr sz="2200" b="0">
                <a:solidFill>
                  <a:srgbClr val="CD1E1E"/>
                </a:solidFill>
                <a:latin typeface="Arial" panose="020B0604020202020204"/>
              </a:rPr>
              <a:t>we had great fun.</a:t>
            </a:r>
            <a:endParaRPr sz="2200" b="0">
              <a:solidFill>
                <a:srgbClr val="CD1E1E"/>
              </a:solidFill>
              <a:latin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句型练习 </a:t>
            </a:r>
            <a:r>
              <a:rPr lang="en-US" sz="2800" b="1">
                <a:solidFill>
                  <a:srgbClr val="0F0F0F"/>
                </a:solidFill>
                <a:latin typeface="微软雅黑" panose="020B0503020204020204" charset="-122"/>
              </a:rPr>
              <a:t>2</a:t>
            </a:r>
            <a:endParaRPr lang="en-US"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sent_prompt_3"/>
          <p:cNvSpPr txBox="1"/>
          <p:nvPr/>
        </p:nvSpPr>
        <p:spPr>
          <a:xfrm>
            <a:off x="713550" y="1078992"/>
            <a:ext cx="10835640" cy="404495"/>
          </a:xfrm>
          <a:prstGeom prst="rect">
            <a:avLst/>
          </a:prstGeom>
          <a:noFill/>
        </p:spPr>
        <p:txBody>
          <a:bodyPr wrap="square" lIns="36576" tIns="18288" rIns="36576" bIns="18288" anchor="t">
            <a:spAutoFit/>
          </a:bodyPr>
          <a:lstStyle/>
          <a:p>
            <a:pPr>
              <a:spcAft>
                <a:spcPts val="200"/>
              </a:spcAft>
            </a:pPr>
            <a:r>
              <a:rPr sz="2400">
                <a:solidFill>
                  <a:srgbClr val="0F0F0F"/>
                </a:solidFill>
                <a:latin typeface="微软雅黑" panose="020B0503020204020204" charset="-122"/>
              </a:rPr>
              <a:t>3. 今年夏天我和父母去北京度假</a:t>
            </a:r>
            <a:endParaRPr sz="2400">
              <a:solidFill>
                <a:srgbClr val="0F0F0F"/>
              </a:solidFill>
              <a:latin typeface="微软雅黑" panose="020B0503020204020204" charset="-122"/>
            </a:endParaRPr>
          </a:p>
        </p:txBody>
      </p:sp>
      <p:sp>
        <p:nvSpPr>
          <p:cNvPr id="6" name="anim_002_sent_answer_3"/>
          <p:cNvSpPr txBox="1"/>
          <p:nvPr/>
        </p:nvSpPr>
        <p:spPr>
          <a:xfrm>
            <a:off x="713550" y="1883664"/>
            <a:ext cx="10835640" cy="404495"/>
          </a:xfrm>
          <a:prstGeom prst="rect">
            <a:avLst/>
          </a:prstGeom>
          <a:noFill/>
        </p:spPr>
        <p:txBody>
          <a:bodyPr wrap="square" lIns="36576" tIns="18288" rIns="36576" bIns="18288" anchor="t">
            <a:spAutoFit/>
          </a:bodyPr>
          <a:lstStyle/>
          <a:p>
            <a:pPr>
              <a:spcAft>
                <a:spcPts val="300"/>
              </a:spcAft>
            </a:pPr>
            <a:r>
              <a:rPr sz="2400" b="0">
                <a:solidFill>
                  <a:srgbClr val="CD1E1E"/>
                </a:solidFill>
                <a:latin typeface="Arial" panose="020B0604020202020204"/>
              </a:rPr>
              <a:t>I went to Beijing on vacation with my parents this summer.</a:t>
            </a:r>
            <a:endParaRPr sz="2400" b="0">
              <a:solidFill>
                <a:srgbClr val="CD1E1E"/>
              </a:solidFill>
              <a:latin typeface="Arial" panose="020B0604020202020204"/>
            </a:endParaRPr>
          </a:p>
        </p:txBody>
      </p:sp>
      <p:sp>
        <p:nvSpPr>
          <p:cNvPr id="7" name="TextBox 6"/>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16</a:t>
            </a:r>
            <a:endParaRPr sz="1000" b="0">
              <a:solidFill>
                <a:srgbClr val="626262"/>
              </a:solidFill>
              <a:latin typeface="微软雅黑" panose="020B0503020204020204" charset="-122"/>
            </a:endParaRPr>
          </a:p>
        </p:txBody>
      </p:sp>
      <p:sp>
        <p:nvSpPr>
          <p:cNvPr id="8" name="anim_001_sent_prompt_4"/>
          <p:cNvSpPr txBox="1"/>
          <p:nvPr/>
        </p:nvSpPr>
        <p:spPr>
          <a:xfrm>
            <a:off x="704660" y="2770632"/>
            <a:ext cx="10835640" cy="404495"/>
          </a:xfrm>
          <a:prstGeom prst="rect">
            <a:avLst/>
          </a:prstGeom>
          <a:noFill/>
        </p:spPr>
        <p:txBody>
          <a:bodyPr wrap="square" lIns="36576" tIns="18288" rIns="36576" bIns="18288" anchor="t">
            <a:spAutoFit/>
          </a:bodyPr>
          <a:p>
            <a:pPr>
              <a:spcAft>
                <a:spcPts val="200"/>
              </a:spcAft>
            </a:pPr>
            <a:r>
              <a:rPr sz="2400">
                <a:solidFill>
                  <a:srgbClr val="0F0F0F"/>
                </a:solidFill>
                <a:latin typeface="微软雅黑" panose="020B0503020204020204" charset="-122"/>
              </a:rPr>
              <a:t>4. 我的父母和我有一个美好的海南之旅</a:t>
            </a:r>
            <a:endParaRPr sz="2400">
              <a:solidFill>
                <a:srgbClr val="0F0F0F"/>
              </a:solidFill>
              <a:latin typeface="微软雅黑" panose="020B0503020204020204" charset="-122"/>
            </a:endParaRPr>
          </a:p>
        </p:txBody>
      </p:sp>
      <p:sp>
        <p:nvSpPr>
          <p:cNvPr id="9" name="anim_002_sent_answer_4"/>
          <p:cNvSpPr txBox="1"/>
          <p:nvPr/>
        </p:nvSpPr>
        <p:spPr>
          <a:xfrm>
            <a:off x="704660" y="3575304"/>
            <a:ext cx="10835640" cy="404495"/>
          </a:xfrm>
          <a:prstGeom prst="rect">
            <a:avLst/>
          </a:prstGeom>
          <a:noFill/>
        </p:spPr>
        <p:txBody>
          <a:bodyPr wrap="square" lIns="36576" tIns="18288" rIns="36576" bIns="18288" anchor="t">
            <a:spAutoFit/>
          </a:bodyPr>
          <a:p>
            <a:pPr>
              <a:spcAft>
                <a:spcPts val="300"/>
              </a:spcAft>
            </a:pPr>
            <a:r>
              <a:rPr sz="2400" b="0">
                <a:solidFill>
                  <a:srgbClr val="CD1E1E"/>
                </a:solidFill>
                <a:latin typeface="Arial" panose="020B0604020202020204"/>
              </a:rPr>
              <a:t>My parents and I had a wonderful journey to Hainan.</a:t>
            </a:r>
            <a:endParaRPr sz="2400" b="0">
              <a:solidFill>
                <a:srgbClr val="CD1E1E"/>
              </a:solidFill>
              <a:latin typeface="Arial" panose="020B0604020202020204"/>
            </a:endParaRPr>
          </a:p>
        </p:txBody>
      </p:sp>
      <p:sp>
        <p:nvSpPr>
          <p:cNvPr id="10" name="anim_001_sent_prompt_5"/>
          <p:cNvSpPr txBox="1"/>
          <p:nvPr/>
        </p:nvSpPr>
        <p:spPr>
          <a:xfrm>
            <a:off x="677990" y="4379722"/>
            <a:ext cx="10835640" cy="404495"/>
          </a:xfrm>
          <a:prstGeom prst="rect">
            <a:avLst/>
          </a:prstGeom>
          <a:noFill/>
        </p:spPr>
        <p:txBody>
          <a:bodyPr wrap="square" lIns="36576" tIns="18288" rIns="36576" bIns="18288" anchor="t">
            <a:spAutoFit/>
          </a:bodyPr>
          <a:p>
            <a:pPr>
              <a:spcAft>
                <a:spcPts val="200"/>
              </a:spcAft>
            </a:pPr>
            <a:r>
              <a:rPr sz="2400">
                <a:solidFill>
                  <a:srgbClr val="0F0F0F"/>
                </a:solidFill>
                <a:latin typeface="微软雅黑" panose="020B0503020204020204" charset="-122"/>
              </a:rPr>
              <a:t>5. 我仍然记得和家人去三亚的旅行。</a:t>
            </a:r>
            <a:endParaRPr sz="2400">
              <a:solidFill>
                <a:srgbClr val="0F0F0F"/>
              </a:solidFill>
              <a:latin typeface="微软雅黑" panose="020B0503020204020204" charset="-122"/>
            </a:endParaRPr>
          </a:p>
        </p:txBody>
      </p:sp>
      <p:sp>
        <p:nvSpPr>
          <p:cNvPr id="11" name="anim_002_sent_answer_5"/>
          <p:cNvSpPr txBox="1"/>
          <p:nvPr/>
        </p:nvSpPr>
        <p:spPr>
          <a:xfrm>
            <a:off x="677990" y="5184394"/>
            <a:ext cx="10835640" cy="404495"/>
          </a:xfrm>
          <a:prstGeom prst="rect">
            <a:avLst/>
          </a:prstGeom>
          <a:noFill/>
        </p:spPr>
        <p:txBody>
          <a:bodyPr wrap="square" lIns="36576" tIns="18288" rIns="36576" bIns="18288" anchor="t">
            <a:spAutoFit/>
          </a:bodyPr>
          <a:p>
            <a:pPr>
              <a:spcAft>
                <a:spcPts val="300"/>
              </a:spcAft>
            </a:pPr>
            <a:r>
              <a:rPr sz="2400" b="0">
                <a:solidFill>
                  <a:srgbClr val="CD1E1E"/>
                </a:solidFill>
                <a:latin typeface="Arial" panose="020B0604020202020204"/>
              </a:rPr>
              <a:t>I still remember the trip to Sanya with my family.</a:t>
            </a:r>
            <a:endParaRPr sz="2400" b="0">
              <a:solidFill>
                <a:srgbClr val="CD1E1E"/>
              </a:solidFill>
              <a:latin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句型练习 </a:t>
            </a:r>
            <a:r>
              <a:rPr lang="en-US" sz="2800" b="1">
                <a:solidFill>
                  <a:srgbClr val="0F0F0F"/>
                </a:solidFill>
                <a:latin typeface="微软雅黑" panose="020B0503020204020204" charset="-122"/>
              </a:rPr>
              <a:t>3</a:t>
            </a:r>
            <a:endParaRPr lang="en-US"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550" y="1078992"/>
            <a:ext cx="10835640" cy="389255"/>
          </a:xfrm>
          <a:prstGeom prst="rect">
            <a:avLst/>
          </a:prstGeom>
          <a:noFill/>
        </p:spPr>
        <p:txBody>
          <a:bodyPr wrap="square" lIns="36576" tIns="18288" rIns="36576" bIns="18288" anchor="t">
            <a:spAutoFit/>
          </a:bodyPr>
          <a:lstStyle/>
          <a:p>
            <a:pPr>
              <a:spcAft>
                <a:spcPts val="300"/>
              </a:spcAft>
            </a:pPr>
            <a:r>
              <a:rPr sz="2300" b="0">
                <a:solidFill>
                  <a:srgbClr val="3F9148"/>
                </a:solidFill>
                <a:latin typeface="微软雅黑" panose="020B0503020204020204" charset="-122"/>
              </a:rPr>
              <a:t>2.具体介绍旅行经验</a:t>
            </a:r>
            <a:endParaRPr sz="2300" b="0">
              <a:solidFill>
                <a:srgbClr val="3F9148"/>
              </a:solidFill>
              <a:latin typeface="微软雅黑" panose="020B0503020204020204" charset="-122"/>
            </a:endParaRPr>
          </a:p>
        </p:txBody>
      </p:sp>
      <p:sp>
        <p:nvSpPr>
          <p:cNvPr id="6" name="TextBox 5"/>
          <p:cNvSpPr txBox="1"/>
          <p:nvPr/>
        </p:nvSpPr>
        <p:spPr>
          <a:xfrm>
            <a:off x="713550" y="1591056"/>
            <a:ext cx="10835640" cy="781685"/>
          </a:xfrm>
          <a:prstGeom prst="rect">
            <a:avLst/>
          </a:prstGeom>
          <a:noFill/>
        </p:spPr>
        <p:txBody>
          <a:bodyPr wrap="square" lIns="36576" tIns="18288" rIns="36576" bIns="18288" anchor="t">
            <a:spAutoFit/>
          </a:bodyPr>
          <a:lstStyle/>
          <a:p>
            <a:pPr>
              <a:spcAft>
                <a:spcPts val="300"/>
              </a:spcAft>
            </a:pPr>
            <a:r>
              <a:rPr sz="2300" b="0">
                <a:solidFill>
                  <a:srgbClr val="3F9148"/>
                </a:solidFill>
                <a:latin typeface="微软雅黑" panose="020B0503020204020204" charset="-122"/>
              </a:rPr>
              <a:t>①First we went to … and watched …Then we visited …The next day, we</a:t>
            </a:r>
            <a:endParaRPr sz="2300" b="0">
              <a:solidFill>
                <a:srgbClr val="3F9148"/>
              </a:solidFill>
              <a:latin typeface="微软雅黑" panose="020B0503020204020204" charset="-122"/>
            </a:endParaRPr>
          </a:p>
          <a:p>
            <a:pPr>
              <a:spcAft>
                <a:spcPts val="300"/>
              </a:spcAft>
            </a:pPr>
            <a:r>
              <a:rPr sz="2300" b="0">
                <a:solidFill>
                  <a:srgbClr val="3F9148"/>
                </a:solidFill>
                <a:latin typeface="微软雅黑" panose="020B0503020204020204" charset="-122"/>
              </a:rPr>
              <a:t>visited …</a:t>
            </a:r>
            <a:endParaRPr sz="2300" b="0">
              <a:solidFill>
                <a:srgbClr val="3F9148"/>
              </a:solidFill>
              <a:latin typeface="微软雅黑" panose="020B0503020204020204" charset="-122"/>
            </a:endParaRPr>
          </a:p>
        </p:txBody>
      </p:sp>
      <p:sp>
        <p:nvSpPr>
          <p:cNvPr id="7" name="TextBox 6"/>
          <p:cNvSpPr txBox="1"/>
          <p:nvPr/>
        </p:nvSpPr>
        <p:spPr>
          <a:xfrm>
            <a:off x="713550" y="2414016"/>
            <a:ext cx="10835640" cy="389255"/>
          </a:xfrm>
          <a:prstGeom prst="rect">
            <a:avLst/>
          </a:prstGeom>
          <a:noFill/>
        </p:spPr>
        <p:txBody>
          <a:bodyPr wrap="square" lIns="36576" tIns="18288" rIns="36576" bIns="18288" anchor="t">
            <a:spAutoFit/>
          </a:bodyPr>
          <a:lstStyle/>
          <a:p>
            <a:pPr>
              <a:spcAft>
                <a:spcPts val="300"/>
              </a:spcAft>
            </a:pPr>
            <a:r>
              <a:rPr sz="2300" b="0">
                <a:solidFill>
                  <a:srgbClr val="3F9148"/>
                </a:solidFill>
                <a:latin typeface="微软雅黑" panose="020B0503020204020204" charset="-122"/>
              </a:rPr>
              <a:t>②We took quite a few photos there and we learnt …</a:t>
            </a:r>
            <a:endParaRPr sz="2300" b="0">
              <a:solidFill>
                <a:srgbClr val="3F9148"/>
              </a:solidFill>
              <a:latin typeface="微软雅黑" panose="020B0503020204020204" charset="-122"/>
            </a:endParaRPr>
          </a:p>
        </p:txBody>
      </p:sp>
      <p:sp>
        <p:nvSpPr>
          <p:cNvPr id="8" name="TextBox 7"/>
          <p:cNvSpPr txBox="1"/>
          <p:nvPr/>
        </p:nvSpPr>
        <p:spPr>
          <a:xfrm>
            <a:off x="713550" y="2926080"/>
            <a:ext cx="10835640" cy="389255"/>
          </a:xfrm>
          <a:prstGeom prst="rect">
            <a:avLst/>
          </a:prstGeom>
          <a:noFill/>
        </p:spPr>
        <p:txBody>
          <a:bodyPr wrap="square" lIns="36576" tIns="18288" rIns="36576" bIns="18288" anchor="t">
            <a:spAutoFit/>
          </a:bodyPr>
          <a:lstStyle/>
          <a:p>
            <a:pPr>
              <a:spcAft>
                <a:spcPts val="300"/>
              </a:spcAft>
            </a:pPr>
            <a:r>
              <a:rPr sz="2300" b="0">
                <a:solidFill>
                  <a:srgbClr val="3F9148"/>
                </a:solidFill>
                <a:latin typeface="微软雅黑" panose="020B0503020204020204" charset="-122"/>
              </a:rPr>
              <a:t>③It was time for us to …</a:t>
            </a:r>
            <a:endParaRPr sz="2300" b="0">
              <a:solidFill>
                <a:srgbClr val="3F9148"/>
              </a:solidFill>
              <a:latin typeface="微软雅黑" panose="020B0503020204020204" charset="-122"/>
            </a:endParaRPr>
          </a:p>
        </p:txBody>
      </p:sp>
      <p:sp>
        <p:nvSpPr>
          <p:cNvPr id="9" name="TextBox 8"/>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19</a:t>
            </a:r>
            <a:endParaRPr sz="1000" b="0">
              <a:solidFill>
                <a:srgbClr val="626262"/>
              </a:solidFill>
              <a:latin typeface="微软雅黑" panose="020B0503020204020204" charset="-122"/>
            </a:endParaRPr>
          </a:p>
        </p:txBody>
      </p:sp>
      <p:sp>
        <p:nvSpPr>
          <p:cNvPr id="10" name="TextBox 4"/>
          <p:cNvSpPr txBox="1"/>
          <p:nvPr/>
        </p:nvSpPr>
        <p:spPr>
          <a:xfrm>
            <a:off x="713550" y="3447542"/>
            <a:ext cx="10835640" cy="389255"/>
          </a:xfrm>
          <a:prstGeom prst="rect">
            <a:avLst/>
          </a:prstGeom>
          <a:noFill/>
        </p:spPr>
        <p:txBody>
          <a:bodyPr wrap="square" lIns="36576" tIns="18288" rIns="36576" bIns="18288" anchor="t">
            <a:spAutoFit/>
          </a:bodyPr>
          <a:p>
            <a:pPr>
              <a:spcAft>
                <a:spcPts val="300"/>
              </a:spcAft>
            </a:pPr>
            <a:r>
              <a:rPr sz="2300" b="0">
                <a:solidFill>
                  <a:srgbClr val="3F9148"/>
                </a:solidFill>
                <a:latin typeface="微软雅黑" panose="020B0503020204020204" charset="-122"/>
              </a:rPr>
              <a:t>④We tried many...like...</a:t>
            </a:r>
            <a:endParaRPr sz="2300" b="0">
              <a:solidFill>
                <a:srgbClr val="3F9148"/>
              </a:solidFill>
              <a:latin typeface="微软雅黑" panose="020B0503020204020204" charset="-122"/>
            </a:endParaRPr>
          </a:p>
        </p:txBody>
      </p:sp>
      <p:sp>
        <p:nvSpPr>
          <p:cNvPr id="11" name="TextBox 5"/>
          <p:cNvSpPr txBox="1"/>
          <p:nvPr/>
        </p:nvSpPr>
        <p:spPr>
          <a:xfrm>
            <a:off x="711010" y="3921506"/>
            <a:ext cx="10835640" cy="389255"/>
          </a:xfrm>
          <a:prstGeom prst="rect">
            <a:avLst/>
          </a:prstGeom>
          <a:noFill/>
        </p:spPr>
        <p:txBody>
          <a:bodyPr wrap="square" lIns="36576" tIns="18288" rIns="36576" bIns="18288" anchor="t">
            <a:spAutoFit/>
          </a:bodyPr>
          <a:p>
            <a:pPr>
              <a:spcAft>
                <a:spcPts val="300"/>
              </a:spcAft>
            </a:pPr>
            <a:r>
              <a:rPr sz="2300" b="0">
                <a:solidFill>
                  <a:srgbClr val="3F9148"/>
                </a:solidFill>
                <a:latin typeface="微软雅黑" panose="020B0503020204020204" charset="-122"/>
              </a:rPr>
              <a:t>⑤I am going to/plan to...</a:t>
            </a:r>
            <a:endParaRPr sz="2300" b="0">
              <a:solidFill>
                <a:srgbClr val="3F9148"/>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句型练习 </a:t>
            </a:r>
            <a:r>
              <a:rPr lang="en-US" sz="2800" b="1">
                <a:solidFill>
                  <a:srgbClr val="0F0F0F"/>
                </a:solidFill>
                <a:latin typeface="微软雅黑" panose="020B0503020204020204" charset="-122"/>
              </a:rPr>
              <a:t>4</a:t>
            </a:r>
            <a:endParaRPr lang="en-US"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sent_prompt_6"/>
          <p:cNvSpPr txBox="1"/>
          <p:nvPr/>
        </p:nvSpPr>
        <p:spPr>
          <a:xfrm>
            <a:off x="713550" y="1078992"/>
            <a:ext cx="10835640" cy="374015"/>
          </a:xfrm>
          <a:prstGeom prst="rect">
            <a:avLst/>
          </a:prstGeom>
          <a:noFill/>
        </p:spPr>
        <p:txBody>
          <a:bodyPr wrap="square" lIns="36576" tIns="18288" rIns="36576" bIns="18288" anchor="t">
            <a:spAutoFit/>
          </a:bodyPr>
          <a:lstStyle/>
          <a:p>
            <a:pPr>
              <a:spcAft>
                <a:spcPts val="200"/>
              </a:spcAft>
            </a:pPr>
            <a:r>
              <a:rPr sz="2200">
                <a:solidFill>
                  <a:srgbClr val="0F0F0F"/>
                </a:solidFill>
                <a:latin typeface="微软雅黑" panose="020B0503020204020204" charset="-122"/>
              </a:rPr>
              <a:t>6. 起初，我们在湖上划船两个小时。然后，我了们爬上山顶。</a:t>
            </a:r>
            <a:endParaRPr sz="2200">
              <a:solidFill>
                <a:srgbClr val="0F0F0F"/>
              </a:solidFill>
              <a:latin typeface="微软雅黑" panose="020B0503020204020204" charset="-122"/>
            </a:endParaRPr>
          </a:p>
        </p:txBody>
      </p:sp>
      <p:sp>
        <p:nvSpPr>
          <p:cNvPr id="6" name="anim_002_sent_answer_6"/>
          <p:cNvSpPr txBox="1"/>
          <p:nvPr/>
        </p:nvSpPr>
        <p:spPr>
          <a:xfrm>
            <a:off x="713550" y="1624583"/>
            <a:ext cx="10835640" cy="712470"/>
          </a:xfrm>
          <a:prstGeom prst="rect">
            <a:avLst/>
          </a:prstGeom>
          <a:noFill/>
        </p:spPr>
        <p:txBody>
          <a:bodyPr wrap="square" lIns="36576" tIns="18288" rIns="36576" bIns="18288" anchor="t">
            <a:spAutoFit/>
          </a:bodyPr>
          <a:lstStyle/>
          <a:p>
            <a:pPr>
              <a:spcAft>
                <a:spcPts val="300"/>
              </a:spcAft>
            </a:pPr>
            <a:r>
              <a:rPr sz="2200" b="0">
                <a:solidFill>
                  <a:srgbClr val="CD1E1E"/>
                </a:solidFill>
                <a:latin typeface="Arial" panose="020B0604020202020204"/>
              </a:rPr>
              <a:t>At first, we went boating on the lake for two hours.Then,we climbed up</a:t>
            </a:r>
            <a:r>
              <a:rPr lang="en-US" sz="2200" b="0">
                <a:solidFill>
                  <a:srgbClr val="CD1E1E"/>
                </a:solidFill>
                <a:latin typeface="Arial" panose="020B0604020202020204"/>
              </a:rPr>
              <a:t> </a:t>
            </a:r>
            <a:r>
              <a:rPr sz="2200" b="0">
                <a:solidFill>
                  <a:srgbClr val="CD1E1E"/>
                </a:solidFill>
                <a:latin typeface="Arial" panose="020B0604020202020204"/>
              </a:rPr>
              <a:t>to the top of a hill.</a:t>
            </a:r>
            <a:endParaRPr sz="2200" b="0">
              <a:solidFill>
                <a:srgbClr val="CD1E1E"/>
              </a:solidFill>
              <a:latin typeface="Arial" panose="020B0604020202020204"/>
            </a:endParaRPr>
          </a:p>
        </p:txBody>
      </p:sp>
      <p:sp>
        <p:nvSpPr>
          <p:cNvPr id="7" name="TextBox 6"/>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21</a:t>
            </a:r>
            <a:endParaRPr sz="1000" b="0">
              <a:solidFill>
                <a:srgbClr val="626262"/>
              </a:solidFill>
              <a:latin typeface="微软雅黑" panose="020B0503020204020204" charset="-122"/>
            </a:endParaRPr>
          </a:p>
        </p:txBody>
      </p:sp>
      <p:sp>
        <p:nvSpPr>
          <p:cNvPr id="8" name="anim_001_sent_prompt_7"/>
          <p:cNvSpPr txBox="1"/>
          <p:nvPr/>
        </p:nvSpPr>
        <p:spPr>
          <a:xfrm>
            <a:off x="713550" y="2786507"/>
            <a:ext cx="10835640" cy="374015"/>
          </a:xfrm>
          <a:prstGeom prst="rect">
            <a:avLst/>
          </a:prstGeom>
          <a:noFill/>
        </p:spPr>
        <p:txBody>
          <a:bodyPr wrap="square" lIns="36576" tIns="18288" rIns="36576" bIns="18288" anchor="t">
            <a:spAutoFit/>
          </a:bodyPr>
          <a:p>
            <a:pPr>
              <a:spcAft>
                <a:spcPts val="200"/>
              </a:spcAft>
            </a:pPr>
            <a:r>
              <a:rPr sz="2200">
                <a:solidFill>
                  <a:srgbClr val="0F0F0F"/>
                </a:solidFill>
                <a:latin typeface="微软雅黑" panose="020B0503020204020204" charset="-122"/>
              </a:rPr>
              <a:t>7. 泸沽湖作为一个著名的名胜，吸引了许多国内外的游客。</a:t>
            </a:r>
            <a:endParaRPr sz="2200">
              <a:solidFill>
                <a:srgbClr val="0F0F0F"/>
              </a:solidFill>
              <a:latin typeface="微软雅黑" panose="020B0503020204020204" charset="-122"/>
            </a:endParaRPr>
          </a:p>
        </p:txBody>
      </p:sp>
      <p:sp>
        <p:nvSpPr>
          <p:cNvPr id="9" name="anim_002_sent_answer_7"/>
          <p:cNvSpPr txBox="1"/>
          <p:nvPr/>
        </p:nvSpPr>
        <p:spPr>
          <a:xfrm>
            <a:off x="713550" y="3363213"/>
            <a:ext cx="10835640" cy="712470"/>
          </a:xfrm>
          <a:prstGeom prst="rect">
            <a:avLst/>
          </a:prstGeom>
          <a:noFill/>
        </p:spPr>
        <p:txBody>
          <a:bodyPr wrap="square" lIns="36576" tIns="18288" rIns="36576" bIns="18288" anchor="t">
            <a:spAutoFit/>
          </a:bodyPr>
          <a:p>
            <a:pPr>
              <a:spcAft>
                <a:spcPts val="300"/>
              </a:spcAft>
            </a:pPr>
            <a:r>
              <a:rPr sz="2200" b="0">
                <a:solidFill>
                  <a:srgbClr val="CD1E1E"/>
                </a:solidFill>
                <a:latin typeface="Arial" panose="020B0604020202020204"/>
              </a:rPr>
              <a:t>As a famous place of interest, Lugu Lake has attracted lots of</a:t>
            </a:r>
            <a:r>
              <a:rPr lang="en-US" sz="2200" b="0">
                <a:solidFill>
                  <a:srgbClr val="CD1E1E"/>
                </a:solidFill>
                <a:latin typeface="Arial" panose="020B0604020202020204"/>
              </a:rPr>
              <a:t> </a:t>
            </a:r>
            <a:r>
              <a:rPr sz="2200" b="0">
                <a:solidFill>
                  <a:srgbClr val="CD1E1E"/>
                </a:solidFill>
                <a:latin typeface="Arial" panose="020B0604020202020204"/>
              </a:rPr>
              <a:t>visitors home and abroad.</a:t>
            </a:r>
            <a:endParaRPr sz="2200" b="0">
              <a:solidFill>
                <a:srgbClr val="CD1E1E"/>
              </a:solidFill>
              <a:latin typeface="Arial" panose="020B0604020202020204"/>
            </a:endParaRPr>
          </a:p>
        </p:txBody>
      </p:sp>
      <p:sp>
        <p:nvSpPr>
          <p:cNvPr id="10" name="anim_001_sent_prompt_8"/>
          <p:cNvSpPr txBox="1"/>
          <p:nvPr/>
        </p:nvSpPr>
        <p:spPr>
          <a:xfrm>
            <a:off x="713550" y="4272407"/>
            <a:ext cx="10835640" cy="374015"/>
          </a:xfrm>
          <a:prstGeom prst="rect">
            <a:avLst/>
          </a:prstGeom>
          <a:noFill/>
        </p:spPr>
        <p:txBody>
          <a:bodyPr wrap="square" lIns="36576" tIns="18288" rIns="36576" bIns="18288" anchor="t">
            <a:spAutoFit/>
          </a:bodyPr>
          <a:p>
            <a:pPr>
              <a:spcAft>
                <a:spcPts val="200"/>
              </a:spcAft>
            </a:pPr>
            <a:r>
              <a:rPr sz="2200">
                <a:solidFill>
                  <a:srgbClr val="0F0F0F"/>
                </a:solidFill>
                <a:latin typeface="微软雅黑" panose="020B0503020204020204" charset="-122"/>
              </a:rPr>
              <a:t>8.当我看到山下美丽的湖泊和村庄时，我觉得自己仿佛置身于一幅美妙的画中。</a:t>
            </a:r>
            <a:endParaRPr sz="2200">
              <a:solidFill>
                <a:srgbClr val="0F0F0F"/>
              </a:solidFill>
              <a:latin typeface="微软雅黑" panose="020B0503020204020204" charset="-122"/>
            </a:endParaRPr>
          </a:p>
        </p:txBody>
      </p:sp>
      <p:sp>
        <p:nvSpPr>
          <p:cNvPr id="11" name="anim_002_sent_answer_8"/>
          <p:cNvSpPr txBox="1"/>
          <p:nvPr/>
        </p:nvSpPr>
        <p:spPr>
          <a:xfrm>
            <a:off x="713550" y="4852543"/>
            <a:ext cx="10835640" cy="712470"/>
          </a:xfrm>
          <a:prstGeom prst="rect">
            <a:avLst/>
          </a:prstGeom>
          <a:noFill/>
        </p:spPr>
        <p:txBody>
          <a:bodyPr wrap="square" lIns="36576" tIns="18288" rIns="36576" bIns="18288" anchor="t">
            <a:spAutoFit/>
          </a:bodyPr>
          <a:p>
            <a:pPr>
              <a:spcAft>
                <a:spcPts val="300"/>
              </a:spcAft>
            </a:pPr>
            <a:r>
              <a:rPr sz="2200" b="0">
                <a:solidFill>
                  <a:srgbClr val="CD1E1E"/>
                </a:solidFill>
                <a:latin typeface="Arial" panose="020B0604020202020204"/>
              </a:rPr>
              <a:t>When I saw the beautiful lake and villages below the hill, I felt like</a:t>
            </a:r>
            <a:r>
              <a:rPr lang="en-US" sz="2200" b="0">
                <a:solidFill>
                  <a:srgbClr val="CD1E1E"/>
                </a:solidFill>
                <a:latin typeface="Arial" panose="020B0604020202020204"/>
              </a:rPr>
              <a:t> </a:t>
            </a:r>
            <a:r>
              <a:rPr sz="2200" b="0">
                <a:solidFill>
                  <a:srgbClr val="CD1E1E"/>
                </a:solidFill>
                <a:latin typeface="Arial" panose="020B0604020202020204"/>
              </a:rPr>
              <a:t>l was in a wonderful painting.</a:t>
            </a:r>
            <a:endParaRPr sz="2200" b="0">
              <a:solidFill>
                <a:srgbClr val="CD1E1E"/>
              </a:solidFill>
              <a:latin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0"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句型练习 </a:t>
            </a:r>
            <a:r>
              <a:rPr lang="en-US" sz="2800" b="1">
                <a:solidFill>
                  <a:srgbClr val="0F0F0F"/>
                </a:solidFill>
                <a:latin typeface="微软雅黑" panose="020B0503020204020204" charset="-122"/>
              </a:rPr>
              <a:t>5</a:t>
            </a:r>
            <a:endParaRPr lang="en-US"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sent_prompt_9"/>
          <p:cNvSpPr txBox="1"/>
          <p:nvPr/>
        </p:nvSpPr>
        <p:spPr>
          <a:xfrm>
            <a:off x="775780" y="1078992"/>
            <a:ext cx="10835640" cy="404495"/>
          </a:xfrm>
          <a:prstGeom prst="rect">
            <a:avLst/>
          </a:prstGeom>
          <a:noFill/>
        </p:spPr>
        <p:txBody>
          <a:bodyPr wrap="square" lIns="36576" tIns="18288" rIns="36576" bIns="18288" anchor="t">
            <a:spAutoFit/>
          </a:bodyPr>
          <a:lstStyle/>
          <a:p>
            <a:pPr>
              <a:spcAft>
                <a:spcPts val="200"/>
              </a:spcAft>
            </a:pPr>
            <a:r>
              <a:rPr sz="2400">
                <a:solidFill>
                  <a:srgbClr val="0F0F0F"/>
                </a:solidFill>
                <a:latin typeface="微软雅黑" panose="020B0503020204020204" charset="-122"/>
              </a:rPr>
              <a:t>9. 我们品尝了著名的面条，真的很好吃！</a:t>
            </a:r>
            <a:endParaRPr sz="2400">
              <a:solidFill>
                <a:srgbClr val="0F0F0F"/>
              </a:solidFill>
              <a:latin typeface="微软雅黑" panose="020B0503020204020204" charset="-122"/>
            </a:endParaRPr>
          </a:p>
        </p:txBody>
      </p:sp>
      <p:sp>
        <p:nvSpPr>
          <p:cNvPr id="6" name="anim_002_sent_answer_9"/>
          <p:cNvSpPr txBox="1"/>
          <p:nvPr/>
        </p:nvSpPr>
        <p:spPr>
          <a:xfrm>
            <a:off x="713550" y="1643634"/>
            <a:ext cx="10835640" cy="404495"/>
          </a:xfrm>
          <a:prstGeom prst="rect">
            <a:avLst/>
          </a:prstGeom>
          <a:noFill/>
        </p:spPr>
        <p:txBody>
          <a:bodyPr wrap="square" lIns="36576" tIns="18288" rIns="36576" bIns="18288" anchor="t">
            <a:spAutoFit/>
          </a:bodyPr>
          <a:lstStyle/>
          <a:p>
            <a:pPr>
              <a:spcAft>
                <a:spcPts val="300"/>
              </a:spcAft>
            </a:pPr>
            <a:r>
              <a:rPr sz="2400" b="0">
                <a:solidFill>
                  <a:srgbClr val="CD1E1E"/>
                </a:solidFill>
                <a:latin typeface="Arial" panose="020B0604020202020204"/>
              </a:rPr>
              <a:t>We tasted the famous noodles, which were really delicious!</a:t>
            </a:r>
            <a:endParaRPr sz="2400" b="0">
              <a:solidFill>
                <a:srgbClr val="CD1E1E"/>
              </a:solidFill>
              <a:latin typeface="Arial" panose="020B0604020202020204"/>
            </a:endParaRPr>
          </a:p>
        </p:txBody>
      </p:sp>
      <p:sp>
        <p:nvSpPr>
          <p:cNvPr id="7" name="TextBox 6"/>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24</a:t>
            </a:r>
            <a:endParaRPr sz="1000" b="0">
              <a:solidFill>
                <a:srgbClr val="626262"/>
              </a:solidFill>
              <a:latin typeface="微软雅黑" panose="020B0503020204020204" charset="-122"/>
            </a:endParaRPr>
          </a:p>
        </p:txBody>
      </p:sp>
      <p:sp>
        <p:nvSpPr>
          <p:cNvPr id="8" name="anim_001_sent_prompt_10"/>
          <p:cNvSpPr txBox="1"/>
          <p:nvPr/>
        </p:nvSpPr>
        <p:spPr>
          <a:xfrm>
            <a:off x="713550" y="2295017"/>
            <a:ext cx="10835640" cy="737870"/>
          </a:xfrm>
          <a:prstGeom prst="rect">
            <a:avLst/>
          </a:prstGeom>
          <a:noFill/>
        </p:spPr>
        <p:txBody>
          <a:bodyPr wrap="square" lIns="36576" tIns="18288" rIns="36576" bIns="18288" anchor="t">
            <a:spAutoFit/>
          </a:bodyPr>
          <a:p>
            <a:pPr>
              <a:spcAft>
                <a:spcPts val="200"/>
              </a:spcAft>
            </a:pPr>
            <a:r>
              <a:rPr sz="2200">
                <a:solidFill>
                  <a:srgbClr val="0F0F0F"/>
                </a:solidFill>
                <a:latin typeface="微软雅黑" panose="020B0503020204020204" charset="-122"/>
              </a:rPr>
              <a:t>10.</a:t>
            </a:r>
            <a:endParaRPr sz="2200">
              <a:solidFill>
                <a:srgbClr val="0F0F0F"/>
              </a:solidFill>
              <a:latin typeface="微软雅黑" panose="020B0503020204020204" charset="-122"/>
            </a:endParaRPr>
          </a:p>
          <a:p>
            <a:pPr>
              <a:spcAft>
                <a:spcPts val="200"/>
              </a:spcAft>
            </a:pPr>
            <a:r>
              <a:rPr sz="2200">
                <a:solidFill>
                  <a:srgbClr val="0F0F0F"/>
                </a:solidFill>
                <a:latin typeface="微软雅黑" panose="020B0503020204020204" charset="-122"/>
              </a:rPr>
              <a:t>我们在那里拍了不少照片，还学到了一些关于中国历史的重要知识。</a:t>
            </a:r>
            <a:endParaRPr sz="2200">
              <a:solidFill>
                <a:srgbClr val="0F0F0F"/>
              </a:solidFill>
              <a:latin typeface="微软雅黑" panose="020B0503020204020204" charset="-122"/>
            </a:endParaRPr>
          </a:p>
        </p:txBody>
      </p:sp>
      <p:sp>
        <p:nvSpPr>
          <p:cNvPr id="9" name="anim_002_sent_answer_10"/>
          <p:cNvSpPr txBox="1"/>
          <p:nvPr/>
        </p:nvSpPr>
        <p:spPr>
          <a:xfrm>
            <a:off x="713550" y="3412998"/>
            <a:ext cx="10835640" cy="712470"/>
          </a:xfrm>
          <a:prstGeom prst="rect">
            <a:avLst/>
          </a:prstGeom>
          <a:noFill/>
        </p:spPr>
        <p:txBody>
          <a:bodyPr wrap="square" lIns="36576" tIns="18288" rIns="36576" bIns="18288" anchor="t">
            <a:spAutoFit/>
          </a:bodyPr>
          <a:p>
            <a:pPr>
              <a:spcAft>
                <a:spcPts val="300"/>
              </a:spcAft>
            </a:pPr>
            <a:r>
              <a:rPr sz="2200" b="0">
                <a:solidFill>
                  <a:srgbClr val="CD1E1E"/>
                </a:solidFill>
                <a:latin typeface="Arial" panose="020B0604020202020204"/>
              </a:rPr>
              <a:t>We took quite a few photos there and we learnt something important</a:t>
            </a:r>
            <a:r>
              <a:rPr lang="en-US" sz="2200" b="0">
                <a:solidFill>
                  <a:srgbClr val="CD1E1E"/>
                </a:solidFill>
                <a:latin typeface="Arial" panose="020B0604020202020204"/>
              </a:rPr>
              <a:t> </a:t>
            </a:r>
            <a:r>
              <a:rPr sz="2200" b="0">
                <a:solidFill>
                  <a:srgbClr val="CD1E1E"/>
                </a:solidFill>
                <a:latin typeface="Arial" panose="020B0604020202020204"/>
              </a:rPr>
              <a:t>about Chinese history.</a:t>
            </a:r>
            <a:endParaRPr sz="2200" b="0">
              <a:solidFill>
                <a:srgbClr val="CD1E1E"/>
              </a:solidFill>
              <a:latin typeface="Arial" panose="020B0604020202020204"/>
            </a:endParaRPr>
          </a:p>
        </p:txBody>
      </p:sp>
      <p:sp>
        <p:nvSpPr>
          <p:cNvPr id="12" name="anim_001_sent_prompt_11"/>
          <p:cNvSpPr txBox="1"/>
          <p:nvPr/>
        </p:nvSpPr>
        <p:spPr>
          <a:xfrm>
            <a:off x="681165" y="4358132"/>
            <a:ext cx="10835640" cy="404495"/>
          </a:xfrm>
          <a:prstGeom prst="rect">
            <a:avLst/>
          </a:prstGeom>
          <a:noFill/>
        </p:spPr>
        <p:txBody>
          <a:bodyPr wrap="square" lIns="36576" tIns="18288" rIns="36576" bIns="18288" anchor="t">
            <a:spAutoFit/>
          </a:bodyPr>
          <a:p>
            <a:pPr>
              <a:spcAft>
                <a:spcPts val="200"/>
              </a:spcAft>
            </a:pPr>
            <a:r>
              <a:rPr sz="2400">
                <a:solidFill>
                  <a:srgbClr val="0F0F0F"/>
                </a:solidFill>
                <a:latin typeface="微软雅黑" panose="020B0503020204020204" charset="-122"/>
              </a:rPr>
              <a:t>11. 我们可以和我们的朋友一起玩，在假期和家人聚在一起。</a:t>
            </a:r>
            <a:endParaRPr sz="2400">
              <a:solidFill>
                <a:srgbClr val="0F0F0F"/>
              </a:solidFill>
              <a:latin typeface="微软雅黑" panose="020B0503020204020204" charset="-122"/>
            </a:endParaRPr>
          </a:p>
        </p:txBody>
      </p:sp>
      <p:sp>
        <p:nvSpPr>
          <p:cNvPr id="13" name="anim_002_sent_answer_11"/>
          <p:cNvSpPr txBox="1"/>
          <p:nvPr/>
        </p:nvSpPr>
        <p:spPr>
          <a:xfrm>
            <a:off x="749745" y="4929124"/>
            <a:ext cx="10835640" cy="404495"/>
          </a:xfrm>
          <a:prstGeom prst="rect">
            <a:avLst/>
          </a:prstGeom>
          <a:noFill/>
        </p:spPr>
        <p:txBody>
          <a:bodyPr wrap="square" lIns="36576" tIns="18288" rIns="36576" bIns="18288" anchor="t">
            <a:spAutoFit/>
          </a:bodyPr>
          <a:p>
            <a:pPr>
              <a:spcAft>
                <a:spcPts val="300"/>
              </a:spcAft>
            </a:pPr>
            <a:r>
              <a:rPr sz="2400" b="0">
                <a:solidFill>
                  <a:srgbClr val="CD1E1E"/>
                </a:solidFill>
                <a:latin typeface="Arial" panose="020B0604020202020204"/>
              </a:rPr>
              <a:t>We can play with our friends and get together with our families during</a:t>
            </a:r>
            <a:r>
              <a:rPr lang="en-US" sz="2400" b="0">
                <a:solidFill>
                  <a:srgbClr val="CD1E1E"/>
                </a:solidFill>
                <a:latin typeface="Arial" panose="020B0604020202020204"/>
              </a:rPr>
              <a:t> </a:t>
            </a:r>
            <a:r>
              <a:rPr sz="2400" b="0">
                <a:solidFill>
                  <a:srgbClr val="CD1E1E"/>
                </a:solidFill>
                <a:latin typeface="Arial" panose="020B0604020202020204"/>
              </a:rPr>
              <a:t>holidays.</a:t>
            </a:r>
            <a:endParaRPr sz="2400" b="0">
              <a:solidFill>
                <a:srgbClr val="CD1E1E"/>
              </a:solidFill>
              <a:latin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2"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Box 6"/>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26</a:t>
            </a:r>
            <a:endParaRPr sz="1000" b="0">
              <a:solidFill>
                <a:srgbClr val="626262"/>
              </a:solidFill>
              <a:latin typeface="微软雅黑" panose="020B0503020204020204" charset="-122"/>
            </a:endParaRPr>
          </a:p>
        </p:txBody>
      </p:sp>
      <p:sp>
        <p:nvSpPr>
          <p:cNvPr id="8" name="anim_001_sent_prompt_12"/>
          <p:cNvSpPr txBox="1"/>
          <p:nvPr/>
        </p:nvSpPr>
        <p:spPr>
          <a:xfrm>
            <a:off x="869125" y="979932"/>
            <a:ext cx="10835640" cy="374015"/>
          </a:xfrm>
          <a:prstGeom prst="rect">
            <a:avLst/>
          </a:prstGeom>
          <a:noFill/>
        </p:spPr>
        <p:txBody>
          <a:bodyPr wrap="square" lIns="36576" tIns="18288" rIns="36576" bIns="18288" anchor="t">
            <a:spAutoFit/>
          </a:bodyPr>
          <a:p>
            <a:pPr>
              <a:spcAft>
                <a:spcPts val="200"/>
              </a:spcAft>
            </a:pPr>
            <a:r>
              <a:rPr sz="2200">
                <a:solidFill>
                  <a:srgbClr val="0F0F0F"/>
                </a:solidFill>
                <a:latin typeface="微软雅黑" panose="020B0503020204020204" charset="-122"/>
              </a:rPr>
              <a:t>12. 你可以在暑假的星期一参观故宫和故宫博物馆。</a:t>
            </a:r>
            <a:endParaRPr sz="2200">
              <a:solidFill>
                <a:srgbClr val="0F0F0F"/>
              </a:solidFill>
              <a:latin typeface="微软雅黑" panose="020B0503020204020204" charset="-122"/>
            </a:endParaRPr>
          </a:p>
        </p:txBody>
      </p:sp>
      <p:sp>
        <p:nvSpPr>
          <p:cNvPr id="9" name="anim_002_sent_answer_12"/>
          <p:cNvSpPr txBox="1"/>
          <p:nvPr/>
        </p:nvSpPr>
        <p:spPr>
          <a:xfrm>
            <a:off x="869125" y="1538858"/>
            <a:ext cx="10835640" cy="712470"/>
          </a:xfrm>
          <a:prstGeom prst="rect">
            <a:avLst/>
          </a:prstGeom>
          <a:noFill/>
        </p:spPr>
        <p:txBody>
          <a:bodyPr wrap="square" lIns="36576" tIns="18288" rIns="36576" bIns="18288" anchor="t">
            <a:spAutoFit/>
          </a:bodyPr>
          <a:p>
            <a:pPr>
              <a:spcAft>
                <a:spcPts val="300"/>
              </a:spcAft>
            </a:pPr>
            <a:r>
              <a:rPr sz="2200" b="0">
                <a:solidFill>
                  <a:srgbClr val="CD1E1E"/>
                </a:solidFill>
                <a:latin typeface="Arial" panose="020B0604020202020204"/>
              </a:rPr>
              <a:t>You can visit the Forbidden City and the Palace Museum on Monday in</a:t>
            </a:r>
            <a:r>
              <a:rPr lang="en-US" sz="2200" b="0">
                <a:solidFill>
                  <a:srgbClr val="CD1E1E"/>
                </a:solidFill>
                <a:latin typeface="Arial" panose="020B0604020202020204"/>
              </a:rPr>
              <a:t> </a:t>
            </a:r>
            <a:r>
              <a:rPr sz="2200" b="0">
                <a:solidFill>
                  <a:srgbClr val="CD1E1E"/>
                </a:solidFill>
                <a:latin typeface="Arial" panose="020B0604020202020204"/>
              </a:rPr>
              <a:t>summer vacation.</a:t>
            </a:r>
            <a:endParaRPr sz="2200" b="0">
              <a:solidFill>
                <a:srgbClr val="CD1E1E"/>
              </a:solidFill>
              <a:latin typeface="Arial" panose="020B0604020202020204"/>
            </a:endParaRPr>
          </a:p>
        </p:txBody>
      </p:sp>
      <p:sp>
        <p:nvSpPr>
          <p:cNvPr id="10" name="anim_001_sent_prompt_13"/>
          <p:cNvSpPr txBox="1"/>
          <p:nvPr/>
        </p:nvSpPr>
        <p:spPr>
          <a:xfrm>
            <a:off x="840550" y="2659507"/>
            <a:ext cx="10835640" cy="374015"/>
          </a:xfrm>
          <a:prstGeom prst="rect">
            <a:avLst/>
          </a:prstGeom>
          <a:noFill/>
        </p:spPr>
        <p:txBody>
          <a:bodyPr wrap="square" lIns="36576" tIns="18288" rIns="36576" bIns="18288" anchor="t">
            <a:spAutoFit/>
          </a:bodyPr>
          <a:p>
            <a:pPr>
              <a:spcAft>
                <a:spcPts val="200"/>
              </a:spcAft>
            </a:pPr>
            <a:r>
              <a:rPr sz="2200">
                <a:solidFill>
                  <a:srgbClr val="0F0F0F"/>
                </a:solidFill>
                <a:latin typeface="微软雅黑" panose="020B0503020204020204" charset="-122"/>
              </a:rPr>
              <a:t>13. 我们一到海边，就被大海的美丽惊呆了。</a:t>
            </a:r>
            <a:endParaRPr sz="2200">
              <a:solidFill>
                <a:srgbClr val="0F0F0F"/>
              </a:solidFill>
              <a:latin typeface="微软雅黑" panose="020B0503020204020204" charset="-122"/>
            </a:endParaRPr>
          </a:p>
        </p:txBody>
      </p:sp>
      <p:sp>
        <p:nvSpPr>
          <p:cNvPr id="11" name="anim_002_sent_answer_13"/>
          <p:cNvSpPr txBox="1"/>
          <p:nvPr/>
        </p:nvSpPr>
        <p:spPr>
          <a:xfrm>
            <a:off x="840550" y="3126358"/>
            <a:ext cx="10835640" cy="374015"/>
          </a:xfrm>
          <a:prstGeom prst="rect">
            <a:avLst/>
          </a:prstGeom>
          <a:noFill/>
        </p:spPr>
        <p:txBody>
          <a:bodyPr wrap="square" lIns="36576" tIns="18288" rIns="36576" bIns="18288" anchor="t">
            <a:spAutoFit/>
          </a:bodyPr>
          <a:p>
            <a:pPr>
              <a:spcAft>
                <a:spcPts val="300"/>
              </a:spcAft>
            </a:pPr>
            <a:r>
              <a:rPr sz="2200" b="0">
                <a:solidFill>
                  <a:srgbClr val="CD1E1E"/>
                </a:solidFill>
                <a:latin typeface="Arial" panose="020B0604020202020204"/>
              </a:rPr>
              <a:t>As soon as we arrived at the seaside, all of us were amazed at the</a:t>
            </a:r>
            <a:r>
              <a:rPr lang="en-US" sz="2200" b="0">
                <a:solidFill>
                  <a:srgbClr val="CD1E1E"/>
                </a:solidFill>
                <a:latin typeface="Arial" panose="020B0604020202020204"/>
              </a:rPr>
              <a:t> </a:t>
            </a:r>
            <a:r>
              <a:rPr sz="2200" b="0">
                <a:solidFill>
                  <a:srgbClr val="CD1E1E"/>
                </a:solidFill>
                <a:latin typeface="Arial" panose="020B0604020202020204"/>
              </a:rPr>
              <a:t>beauty of the sea.</a:t>
            </a:r>
            <a:endParaRPr sz="2200" b="0">
              <a:solidFill>
                <a:srgbClr val="CD1E1E"/>
              </a:solidFill>
              <a:latin typeface="Arial" panose="020B0604020202020204"/>
            </a:endParaRPr>
          </a:p>
        </p:txBody>
      </p:sp>
      <p:sp>
        <p:nvSpPr>
          <p:cNvPr id="12" name="anim_001_sent_prompt_14"/>
          <p:cNvSpPr txBox="1"/>
          <p:nvPr/>
        </p:nvSpPr>
        <p:spPr>
          <a:xfrm>
            <a:off x="804990" y="4077462"/>
            <a:ext cx="10835640" cy="404495"/>
          </a:xfrm>
          <a:prstGeom prst="rect">
            <a:avLst/>
          </a:prstGeom>
          <a:noFill/>
        </p:spPr>
        <p:txBody>
          <a:bodyPr wrap="square" lIns="36576" tIns="18288" rIns="36576" bIns="18288" anchor="t">
            <a:spAutoFit/>
          </a:bodyPr>
          <a:p>
            <a:pPr>
              <a:spcAft>
                <a:spcPts val="200"/>
              </a:spcAft>
            </a:pPr>
            <a:r>
              <a:rPr sz="2400">
                <a:solidFill>
                  <a:srgbClr val="0F0F0F"/>
                </a:solidFill>
                <a:latin typeface="微软雅黑" panose="020B0503020204020204" charset="-122"/>
              </a:rPr>
              <a:t>14. 我和爸爸尝试了很多有趣的活动，比如冲浪和潜水。</a:t>
            </a:r>
            <a:endParaRPr sz="2400">
              <a:solidFill>
                <a:srgbClr val="0F0F0F"/>
              </a:solidFill>
              <a:latin typeface="微软雅黑" panose="020B0503020204020204" charset="-122"/>
            </a:endParaRPr>
          </a:p>
        </p:txBody>
      </p:sp>
      <p:sp>
        <p:nvSpPr>
          <p:cNvPr id="13" name="anim_002_sent_answer_14"/>
          <p:cNvSpPr txBox="1"/>
          <p:nvPr/>
        </p:nvSpPr>
        <p:spPr>
          <a:xfrm>
            <a:off x="869125" y="4659884"/>
            <a:ext cx="10835640" cy="404495"/>
          </a:xfrm>
          <a:prstGeom prst="rect">
            <a:avLst/>
          </a:prstGeom>
          <a:noFill/>
        </p:spPr>
        <p:txBody>
          <a:bodyPr wrap="square" lIns="36576" tIns="18288" rIns="36576" bIns="18288" anchor="t">
            <a:spAutoFit/>
          </a:bodyPr>
          <a:p>
            <a:pPr>
              <a:spcAft>
                <a:spcPts val="300"/>
              </a:spcAft>
            </a:pPr>
            <a:r>
              <a:rPr sz="2400" b="0">
                <a:solidFill>
                  <a:srgbClr val="CD1E1E"/>
                </a:solidFill>
                <a:latin typeface="Arial" panose="020B0604020202020204"/>
              </a:rPr>
              <a:t>My father and I tried many wonderful activities, like surfing and</a:t>
            </a:r>
            <a:r>
              <a:rPr lang="en-US" sz="2400" b="0">
                <a:solidFill>
                  <a:srgbClr val="CD1E1E"/>
                </a:solidFill>
                <a:latin typeface="Arial" panose="020B0604020202020204"/>
              </a:rPr>
              <a:t> </a:t>
            </a:r>
            <a:r>
              <a:rPr sz="2400" b="0">
                <a:solidFill>
                  <a:srgbClr val="CD1E1E"/>
                </a:solidFill>
                <a:latin typeface="Arial" panose="020B0604020202020204"/>
              </a:rPr>
              <a:t>diving.</a:t>
            </a:r>
            <a:endParaRPr sz="2400" b="0">
              <a:solidFill>
                <a:srgbClr val="CD1E1E"/>
              </a:solidFill>
              <a:latin typeface="Arial" panose="020B0604020202020204"/>
            </a:endParaRPr>
          </a:p>
        </p:txBody>
      </p:sp>
      <p:sp>
        <p:nvSpPr>
          <p:cNvPr id="14" name="TextBox 1"/>
          <p:cNvSpPr txBox="1"/>
          <p:nvPr/>
        </p:nvSpPr>
        <p:spPr>
          <a:xfrm>
            <a:off x="503238" y="219456"/>
            <a:ext cx="10241280" cy="466090"/>
          </a:xfrm>
          <a:prstGeom prst="rect">
            <a:avLst/>
          </a:prstGeom>
          <a:noFill/>
        </p:spPr>
        <p:txBody>
          <a:bodyPr wrap="square" lIns="36576" tIns="18288" rIns="36576" bIns="18288" anchor="t">
            <a:spAutoFit/>
          </a:bodyPr>
          <a:p>
            <a:pPr>
              <a:spcAft>
                <a:spcPts val="300"/>
              </a:spcAft>
            </a:pPr>
            <a:r>
              <a:rPr sz="2800" b="1">
                <a:solidFill>
                  <a:srgbClr val="0F0F0F"/>
                </a:solidFill>
                <a:latin typeface="微软雅黑" panose="020B0503020204020204" charset="-122"/>
              </a:rPr>
              <a:t>Unit 1 Happy Holiday · 句型练习 </a:t>
            </a:r>
            <a:r>
              <a:rPr lang="en-US" sz="2800" b="1">
                <a:solidFill>
                  <a:srgbClr val="0F0F0F"/>
                </a:solidFill>
                <a:latin typeface="微软雅黑" panose="020B0503020204020204" charset="-122"/>
              </a:rPr>
              <a:t>6</a:t>
            </a:r>
            <a:endParaRPr lang="en-US" sz="2800" b="1">
              <a:solidFill>
                <a:srgbClr val="0F0F0F"/>
              </a:solidFill>
              <a:latin typeface="微软雅黑" panose="020B0503020204020204" charset="-122"/>
            </a:endParaRPr>
          </a:p>
        </p:txBody>
      </p:sp>
      <p:sp>
        <p:nvSpPr>
          <p:cNvPr id="15"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句型练习 </a:t>
            </a:r>
            <a:r>
              <a:rPr lang="en-US" sz="2800" b="1">
                <a:solidFill>
                  <a:srgbClr val="0F0F0F"/>
                </a:solidFill>
                <a:latin typeface="微软雅黑" panose="020B0503020204020204" charset="-122"/>
              </a:rPr>
              <a:t>7</a:t>
            </a:r>
            <a:endParaRPr lang="en-US"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sent_prompt_15"/>
          <p:cNvSpPr txBox="1"/>
          <p:nvPr/>
        </p:nvSpPr>
        <p:spPr>
          <a:xfrm>
            <a:off x="713550" y="1078992"/>
            <a:ext cx="10835640" cy="404495"/>
          </a:xfrm>
          <a:prstGeom prst="rect">
            <a:avLst/>
          </a:prstGeom>
          <a:noFill/>
        </p:spPr>
        <p:txBody>
          <a:bodyPr wrap="square" lIns="36576" tIns="18288" rIns="36576" bIns="18288" anchor="t">
            <a:spAutoFit/>
          </a:bodyPr>
          <a:lstStyle/>
          <a:p>
            <a:pPr>
              <a:spcAft>
                <a:spcPts val="200"/>
              </a:spcAft>
            </a:pPr>
            <a:r>
              <a:rPr sz="2400">
                <a:solidFill>
                  <a:srgbClr val="0F0F0F"/>
                </a:solidFill>
                <a:latin typeface="微软雅黑" panose="020B0503020204020204" charset="-122"/>
              </a:rPr>
              <a:t>15. 我们乘飞机去那里，花了一个星期欣赏美丽的景色。</a:t>
            </a:r>
            <a:endParaRPr sz="2400">
              <a:solidFill>
                <a:srgbClr val="0F0F0F"/>
              </a:solidFill>
              <a:latin typeface="微软雅黑" panose="020B0503020204020204" charset="-122"/>
            </a:endParaRPr>
          </a:p>
        </p:txBody>
      </p:sp>
      <p:sp>
        <p:nvSpPr>
          <p:cNvPr id="6" name="anim_002_sent_answer_15"/>
          <p:cNvSpPr txBox="1"/>
          <p:nvPr/>
        </p:nvSpPr>
        <p:spPr>
          <a:xfrm>
            <a:off x="713550" y="1608074"/>
            <a:ext cx="10835640" cy="404495"/>
          </a:xfrm>
          <a:prstGeom prst="rect">
            <a:avLst/>
          </a:prstGeom>
          <a:noFill/>
        </p:spPr>
        <p:txBody>
          <a:bodyPr wrap="square" lIns="36576" tIns="18288" rIns="36576" bIns="18288" anchor="t">
            <a:spAutoFit/>
          </a:bodyPr>
          <a:lstStyle/>
          <a:p>
            <a:pPr>
              <a:spcAft>
                <a:spcPts val="300"/>
              </a:spcAft>
            </a:pPr>
            <a:r>
              <a:rPr sz="2400" b="0">
                <a:solidFill>
                  <a:srgbClr val="CD1E1E"/>
                </a:solidFill>
                <a:latin typeface="Arial" panose="020B0604020202020204"/>
              </a:rPr>
              <a:t>We went there by plane, and spent a week enjoying the beautiful views.</a:t>
            </a:r>
            <a:endParaRPr sz="2400" b="0">
              <a:solidFill>
                <a:srgbClr val="CD1E1E"/>
              </a:solidFill>
              <a:latin typeface="Arial" panose="020B0604020202020204"/>
            </a:endParaRPr>
          </a:p>
        </p:txBody>
      </p:sp>
      <p:sp>
        <p:nvSpPr>
          <p:cNvPr id="7" name="TextBox 6"/>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30</a:t>
            </a:r>
            <a:endParaRPr sz="1000" b="0">
              <a:solidFill>
                <a:srgbClr val="626262"/>
              </a:solidFill>
              <a:latin typeface="微软雅黑" panose="020B0503020204020204" charset="-122"/>
            </a:endParaRPr>
          </a:p>
        </p:txBody>
      </p:sp>
      <p:sp>
        <p:nvSpPr>
          <p:cNvPr id="8" name="anim_001_sent_prompt_16"/>
          <p:cNvSpPr txBox="1"/>
          <p:nvPr/>
        </p:nvSpPr>
        <p:spPr>
          <a:xfrm>
            <a:off x="713550" y="2694432"/>
            <a:ext cx="10835640" cy="404495"/>
          </a:xfrm>
          <a:prstGeom prst="rect">
            <a:avLst/>
          </a:prstGeom>
          <a:noFill/>
        </p:spPr>
        <p:txBody>
          <a:bodyPr wrap="square" lIns="36576" tIns="18288" rIns="36576" bIns="18288" anchor="t">
            <a:spAutoFit/>
          </a:bodyPr>
          <a:p>
            <a:pPr>
              <a:spcAft>
                <a:spcPts val="200"/>
              </a:spcAft>
            </a:pPr>
            <a:r>
              <a:rPr sz="2400">
                <a:solidFill>
                  <a:srgbClr val="0F0F0F"/>
                </a:solidFill>
                <a:latin typeface="微软雅黑" panose="020B0503020204020204" charset="-122"/>
              </a:rPr>
              <a:t>16. 太棒了!我们在那里拍了不少照片。</a:t>
            </a:r>
            <a:endParaRPr sz="2400">
              <a:solidFill>
                <a:srgbClr val="0F0F0F"/>
              </a:solidFill>
              <a:latin typeface="微软雅黑" panose="020B0503020204020204" charset="-122"/>
            </a:endParaRPr>
          </a:p>
        </p:txBody>
      </p:sp>
      <p:sp>
        <p:nvSpPr>
          <p:cNvPr id="9" name="anim_002_sent_answer_16"/>
          <p:cNvSpPr txBox="1"/>
          <p:nvPr/>
        </p:nvSpPr>
        <p:spPr>
          <a:xfrm>
            <a:off x="713550" y="3205734"/>
            <a:ext cx="10835640" cy="404495"/>
          </a:xfrm>
          <a:prstGeom prst="rect">
            <a:avLst/>
          </a:prstGeom>
          <a:noFill/>
        </p:spPr>
        <p:txBody>
          <a:bodyPr wrap="square" lIns="36576" tIns="18288" rIns="36576" bIns="18288" anchor="t">
            <a:spAutoFit/>
          </a:bodyPr>
          <a:p>
            <a:pPr>
              <a:spcAft>
                <a:spcPts val="300"/>
              </a:spcAft>
            </a:pPr>
            <a:r>
              <a:rPr sz="2400" b="0">
                <a:solidFill>
                  <a:srgbClr val="CD1E1E"/>
                </a:solidFill>
                <a:latin typeface="Arial" panose="020B0604020202020204"/>
              </a:rPr>
              <a:t>It was wonderful! We took quite a few photos there.</a:t>
            </a:r>
            <a:endParaRPr sz="2400" b="0">
              <a:solidFill>
                <a:srgbClr val="CD1E1E"/>
              </a:solidFill>
              <a:latin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句型练习 </a:t>
            </a:r>
            <a:r>
              <a:rPr lang="en-US" sz="2800" b="1">
                <a:solidFill>
                  <a:srgbClr val="0F0F0F"/>
                </a:solidFill>
                <a:latin typeface="微软雅黑" panose="020B0503020204020204" charset="-122"/>
              </a:rPr>
              <a:t>8</a:t>
            </a:r>
            <a:endParaRPr lang="en-US"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550" y="1090676"/>
            <a:ext cx="10835640" cy="389255"/>
          </a:xfrm>
          <a:prstGeom prst="rect">
            <a:avLst/>
          </a:prstGeom>
          <a:noFill/>
        </p:spPr>
        <p:txBody>
          <a:bodyPr wrap="square" lIns="36576" tIns="18288" rIns="36576" bIns="18288" anchor="t">
            <a:spAutoFit/>
          </a:bodyPr>
          <a:lstStyle/>
          <a:p>
            <a:pPr>
              <a:spcAft>
                <a:spcPts val="300"/>
              </a:spcAft>
            </a:pPr>
            <a:r>
              <a:rPr sz="2300" b="0">
                <a:solidFill>
                  <a:srgbClr val="3F9148"/>
                </a:solidFill>
                <a:latin typeface="微软雅黑" panose="020B0503020204020204" charset="-122"/>
              </a:rPr>
              <a:t>3,对假期/旅行的感受及看法</a:t>
            </a:r>
            <a:endParaRPr sz="2300" b="0">
              <a:solidFill>
                <a:srgbClr val="3F9148"/>
              </a:solidFill>
              <a:latin typeface="微软雅黑" panose="020B0503020204020204" charset="-122"/>
            </a:endParaRPr>
          </a:p>
        </p:txBody>
      </p:sp>
      <p:sp>
        <p:nvSpPr>
          <p:cNvPr id="8" name="TextBox 7"/>
          <p:cNvSpPr txBox="1"/>
          <p:nvPr/>
        </p:nvSpPr>
        <p:spPr>
          <a:xfrm>
            <a:off x="713550" y="1602740"/>
            <a:ext cx="10835640" cy="389255"/>
          </a:xfrm>
          <a:prstGeom prst="rect">
            <a:avLst/>
          </a:prstGeom>
          <a:noFill/>
        </p:spPr>
        <p:txBody>
          <a:bodyPr wrap="square" lIns="36576" tIns="18288" rIns="36576" bIns="18288" anchor="t">
            <a:spAutoFit/>
          </a:bodyPr>
          <a:lstStyle/>
          <a:p>
            <a:pPr>
              <a:spcAft>
                <a:spcPts val="300"/>
              </a:spcAft>
            </a:pPr>
            <a:r>
              <a:rPr sz="2300" b="0">
                <a:solidFill>
                  <a:srgbClr val="3F9148"/>
                </a:solidFill>
                <a:latin typeface="微软雅黑" panose="020B0503020204020204" charset="-122"/>
              </a:rPr>
              <a:t>①I was so … that …</a:t>
            </a:r>
            <a:endParaRPr sz="2300" b="0">
              <a:solidFill>
                <a:srgbClr val="3F9148"/>
              </a:solidFill>
              <a:latin typeface="微软雅黑" panose="020B0503020204020204" charset="-122"/>
            </a:endParaRPr>
          </a:p>
        </p:txBody>
      </p:sp>
      <p:sp>
        <p:nvSpPr>
          <p:cNvPr id="9" name="TextBox 8"/>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31</a:t>
            </a:r>
            <a:endParaRPr sz="1000" b="0">
              <a:solidFill>
                <a:srgbClr val="626262"/>
              </a:solidFill>
              <a:latin typeface="微软雅黑" panose="020B0503020204020204" charset="-122"/>
            </a:endParaRPr>
          </a:p>
        </p:txBody>
      </p:sp>
      <p:sp>
        <p:nvSpPr>
          <p:cNvPr id="10" name="TextBox 4"/>
          <p:cNvSpPr txBox="1"/>
          <p:nvPr/>
        </p:nvSpPr>
        <p:spPr>
          <a:xfrm>
            <a:off x="713550" y="2165477"/>
            <a:ext cx="10835640" cy="389255"/>
          </a:xfrm>
          <a:prstGeom prst="rect">
            <a:avLst/>
          </a:prstGeom>
          <a:noFill/>
        </p:spPr>
        <p:txBody>
          <a:bodyPr wrap="square" lIns="36576" tIns="18288" rIns="36576" bIns="18288" anchor="t">
            <a:spAutoFit/>
          </a:bodyPr>
          <a:p>
            <a:pPr>
              <a:spcAft>
                <a:spcPts val="300"/>
              </a:spcAft>
            </a:pPr>
            <a:r>
              <a:rPr sz="2300" b="0">
                <a:solidFill>
                  <a:srgbClr val="3F9148"/>
                </a:solidFill>
                <a:latin typeface="微软雅黑" panose="020B0503020204020204" charset="-122"/>
              </a:rPr>
              <a:t>②We enjoyed the trip so … that …</a:t>
            </a:r>
            <a:endParaRPr sz="2300" b="0">
              <a:solidFill>
                <a:srgbClr val="3F9148"/>
              </a:solidFill>
              <a:latin typeface="微软雅黑" panose="020B0503020204020204" charset="-122"/>
            </a:endParaRPr>
          </a:p>
        </p:txBody>
      </p:sp>
      <p:sp>
        <p:nvSpPr>
          <p:cNvPr id="11" name="TextBox 5"/>
          <p:cNvSpPr txBox="1"/>
          <p:nvPr/>
        </p:nvSpPr>
        <p:spPr>
          <a:xfrm>
            <a:off x="713550" y="2677541"/>
            <a:ext cx="10835640" cy="389255"/>
          </a:xfrm>
          <a:prstGeom prst="rect">
            <a:avLst/>
          </a:prstGeom>
          <a:noFill/>
        </p:spPr>
        <p:txBody>
          <a:bodyPr wrap="square" lIns="36576" tIns="18288" rIns="36576" bIns="18288" anchor="t">
            <a:spAutoFit/>
          </a:bodyPr>
          <a:p>
            <a:pPr>
              <a:spcAft>
                <a:spcPts val="300"/>
              </a:spcAft>
            </a:pPr>
            <a:r>
              <a:rPr sz="2300" b="0">
                <a:solidFill>
                  <a:srgbClr val="3F9148"/>
                </a:solidFill>
                <a:latin typeface="微软雅黑" panose="020B0503020204020204" charset="-122"/>
              </a:rPr>
              <a:t>③感叹句 What＋a/an＋(adj.)＋单数可数名词＋主语＋谓语！</a:t>
            </a:r>
            <a:endParaRPr sz="2300" b="0">
              <a:solidFill>
                <a:srgbClr val="3F9148"/>
              </a:solidFill>
              <a:latin typeface="微软雅黑" panose="020B0503020204020204"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句型练习 </a:t>
            </a:r>
            <a:r>
              <a:rPr lang="en-US" sz="2800" b="1">
                <a:solidFill>
                  <a:srgbClr val="0F0F0F"/>
                </a:solidFill>
                <a:latin typeface="微软雅黑" panose="020B0503020204020204" charset="-122"/>
              </a:rPr>
              <a:t>9</a:t>
            </a:r>
            <a:endParaRPr lang="en-US"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im_001_sent_prompt_17"/>
          <p:cNvSpPr txBox="1"/>
          <p:nvPr/>
        </p:nvSpPr>
        <p:spPr>
          <a:xfrm>
            <a:off x="713550" y="1078992"/>
            <a:ext cx="10835640" cy="374015"/>
          </a:xfrm>
          <a:prstGeom prst="rect">
            <a:avLst/>
          </a:prstGeom>
          <a:noFill/>
        </p:spPr>
        <p:txBody>
          <a:bodyPr wrap="square" lIns="36576" tIns="18288" rIns="36576" bIns="18288" anchor="t">
            <a:spAutoFit/>
          </a:bodyPr>
          <a:lstStyle/>
          <a:p>
            <a:pPr>
              <a:spcAft>
                <a:spcPts val="200"/>
              </a:spcAft>
            </a:pPr>
            <a:r>
              <a:rPr sz="2200">
                <a:solidFill>
                  <a:srgbClr val="0F0F0F"/>
                </a:solidFill>
                <a:latin typeface="微软雅黑" panose="020B0503020204020204" charset="-122"/>
              </a:rPr>
              <a:t>17. 总之，3 天的旅行很愉快，我期待着下次去那里。</a:t>
            </a:r>
            <a:endParaRPr sz="2200">
              <a:solidFill>
                <a:srgbClr val="0F0F0F"/>
              </a:solidFill>
              <a:latin typeface="微软雅黑" panose="020B0503020204020204" charset="-122"/>
            </a:endParaRPr>
          </a:p>
        </p:txBody>
      </p:sp>
      <p:sp>
        <p:nvSpPr>
          <p:cNvPr id="6" name="anim_002_sent_answer_17"/>
          <p:cNvSpPr txBox="1"/>
          <p:nvPr/>
        </p:nvSpPr>
        <p:spPr>
          <a:xfrm>
            <a:off x="713550" y="1629663"/>
            <a:ext cx="10835640" cy="712470"/>
          </a:xfrm>
          <a:prstGeom prst="rect">
            <a:avLst/>
          </a:prstGeom>
          <a:noFill/>
        </p:spPr>
        <p:txBody>
          <a:bodyPr wrap="square" lIns="36576" tIns="18288" rIns="36576" bIns="18288" anchor="t">
            <a:spAutoFit/>
          </a:bodyPr>
          <a:lstStyle/>
          <a:p>
            <a:pPr>
              <a:spcAft>
                <a:spcPts val="300"/>
              </a:spcAft>
            </a:pPr>
            <a:r>
              <a:rPr sz="2200" b="0">
                <a:solidFill>
                  <a:srgbClr val="CD1E1E"/>
                </a:solidFill>
                <a:latin typeface="Arial" panose="020B0604020202020204"/>
              </a:rPr>
              <a:t>All in all,,the 3-day trip was enjoyable and I am looking forward to</a:t>
            </a:r>
            <a:r>
              <a:rPr lang="en-US" sz="2200" b="0">
                <a:solidFill>
                  <a:srgbClr val="CD1E1E"/>
                </a:solidFill>
                <a:latin typeface="Arial" panose="020B0604020202020204"/>
              </a:rPr>
              <a:t> </a:t>
            </a:r>
            <a:r>
              <a:rPr sz="2200" b="0">
                <a:solidFill>
                  <a:srgbClr val="CD1E1E"/>
                </a:solidFill>
                <a:latin typeface="Arial" panose="020B0604020202020204"/>
              </a:rPr>
              <a:t>visiting there next time.</a:t>
            </a:r>
            <a:endParaRPr sz="2200" b="0">
              <a:solidFill>
                <a:srgbClr val="CD1E1E"/>
              </a:solidFill>
              <a:latin typeface="Arial" panose="020B0604020202020204"/>
            </a:endParaRPr>
          </a:p>
        </p:txBody>
      </p:sp>
      <p:sp>
        <p:nvSpPr>
          <p:cNvPr id="7" name="TextBox 6"/>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33</a:t>
            </a:r>
            <a:endParaRPr sz="1000" b="0">
              <a:solidFill>
                <a:srgbClr val="626262"/>
              </a:solidFill>
              <a:latin typeface="微软雅黑" panose="020B0503020204020204" charset="-122"/>
            </a:endParaRPr>
          </a:p>
        </p:txBody>
      </p:sp>
      <p:sp>
        <p:nvSpPr>
          <p:cNvPr id="8" name="anim_001_sent_prompt_18"/>
          <p:cNvSpPr txBox="1"/>
          <p:nvPr/>
        </p:nvSpPr>
        <p:spPr>
          <a:xfrm>
            <a:off x="713550" y="2586482"/>
            <a:ext cx="10835640" cy="374015"/>
          </a:xfrm>
          <a:prstGeom prst="rect">
            <a:avLst/>
          </a:prstGeom>
          <a:noFill/>
        </p:spPr>
        <p:txBody>
          <a:bodyPr wrap="square" lIns="36576" tIns="18288" rIns="36576" bIns="18288" anchor="t">
            <a:spAutoFit/>
          </a:bodyPr>
          <a:p>
            <a:pPr>
              <a:spcAft>
                <a:spcPts val="200"/>
              </a:spcAft>
            </a:pPr>
            <a:r>
              <a:rPr sz="2200">
                <a:solidFill>
                  <a:srgbClr val="0F0F0F"/>
                </a:solidFill>
                <a:latin typeface="微软雅黑" panose="020B0503020204020204" charset="-122"/>
              </a:rPr>
              <a:t>18.我们很累，但很高兴。我们非常喜欢这次旅行，希望能再去一次。</a:t>
            </a:r>
            <a:endParaRPr sz="2200">
              <a:solidFill>
                <a:srgbClr val="0F0F0F"/>
              </a:solidFill>
              <a:latin typeface="微软雅黑" panose="020B0503020204020204" charset="-122"/>
            </a:endParaRPr>
          </a:p>
        </p:txBody>
      </p:sp>
      <p:sp>
        <p:nvSpPr>
          <p:cNvPr id="9" name="anim_002_sent_answer_18"/>
          <p:cNvSpPr txBox="1"/>
          <p:nvPr/>
        </p:nvSpPr>
        <p:spPr>
          <a:xfrm>
            <a:off x="713550" y="3143123"/>
            <a:ext cx="10835640" cy="712470"/>
          </a:xfrm>
          <a:prstGeom prst="rect">
            <a:avLst/>
          </a:prstGeom>
          <a:noFill/>
        </p:spPr>
        <p:txBody>
          <a:bodyPr wrap="square" lIns="36576" tIns="18288" rIns="36576" bIns="18288" anchor="t">
            <a:spAutoFit/>
          </a:bodyPr>
          <a:p>
            <a:pPr>
              <a:spcAft>
                <a:spcPts val="300"/>
              </a:spcAft>
            </a:pPr>
            <a:r>
              <a:rPr sz="2200" b="0">
                <a:solidFill>
                  <a:srgbClr val="CD1E1E"/>
                </a:solidFill>
                <a:latin typeface="Arial" panose="020B0604020202020204"/>
              </a:rPr>
              <a:t>We were very tired but happy. We enjoyed the trip so much that we</a:t>
            </a:r>
            <a:r>
              <a:rPr lang="en-US" sz="2200" b="0">
                <a:solidFill>
                  <a:srgbClr val="CD1E1E"/>
                </a:solidFill>
                <a:latin typeface="Arial" panose="020B0604020202020204"/>
              </a:rPr>
              <a:t> </a:t>
            </a:r>
            <a:r>
              <a:rPr sz="2200" b="0">
                <a:solidFill>
                  <a:srgbClr val="CD1E1E"/>
                </a:solidFill>
                <a:latin typeface="Arial" panose="020B0604020202020204"/>
              </a:rPr>
              <a:t>hoped to visit it again.</a:t>
            </a:r>
            <a:endParaRPr sz="2200" b="0">
              <a:solidFill>
                <a:srgbClr val="CD1E1E"/>
              </a:solidFill>
              <a:latin typeface="Arial" panose="020B0604020202020204"/>
            </a:endParaRPr>
          </a:p>
        </p:txBody>
      </p:sp>
      <p:sp>
        <p:nvSpPr>
          <p:cNvPr id="10" name="anim_001_sent_prompt_19"/>
          <p:cNvSpPr txBox="1"/>
          <p:nvPr/>
        </p:nvSpPr>
        <p:spPr>
          <a:xfrm>
            <a:off x="713550" y="4088257"/>
            <a:ext cx="10835640" cy="374015"/>
          </a:xfrm>
          <a:prstGeom prst="rect">
            <a:avLst/>
          </a:prstGeom>
          <a:noFill/>
        </p:spPr>
        <p:txBody>
          <a:bodyPr wrap="square" lIns="36576" tIns="18288" rIns="36576" bIns="18288" anchor="t">
            <a:spAutoFit/>
          </a:bodyPr>
          <a:p>
            <a:pPr>
              <a:spcAft>
                <a:spcPts val="200"/>
              </a:spcAft>
            </a:pPr>
            <a:r>
              <a:rPr sz="2200">
                <a:solidFill>
                  <a:srgbClr val="0F0F0F"/>
                </a:solidFill>
                <a:latin typeface="微软雅黑" panose="020B0503020204020204" charset="-122"/>
              </a:rPr>
              <a:t>19. 总之，我真的很享受这个假期，它给我带来了难忘的记忆。</a:t>
            </a:r>
            <a:endParaRPr sz="2200">
              <a:solidFill>
                <a:srgbClr val="0F0F0F"/>
              </a:solidFill>
              <a:latin typeface="微软雅黑" panose="020B0503020204020204" charset="-122"/>
            </a:endParaRPr>
          </a:p>
        </p:txBody>
      </p:sp>
      <p:sp>
        <p:nvSpPr>
          <p:cNvPr id="11" name="anim_002_sent_answer_19"/>
          <p:cNvSpPr txBox="1"/>
          <p:nvPr/>
        </p:nvSpPr>
        <p:spPr>
          <a:xfrm>
            <a:off x="713550" y="4657343"/>
            <a:ext cx="10835640" cy="374015"/>
          </a:xfrm>
          <a:prstGeom prst="rect">
            <a:avLst/>
          </a:prstGeom>
          <a:noFill/>
        </p:spPr>
        <p:txBody>
          <a:bodyPr wrap="square" lIns="36576" tIns="18288" rIns="36576" bIns="18288" anchor="t">
            <a:spAutoFit/>
          </a:bodyPr>
          <a:p>
            <a:pPr>
              <a:spcAft>
                <a:spcPts val="300"/>
              </a:spcAft>
            </a:pPr>
            <a:r>
              <a:rPr sz="2200" b="0">
                <a:solidFill>
                  <a:srgbClr val="CD1E1E"/>
                </a:solidFill>
                <a:latin typeface="Arial" panose="020B0604020202020204"/>
              </a:rPr>
              <a:t>In short, I really enjoyed the vacation, which brought me an</a:t>
            </a:r>
            <a:r>
              <a:rPr lang="en-US" sz="2200" b="0">
                <a:solidFill>
                  <a:srgbClr val="CD1E1E"/>
                </a:solidFill>
                <a:latin typeface="Arial" panose="020B0604020202020204"/>
              </a:rPr>
              <a:t> </a:t>
            </a:r>
            <a:r>
              <a:rPr sz="2200" b="0">
                <a:solidFill>
                  <a:srgbClr val="CD1E1E"/>
                </a:solidFill>
                <a:latin typeface="Arial" panose="020B0604020202020204"/>
              </a:rPr>
              <a:t>unforgettable memory.</a:t>
            </a:r>
            <a:endParaRPr sz="2200" b="0">
              <a:solidFill>
                <a:srgbClr val="CD1E1E"/>
              </a:solidFill>
              <a:latin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0"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句型练习 </a:t>
            </a:r>
            <a:r>
              <a:rPr lang="en-US" sz="2800" b="1">
                <a:solidFill>
                  <a:srgbClr val="0F0F0F"/>
                </a:solidFill>
                <a:latin typeface="微软雅黑" panose="020B0503020204020204" charset="-122"/>
              </a:rPr>
              <a:t>10</a:t>
            </a:r>
            <a:endParaRPr lang="en-US"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35</a:t>
            </a:r>
            <a:endParaRPr sz="1000" b="0">
              <a:solidFill>
                <a:srgbClr val="626262"/>
              </a:solidFill>
              <a:latin typeface="微软雅黑" panose="020B0503020204020204" charset="-122"/>
            </a:endParaRPr>
          </a:p>
        </p:txBody>
      </p:sp>
      <p:sp>
        <p:nvSpPr>
          <p:cNvPr id="8" name="anim_001_sent_prompt_20"/>
          <p:cNvSpPr txBox="1"/>
          <p:nvPr/>
        </p:nvSpPr>
        <p:spPr>
          <a:xfrm>
            <a:off x="677863" y="894715"/>
            <a:ext cx="10835640" cy="448310"/>
          </a:xfrm>
          <a:prstGeom prst="rect">
            <a:avLst/>
          </a:prstGeom>
          <a:noFill/>
        </p:spPr>
        <p:txBody>
          <a:bodyPr wrap="square" lIns="36576" tIns="18288" rIns="36576" bIns="18288" anchor="t">
            <a:noAutofit/>
          </a:bodyPr>
          <a:p>
            <a:pPr>
              <a:spcAft>
                <a:spcPts val="200"/>
              </a:spcAft>
            </a:pPr>
            <a:r>
              <a:rPr sz="2200">
                <a:solidFill>
                  <a:srgbClr val="0F0F0F"/>
                </a:solidFill>
                <a:latin typeface="微软雅黑" panose="020B0503020204020204" charset="-122"/>
              </a:rPr>
              <a:t>20. 一切都很好，所以我们玩得很开心。我期待着再次去那里。</a:t>
            </a:r>
            <a:endParaRPr sz="2200">
              <a:solidFill>
                <a:srgbClr val="0F0F0F"/>
              </a:solidFill>
              <a:latin typeface="微软雅黑" panose="020B0503020204020204" charset="-122"/>
            </a:endParaRPr>
          </a:p>
        </p:txBody>
      </p:sp>
      <p:sp>
        <p:nvSpPr>
          <p:cNvPr id="9" name="anim_002_sent_answer_20"/>
          <p:cNvSpPr txBox="1"/>
          <p:nvPr/>
        </p:nvSpPr>
        <p:spPr>
          <a:xfrm>
            <a:off x="688785" y="1410588"/>
            <a:ext cx="10835640" cy="374015"/>
          </a:xfrm>
          <a:prstGeom prst="rect">
            <a:avLst/>
          </a:prstGeom>
          <a:noFill/>
        </p:spPr>
        <p:txBody>
          <a:bodyPr wrap="square" lIns="36576" tIns="18288" rIns="36576" bIns="18288" anchor="t">
            <a:spAutoFit/>
          </a:bodyPr>
          <a:p>
            <a:pPr>
              <a:spcAft>
                <a:spcPts val="300"/>
              </a:spcAft>
            </a:pPr>
            <a:r>
              <a:rPr sz="2200" b="0">
                <a:solidFill>
                  <a:srgbClr val="CD1E1E"/>
                </a:solidFill>
                <a:latin typeface="Arial" panose="020B0604020202020204"/>
              </a:rPr>
              <a:t>Everything was great, so we had a good time. I'm looking forward to</a:t>
            </a:r>
            <a:r>
              <a:rPr lang="en-US" sz="2200" b="0">
                <a:solidFill>
                  <a:srgbClr val="CD1E1E"/>
                </a:solidFill>
                <a:latin typeface="Arial" panose="020B0604020202020204"/>
              </a:rPr>
              <a:t> </a:t>
            </a:r>
            <a:r>
              <a:rPr sz="2200" b="0">
                <a:solidFill>
                  <a:srgbClr val="CD1E1E"/>
                </a:solidFill>
                <a:latin typeface="Arial" panose="020B0604020202020204"/>
              </a:rPr>
              <a:t>going there again.</a:t>
            </a:r>
            <a:endParaRPr sz="2200" b="0">
              <a:solidFill>
                <a:srgbClr val="CD1E1E"/>
              </a:solidFill>
              <a:latin typeface="Arial" panose="020B0604020202020204"/>
            </a:endParaRPr>
          </a:p>
        </p:txBody>
      </p:sp>
      <p:sp>
        <p:nvSpPr>
          <p:cNvPr id="10" name="anim_001_sent_prompt_21"/>
          <p:cNvSpPr txBox="1"/>
          <p:nvPr/>
        </p:nvSpPr>
        <p:spPr>
          <a:xfrm>
            <a:off x="688658" y="1917065"/>
            <a:ext cx="10835640" cy="461010"/>
          </a:xfrm>
          <a:prstGeom prst="rect">
            <a:avLst/>
          </a:prstGeom>
          <a:noFill/>
        </p:spPr>
        <p:txBody>
          <a:bodyPr wrap="square" lIns="36576" tIns="18288" rIns="36576" bIns="18288" anchor="t">
            <a:noAutofit/>
          </a:bodyPr>
          <a:p>
            <a:pPr>
              <a:spcAft>
                <a:spcPts val="200"/>
              </a:spcAft>
            </a:pPr>
            <a:r>
              <a:rPr sz="2400">
                <a:solidFill>
                  <a:srgbClr val="0F0F0F"/>
                </a:solidFill>
                <a:latin typeface="微软雅黑" panose="020B0503020204020204" charset="-122"/>
              </a:rPr>
              <a:t>21. 多好的天气啊!</a:t>
            </a:r>
            <a:endParaRPr sz="2400">
              <a:solidFill>
                <a:srgbClr val="0F0F0F"/>
              </a:solidFill>
              <a:latin typeface="微软雅黑" panose="020B0503020204020204" charset="-122"/>
            </a:endParaRPr>
          </a:p>
        </p:txBody>
      </p:sp>
      <p:sp>
        <p:nvSpPr>
          <p:cNvPr id="11" name="anim_002_sent_answer_21"/>
          <p:cNvSpPr txBox="1"/>
          <p:nvPr/>
        </p:nvSpPr>
        <p:spPr>
          <a:xfrm>
            <a:off x="688658" y="2428240"/>
            <a:ext cx="10835640" cy="473075"/>
          </a:xfrm>
          <a:prstGeom prst="rect">
            <a:avLst/>
          </a:prstGeom>
          <a:noFill/>
        </p:spPr>
        <p:txBody>
          <a:bodyPr wrap="square" lIns="36576" tIns="18288" rIns="36576" bIns="18288" anchor="t">
            <a:noAutofit/>
          </a:bodyPr>
          <a:p>
            <a:pPr>
              <a:spcAft>
                <a:spcPts val="300"/>
              </a:spcAft>
            </a:pPr>
            <a:r>
              <a:rPr sz="2400" b="0">
                <a:solidFill>
                  <a:srgbClr val="CD1E1E"/>
                </a:solidFill>
                <a:latin typeface="Arial" panose="020B0604020202020204"/>
              </a:rPr>
              <a:t>What nice weather it is!</a:t>
            </a:r>
            <a:endParaRPr sz="2400" b="0">
              <a:solidFill>
                <a:srgbClr val="CD1E1E"/>
              </a:solidFill>
              <a:latin typeface="Arial" panose="020B0604020202020204"/>
            </a:endParaRPr>
          </a:p>
        </p:txBody>
      </p:sp>
      <p:sp>
        <p:nvSpPr>
          <p:cNvPr id="12" name="anim_001_sent_prompt_22"/>
          <p:cNvSpPr txBox="1"/>
          <p:nvPr/>
        </p:nvSpPr>
        <p:spPr>
          <a:xfrm>
            <a:off x="688658" y="2914015"/>
            <a:ext cx="10835640" cy="486410"/>
          </a:xfrm>
          <a:prstGeom prst="rect">
            <a:avLst/>
          </a:prstGeom>
          <a:noFill/>
        </p:spPr>
        <p:txBody>
          <a:bodyPr wrap="square" lIns="36576" tIns="18288" rIns="36576" bIns="18288" anchor="t">
            <a:noAutofit/>
          </a:bodyPr>
          <a:p>
            <a:pPr>
              <a:spcAft>
                <a:spcPts val="200"/>
              </a:spcAft>
            </a:pPr>
            <a:r>
              <a:rPr sz="2400">
                <a:solidFill>
                  <a:srgbClr val="0F0F0F"/>
                </a:solidFill>
                <a:latin typeface="微软雅黑" panose="020B0503020204020204" charset="-122"/>
              </a:rPr>
              <a:t>22. 多么奇妙啊！</a:t>
            </a:r>
            <a:endParaRPr sz="2400">
              <a:solidFill>
                <a:srgbClr val="0F0F0F"/>
              </a:solidFill>
              <a:latin typeface="微软雅黑" panose="020B0503020204020204" charset="-122"/>
            </a:endParaRPr>
          </a:p>
        </p:txBody>
      </p:sp>
      <p:sp>
        <p:nvSpPr>
          <p:cNvPr id="13" name="anim_002_sent_answer_22"/>
          <p:cNvSpPr txBox="1"/>
          <p:nvPr/>
        </p:nvSpPr>
        <p:spPr>
          <a:xfrm>
            <a:off x="688658" y="3400425"/>
            <a:ext cx="10835640" cy="525780"/>
          </a:xfrm>
          <a:prstGeom prst="rect">
            <a:avLst/>
          </a:prstGeom>
          <a:noFill/>
        </p:spPr>
        <p:txBody>
          <a:bodyPr wrap="square" lIns="36576" tIns="18288" rIns="36576" bIns="18288" anchor="t">
            <a:noAutofit/>
          </a:bodyPr>
          <a:p>
            <a:pPr>
              <a:spcAft>
                <a:spcPts val="300"/>
              </a:spcAft>
            </a:pPr>
            <a:r>
              <a:rPr sz="2400" b="0">
                <a:solidFill>
                  <a:srgbClr val="CD1E1E"/>
                </a:solidFill>
                <a:latin typeface="Arial" panose="020B0604020202020204"/>
              </a:rPr>
              <a:t>How wonderful it is!</a:t>
            </a:r>
            <a:endParaRPr sz="2400" b="0">
              <a:solidFill>
                <a:srgbClr val="CD1E1E"/>
              </a:solidFill>
              <a:latin typeface="Arial" panose="020B0604020202020204"/>
            </a:endParaRPr>
          </a:p>
        </p:txBody>
      </p:sp>
      <p:sp>
        <p:nvSpPr>
          <p:cNvPr id="14" name="anim_001_sent_prompt_23"/>
          <p:cNvSpPr txBox="1"/>
          <p:nvPr/>
        </p:nvSpPr>
        <p:spPr>
          <a:xfrm>
            <a:off x="656908" y="3980180"/>
            <a:ext cx="10835640" cy="473075"/>
          </a:xfrm>
          <a:prstGeom prst="rect">
            <a:avLst/>
          </a:prstGeom>
          <a:noFill/>
        </p:spPr>
        <p:txBody>
          <a:bodyPr wrap="square" lIns="36576" tIns="18288" rIns="36576" bIns="18288" anchor="t">
            <a:noAutofit/>
          </a:bodyPr>
          <a:p>
            <a:pPr>
              <a:spcAft>
                <a:spcPts val="200"/>
              </a:spcAft>
            </a:pPr>
            <a:r>
              <a:rPr sz="2400">
                <a:solidFill>
                  <a:srgbClr val="0F0F0F"/>
                </a:solidFill>
                <a:latin typeface="微软雅黑" panose="020B0503020204020204" charset="-122"/>
              </a:rPr>
              <a:t>23. 这是我第一次去那里，所以一切都很有趣。</a:t>
            </a:r>
            <a:endParaRPr sz="2400">
              <a:solidFill>
                <a:srgbClr val="0F0F0F"/>
              </a:solidFill>
              <a:latin typeface="微软雅黑" panose="020B0503020204020204" charset="-122"/>
            </a:endParaRPr>
          </a:p>
        </p:txBody>
      </p:sp>
      <p:sp>
        <p:nvSpPr>
          <p:cNvPr id="15" name="anim_002_sent_answer_23"/>
          <p:cNvSpPr txBox="1"/>
          <p:nvPr/>
        </p:nvSpPr>
        <p:spPr>
          <a:xfrm>
            <a:off x="677863" y="4563110"/>
            <a:ext cx="10835640" cy="485140"/>
          </a:xfrm>
          <a:prstGeom prst="rect">
            <a:avLst/>
          </a:prstGeom>
          <a:noFill/>
        </p:spPr>
        <p:txBody>
          <a:bodyPr wrap="square" lIns="36576" tIns="18288" rIns="36576" bIns="18288" anchor="t">
            <a:noAutofit/>
          </a:bodyPr>
          <a:p>
            <a:pPr>
              <a:spcAft>
                <a:spcPts val="300"/>
              </a:spcAft>
            </a:pPr>
            <a:r>
              <a:rPr sz="2400" b="0">
                <a:solidFill>
                  <a:srgbClr val="CD1E1E"/>
                </a:solidFill>
                <a:latin typeface="Arial" panose="020B0604020202020204"/>
              </a:rPr>
              <a:t>It was my first time there,so everything was really interesting.</a:t>
            </a:r>
            <a:endParaRPr sz="2400" b="0">
              <a:solidFill>
                <a:srgbClr val="CD1E1E"/>
              </a:solidFill>
              <a:latin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3238" y="219456"/>
            <a:ext cx="10241280" cy="466090"/>
          </a:xfrm>
          <a:prstGeom prst="rect">
            <a:avLst/>
          </a:prstGeom>
          <a:noFill/>
        </p:spPr>
        <p:txBody>
          <a:bodyPr wrap="square" lIns="36576" tIns="18288" rIns="36576" bIns="18288" anchor="t">
            <a:spAutoFit/>
          </a:bodyPr>
          <a:lstStyle/>
          <a:p>
            <a:pPr>
              <a:spcAft>
                <a:spcPts val="300"/>
              </a:spcAft>
            </a:pPr>
            <a:r>
              <a:rPr sz="2800" b="1">
                <a:solidFill>
                  <a:srgbClr val="0F0F0F"/>
                </a:solidFill>
                <a:latin typeface="微软雅黑" panose="020B0503020204020204" charset="-122"/>
              </a:rPr>
              <a:t>Unit 1 Happy Holiday · 句型练习 </a:t>
            </a:r>
            <a:r>
              <a:rPr lang="en-US" sz="2800" b="1">
                <a:solidFill>
                  <a:srgbClr val="0F0F0F"/>
                </a:solidFill>
                <a:latin typeface="微软雅黑" panose="020B0503020204020204" charset="-122"/>
              </a:rPr>
              <a:t>11</a:t>
            </a:r>
            <a:endParaRPr lang="en-US" sz="2800" b="1">
              <a:solidFill>
                <a:srgbClr val="0F0F0F"/>
              </a:solidFill>
              <a:latin typeface="微软雅黑" panose="020B0503020204020204" charset="-122"/>
            </a:endParaRPr>
          </a:p>
        </p:txBody>
      </p:sp>
      <p:sp>
        <p:nvSpPr>
          <p:cNvPr id="3" name="TextBox 2"/>
          <p:cNvSpPr txBox="1"/>
          <p:nvPr/>
        </p:nvSpPr>
        <p:spPr>
          <a:xfrm>
            <a:off x="10012998" y="320040"/>
            <a:ext cx="1691640" cy="204470"/>
          </a:xfrm>
          <a:prstGeom prst="rect">
            <a:avLst/>
          </a:prstGeom>
          <a:noFill/>
        </p:spPr>
        <p:txBody>
          <a:bodyPr wrap="square" lIns="36576" tIns="18288" rIns="36576" bIns="18288" anchor="t">
            <a:spAutoFit/>
          </a:bodyPr>
          <a:lstStyle/>
          <a:p>
            <a:pPr algn="r">
              <a:spcAft>
                <a:spcPts val="300"/>
              </a:spcAft>
            </a:pPr>
            <a:r>
              <a:rPr sz="1100" b="0">
                <a:solidFill>
                  <a:srgbClr val="626262"/>
                </a:solidFill>
                <a:latin typeface="微软雅黑" panose="020B0503020204020204" charset="-122"/>
              </a:rPr>
              <a:t>click reveal</a:t>
            </a:r>
            <a:endParaRPr sz="1100" b="0">
              <a:solidFill>
                <a:srgbClr val="626262"/>
              </a:solidFill>
              <a:latin typeface="微软雅黑" panose="020B0503020204020204" charset="-122"/>
            </a:endParaRPr>
          </a:p>
        </p:txBody>
      </p:sp>
      <p:sp>
        <p:nvSpPr>
          <p:cNvPr id="4" name="Rectangle 3"/>
          <p:cNvSpPr/>
          <p:nvPr/>
        </p:nvSpPr>
        <p:spPr>
          <a:xfrm>
            <a:off x="503238" y="749808"/>
            <a:ext cx="11201400"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550" y="1078992"/>
            <a:ext cx="10835640" cy="389255"/>
          </a:xfrm>
          <a:prstGeom prst="rect">
            <a:avLst/>
          </a:prstGeom>
          <a:noFill/>
        </p:spPr>
        <p:txBody>
          <a:bodyPr wrap="square" lIns="36576" tIns="18288" rIns="36576" bIns="18288" anchor="t">
            <a:spAutoFit/>
          </a:bodyPr>
          <a:lstStyle/>
          <a:p>
            <a:pPr>
              <a:spcAft>
                <a:spcPts val="300"/>
              </a:spcAft>
            </a:pPr>
            <a:r>
              <a:rPr sz="2300" b="0">
                <a:solidFill>
                  <a:srgbClr val="3F9148"/>
                </a:solidFill>
                <a:latin typeface="微软雅黑" panose="020B0503020204020204" charset="-122"/>
              </a:rPr>
              <a:t>4.经典名句：</a:t>
            </a:r>
            <a:endParaRPr sz="2300" b="0">
              <a:solidFill>
                <a:srgbClr val="3F9148"/>
              </a:solidFill>
              <a:latin typeface="微软雅黑" panose="020B0503020204020204" charset="-122"/>
            </a:endParaRPr>
          </a:p>
        </p:txBody>
      </p:sp>
      <p:sp>
        <p:nvSpPr>
          <p:cNvPr id="6" name="anim_001_sent_prompt_24"/>
          <p:cNvSpPr txBox="1"/>
          <p:nvPr/>
        </p:nvSpPr>
        <p:spPr>
          <a:xfrm>
            <a:off x="713550" y="1591056"/>
            <a:ext cx="10835640" cy="404495"/>
          </a:xfrm>
          <a:prstGeom prst="rect">
            <a:avLst/>
          </a:prstGeom>
          <a:noFill/>
        </p:spPr>
        <p:txBody>
          <a:bodyPr wrap="square" lIns="36576" tIns="18288" rIns="36576" bIns="18288" anchor="t">
            <a:spAutoFit/>
          </a:bodyPr>
          <a:lstStyle/>
          <a:p>
            <a:pPr>
              <a:spcAft>
                <a:spcPts val="200"/>
              </a:spcAft>
            </a:pPr>
            <a:r>
              <a:rPr sz="2400">
                <a:solidFill>
                  <a:srgbClr val="0F0F0F"/>
                </a:solidFill>
                <a:latin typeface="微软雅黑" panose="020B0503020204020204" charset="-122"/>
              </a:rPr>
              <a:t>24. 读万卷书，行万里路。</a:t>
            </a:r>
            <a:endParaRPr sz="2400">
              <a:solidFill>
                <a:srgbClr val="0F0F0F"/>
              </a:solidFill>
              <a:latin typeface="微软雅黑" panose="020B0503020204020204" charset="-122"/>
            </a:endParaRPr>
          </a:p>
        </p:txBody>
      </p:sp>
      <p:sp>
        <p:nvSpPr>
          <p:cNvPr id="7" name="anim_002_sent_answer_24"/>
          <p:cNvSpPr txBox="1"/>
          <p:nvPr/>
        </p:nvSpPr>
        <p:spPr>
          <a:xfrm>
            <a:off x="713550" y="2395728"/>
            <a:ext cx="10835640" cy="404495"/>
          </a:xfrm>
          <a:prstGeom prst="rect">
            <a:avLst/>
          </a:prstGeom>
          <a:noFill/>
        </p:spPr>
        <p:txBody>
          <a:bodyPr wrap="square" lIns="36576" tIns="18288" rIns="36576" bIns="18288" anchor="t">
            <a:spAutoFit/>
          </a:bodyPr>
          <a:lstStyle/>
          <a:p>
            <a:pPr>
              <a:spcAft>
                <a:spcPts val="300"/>
              </a:spcAft>
            </a:pPr>
            <a:r>
              <a:rPr sz="2400" b="0">
                <a:solidFill>
                  <a:srgbClr val="CD1E1E"/>
                </a:solidFill>
                <a:latin typeface="Arial" panose="020B0604020202020204"/>
              </a:rPr>
              <a:t>Read ten thousand books and travel ten thousand miles.</a:t>
            </a:r>
            <a:endParaRPr sz="2400" b="0">
              <a:solidFill>
                <a:srgbClr val="CD1E1E"/>
              </a:solidFill>
              <a:latin typeface="Arial" panose="020B0604020202020204"/>
            </a:endParaRPr>
          </a:p>
        </p:txBody>
      </p:sp>
      <p:sp>
        <p:nvSpPr>
          <p:cNvPr id="8" name="TextBox 7"/>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40</a:t>
            </a:r>
            <a:endParaRPr sz="1000" b="0">
              <a:solidFill>
                <a:srgbClr val="626262"/>
              </a:solidFill>
              <a:latin typeface="微软雅黑" panose="020B0503020204020204" charset="-122"/>
            </a:endParaRPr>
          </a:p>
        </p:txBody>
      </p:sp>
      <p:sp>
        <p:nvSpPr>
          <p:cNvPr id="9" name="anim_001_sent_prompt_25"/>
          <p:cNvSpPr txBox="1"/>
          <p:nvPr/>
        </p:nvSpPr>
        <p:spPr>
          <a:xfrm>
            <a:off x="683705" y="3182747"/>
            <a:ext cx="10835640" cy="404495"/>
          </a:xfrm>
          <a:prstGeom prst="rect">
            <a:avLst/>
          </a:prstGeom>
          <a:noFill/>
        </p:spPr>
        <p:txBody>
          <a:bodyPr wrap="square" lIns="36576" tIns="18288" rIns="36576" bIns="18288" anchor="t">
            <a:spAutoFit/>
          </a:bodyPr>
          <a:p>
            <a:pPr>
              <a:spcAft>
                <a:spcPts val="200"/>
              </a:spcAft>
            </a:pPr>
            <a:r>
              <a:rPr sz="2400">
                <a:solidFill>
                  <a:srgbClr val="0F0F0F"/>
                </a:solidFill>
                <a:latin typeface="微软雅黑" panose="020B0503020204020204" charset="-122"/>
              </a:rPr>
              <a:t>25. 见多识广。</a:t>
            </a:r>
            <a:endParaRPr sz="2400">
              <a:solidFill>
                <a:srgbClr val="0F0F0F"/>
              </a:solidFill>
              <a:latin typeface="微软雅黑" panose="020B0503020204020204" charset="-122"/>
            </a:endParaRPr>
          </a:p>
        </p:txBody>
      </p:sp>
      <p:sp>
        <p:nvSpPr>
          <p:cNvPr id="10" name="anim_002_sent_answer_25"/>
          <p:cNvSpPr txBox="1"/>
          <p:nvPr/>
        </p:nvSpPr>
        <p:spPr>
          <a:xfrm>
            <a:off x="683705" y="3987419"/>
            <a:ext cx="10835640" cy="404495"/>
          </a:xfrm>
          <a:prstGeom prst="rect">
            <a:avLst/>
          </a:prstGeom>
          <a:noFill/>
        </p:spPr>
        <p:txBody>
          <a:bodyPr wrap="square" lIns="36576" tIns="18288" rIns="36576" bIns="18288" anchor="t">
            <a:spAutoFit/>
          </a:bodyPr>
          <a:p>
            <a:pPr>
              <a:spcAft>
                <a:spcPts val="300"/>
              </a:spcAft>
            </a:pPr>
            <a:r>
              <a:rPr sz="2400" b="0">
                <a:solidFill>
                  <a:srgbClr val="CD1E1E"/>
                </a:solidFill>
                <a:latin typeface="Arial" panose="020B0604020202020204"/>
              </a:rPr>
              <a:t>He who travels far knows much.</a:t>
            </a:r>
            <a:endParaRPr sz="2400" b="0">
              <a:solidFill>
                <a:srgbClr val="CD1E1E"/>
              </a:solidFill>
              <a:latin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6118" y="493776"/>
            <a:ext cx="10881360" cy="542925"/>
          </a:xfrm>
          <a:prstGeom prst="rect">
            <a:avLst/>
          </a:prstGeom>
          <a:noFill/>
        </p:spPr>
        <p:txBody>
          <a:bodyPr wrap="square" lIns="36576" tIns="18288" rIns="36576" bIns="18288" anchor="t">
            <a:spAutoFit/>
          </a:bodyPr>
          <a:lstStyle/>
          <a:p>
            <a:pPr>
              <a:spcAft>
                <a:spcPts val="300"/>
              </a:spcAft>
            </a:pPr>
            <a:r>
              <a:rPr sz="3300" b="1">
                <a:solidFill>
                  <a:srgbClr val="0F0F0F"/>
                </a:solidFill>
                <a:latin typeface="Arial" panose="020B0604020202020204"/>
              </a:rPr>
              <a:t>A trip I'll never forget</a:t>
            </a:r>
            <a:endParaRPr sz="3300" b="1">
              <a:solidFill>
                <a:srgbClr val="0F0F0F"/>
              </a:solidFill>
              <a:latin typeface="Arial" panose="020B0604020202020204"/>
            </a:endParaRPr>
          </a:p>
        </p:txBody>
      </p:sp>
      <p:sp>
        <p:nvSpPr>
          <p:cNvPr id="3" name="Rectangle 2"/>
          <p:cNvSpPr/>
          <p:nvPr/>
        </p:nvSpPr>
        <p:spPr>
          <a:xfrm>
            <a:off x="695262" y="1115568"/>
            <a:ext cx="10808208" cy="16459"/>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550" y="1389888"/>
            <a:ext cx="10716768" cy="4305300"/>
          </a:xfrm>
          <a:prstGeom prst="rect">
            <a:avLst/>
          </a:prstGeom>
          <a:noFill/>
        </p:spPr>
        <p:txBody>
          <a:bodyPr wrap="square" lIns="36576" tIns="27432" rIns="36576" bIns="27432" anchor="t">
            <a:spAutoFit/>
          </a:bodyPr>
          <a:lstStyle/>
          <a:p>
            <a:pPr>
              <a:lnSpc>
                <a:spcPct val="108000"/>
              </a:lnSpc>
              <a:spcAft>
                <a:spcPts val="900"/>
              </a:spcAft>
            </a:pPr>
            <a:r>
              <a:rPr sz="2200">
                <a:solidFill>
                  <a:srgbClr val="0F0F0F"/>
                </a:solidFill>
                <a:latin typeface="Arial" panose="020B0604020202020204"/>
              </a:rPr>
              <a:t>Travelling helps me know more about the outside world as well as enriches my life. This summer, I went on vacation to Yunnan Province with my family and we had great fun.</a:t>
            </a:r>
            <a:endParaRPr sz="2200">
              <a:solidFill>
                <a:srgbClr val="0F0F0F"/>
              </a:solidFill>
              <a:latin typeface="Arial" panose="020B0604020202020204"/>
            </a:endParaRPr>
          </a:p>
          <a:p>
            <a:pPr>
              <a:lnSpc>
                <a:spcPct val="108000"/>
              </a:lnSpc>
              <a:spcAft>
                <a:spcPts val="900"/>
              </a:spcAft>
            </a:pPr>
            <a:r>
              <a:rPr sz="2200">
                <a:solidFill>
                  <a:srgbClr val="0F0F0F"/>
                </a:solidFill>
                <a:latin typeface="Arial" panose="020B0604020202020204"/>
              </a:rPr>
              <a:t>The weather there was sunny and windy, As a famous place of interest, Lugu Lake has attracted lots of visitors home and abroad. At first, we went boating on the lake for two hours.Then,we climbed up to the top of a hill, When I saw the beautiful lake and villages below the hill, I felt like l was in a wonderful painting.I enjoyed the fresh air very much. Also, we tasted the famous Cross-bridge Rice Noodles, which were really delicious!</a:t>
            </a:r>
            <a:endParaRPr sz="2200">
              <a:solidFill>
                <a:srgbClr val="0F0F0F"/>
              </a:solidFill>
              <a:latin typeface="Arial" panose="020B0604020202020204"/>
            </a:endParaRPr>
          </a:p>
          <a:p>
            <a:pPr>
              <a:lnSpc>
                <a:spcPct val="108000"/>
              </a:lnSpc>
              <a:spcAft>
                <a:spcPts val="0"/>
              </a:spcAft>
            </a:pPr>
            <a:r>
              <a:rPr sz="2200">
                <a:solidFill>
                  <a:srgbClr val="0F0F0F"/>
                </a:solidFill>
                <a:latin typeface="Arial" panose="020B0604020202020204"/>
              </a:rPr>
              <a:t>In short, I really enjoyed the vacation, which brought me an unforgettable memory. Everything was great, so we had a good time. I'm looking forward to going there again.</a:t>
            </a:r>
            <a:endParaRPr sz="2200">
              <a:solidFill>
                <a:srgbClr val="0F0F0F"/>
              </a:solidFill>
              <a:latin typeface="Arial" panose="020B0604020202020204"/>
            </a:endParaRPr>
          </a:p>
        </p:txBody>
      </p:sp>
      <p:sp>
        <p:nvSpPr>
          <p:cNvPr id="5" name="TextBox 4"/>
          <p:cNvSpPr txBox="1"/>
          <p:nvPr/>
        </p:nvSpPr>
        <p:spPr>
          <a:xfrm>
            <a:off x="11293158" y="6437376"/>
            <a:ext cx="411480" cy="189230"/>
          </a:xfrm>
          <a:prstGeom prst="rect">
            <a:avLst/>
          </a:prstGeom>
          <a:noFill/>
        </p:spPr>
        <p:txBody>
          <a:bodyPr wrap="square" lIns="36576" tIns="18288" rIns="36576" bIns="18288" anchor="t">
            <a:spAutoFit/>
          </a:bodyPr>
          <a:lstStyle/>
          <a:p>
            <a:pPr algn="r">
              <a:spcAft>
                <a:spcPts val="300"/>
              </a:spcAft>
            </a:pPr>
            <a:r>
              <a:rPr sz="1000" b="0">
                <a:solidFill>
                  <a:srgbClr val="626262"/>
                </a:solidFill>
                <a:latin typeface="微软雅黑" panose="020B0503020204020204" charset="-122"/>
              </a:rPr>
              <a:t>42</a:t>
            </a:r>
            <a:endParaRPr sz="1000" b="0">
              <a:solidFill>
                <a:srgbClr val="626262"/>
              </a:solidFill>
              <a:latin typeface="微软雅黑" panose="020B0503020204020204" charset="-122"/>
            </a:endParaRP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6066</Words>
  <Application>WPS 演示</Application>
  <PresentationFormat>宽屏</PresentationFormat>
  <Paragraphs>533</Paragraphs>
  <Slides>24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Arial</vt:lpstr>
      <vt:lpstr>宋体</vt:lpstr>
      <vt:lpstr>Wingdings</vt:lpstr>
      <vt:lpstr>微软雅黑</vt:lpstr>
      <vt:lpstr>Arial</vt:lpstr>
      <vt:lpstr>Arial Unicode MS</vt:lpstr>
      <vt:lpstr>Arial Black</vt:lpstr>
      <vt:lpstr>黑体</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English Courseware PPT</dc:creator>
  <cp:lastModifiedBy>English Courseware PPT</cp:lastModifiedBy>
  <cp:revision>5</cp:revision>
  <dcterms:created xsi:type="dcterms:W3CDTF">2023-07-11T07:43:00Z</dcterms:created>
  <dcterms:modified xsi:type="dcterms:W3CDTF">2026-06-05T05:08:44Z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2052-12.8.2.18913</vt:lpwstr>
  </property>
  <property fmtid="{D5CDD505-2E9C-101B-9397-08002B2CF9AE}" pid="3" name="ICV">
    <vt:lpwstr>9A011D0063D04461BB06222C6110C29C_11</vt:lpwstr>
  </property>
</Properties>
</file>